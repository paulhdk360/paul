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7556500" cy="10693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56500" cy="10693400"/>
          </a:xfrm>
          <a:prstGeom prst="rect">
            <a:avLst/>
          </a:prstGeom>
          <a:solidFill>
            <a:srgbClr val="FFFFFF"/>
          </a:solidFill>
          <a:ln>
            <a:noFill/>
          </a:ln>
        </p:spPr>
        <p:txBody>
          <a:bodyPr rtlCol="0" anchor="ctr"/>
          <a:lstStyle/>
          <a:p>
            <a:pPr algn="ctr"/>
          </a:p>
        </p:txBody>
      </p:sp>
      <p:sp>
        <p:nvSpPr>
          <p:cNvPr id="3" name="Freeform 2"/>
          <p:cNvSpPr/>
          <p:nvPr/>
        </p:nvSpPr>
        <p:spPr>
          <a:xfrm>
            <a:off x="0" y="0"/>
            <a:ext cx="5207000" cy="6604000"/>
          </a:xfrm>
          <a:custGeom>
            <a:avLst/>
            <a:gdLst/>
            <a:ahLst/>
            <a:cxnLst/>
            <a:rect l="l" t="t" r="r" b="b"/>
            <a:pathLst>
              <a:path w="410" h="520">
                <a:moveTo>
                  <a:pt x="0" y="0"/>
                </a:moveTo>
                <a:lnTo>
                  <a:pt x="410" y="0"/>
                </a:lnTo>
                <a:lnTo>
                  <a:pt x="330" y="430"/>
                </a:lnTo>
                <a:lnTo>
                  <a:pt x="0" y="520"/>
                </a:lnTo>
                <a:close/>
              </a:path>
            </a:pathLst>
          </a:custGeom>
          <a:solidFill>
            <a:srgbClr val="0A4FA0"/>
          </a:solidFill>
          <a:ln>
            <a:noFill/>
          </a:ln>
        </p:spPr>
        <p:txBody>
          <a:bodyPr rtlCol="0" anchor="ctr"/>
          <a:lstStyle/>
          <a:p>
            <a:pPr algn="ctr"/>
          </a:p>
        </p:txBody>
      </p:sp>
      <p:sp>
        <p:nvSpPr>
          <p:cNvPr id="4" name="Freeform 3"/>
          <p:cNvSpPr/>
          <p:nvPr/>
        </p:nvSpPr>
        <p:spPr>
          <a:xfrm>
            <a:off x="4191000" y="0"/>
            <a:ext cx="3365500" cy="8890000"/>
          </a:xfrm>
          <a:custGeom>
            <a:avLst/>
            <a:gdLst/>
            <a:ahLst/>
            <a:cxnLst/>
            <a:rect l="l" t="t" r="r" b="b"/>
            <a:pathLst>
              <a:path w="265" h="700">
                <a:moveTo>
                  <a:pt x="80" y="0"/>
                </a:moveTo>
                <a:lnTo>
                  <a:pt x="265" y="0"/>
                </a:lnTo>
                <a:lnTo>
                  <a:pt x="265" y="700"/>
                </a:lnTo>
                <a:lnTo>
                  <a:pt x="0" y="430"/>
                </a:lnTo>
                <a:close/>
              </a:path>
            </a:pathLst>
          </a:custGeom>
          <a:solidFill>
            <a:srgbClr val="0F7FCB"/>
          </a:solidFill>
          <a:ln>
            <a:noFill/>
          </a:ln>
        </p:spPr>
        <p:txBody>
          <a:bodyPr rtlCol="0" anchor="ctr"/>
          <a:lstStyle/>
          <a:p>
            <a:pPr algn="ctr"/>
          </a:p>
        </p:txBody>
      </p:sp>
      <p:sp>
        <p:nvSpPr>
          <p:cNvPr id="5" name="Freeform 4"/>
          <p:cNvSpPr/>
          <p:nvPr/>
        </p:nvSpPr>
        <p:spPr>
          <a:xfrm>
            <a:off x="0" y="5461000"/>
            <a:ext cx="7556500" cy="5232400"/>
          </a:xfrm>
          <a:custGeom>
            <a:avLst/>
            <a:gdLst/>
            <a:ahLst/>
            <a:cxnLst/>
            <a:rect l="l" t="t" r="r" b="b"/>
            <a:pathLst>
              <a:path w="595" h="412">
                <a:moveTo>
                  <a:pt x="330" y="0"/>
                </a:moveTo>
                <a:lnTo>
                  <a:pt x="595" y="270"/>
                </a:lnTo>
                <a:lnTo>
                  <a:pt x="595" y="412"/>
                </a:lnTo>
                <a:lnTo>
                  <a:pt x="0" y="412"/>
                </a:lnTo>
                <a:lnTo>
                  <a:pt x="0" y="90"/>
                </a:lnTo>
                <a:close/>
              </a:path>
            </a:pathLst>
          </a:custGeom>
          <a:solidFill>
            <a:srgbClr val="2BAEF6"/>
          </a:solidFill>
          <a:ln>
            <a:noFill/>
          </a:ln>
        </p:spPr>
        <p:txBody>
          <a:bodyPr rtlCol="0" anchor="ctr"/>
          <a:lstStyle/>
          <a:p>
            <a:pPr algn="ctr"/>
          </a:p>
        </p:txBody>
      </p:sp>
      <p:cxnSp>
        <p:nvCxnSpPr>
          <p:cNvPr id="6" name="Connector 5"/>
          <p:cNvCxnSpPr/>
          <p:nvPr/>
        </p:nvCxnSpPr>
        <p:spPr>
          <a:xfrm flipV="1">
            <a:off x="4191000" y="0"/>
            <a:ext cx="1016000" cy="5461000"/>
          </a:xfrm>
          <a:prstGeom prst="line">
            <a:avLst/>
          </a:prstGeom>
          <a:ln w="114300">
            <a:solidFill>
              <a:srgbClr val="FFFFFF"/>
            </a:solidFill>
          </a:ln>
        </p:spPr>
      </p:cxnSp>
      <p:cxnSp>
        <p:nvCxnSpPr>
          <p:cNvPr id="7" name="Connector 6"/>
          <p:cNvCxnSpPr/>
          <p:nvPr/>
        </p:nvCxnSpPr>
        <p:spPr>
          <a:xfrm>
            <a:off x="4191000" y="5461000"/>
            <a:ext cx="3365500" cy="3429000"/>
          </a:xfrm>
          <a:prstGeom prst="line">
            <a:avLst/>
          </a:prstGeom>
          <a:ln w="114300">
            <a:solidFill>
              <a:srgbClr val="FFFFFF"/>
            </a:solidFill>
          </a:ln>
        </p:spPr>
      </p:cxnSp>
      <p:cxnSp>
        <p:nvCxnSpPr>
          <p:cNvPr id="8" name="Connector 7"/>
          <p:cNvCxnSpPr/>
          <p:nvPr/>
        </p:nvCxnSpPr>
        <p:spPr>
          <a:xfrm flipH="1">
            <a:off x="0" y="5461000"/>
            <a:ext cx="4191000" cy="1143000"/>
          </a:xfrm>
          <a:prstGeom prst="line">
            <a:avLst/>
          </a:prstGeom>
          <a:ln w="114300">
            <a:solidFill>
              <a:srgbClr val="FFFFFF"/>
            </a:solidFill>
          </a:ln>
        </p:spPr>
      </p:cxnSp>
      <p:pic>
        <p:nvPicPr>
          <p:cNvPr id="9" name="Picture 8" descr="logo_white.png"/>
          <p:cNvPicPr>
            <a:picLocks noChangeAspect="1"/>
          </p:cNvPicPr>
          <p:nvPr/>
        </p:nvPicPr>
        <p:blipFill>
          <a:blip r:embed="rId2"/>
          <a:stretch>
            <a:fillRect/>
          </a:stretch>
        </p:blipFill>
        <p:spPr>
          <a:xfrm>
            <a:off x="457200" y="1066800"/>
            <a:ext cx="3429000" cy="778476"/>
          </a:xfrm>
          <a:prstGeom prst="rect">
            <a:avLst/>
          </a:prstGeom>
        </p:spPr>
      </p:pic>
      <p:sp>
        <p:nvSpPr>
          <p:cNvPr id="10" name="TextBox 9"/>
          <p:cNvSpPr txBox="1"/>
          <p:nvPr/>
        </p:nvSpPr>
        <p:spPr>
          <a:xfrm>
            <a:off x="457200" y="9398000"/>
            <a:ext cx="5080000" cy="127000"/>
          </a:xfrm>
          <a:prstGeom prst="rect">
            <a:avLst/>
          </a:prstGeom>
          <a:noFill/>
        </p:spPr>
        <p:txBody>
          <a:bodyPr wrap="square" lIns="0" rIns="0" tIns="0" bIns="0" anchor="t">
            <a:spAutoFit/>
          </a:bodyPr>
          <a:lstStyle/>
          <a:p>
            <a:pPr algn="l">
              <a:lnSpc>
                <a:spcPts val="2100"/>
              </a:lnSpc>
              <a:spcAft>
                <a:spcPts val="0"/>
              </a:spcAft>
            </a:pPr>
            <a:r>
              <a:rPr sz="1700" b="1" i="0" lang="fr-FR">
                <a:solidFill>
                  <a:srgbClr val="FFFFFF"/>
                </a:solidFill>
                <a:latin typeface="Ubuntu Mono"/>
                <a:ea typeface="Ubuntu Mono"/>
                <a:cs typeface="Ubuntu Mono"/>
                <a:sym typeface="Ubuntu Mono"/>
              </a:rPr>
              <a:t>FORAGE DIRIGÉ</a:t>
            </a:r>
          </a:p>
          <a:p>
            <a:pPr algn="l">
              <a:lnSpc>
                <a:spcPts val="2100"/>
              </a:lnSpc>
              <a:spcAft>
                <a:spcPts val="0"/>
              </a:spcAft>
            </a:pPr>
            <a:r>
              <a:rPr sz="1700" b="1" i="0" lang="fr-FR">
                <a:solidFill>
                  <a:srgbClr val="FFFFFF"/>
                </a:solidFill>
                <a:latin typeface="Ubuntu Mono"/>
                <a:ea typeface="Ubuntu Mono"/>
                <a:cs typeface="Ubuntu Mono"/>
                <a:sym typeface="Ubuntu Mono"/>
              </a:rPr>
              <a:t>&amp; SOLUTIONS DE FISHING</a:t>
            </a:r>
          </a:p>
        </p:txBody>
      </p:sp>
      <p:sp>
        <p:nvSpPr>
          <p:cNvPr id="11" name="TextBox 10"/>
          <p:cNvSpPr txBox="1"/>
          <p:nvPr/>
        </p:nvSpPr>
        <p:spPr>
          <a:xfrm>
            <a:off x="457200" y="9982200"/>
            <a:ext cx="2540000" cy="127000"/>
          </a:xfrm>
          <a:prstGeom prst="rect">
            <a:avLst/>
          </a:prstGeom>
          <a:noFill/>
        </p:spPr>
        <p:txBody>
          <a:bodyPr wrap="square" lIns="0" rIns="0" tIns="0" bIns="0" anchor="t">
            <a:spAutoFit/>
          </a:bodyPr>
          <a:lstStyle/>
          <a:p>
            <a:pPr algn="l">
              <a:spcAft>
                <a:spcPts val="0"/>
              </a:spcAft>
            </a:pPr>
            <a:r>
              <a:rPr sz="900" b="0" i="0" lang="fr-FR">
                <a:solidFill>
                  <a:srgbClr val="FFFFFF"/>
                </a:solidFill>
                <a:latin typeface="Ubuntu Mono"/>
                <a:ea typeface="Ubuntu Mono"/>
                <a:cs typeface="Ubuntu Mono"/>
                <a:sym typeface="Ubuntu Mono"/>
              </a:rPr>
              <a:t>FRANCE</a:t>
            </a:r>
          </a:p>
        </p:txBody>
      </p:sp>
      <p:sp>
        <p:nvSpPr>
          <p:cNvPr id="12" name="Rectangle 11"/>
          <p:cNvSpPr/>
          <p:nvPr/>
        </p:nvSpPr>
        <p:spPr>
          <a:xfrm>
            <a:off x="457200" y="10185400"/>
            <a:ext cx="177800" cy="50800"/>
          </a:xfrm>
          <a:prstGeom prst="rect">
            <a:avLst/>
          </a:prstGeom>
          <a:solidFill>
            <a:srgbClr val="0A4FA0"/>
          </a:solidFill>
          <a:ln>
            <a:noFill/>
          </a:ln>
        </p:spPr>
        <p:txBody>
          <a:bodyPr rtlCol="0" anchor="ctr"/>
          <a:lstStyle/>
          <a:p>
            <a:pPr algn="ctr"/>
          </a:p>
        </p:txBody>
      </p:sp>
      <p:sp>
        <p:nvSpPr>
          <p:cNvPr id="13" name="Rectangle 12"/>
          <p:cNvSpPr/>
          <p:nvPr/>
        </p:nvSpPr>
        <p:spPr>
          <a:xfrm>
            <a:off x="635000" y="10185400"/>
            <a:ext cx="177800" cy="50800"/>
          </a:xfrm>
          <a:prstGeom prst="rect">
            <a:avLst/>
          </a:prstGeom>
          <a:solidFill>
            <a:srgbClr val="FFFFFF"/>
          </a:solidFill>
          <a:ln>
            <a:noFill/>
          </a:ln>
        </p:spPr>
        <p:txBody>
          <a:bodyPr rtlCol="0" anchor="ctr"/>
          <a:lstStyle/>
          <a:p>
            <a:pPr algn="ctr"/>
          </a:p>
        </p:txBody>
      </p:sp>
      <p:sp>
        <p:nvSpPr>
          <p:cNvPr id="14" name="Rectangle 13"/>
          <p:cNvSpPr/>
          <p:nvPr/>
        </p:nvSpPr>
        <p:spPr>
          <a:xfrm>
            <a:off x="812800" y="10185400"/>
            <a:ext cx="177800" cy="50800"/>
          </a:xfrm>
          <a:prstGeom prst="rect">
            <a:avLst/>
          </a:prstGeom>
          <a:solidFill>
            <a:srgbClr val="E2231A"/>
          </a:solidFill>
          <a:ln>
            <a:noFill/>
          </a:ln>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5600700" y="279400"/>
            <a:ext cx="1498600" cy="336115"/>
          </a:xfrm>
          <a:prstGeom prst="rect">
            <a:avLst/>
          </a:prstGeom>
        </p:spPr>
      </p:pic>
      <p:sp>
        <p:nvSpPr>
          <p:cNvPr id="3" name="TextBox 2"/>
          <p:cNvSpPr txBox="1"/>
          <p:nvPr/>
        </p:nvSpPr>
        <p:spPr>
          <a:xfrm>
            <a:off x="457200" y="558800"/>
            <a:ext cx="5588000" cy="127000"/>
          </a:xfrm>
          <a:prstGeom prst="rect">
            <a:avLst/>
          </a:prstGeom>
          <a:noFill/>
        </p:spPr>
        <p:txBody>
          <a:bodyPr wrap="square" lIns="0" rIns="0" tIns="0" bIns="0" anchor="t">
            <a:spAutoFit/>
          </a:bodyPr>
          <a:lstStyle/>
          <a:p>
            <a:pPr algn="l">
              <a:lnSpc>
                <a:spcPts val="3000"/>
              </a:lnSpc>
              <a:spcAft>
                <a:spcPts val="0"/>
              </a:spcAft>
            </a:pPr>
            <a:r>
              <a:rPr sz="2700" b="1" i="0" lang="fr-FR">
                <a:solidFill>
                  <a:srgbClr val="1CB2FE"/>
                </a:solidFill>
                <a:latin typeface="Ubuntu Mono"/>
                <a:ea typeface="Ubuntu Mono"/>
                <a:cs typeface="Ubuntu Mono"/>
                <a:sym typeface="Ubuntu Mono"/>
              </a:rPr>
              <a:t>QUI SOMMES-NOUS</a:t>
            </a:r>
          </a:p>
        </p:txBody>
      </p:sp>
      <p:sp>
        <p:nvSpPr>
          <p:cNvPr id="4" name="Rectangle 3"/>
          <p:cNvSpPr/>
          <p:nvPr/>
        </p:nvSpPr>
        <p:spPr>
          <a:xfrm>
            <a:off x="457200" y="1117600"/>
            <a:ext cx="44450" cy="787400"/>
          </a:xfrm>
          <a:prstGeom prst="rect">
            <a:avLst/>
          </a:prstGeom>
          <a:solidFill>
            <a:srgbClr val="0F7FCB"/>
          </a:solidFill>
          <a:ln>
            <a:noFill/>
          </a:ln>
        </p:spPr>
        <p:txBody>
          <a:bodyPr rtlCol="0" anchor="ctr"/>
          <a:lstStyle/>
          <a:p>
            <a:pPr algn="ctr"/>
          </a:p>
        </p:txBody>
      </p:sp>
      <p:sp>
        <p:nvSpPr>
          <p:cNvPr id="5" name="TextBox 4"/>
          <p:cNvSpPr txBox="1"/>
          <p:nvPr/>
        </p:nvSpPr>
        <p:spPr>
          <a:xfrm>
            <a:off x="584200" y="1117600"/>
            <a:ext cx="6515100" cy="127000"/>
          </a:xfrm>
          <a:prstGeom prst="rect">
            <a:avLst/>
          </a:prstGeom>
          <a:noFill/>
        </p:spPr>
        <p:txBody>
          <a:bodyPr wrap="square" lIns="0" rIns="0" tIns="0" bIns="0" anchor="t">
            <a:spAutoFit/>
          </a:bodyPr>
          <a:lstStyle/>
          <a:p>
            <a:pPr algn="l">
              <a:lnSpc>
                <a:spcPts val="1100"/>
              </a:lnSpc>
              <a:spcAft>
                <a:spcPts val="400"/>
              </a:spcAft>
            </a:pPr>
            <a:r>
              <a:rPr sz="800" b="0" i="0" lang="fr-FR">
                <a:solidFill>
                  <a:srgbClr val="0B1B2E"/>
                </a:solidFill>
                <a:latin typeface="Ubuntu Mono"/>
                <a:ea typeface="Ubuntu Mono"/>
                <a:cs typeface="Ubuntu Mono"/>
                <a:sym typeface="Ubuntu Mono"/>
              </a:rPr>
              <a:t>Enedril est une société française indépendante fondée en 2013, spécialisée dans le forage dirigé, le fishing et l'intervention sur puits, pour des projets de géothermie, de pétrole et gaz et de stockage souterrain de gaz, en France et à l'international. Dirigée depuis 2022 par Fabien et Alexis, elle associe une solide expérience du terrain et un savoir-faire technique, et est reconnue pour sa réactivité, sa flexibilité et sa facilité de collaboration.</a:t>
            </a:r>
          </a:p>
        </p:txBody>
      </p:sp>
      <p:sp>
        <p:nvSpPr>
          <p:cNvPr id="6" name="Rectangle 5"/>
          <p:cNvSpPr/>
          <p:nvPr/>
        </p:nvSpPr>
        <p:spPr>
          <a:xfrm>
            <a:off x="457200" y="2082800"/>
            <a:ext cx="1587500" cy="685800"/>
          </a:xfrm>
          <a:prstGeom prst="rect">
            <a:avLst/>
          </a:prstGeom>
          <a:solidFill>
            <a:srgbClr val="194E9A"/>
          </a:solidFill>
          <a:ln>
            <a:noFill/>
          </a:ln>
        </p:spPr>
        <p:txBody>
          <a:bodyPr rtlCol="0" anchor="ctr"/>
          <a:lstStyle/>
          <a:p>
            <a:pPr algn="ctr"/>
          </a:p>
        </p:txBody>
      </p:sp>
      <p:sp>
        <p:nvSpPr>
          <p:cNvPr id="7" name="TextBox 6"/>
          <p:cNvSpPr txBox="1"/>
          <p:nvPr/>
        </p:nvSpPr>
        <p:spPr>
          <a:xfrm>
            <a:off x="457200" y="2192528"/>
            <a:ext cx="1587500" cy="127000"/>
          </a:xfrm>
          <a:prstGeom prst="rect">
            <a:avLst/>
          </a:prstGeom>
          <a:noFill/>
        </p:spPr>
        <p:txBody>
          <a:bodyPr wrap="square" lIns="0" rIns="0" tIns="0" bIns="0" anchor="t">
            <a:spAutoFit/>
          </a:bodyPr>
          <a:lstStyle/>
          <a:p>
            <a:pPr algn="ctr">
              <a:lnSpc>
                <a:spcPts val="2100"/>
              </a:lnSpc>
              <a:spcAft>
                <a:spcPts val="0"/>
              </a:spcAft>
            </a:pPr>
            <a:r>
              <a:rPr sz="1800" b="1" i="0" lang="fr-FR">
                <a:solidFill>
                  <a:srgbClr val="FFFFFF"/>
                </a:solidFill>
                <a:latin typeface="Ubuntu Mono"/>
                <a:ea typeface="Ubuntu Mono"/>
                <a:cs typeface="Ubuntu Mono"/>
                <a:sym typeface="Ubuntu Mono"/>
              </a:rPr>
              <a:t>98 500 m</a:t>
            </a:r>
          </a:p>
        </p:txBody>
      </p:sp>
      <p:sp>
        <p:nvSpPr>
          <p:cNvPr id="8" name="TextBox 7"/>
          <p:cNvSpPr txBox="1"/>
          <p:nvPr/>
        </p:nvSpPr>
        <p:spPr>
          <a:xfrm>
            <a:off x="533400" y="2484628"/>
            <a:ext cx="1435100" cy="127000"/>
          </a:xfrm>
          <a:prstGeom prst="rect">
            <a:avLst/>
          </a:prstGeom>
          <a:noFill/>
        </p:spPr>
        <p:txBody>
          <a:bodyPr wrap="square" lIns="0" rIns="0" t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forés</a:t>
            </a:r>
          </a:p>
        </p:txBody>
      </p:sp>
      <p:sp>
        <p:nvSpPr>
          <p:cNvPr id="9" name="Rectangle 8"/>
          <p:cNvSpPr/>
          <p:nvPr/>
        </p:nvSpPr>
        <p:spPr>
          <a:xfrm>
            <a:off x="2120900" y="2082800"/>
            <a:ext cx="1587500" cy="685800"/>
          </a:xfrm>
          <a:prstGeom prst="rect">
            <a:avLst/>
          </a:prstGeom>
          <a:solidFill>
            <a:srgbClr val="0F7FCB"/>
          </a:solidFill>
          <a:ln>
            <a:noFill/>
          </a:ln>
        </p:spPr>
        <p:txBody>
          <a:bodyPr rtlCol="0" anchor="ctr"/>
          <a:lstStyle/>
          <a:p>
            <a:pPr algn="ctr"/>
          </a:p>
        </p:txBody>
      </p:sp>
      <p:sp>
        <p:nvSpPr>
          <p:cNvPr id="10" name="TextBox 9"/>
          <p:cNvSpPr txBox="1"/>
          <p:nvPr/>
        </p:nvSpPr>
        <p:spPr>
          <a:xfrm>
            <a:off x="2120900" y="2192528"/>
            <a:ext cx="1587500" cy="127000"/>
          </a:xfrm>
          <a:prstGeom prst="rect">
            <a:avLst/>
          </a:prstGeom>
          <a:noFill/>
        </p:spPr>
        <p:txBody>
          <a:bodyPr wrap="square" lIns="0" rIns="0" tIns="0" bIns="0" anchor="t">
            <a:spAutoFit/>
          </a:bodyPr>
          <a:lstStyle/>
          <a:p>
            <a:pPr algn="ctr">
              <a:lnSpc>
                <a:spcPts val="2500"/>
              </a:lnSpc>
              <a:spcAft>
                <a:spcPts val="0"/>
              </a:spcAft>
            </a:pPr>
            <a:r>
              <a:rPr sz="2200" b="1" i="0" lang="fr-FR">
                <a:solidFill>
                  <a:srgbClr val="FFFFFF"/>
                </a:solidFill>
                <a:latin typeface="Ubuntu Mono"/>
                <a:ea typeface="Ubuntu Mono"/>
                <a:cs typeface="Ubuntu Mono"/>
                <a:sym typeface="Ubuntu Mono"/>
              </a:rPr>
              <a:t>75</a:t>
            </a:r>
          </a:p>
        </p:txBody>
      </p:sp>
      <p:sp>
        <p:nvSpPr>
          <p:cNvPr id="11" name="TextBox 10"/>
          <p:cNvSpPr txBox="1"/>
          <p:nvPr/>
        </p:nvSpPr>
        <p:spPr>
          <a:xfrm>
            <a:off x="2197100" y="2535428"/>
            <a:ext cx="1435100" cy="127000"/>
          </a:xfrm>
          <a:prstGeom prst="rect">
            <a:avLst/>
          </a:prstGeom>
          <a:noFill/>
        </p:spPr>
        <p:txBody>
          <a:bodyPr wrap="square" lIns="0" rIns="0" t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puits, jusqu'à 3 000 m TVD</a:t>
            </a:r>
          </a:p>
        </p:txBody>
      </p:sp>
      <p:sp>
        <p:nvSpPr>
          <p:cNvPr id="12" name="Rectangle 11"/>
          <p:cNvSpPr/>
          <p:nvPr/>
        </p:nvSpPr>
        <p:spPr>
          <a:xfrm>
            <a:off x="3784600" y="2082800"/>
            <a:ext cx="1587500" cy="685800"/>
          </a:xfrm>
          <a:prstGeom prst="rect">
            <a:avLst/>
          </a:prstGeom>
          <a:solidFill>
            <a:srgbClr val="2BAEF6"/>
          </a:solidFill>
          <a:ln>
            <a:noFill/>
          </a:ln>
        </p:spPr>
        <p:txBody>
          <a:bodyPr rtlCol="0" anchor="ctr"/>
          <a:lstStyle/>
          <a:p>
            <a:pPr algn="ctr"/>
          </a:p>
        </p:txBody>
      </p:sp>
      <p:sp>
        <p:nvSpPr>
          <p:cNvPr id="13" name="TextBox 12"/>
          <p:cNvSpPr txBox="1"/>
          <p:nvPr/>
        </p:nvSpPr>
        <p:spPr>
          <a:xfrm>
            <a:off x="3784600" y="2192528"/>
            <a:ext cx="1587500" cy="127000"/>
          </a:xfrm>
          <a:prstGeom prst="rect">
            <a:avLst/>
          </a:prstGeom>
          <a:noFill/>
        </p:spPr>
        <p:txBody>
          <a:bodyPr wrap="square" lIns="0" rIns="0" tIns="0" bIns="0" anchor="t">
            <a:spAutoFit/>
          </a:bodyPr>
          <a:lstStyle/>
          <a:p>
            <a:pPr algn="ctr">
              <a:lnSpc>
                <a:spcPts val="2500"/>
              </a:lnSpc>
              <a:spcAft>
                <a:spcPts val="0"/>
              </a:spcAft>
            </a:pPr>
            <a:r>
              <a:rPr sz="2200" b="1" i="0" lang="fr-FR">
                <a:solidFill>
                  <a:srgbClr val="FFFFFF"/>
                </a:solidFill>
                <a:latin typeface="Ubuntu Mono"/>
                <a:ea typeface="Ubuntu Mono"/>
                <a:cs typeface="Ubuntu Mono"/>
                <a:sym typeface="Ubuntu Mono"/>
              </a:rPr>
              <a:t>142</a:t>
            </a:r>
          </a:p>
        </p:txBody>
      </p:sp>
      <p:sp>
        <p:nvSpPr>
          <p:cNvPr id="14" name="TextBox 13"/>
          <p:cNvSpPr txBox="1"/>
          <p:nvPr/>
        </p:nvSpPr>
        <p:spPr>
          <a:xfrm>
            <a:off x="3860800" y="2535428"/>
            <a:ext cx="1435100" cy="127000"/>
          </a:xfrm>
          <a:prstGeom prst="rect">
            <a:avLst/>
          </a:prstGeom>
          <a:noFill/>
        </p:spPr>
        <p:txBody>
          <a:bodyPr wrap="square" lIns="0" rIns="0" t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interventions fishing, workover et P&amp;A</a:t>
            </a:r>
          </a:p>
        </p:txBody>
      </p:sp>
      <p:sp>
        <p:nvSpPr>
          <p:cNvPr id="15" name="Rectangle 14"/>
          <p:cNvSpPr/>
          <p:nvPr/>
        </p:nvSpPr>
        <p:spPr>
          <a:xfrm>
            <a:off x="5448300" y="2082800"/>
            <a:ext cx="1651000" cy="685800"/>
          </a:xfrm>
          <a:prstGeom prst="rect">
            <a:avLst/>
          </a:prstGeom>
          <a:solidFill>
            <a:srgbClr val="194E9A"/>
          </a:solidFill>
          <a:ln>
            <a:noFill/>
          </a:ln>
        </p:spPr>
        <p:txBody>
          <a:bodyPr rtlCol="0" anchor="ctr"/>
          <a:lstStyle/>
          <a:p>
            <a:pPr algn="ctr"/>
          </a:p>
        </p:txBody>
      </p:sp>
      <p:sp>
        <p:nvSpPr>
          <p:cNvPr id="16" name="TextBox 15"/>
          <p:cNvSpPr txBox="1"/>
          <p:nvPr/>
        </p:nvSpPr>
        <p:spPr>
          <a:xfrm>
            <a:off x="5448300" y="2192528"/>
            <a:ext cx="1651000" cy="127000"/>
          </a:xfrm>
          <a:prstGeom prst="rect">
            <a:avLst/>
          </a:prstGeom>
          <a:noFill/>
        </p:spPr>
        <p:txBody>
          <a:bodyPr wrap="square" lIns="0" rIns="0" tIns="0" bIns="0" anchor="t">
            <a:spAutoFit/>
          </a:bodyPr>
          <a:lstStyle/>
          <a:p>
            <a:pPr algn="ctr">
              <a:lnSpc>
                <a:spcPts val="2500"/>
              </a:lnSpc>
              <a:spcAft>
                <a:spcPts val="0"/>
              </a:spcAft>
            </a:pPr>
            <a:r>
              <a:rPr sz="2200" b="1" i="0" lang="fr-FR">
                <a:solidFill>
                  <a:srgbClr val="FFFFFF"/>
                </a:solidFill>
                <a:latin typeface="Ubuntu Mono"/>
                <a:ea typeface="Ubuntu Mono"/>
                <a:cs typeface="Ubuntu Mono"/>
                <a:sym typeface="Ubuntu Mono"/>
              </a:rPr>
              <a:t>2 500</a:t>
            </a:r>
          </a:p>
        </p:txBody>
      </p:sp>
      <p:sp>
        <p:nvSpPr>
          <p:cNvPr id="17" name="TextBox 16"/>
          <p:cNvSpPr txBox="1"/>
          <p:nvPr/>
        </p:nvSpPr>
        <p:spPr>
          <a:xfrm>
            <a:off x="5524500" y="2535428"/>
            <a:ext cx="1498600" cy="127000"/>
          </a:xfrm>
          <a:prstGeom prst="rect">
            <a:avLst/>
          </a:prstGeom>
          <a:noFill/>
        </p:spPr>
        <p:txBody>
          <a:bodyPr wrap="square" lIns="0" rIns="0" t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outils en stock</a:t>
            </a:r>
          </a:p>
        </p:txBody>
      </p:sp>
      <p:sp>
        <p:nvSpPr>
          <p:cNvPr id="18" name="TextBox 17"/>
          <p:cNvSpPr txBox="1"/>
          <p:nvPr/>
        </p:nvSpPr>
        <p:spPr>
          <a:xfrm>
            <a:off x="457200" y="2997200"/>
            <a:ext cx="3810000" cy="127000"/>
          </a:xfrm>
          <a:prstGeom prst="rect">
            <a:avLst/>
          </a:prstGeom>
          <a:noFill/>
        </p:spPr>
        <p:txBody>
          <a:bodyPr wrap="square" lIns="0" rIns="0" tIns="0" bIns="0" anchor="t">
            <a:spAutoFit/>
          </a:bodyPr>
          <a:lstStyle/>
          <a:p>
            <a:pPr algn="l">
              <a:spcAft>
                <a:spcPts val="0"/>
              </a:spcAft>
            </a:pPr>
            <a:r>
              <a:rPr sz="1100" b="1" i="0" lang="fr-FR">
                <a:solidFill>
                  <a:srgbClr val="194E9A"/>
                </a:solidFill>
                <a:latin typeface="Ubuntu Mono"/>
                <a:ea typeface="Ubuntu Mono"/>
                <a:cs typeface="Ubuntu Mono"/>
                <a:sym typeface="Ubuntu Mono"/>
              </a:rPr>
              <a:t>NOS INSTALLATIONS</a:t>
            </a:r>
          </a:p>
        </p:txBody>
      </p:sp>
      <p:sp>
        <p:nvSpPr>
          <p:cNvPr id="19" name="TextBox 18"/>
          <p:cNvSpPr txBox="1"/>
          <p:nvPr/>
        </p:nvSpPr>
        <p:spPr>
          <a:xfrm>
            <a:off x="457200" y="3213100"/>
            <a:ext cx="3683000" cy="127000"/>
          </a:xfrm>
          <a:prstGeom prst="rect">
            <a:avLst/>
          </a:prstGeom>
          <a:noFill/>
        </p:spPr>
        <p:txBody>
          <a:bodyPr wrap="square" lIns="0" rIns="0" tIns="0" bIns="0" anchor="t">
            <a:spAutoFit/>
          </a:bodyPr>
          <a:lstStyle/>
          <a:p>
            <a:pPr algn="l">
              <a:lnSpc>
                <a:spcPts val="1000"/>
              </a:lnSpc>
              <a:spcAft>
                <a:spcPts val="400"/>
              </a:spcAft>
            </a:pPr>
            <a:r>
              <a:rPr sz="760" b="0" i="0" lang="fr-FR">
                <a:solidFill>
                  <a:srgbClr val="0B1B2E"/>
                </a:solidFill>
                <a:latin typeface="Ubuntu Mono"/>
                <a:ea typeface="Ubuntu Mono"/>
                <a:cs typeface="Ubuntu Mono"/>
                <a:sym typeface="Ubuntu Mono"/>
              </a:rPr>
              <a:t>Depuis 2013 nous opérons depuis Lons, près de Pau, avec deux ateliers entièrement équipés de plus de 1 000 m², un pont roulant de 5 t, un banc de dévissage, un banc d'essai de coulisses, un tour, des fraiseuses et rectifieuses, et un atelier de soudure séparé.</a:t>
            </a:r>
          </a:p>
          <a:p>
            <a:pPr algn="l">
              <a:lnSpc>
                <a:spcPts val="1000"/>
              </a:lnSpc>
              <a:spcAft>
                <a:spcPts val="400"/>
              </a:spcAft>
            </a:pPr>
            <a:r>
              <a:rPr sz="760" b="0" i="0" lang="fr-FR">
                <a:solidFill>
                  <a:srgbClr val="0B1B2E"/>
                </a:solidFill>
                <a:latin typeface="Ubuntu Mono"/>
                <a:ea typeface="Ubuntu Mono"/>
                <a:cs typeface="Ubuntu Mono"/>
                <a:sym typeface="Ubuntu Mono"/>
              </a:rPr>
              <a:t>Un parc extérieur de 3 500 m² stocke tubulaires, stabilisateurs et conteneurs de chantier, pour une logistique à grande échelle.</a:t>
            </a:r>
          </a:p>
          <a:p>
            <a:pPr algn="l">
              <a:lnSpc>
                <a:spcPts val="1000"/>
              </a:lnSpc>
              <a:spcAft>
                <a:spcPts val="400"/>
              </a:spcAft>
            </a:pPr>
            <a:r>
              <a:rPr sz="760" b="0" i="0" lang="fr-FR">
                <a:solidFill>
                  <a:srgbClr val="0B1B2E"/>
                </a:solidFill>
                <a:latin typeface="Ubuntu Mono"/>
                <a:ea typeface="Ubuntu Mono"/>
                <a:cs typeface="Ubuntu Mono"/>
                <a:sym typeface="Ubuntu Mono"/>
              </a:rPr>
              <a:t>Un stock de matériel rare en France : moteurs de fond de 3-1/8" à 9-5/8", amortisseurs, coulisses de forage, kits MWD et une très large gamme d'outils de fishing.</a:t>
            </a:r>
          </a:p>
        </p:txBody>
      </p:sp>
      <p:pic>
        <p:nvPicPr>
          <p:cNvPr id="20" name="Picture 19" descr="_c_geo_219_146.png"/>
          <p:cNvPicPr>
            <a:picLocks noChangeAspect="1"/>
          </p:cNvPicPr>
          <p:nvPr/>
        </p:nvPicPr>
        <p:blipFill>
          <a:blip r:embed="rId3"/>
          <a:stretch>
            <a:fillRect/>
          </a:stretch>
        </p:blipFill>
        <p:spPr>
          <a:xfrm>
            <a:off x="4318000" y="2997200"/>
            <a:ext cx="2781300" cy="1854200"/>
          </a:xfrm>
          <a:prstGeom prst="rect">
            <a:avLst/>
          </a:prstGeom>
        </p:spPr>
      </p:pic>
      <p:sp>
        <p:nvSpPr>
          <p:cNvPr id="21" name="TextBox 20"/>
          <p:cNvSpPr txBox="1"/>
          <p:nvPr/>
        </p:nvSpPr>
        <p:spPr>
          <a:xfrm>
            <a:off x="4318000" y="4876800"/>
            <a:ext cx="2781300" cy="127000"/>
          </a:xfrm>
          <a:prstGeom prst="rect">
            <a:avLst/>
          </a:prstGeom>
          <a:noFill/>
        </p:spPr>
        <p:txBody>
          <a:bodyPr wrap="square" lIns="0" rIns="0" tIns="0" bIns="0" anchor="t">
            <a:spAutoFit/>
          </a:bodyPr>
          <a:lstStyle/>
          <a:p>
            <a:pPr algn="l">
              <a:spcAft>
                <a:spcPts val="0"/>
              </a:spcAft>
            </a:pPr>
            <a:r>
              <a:rPr sz="640" b="0" i="1" lang="fr-FR">
                <a:solidFill>
                  <a:srgbClr val="5A6B7F"/>
                </a:solidFill>
                <a:latin typeface="Ubuntu Mono"/>
                <a:ea typeface="Ubuntu Mono"/>
                <a:cs typeface="Ubuntu Mono"/>
                <a:sym typeface="Ubuntu Mono"/>
              </a:rPr>
              <a:t>Doublet géothermique : puits d'injection et de production</a:t>
            </a:r>
          </a:p>
        </p:txBody>
      </p:sp>
      <p:sp>
        <p:nvSpPr>
          <p:cNvPr id="22" name="TextBox 21"/>
          <p:cNvSpPr txBox="1"/>
          <p:nvPr/>
        </p:nvSpPr>
        <p:spPr>
          <a:xfrm>
            <a:off x="457200" y="5130800"/>
            <a:ext cx="3810000" cy="127000"/>
          </a:xfrm>
          <a:prstGeom prst="rect">
            <a:avLst/>
          </a:prstGeom>
          <a:noFill/>
        </p:spPr>
        <p:txBody>
          <a:bodyPr wrap="square" lIns="0" rIns="0" tIns="0" bIns="0" anchor="t">
            <a:spAutoFit/>
          </a:bodyPr>
          <a:lstStyle/>
          <a:p>
            <a:pPr algn="l">
              <a:spcAft>
                <a:spcPts val="0"/>
              </a:spcAft>
            </a:pPr>
            <a:r>
              <a:rPr sz="1100" b="1" i="0" lang="fr-FR">
                <a:solidFill>
                  <a:srgbClr val="194E9A"/>
                </a:solidFill>
                <a:latin typeface="Ubuntu Mono"/>
                <a:ea typeface="Ubuntu Mono"/>
                <a:cs typeface="Ubuntu Mono"/>
                <a:sym typeface="Ubuntu Mono"/>
              </a:rPr>
              <a:t>NOS VALEURS</a:t>
            </a:r>
          </a:p>
        </p:txBody>
      </p:sp>
      <p:sp>
        <p:nvSpPr>
          <p:cNvPr id="23" name="Rectangle 22"/>
          <p:cNvSpPr/>
          <p:nvPr/>
        </p:nvSpPr>
        <p:spPr>
          <a:xfrm>
            <a:off x="457200" y="5359400"/>
            <a:ext cx="2108200" cy="787400"/>
          </a:xfrm>
          <a:prstGeom prst="rect">
            <a:avLst/>
          </a:prstGeom>
          <a:solidFill>
            <a:srgbClr val="194E9A"/>
          </a:solidFill>
          <a:ln>
            <a:noFill/>
          </a:ln>
        </p:spPr>
        <p:txBody>
          <a:bodyPr rtlCol="0" anchor="ctr"/>
          <a:lstStyle/>
          <a:p>
            <a:pPr algn="ctr"/>
          </a:p>
        </p:txBody>
      </p:sp>
      <p:sp>
        <p:nvSpPr>
          <p:cNvPr id="24" name="TextBox 23"/>
          <p:cNvSpPr txBox="1"/>
          <p:nvPr/>
        </p:nvSpPr>
        <p:spPr>
          <a:xfrm>
            <a:off x="584200" y="5461000"/>
            <a:ext cx="1854200" cy="127000"/>
          </a:xfrm>
          <a:prstGeom prst="rect">
            <a:avLst/>
          </a:prstGeom>
          <a:noFill/>
        </p:spPr>
        <p:txBody>
          <a:bodyPr wrap="square" lIns="0" rIns="0" tIns="0" bIns="0" anchor="t">
            <a:spAutoFit/>
          </a:bodyPr>
          <a:lstStyle/>
          <a:p>
            <a:pPr algn="l">
              <a:lnSpc>
                <a:spcPts val="919"/>
              </a:lnSpc>
              <a:spcAft>
                <a:spcPts val="200"/>
              </a:spcAft>
            </a:pPr>
            <a:r>
              <a:rPr sz="900" b="1" i="0" lang="fr-FR">
                <a:solidFill>
                  <a:srgbClr val="FFFFFF"/>
                </a:solidFill>
                <a:latin typeface="Ubuntu Mono"/>
                <a:ea typeface="Ubuntu Mono"/>
                <a:cs typeface="Ubuntu Mono"/>
                <a:sym typeface="Ubuntu Mono"/>
              </a:rPr>
              <a:t>RESPECT</a:t>
            </a:r>
          </a:p>
          <a:p>
            <a:pPr algn="l">
              <a:lnSpc>
                <a:spcPts val="919"/>
              </a:lnSpc>
              <a:spcAft>
                <a:spcPts val="200"/>
              </a:spcAft>
            </a:pPr>
            <a:r>
              <a:rPr sz="700" b="0" i="0" lang="fr-FR">
                <a:solidFill>
                  <a:srgbClr val="FFFFFF"/>
                </a:solidFill>
                <a:latin typeface="Ubuntu Mono"/>
                <a:ea typeface="Ubuntu Mono"/>
                <a:cs typeface="Ubuntu Mono"/>
                <a:sym typeface="Ubuntu Mono"/>
              </a:rPr>
              <a:t>Pour nos clients, nos équipes, et les personnes et lieux qui nous entourent.</a:t>
            </a:r>
          </a:p>
        </p:txBody>
      </p:sp>
      <p:sp>
        <p:nvSpPr>
          <p:cNvPr id="25" name="Rectangle 24"/>
          <p:cNvSpPr/>
          <p:nvPr/>
        </p:nvSpPr>
        <p:spPr>
          <a:xfrm>
            <a:off x="2724150" y="5359400"/>
            <a:ext cx="2108200" cy="787400"/>
          </a:xfrm>
          <a:prstGeom prst="rect">
            <a:avLst/>
          </a:prstGeom>
          <a:solidFill>
            <a:srgbClr val="0F7FCB"/>
          </a:solidFill>
          <a:ln>
            <a:noFill/>
          </a:ln>
        </p:spPr>
        <p:txBody>
          <a:bodyPr rtlCol="0" anchor="ctr"/>
          <a:lstStyle/>
          <a:p>
            <a:pPr algn="ctr"/>
          </a:p>
        </p:txBody>
      </p:sp>
      <p:sp>
        <p:nvSpPr>
          <p:cNvPr id="26" name="TextBox 25"/>
          <p:cNvSpPr txBox="1"/>
          <p:nvPr/>
        </p:nvSpPr>
        <p:spPr>
          <a:xfrm>
            <a:off x="2851150" y="5461000"/>
            <a:ext cx="1854200" cy="127000"/>
          </a:xfrm>
          <a:prstGeom prst="rect">
            <a:avLst/>
          </a:prstGeom>
          <a:noFill/>
        </p:spPr>
        <p:txBody>
          <a:bodyPr wrap="square" lIns="0" rIns="0" tIns="0" bIns="0" anchor="t">
            <a:spAutoFit/>
          </a:bodyPr>
          <a:lstStyle/>
          <a:p>
            <a:pPr algn="l">
              <a:lnSpc>
                <a:spcPts val="919"/>
              </a:lnSpc>
              <a:spcAft>
                <a:spcPts val="200"/>
              </a:spcAft>
            </a:pPr>
            <a:r>
              <a:rPr sz="900" b="1" i="0" lang="fr-FR">
                <a:solidFill>
                  <a:srgbClr val="FFFFFF"/>
                </a:solidFill>
                <a:latin typeface="Ubuntu Mono"/>
                <a:ea typeface="Ubuntu Mono"/>
                <a:cs typeface="Ubuntu Mono"/>
                <a:sym typeface="Ubuntu Mono"/>
              </a:rPr>
              <a:t>ESPRIT D'ÉQUIPE</a:t>
            </a:r>
          </a:p>
          <a:p>
            <a:pPr algn="l">
              <a:lnSpc>
                <a:spcPts val="919"/>
              </a:lnSpc>
              <a:spcAft>
                <a:spcPts val="200"/>
              </a:spcAft>
            </a:pPr>
            <a:r>
              <a:rPr sz="700" b="0" i="0" lang="fr-FR">
                <a:solidFill>
                  <a:srgbClr val="FFFFFF"/>
                </a:solidFill>
                <a:latin typeface="Ubuntu Mono"/>
                <a:ea typeface="Ubuntu Mono"/>
                <a:cs typeface="Ubuntu Mono"/>
                <a:sym typeface="Ubuntu Mono"/>
              </a:rPr>
              <a:t>La vraie réussite naît de valeurs fortes et du travail en commun.</a:t>
            </a:r>
          </a:p>
        </p:txBody>
      </p:sp>
      <p:sp>
        <p:nvSpPr>
          <p:cNvPr id="27" name="Rectangle 26"/>
          <p:cNvSpPr/>
          <p:nvPr/>
        </p:nvSpPr>
        <p:spPr>
          <a:xfrm>
            <a:off x="4991100" y="5359400"/>
            <a:ext cx="2108200" cy="787400"/>
          </a:xfrm>
          <a:prstGeom prst="rect">
            <a:avLst/>
          </a:prstGeom>
          <a:solidFill>
            <a:srgbClr val="2BAEF6"/>
          </a:solidFill>
          <a:ln>
            <a:noFill/>
          </a:ln>
        </p:spPr>
        <p:txBody>
          <a:bodyPr rtlCol="0" anchor="ctr"/>
          <a:lstStyle/>
          <a:p>
            <a:pPr algn="ctr"/>
          </a:p>
        </p:txBody>
      </p:sp>
      <p:sp>
        <p:nvSpPr>
          <p:cNvPr id="28" name="TextBox 27"/>
          <p:cNvSpPr txBox="1"/>
          <p:nvPr/>
        </p:nvSpPr>
        <p:spPr>
          <a:xfrm>
            <a:off x="5118100" y="5461000"/>
            <a:ext cx="1854200" cy="127000"/>
          </a:xfrm>
          <a:prstGeom prst="rect">
            <a:avLst/>
          </a:prstGeom>
          <a:noFill/>
        </p:spPr>
        <p:txBody>
          <a:bodyPr wrap="square" lIns="0" rIns="0" tIns="0" bIns="0" anchor="t">
            <a:spAutoFit/>
          </a:bodyPr>
          <a:lstStyle/>
          <a:p>
            <a:pPr algn="l">
              <a:lnSpc>
                <a:spcPts val="919"/>
              </a:lnSpc>
              <a:spcAft>
                <a:spcPts val="200"/>
              </a:spcAft>
            </a:pPr>
            <a:r>
              <a:rPr sz="900" b="1" i="0" lang="fr-FR">
                <a:solidFill>
                  <a:srgbClr val="FFFFFF"/>
                </a:solidFill>
                <a:latin typeface="Ubuntu Mono"/>
                <a:ea typeface="Ubuntu Mono"/>
                <a:cs typeface="Ubuntu Mono"/>
                <a:sym typeface="Ubuntu Mono"/>
              </a:rPr>
              <a:t>ENVIRONNEMENT</a:t>
            </a:r>
          </a:p>
          <a:p>
            <a:pPr algn="l">
              <a:lnSpc>
                <a:spcPts val="919"/>
              </a:lnSpc>
              <a:spcAft>
                <a:spcPts val="200"/>
              </a:spcAft>
            </a:pPr>
            <a:r>
              <a:rPr sz="700" b="0" i="0" lang="fr-FR">
                <a:solidFill>
                  <a:srgbClr val="FFFFFF"/>
                </a:solidFill>
                <a:latin typeface="Ubuntu Mono"/>
                <a:ea typeface="Ubuntu Mono"/>
                <a:cs typeface="Ubuntu Mono"/>
                <a:sym typeface="Ubuntu Mono"/>
              </a:rPr>
              <a:t>Le respect de l'environnement est au cœur de notre métier.</a:t>
            </a:r>
          </a:p>
        </p:txBody>
      </p:sp>
      <p:sp>
        <p:nvSpPr>
          <p:cNvPr id="29" name="Rectangle 28"/>
          <p:cNvSpPr/>
          <p:nvPr/>
        </p:nvSpPr>
        <p:spPr>
          <a:xfrm>
            <a:off x="457200" y="6375400"/>
            <a:ext cx="6642100" cy="1651000"/>
          </a:xfrm>
          <a:prstGeom prst="rect">
            <a:avLst/>
          </a:prstGeom>
          <a:solidFill>
            <a:srgbClr val="EAF4FC"/>
          </a:solidFill>
          <a:ln>
            <a:noFill/>
          </a:ln>
        </p:spPr>
        <p:txBody>
          <a:bodyPr rtlCol="0" anchor="ctr"/>
          <a:lstStyle/>
          <a:p>
            <a:pPr algn="ctr"/>
          </a:p>
        </p:txBody>
      </p:sp>
      <p:pic>
        <p:nvPicPr>
          <p:cNvPr id="30" name="Picture 29" descr="_c_iso_110_110.png"/>
          <p:cNvPicPr>
            <a:picLocks noChangeAspect="1"/>
          </p:cNvPicPr>
          <p:nvPr/>
        </p:nvPicPr>
        <p:blipFill>
          <a:blip r:embed="rId4"/>
          <a:stretch>
            <a:fillRect/>
          </a:stretch>
        </p:blipFill>
        <p:spPr>
          <a:xfrm>
            <a:off x="609600" y="6502400"/>
            <a:ext cx="1397000" cy="1397000"/>
          </a:xfrm>
          <a:prstGeom prst="rect">
            <a:avLst/>
          </a:prstGeom>
        </p:spPr>
      </p:pic>
      <p:sp>
        <p:nvSpPr>
          <p:cNvPr id="31" name="TextBox 30"/>
          <p:cNvSpPr txBox="1"/>
          <p:nvPr/>
        </p:nvSpPr>
        <p:spPr>
          <a:xfrm>
            <a:off x="2184400" y="6527800"/>
            <a:ext cx="4699000" cy="127000"/>
          </a:xfrm>
          <a:prstGeom prst="rect">
            <a:avLst/>
          </a:prstGeom>
          <a:noFill/>
        </p:spPr>
        <p:txBody>
          <a:bodyPr wrap="square" lIns="0" rIns="0" tIns="0" bIns="0" anchor="t">
            <a:spAutoFit/>
          </a:bodyPr>
          <a:lstStyle/>
          <a:p>
            <a:pPr algn="l">
              <a:lnSpc>
                <a:spcPts val="980"/>
              </a:lnSpc>
              <a:spcAft>
                <a:spcPts val="400"/>
              </a:spcAft>
            </a:pPr>
            <a:r>
              <a:rPr sz="1000" b="1" i="0" lang="fr-FR">
                <a:solidFill>
                  <a:srgbClr val="194E9A"/>
                </a:solidFill>
                <a:latin typeface="Ubuntu Mono"/>
                <a:ea typeface="Ubuntu Mono"/>
                <a:cs typeface="Ubuntu Mono"/>
                <a:sym typeface="Ubuntu Mono"/>
              </a:rPr>
              <a:t>CERTIFIÉ ISO 9001:2015</a:t>
            </a:r>
          </a:p>
          <a:p>
            <a:pPr algn="l">
              <a:lnSpc>
                <a:spcPts val="980"/>
              </a:lnSpc>
              <a:spcAft>
                <a:spcPts val="400"/>
              </a:spcAft>
            </a:pPr>
            <a:r>
              <a:rPr sz="740" b="0" i="0" lang="fr-FR">
                <a:solidFill>
                  <a:srgbClr val="0B1B2E"/>
                </a:solidFill>
                <a:latin typeface="Ubuntu Mono"/>
                <a:ea typeface="Ubuntu Mono"/>
                <a:cs typeface="Ubuntu Mono"/>
                <a:sym typeface="Ubuntu Mono"/>
              </a:rPr>
              <a:t>Un système de management de la qualité qui suit chaque intervention du début à la fin : sécurité, qualité et fiabilité sur chaque opération.</a:t>
            </a:r>
          </a:p>
          <a:p>
            <a:pPr algn="l">
              <a:lnSpc>
                <a:spcPts val="980"/>
              </a:lnSpc>
              <a:spcAft>
                <a:spcPts val="400"/>
              </a:spcAft>
            </a:pPr>
            <a:r>
              <a:rPr sz="740" b="1" i="0" lang="fr-FR">
                <a:solidFill>
                  <a:srgbClr val="0F7FCB"/>
                </a:solidFill>
                <a:latin typeface="Ubuntu Mono"/>
                <a:ea typeface="Ubuntu Mono"/>
                <a:cs typeface="Ubuntu Mono"/>
                <a:sym typeface="Ubuntu Mono"/>
              </a:rPr>
              <a:t>Environ 15 clients accompagnés chaque année, en France et à l'international.</a:t>
            </a:r>
          </a:p>
        </p:txBody>
      </p:sp>
      <p:sp>
        <p:nvSpPr>
          <p:cNvPr id="32" name="TextBox 31"/>
          <p:cNvSpPr txBox="1"/>
          <p:nvPr/>
        </p:nvSpPr>
        <p:spPr>
          <a:xfrm>
            <a:off x="457200" y="8229600"/>
            <a:ext cx="3810000" cy="127000"/>
          </a:xfrm>
          <a:prstGeom prst="rect">
            <a:avLst/>
          </a:prstGeom>
          <a:noFill/>
        </p:spPr>
        <p:txBody>
          <a:bodyPr wrap="square" lIns="0" rIns="0" tIns="0" bIns="0" anchor="t">
            <a:spAutoFit/>
          </a:bodyPr>
          <a:lstStyle/>
          <a:p>
            <a:pPr algn="l">
              <a:spcAft>
                <a:spcPts val="0"/>
              </a:spcAft>
            </a:pPr>
            <a:r>
              <a:rPr sz="1100" b="1" i="0" lang="fr-FR">
                <a:solidFill>
                  <a:srgbClr val="194E9A"/>
                </a:solidFill>
                <a:latin typeface="Ubuntu Mono"/>
                <a:ea typeface="Ubuntu Mono"/>
                <a:cs typeface="Ubuntu Mono"/>
                <a:sym typeface="Ubuntu Mono"/>
              </a:rPr>
              <a:t>POURQUOI NOUS CHOISIR</a:t>
            </a:r>
          </a:p>
        </p:txBody>
      </p:sp>
      <p:sp>
        <p:nvSpPr>
          <p:cNvPr id="33" name="Rectangle 32"/>
          <p:cNvSpPr/>
          <p:nvPr/>
        </p:nvSpPr>
        <p:spPr>
          <a:xfrm>
            <a:off x="457200" y="8483600"/>
            <a:ext cx="38100" cy="660400"/>
          </a:xfrm>
          <a:prstGeom prst="rect">
            <a:avLst/>
          </a:prstGeom>
          <a:solidFill>
            <a:srgbClr val="1CB2FE"/>
          </a:solidFill>
          <a:ln>
            <a:noFill/>
          </a:ln>
        </p:spPr>
        <p:txBody>
          <a:bodyPr rtlCol="0" anchor="ctr"/>
          <a:lstStyle/>
          <a:p>
            <a:pPr algn="ctr"/>
          </a:p>
        </p:txBody>
      </p:sp>
      <p:sp>
        <p:nvSpPr>
          <p:cNvPr id="34" name="TextBox 33"/>
          <p:cNvSpPr txBox="1"/>
          <p:nvPr/>
        </p:nvSpPr>
        <p:spPr>
          <a:xfrm>
            <a:off x="571500" y="8483600"/>
            <a:ext cx="1498600" cy="127000"/>
          </a:xfrm>
          <a:prstGeom prst="rect">
            <a:avLst/>
          </a:prstGeom>
          <a:noFill/>
        </p:spPr>
        <p:txBody>
          <a:bodyPr wrap="square" lIns="0" rIns="0" tIns="0" bIns="0" anchor="t">
            <a:spAutoFit/>
          </a:bodyPr>
          <a:lstStyle/>
          <a:p>
            <a:pPr algn="l">
              <a:lnSpc>
                <a:spcPts val="880"/>
              </a:lnSpc>
              <a:spcAft>
                <a:spcPts val="200"/>
              </a:spcAft>
            </a:pPr>
            <a:r>
              <a:rPr sz="800" b="1" i="0" lang="fr-FR">
                <a:solidFill>
                  <a:srgbClr val="194E9A"/>
                </a:solidFill>
                <a:latin typeface="Ubuntu Mono"/>
                <a:ea typeface="Ubuntu Mono"/>
                <a:cs typeface="Ubuntu Mono"/>
                <a:sym typeface="Ubuntu Mono"/>
              </a:rPr>
              <a:t>EXPÉRIENCE</a:t>
            </a:r>
          </a:p>
          <a:p>
            <a:pPr algn="l">
              <a:lnSpc>
                <a:spcPts val="880"/>
              </a:lnSpc>
              <a:spcAft>
                <a:spcPts val="200"/>
              </a:spcAft>
            </a:pPr>
            <a:r>
              <a:rPr sz="680" b="0" i="0" lang="fr-FR">
                <a:solidFill>
                  <a:srgbClr val="0B1B2E"/>
                </a:solidFill>
                <a:latin typeface="Ubuntu Mono"/>
                <a:ea typeface="Ubuntu Mono"/>
                <a:cs typeface="Ubuntu Mono"/>
                <a:sym typeface="Ubuntu Mono"/>
              </a:rPr>
              <a:t>Des années dans l'industrie et un large éventail de projets réalisés dans tous les secteurs.</a:t>
            </a:r>
          </a:p>
        </p:txBody>
      </p:sp>
      <p:sp>
        <p:nvSpPr>
          <p:cNvPr id="35" name="Rectangle 34"/>
          <p:cNvSpPr/>
          <p:nvPr/>
        </p:nvSpPr>
        <p:spPr>
          <a:xfrm>
            <a:off x="2133600" y="8483600"/>
            <a:ext cx="38100" cy="660400"/>
          </a:xfrm>
          <a:prstGeom prst="rect">
            <a:avLst/>
          </a:prstGeom>
          <a:solidFill>
            <a:srgbClr val="1CB2FE"/>
          </a:solidFill>
          <a:ln>
            <a:noFill/>
          </a:ln>
        </p:spPr>
        <p:txBody>
          <a:bodyPr rtlCol="0" anchor="ctr"/>
          <a:lstStyle/>
          <a:p>
            <a:pPr algn="ctr"/>
          </a:p>
        </p:txBody>
      </p:sp>
      <p:sp>
        <p:nvSpPr>
          <p:cNvPr id="36" name="TextBox 35"/>
          <p:cNvSpPr txBox="1"/>
          <p:nvPr/>
        </p:nvSpPr>
        <p:spPr>
          <a:xfrm>
            <a:off x="2247900" y="8483600"/>
            <a:ext cx="1498600" cy="127000"/>
          </a:xfrm>
          <a:prstGeom prst="rect">
            <a:avLst/>
          </a:prstGeom>
          <a:noFill/>
        </p:spPr>
        <p:txBody>
          <a:bodyPr wrap="square" lIns="0" rIns="0" tIns="0" bIns="0" anchor="t">
            <a:spAutoFit/>
          </a:bodyPr>
          <a:lstStyle/>
          <a:p>
            <a:pPr algn="l">
              <a:lnSpc>
                <a:spcPts val="880"/>
              </a:lnSpc>
              <a:spcAft>
                <a:spcPts val="200"/>
              </a:spcAft>
            </a:pPr>
            <a:r>
              <a:rPr sz="800" b="1" i="0" lang="fr-FR">
                <a:solidFill>
                  <a:srgbClr val="194E9A"/>
                </a:solidFill>
                <a:latin typeface="Ubuntu Mono"/>
                <a:ea typeface="Ubuntu Mono"/>
                <a:cs typeface="Ubuntu Mono"/>
                <a:sym typeface="Ubuntu Mono"/>
              </a:rPr>
              <a:t>EXCELLENCE</a:t>
            </a:r>
          </a:p>
          <a:p>
            <a:pPr algn="l">
              <a:lnSpc>
                <a:spcPts val="880"/>
              </a:lnSpc>
              <a:spcAft>
                <a:spcPts val="200"/>
              </a:spcAft>
            </a:pPr>
            <a:r>
              <a:rPr sz="680" b="0" i="0" lang="fr-FR">
                <a:solidFill>
                  <a:srgbClr val="0B1B2E"/>
                </a:solidFill>
                <a:latin typeface="Ubuntu Mono"/>
                <a:ea typeface="Ubuntu Mono"/>
                <a:cs typeface="Ubuntu Mono"/>
                <a:sym typeface="Ubuntu Mono"/>
              </a:rPr>
              <a:t>Un engagement pour l'excellence, la sécurité et l'innovation, au service de meilleurs résultats.</a:t>
            </a:r>
          </a:p>
        </p:txBody>
      </p:sp>
      <p:sp>
        <p:nvSpPr>
          <p:cNvPr id="37" name="Rectangle 36"/>
          <p:cNvSpPr/>
          <p:nvPr/>
        </p:nvSpPr>
        <p:spPr>
          <a:xfrm>
            <a:off x="3810000" y="8483600"/>
            <a:ext cx="38100" cy="660400"/>
          </a:xfrm>
          <a:prstGeom prst="rect">
            <a:avLst/>
          </a:prstGeom>
          <a:solidFill>
            <a:srgbClr val="1CB2FE"/>
          </a:solidFill>
          <a:ln>
            <a:noFill/>
          </a:ln>
        </p:spPr>
        <p:txBody>
          <a:bodyPr rtlCol="0" anchor="ctr"/>
          <a:lstStyle/>
          <a:p>
            <a:pPr algn="ctr"/>
          </a:p>
        </p:txBody>
      </p:sp>
      <p:sp>
        <p:nvSpPr>
          <p:cNvPr id="38" name="TextBox 37"/>
          <p:cNvSpPr txBox="1"/>
          <p:nvPr/>
        </p:nvSpPr>
        <p:spPr>
          <a:xfrm>
            <a:off x="3924300" y="8483600"/>
            <a:ext cx="1498600" cy="127000"/>
          </a:xfrm>
          <a:prstGeom prst="rect">
            <a:avLst/>
          </a:prstGeom>
          <a:noFill/>
        </p:spPr>
        <p:txBody>
          <a:bodyPr wrap="square" lIns="0" rIns="0" tIns="0" bIns="0" anchor="t">
            <a:spAutoFit/>
          </a:bodyPr>
          <a:lstStyle/>
          <a:p>
            <a:pPr algn="l">
              <a:lnSpc>
                <a:spcPts val="880"/>
              </a:lnSpc>
              <a:spcAft>
                <a:spcPts val="200"/>
              </a:spcAft>
            </a:pPr>
            <a:r>
              <a:rPr sz="800" b="1" i="0" lang="fr-FR">
                <a:solidFill>
                  <a:srgbClr val="194E9A"/>
                </a:solidFill>
                <a:latin typeface="Ubuntu Mono"/>
                <a:ea typeface="Ubuntu Mono"/>
                <a:cs typeface="Ubuntu Mono"/>
                <a:sym typeface="Ubuntu Mono"/>
              </a:rPr>
              <a:t>SOLUTIONS SUR MESURE</a:t>
            </a:r>
          </a:p>
          <a:p>
            <a:pPr algn="l">
              <a:lnSpc>
                <a:spcPts val="880"/>
              </a:lnSpc>
              <a:spcAft>
                <a:spcPts val="200"/>
              </a:spcAft>
            </a:pPr>
            <a:r>
              <a:rPr sz="680" b="0" i="0" lang="fr-FR">
                <a:solidFill>
                  <a:srgbClr val="0B1B2E"/>
                </a:solidFill>
                <a:latin typeface="Ubuntu Mono"/>
                <a:ea typeface="Ubuntu Mono"/>
                <a:cs typeface="Ubuntu Mono"/>
                <a:sym typeface="Ubuntu Mono"/>
              </a:rPr>
              <a:t>Chaque projet est unique : outils et procédures adaptés.</a:t>
            </a:r>
          </a:p>
        </p:txBody>
      </p:sp>
      <p:sp>
        <p:nvSpPr>
          <p:cNvPr id="39" name="Rectangle 38"/>
          <p:cNvSpPr/>
          <p:nvPr/>
        </p:nvSpPr>
        <p:spPr>
          <a:xfrm>
            <a:off x="5486400" y="8483600"/>
            <a:ext cx="38100" cy="660400"/>
          </a:xfrm>
          <a:prstGeom prst="rect">
            <a:avLst/>
          </a:prstGeom>
          <a:solidFill>
            <a:srgbClr val="1CB2FE"/>
          </a:solidFill>
          <a:ln>
            <a:noFill/>
          </a:ln>
        </p:spPr>
        <p:txBody>
          <a:bodyPr rtlCol="0" anchor="ctr"/>
          <a:lstStyle/>
          <a:p>
            <a:pPr algn="ctr"/>
          </a:p>
        </p:txBody>
      </p:sp>
      <p:sp>
        <p:nvSpPr>
          <p:cNvPr id="40" name="TextBox 39"/>
          <p:cNvSpPr txBox="1"/>
          <p:nvPr/>
        </p:nvSpPr>
        <p:spPr>
          <a:xfrm>
            <a:off x="5600700" y="8483600"/>
            <a:ext cx="1498600" cy="127000"/>
          </a:xfrm>
          <a:prstGeom prst="rect">
            <a:avLst/>
          </a:prstGeom>
          <a:noFill/>
        </p:spPr>
        <p:txBody>
          <a:bodyPr wrap="square" lIns="0" rIns="0" tIns="0" bIns="0" anchor="t">
            <a:spAutoFit/>
          </a:bodyPr>
          <a:lstStyle/>
          <a:p>
            <a:pPr algn="l">
              <a:lnSpc>
                <a:spcPts val="880"/>
              </a:lnSpc>
              <a:spcAft>
                <a:spcPts val="200"/>
              </a:spcAft>
            </a:pPr>
            <a:r>
              <a:rPr sz="800" b="1" i="0" lang="fr-FR">
                <a:solidFill>
                  <a:srgbClr val="194E9A"/>
                </a:solidFill>
                <a:latin typeface="Ubuntu Mono"/>
                <a:ea typeface="Ubuntu Mono"/>
                <a:cs typeface="Ubuntu Mono"/>
                <a:sym typeface="Ubuntu Mono"/>
              </a:rPr>
              <a:t>FIABILITÉ</a:t>
            </a:r>
          </a:p>
          <a:p>
            <a:pPr algn="l">
              <a:lnSpc>
                <a:spcPts val="880"/>
              </a:lnSpc>
              <a:spcAft>
                <a:spcPts val="200"/>
              </a:spcAft>
            </a:pPr>
            <a:r>
              <a:rPr sz="680" b="0" i="0" lang="fr-FR">
                <a:solidFill>
                  <a:srgbClr val="0B1B2E"/>
                </a:solidFill>
                <a:latin typeface="Ubuntu Mono"/>
                <a:ea typeface="Ubuntu Mono"/>
                <a:cs typeface="Ubuntu Mono"/>
                <a:sym typeface="Ubuntu Mono"/>
              </a:rPr>
              <a:t>Un partenaire prêt à aller plus loin pour répondre à vos besoins et à vos délais.</a:t>
            </a:r>
          </a:p>
        </p:txBody>
      </p:sp>
      <p:sp>
        <p:nvSpPr>
          <p:cNvPr id="41" name="Rectangle 40"/>
          <p:cNvSpPr/>
          <p:nvPr/>
        </p:nvSpPr>
        <p:spPr>
          <a:xfrm>
            <a:off x="457200" y="9423400"/>
            <a:ext cx="6642100" cy="787400"/>
          </a:xfrm>
          <a:prstGeom prst="rect">
            <a:avLst/>
          </a:prstGeom>
          <a:solidFill>
            <a:srgbClr val="194E9A"/>
          </a:solidFill>
          <a:ln>
            <a:noFill/>
          </a:ln>
        </p:spPr>
        <p:txBody>
          <a:bodyPr rtlCol="0" anchor="ctr"/>
          <a:lstStyle/>
          <a:p>
            <a:pPr algn="ctr"/>
          </a:p>
        </p:txBody>
      </p:sp>
      <p:sp>
        <p:nvSpPr>
          <p:cNvPr id="42" name="TextBox 41"/>
          <p:cNvSpPr txBox="1"/>
          <p:nvPr/>
        </p:nvSpPr>
        <p:spPr>
          <a:xfrm>
            <a:off x="660400" y="9423400"/>
            <a:ext cx="6235700" cy="787400"/>
          </a:xfrm>
          <a:prstGeom prst="rect">
            <a:avLst/>
          </a:prstGeom>
          <a:noFill/>
        </p:spPr>
        <p:txBody>
          <a:bodyPr wrap="square" lIns="0" rIns="0" tIns="0" bIns="0" anchor="ctr">
            <a:spAutoFit/>
          </a:bodyPr>
          <a:lstStyle/>
          <a:p>
            <a:pPr algn="l">
              <a:lnSpc>
                <a:spcPts val="1300"/>
              </a:lnSpc>
              <a:spcAft>
                <a:spcPts val="200"/>
              </a:spcAft>
            </a:pPr>
            <a:r>
              <a:rPr sz="840" b="1" i="0" lang="fr-FR">
                <a:solidFill>
                  <a:srgbClr val="1CB2FE"/>
                </a:solidFill>
                <a:latin typeface="Ubuntu Mono"/>
                <a:ea typeface="Ubuntu Mono"/>
                <a:cs typeface="Ubuntu Mono"/>
                <a:sym typeface="Ubuntu Mono"/>
              </a:rPr>
              <a:t>NOTRE RAISON D'ÊTRE</a:t>
            </a:r>
          </a:p>
          <a:p>
            <a:pPr algn="l">
              <a:lnSpc>
                <a:spcPts val="1300"/>
              </a:lnSpc>
              <a:spcAft>
                <a:spcPts val="200"/>
              </a:spcAft>
            </a:pPr>
            <a:r>
              <a:rPr sz="1000" b="1" i="0" lang="fr-FR">
                <a:solidFill>
                  <a:srgbClr val="FFFFFF"/>
                </a:solidFill>
                <a:latin typeface="Ubuntu Mono"/>
                <a:ea typeface="Ubuntu Mono"/>
                <a:cs typeface="Ubuntu Mono"/>
                <a:sym typeface="Ubuntu Mono"/>
              </a:rPr>
              <a:t>Accompagner les générations futures dans la transition énergétique, en contribuant à la production d'une énergie plus responsable.</a:t>
            </a:r>
          </a:p>
        </p:txBody>
      </p:sp>
      <p:sp>
        <p:nvSpPr>
          <p:cNvPr id="43" name="Rectangle 42"/>
          <p:cNvSpPr/>
          <p:nvPr/>
        </p:nvSpPr>
        <p:spPr>
          <a:xfrm>
            <a:off x="457200" y="10388600"/>
            <a:ext cx="6642100" cy="10160"/>
          </a:xfrm>
          <a:prstGeom prst="rect">
            <a:avLst/>
          </a:prstGeom>
          <a:solidFill>
            <a:srgbClr val="B9CCE0"/>
          </a:solidFill>
          <a:ln>
            <a:noFill/>
          </a:ln>
        </p:spPr>
        <p:txBody>
          <a:bodyPr rtlCol="0" anchor="ctr"/>
          <a:lstStyle/>
          <a:p>
            <a:pPr algn="ctr"/>
          </a:p>
        </p:txBody>
      </p:sp>
      <p:sp>
        <p:nvSpPr>
          <p:cNvPr id="44" name="TextBox 43"/>
          <p:cNvSpPr txBox="1"/>
          <p:nvPr/>
        </p:nvSpPr>
        <p:spPr>
          <a:xfrm>
            <a:off x="457200" y="10464800"/>
            <a:ext cx="5080000" cy="127000"/>
          </a:xfrm>
          <a:prstGeom prst="rect">
            <a:avLst/>
          </a:prstGeom>
          <a:noFill/>
        </p:spPr>
        <p:txBody>
          <a:bodyPr wrap="square" lIns="0" rIns="0" tIns="0" bIns="0" anchor="t">
            <a:spAutoFit/>
          </a:bodyPr>
          <a:lstStyle/>
          <a:p>
            <a:pPr algn="l">
              <a:spcAft>
                <a:spcPts val="0"/>
              </a:spcAft>
            </a:pPr>
            <a:r>
              <a:rPr sz="640" b="0" i="0" lang="fr-FR">
                <a:solidFill>
                  <a:srgbClr val="5A6B7F"/>
                </a:solidFill>
                <a:latin typeface="Ubuntu Mono"/>
                <a:ea typeface="Ubuntu Mono"/>
                <a:cs typeface="Ubuntu Mono"/>
                <a:sym typeface="Ubuntu Mono"/>
              </a:rPr>
              <a:t>Enedril · Fishing and Drilling Solutions · 3 avenue des Lacs, 64140 Lons (France) · info@enedril.fr · +33 (0)5 59 04 50 45</a:t>
            </a:r>
          </a:p>
        </p:txBody>
      </p:sp>
      <p:sp>
        <p:nvSpPr>
          <p:cNvPr id="45" name="TextBox 44"/>
          <p:cNvSpPr txBox="1"/>
          <p:nvPr/>
        </p:nvSpPr>
        <p:spPr>
          <a:xfrm>
            <a:off x="6604000" y="10464800"/>
            <a:ext cx="495300" cy="127000"/>
          </a:xfrm>
          <a:prstGeom prst="rect">
            <a:avLst/>
          </a:prstGeom>
          <a:noFill/>
        </p:spPr>
        <p:txBody>
          <a:bodyPr wrap="square" lIns="0" rIns="0" tIns="0" bIns="0" anchor="t">
            <a:spAutoFit/>
          </a:bodyPr>
          <a:lstStyle/>
          <a:p>
            <a:pPr algn="r">
              <a:spcAft>
                <a:spcPts val="0"/>
              </a:spcAft>
            </a:pPr>
            <a:r>
              <a:rPr sz="800" b="0" i="0" lang="fr-FR">
                <a:solidFill>
                  <a:srgbClr val="194E9A"/>
                </a:solidFill>
                <a:latin typeface="Ubuntu Mono"/>
                <a:ea typeface="Ubuntu Mono"/>
                <a:cs typeface="Ubuntu Mono"/>
                <a:sym typeface="Ubuntu Mon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5600700" y="279400"/>
            <a:ext cx="1498600" cy="336115"/>
          </a:xfrm>
          <a:prstGeom prst="rect">
            <a:avLst/>
          </a:prstGeom>
        </p:spPr>
      </p:pic>
      <p:sp>
        <p:nvSpPr>
          <p:cNvPr id="3" name="TextBox 2"/>
          <p:cNvSpPr txBox="1"/>
          <p:nvPr/>
        </p:nvSpPr>
        <p:spPr>
          <a:xfrm>
            <a:off x="457200" y="558800"/>
            <a:ext cx="5588000" cy="127000"/>
          </a:xfrm>
          <a:prstGeom prst="rect">
            <a:avLst/>
          </a:prstGeom>
          <a:noFill/>
        </p:spPr>
        <p:txBody>
          <a:bodyPr wrap="square" lIns="0" rIns="0" tIns="0" bIns="0" anchor="t">
            <a:spAutoFit/>
          </a:bodyPr>
          <a:lstStyle/>
          <a:p>
            <a:pPr algn="l">
              <a:lnSpc>
                <a:spcPts val="3000"/>
              </a:lnSpc>
              <a:spcAft>
                <a:spcPts val="0"/>
              </a:spcAft>
            </a:pPr>
            <a:r>
              <a:rPr sz="2700" b="1" i="0" lang="fr-FR">
                <a:solidFill>
                  <a:srgbClr val="1CB2FE"/>
                </a:solidFill>
                <a:latin typeface="Ubuntu Mono"/>
                <a:ea typeface="Ubuntu Mono"/>
                <a:cs typeface="Ubuntu Mono"/>
                <a:sym typeface="Ubuntu Mono"/>
              </a:rPr>
              <a:t>NOTRE HISTOIRE</a:t>
            </a:r>
          </a:p>
        </p:txBody>
      </p:sp>
      <p:sp>
        <p:nvSpPr>
          <p:cNvPr id="4" name="Rectangle 3"/>
          <p:cNvSpPr/>
          <p:nvPr/>
        </p:nvSpPr>
        <p:spPr>
          <a:xfrm>
            <a:off x="457200" y="1168400"/>
            <a:ext cx="44450" cy="457200"/>
          </a:xfrm>
          <a:prstGeom prst="rect">
            <a:avLst/>
          </a:prstGeom>
          <a:solidFill>
            <a:srgbClr val="0F7FCB"/>
          </a:solidFill>
          <a:ln>
            <a:noFill/>
          </a:ln>
        </p:spPr>
        <p:txBody>
          <a:bodyPr rtlCol="0" anchor="ctr"/>
          <a:lstStyle/>
          <a:p>
            <a:pPr algn="ctr"/>
          </a:p>
        </p:txBody>
      </p:sp>
      <p:sp>
        <p:nvSpPr>
          <p:cNvPr id="5" name="TextBox 4"/>
          <p:cNvSpPr txBox="1"/>
          <p:nvPr/>
        </p:nvSpPr>
        <p:spPr>
          <a:xfrm>
            <a:off x="635000" y="1168400"/>
            <a:ext cx="6350000" cy="127000"/>
          </a:xfrm>
          <a:prstGeom prst="rect">
            <a:avLst/>
          </a:prstGeom>
          <a:noFill/>
        </p:spPr>
        <p:txBody>
          <a:bodyPr wrap="square" lIns="0" rIns="0" tIns="0" bIns="0" anchor="t">
            <a:spAutoFit/>
          </a:bodyPr>
          <a:lstStyle/>
          <a:p>
            <a:pPr algn="l">
              <a:lnSpc>
                <a:spcPts val="1400"/>
              </a:lnSpc>
              <a:spcAft>
                <a:spcPts val="0"/>
              </a:spcAft>
            </a:pPr>
            <a:r>
              <a:rPr sz="1100" b="1" i="0" lang="fr-FR">
                <a:solidFill>
                  <a:srgbClr val="194E9A"/>
                </a:solidFill>
                <a:latin typeface="Ubuntu Mono"/>
                <a:ea typeface="Ubuntu Mono"/>
                <a:cs typeface="Ubuntu Mono"/>
                <a:sym typeface="Ubuntu Mono"/>
              </a:rPr>
              <a:t>De Mustang Oil Services à Enedril : une entreprise avec une histoire, et une nouvelle dynamique.</a:t>
            </a:r>
          </a:p>
        </p:txBody>
      </p:sp>
      <p:sp>
        <p:nvSpPr>
          <p:cNvPr id="6" name="Rectangle 5"/>
          <p:cNvSpPr/>
          <p:nvPr/>
        </p:nvSpPr>
        <p:spPr>
          <a:xfrm>
            <a:off x="660400" y="2032000"/>
            <a:ext cx="50800" cy="4978400"/>
          </a:xfrm>
          <a:prstGeom prst="rect">
            <a:avLst/>
          </a:prstGeom>
          <a:solidFill>
            <a:srgbClr val="B9CCE0"/>
          </a:solidFill>
          <a:ln>
            <a:noFill/>
          </a:ln>
        </p:spPr>
        <p:txBody>
          <a:bodyPr rtlCol="0" anchor="ctr"/>
          <a:lstStyle/>
          <a:p>
            <a:pPr algn="ctr"/>
          </a:p>
        </p:txBody>
      </p:sp>
      <p:sp>
        <p:nvSpPr>
          <p:cNvPr id="7" name="Rectangle 6"/>
          <p:cNvSpPr/>
          <p:nvPr/>
        </p:nvSpPr>
        <p:spPr>
          <a:xfrm>
            <a:off x="457200" y="1778000"/>
            <a:ext cx="1651000" cy="685800"/>
          </a:xfrm>
          <a:prstGeom prst="rect">
            <a:avLst/>
          </a:prstGeom>
          <a:solidFill>
            <a:srgbClr val="194E9A"/>
          </a:solidFill>
          <a:ln>
            <a:noFill/>
          </a:ln>
        </p:spPr>
        <p:txBody>
          <a:bodyPr rtlCol="0" anchor="ctr"/>
          <a:lstStyle/>
          <a:p>
            <a:pPr algn="ctr"/>
          </a:p>
        </p:txBody>
      </p:sp>
      <p:sp>
        <p:nvSpPr>
          <p:cNvPr id="8" name="TextBox 7"/>
          <p:cNvSpPr txBox="1"/>
          <p:nvPr/>
        </p:nvSpPr>
        <p:spPr>
          <a:xfrm>
            <a:off x="457200" y="1887727"/>
            <a:ext cx="1651000" cy="127000"/>
          </a:xfrm>
          <a:prstGeom prst="rect">
            <a:avLst/>
          </a:prstGeom>
          <a:noFill/>
        </p:spPr>
        <p:txBody>
          <a:bodyPr wrap="square" lIns="0" rIns="0" tIns="0" bIns="0" anchor="t">
            <a:spAutoFit/>
          </a:bodyPr>
          <a:lstStyle/>
          <a:p>
            <a:pPr algn="ctr">
              <a:lnSpc>
                <a:spcPts val="2700"/>
              </a:lnSpc>
              <a:spcAft>
                <a:spcPts val="0"/>
              </a:spcAft>
            </a:pPr>
            <a:r>
              <a:rPr sz="2400" b="1" i="0" lang="fr-FR">
                <a:solidFill>
                  <a:srgbClr val="FFFFFF"/>
                </a:solidFill>
                <a:latin typeface="Ubuntu Mono"/>
                <a:ea typeface="Ubuntu Mono"/>
                <a:cs typeface="Ubuntu Mono"/>
                <a:sym typeface="Ubuntu Mono"/>
              </a:rPr>
              <a:t>2013</a:t>
            </a:r>
          </a:p>
        </p:txBody>
      </p:sp>
      <p:sp>
        <p:nvSpPr>
          <p:cNvPr id="9" name="TextBox 8"/>
          <p:cNvSpPr txBox="1"/>
          <p:nvPr/>
        </p:nvSpPr>
        <p:spPr>
          <a:xfrm>
            <a:off x="533400" y="2256028"/>
            <a:ext cx="1498600" cy="127000"/>
          </a:xfrm>
          <a:prstGeom prst="rect">
            <a:avLst/>
          </a:prstGeom>
          <a:noFill/>
        </p:spPr>
        <p:txBody>
          <a:bodyPr wrap="square" lIns="0" rIns="0" t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
            </a:r>
          </a:p>
        </p:txBody>
      </p:sp>
      <p:sp>
        <p:nvSpPr>
          <p:cNvPr id="10" name="Rectangle 9"/>
          <p:cNvSpPr/>
          <p:nvPr/>
        </p:nvSpPr>
        <p:spPr>
          <a:xfrm>
            <a:off x="2108200" y="2095500"/>
            <a:ext cx="381000" cy="50800"/>
          </a:xfrm>
          <a:prstGeom prst="rect">
            <a:avLst/>
          </a:prstGeom>
          <a:solidFill>
            <a:srgbClr val="194E9A"/>
          </a:solidFill>
          <a:ln>
            <a:noFill/>
          </a:ln>
        </p:spPr>
        <p:txBody>
          <a:bodyPr rtlCol="0" anchor="ctr"/>
          <a:lstStyle/>
          <a:p>
            <a:pPr algn="ctr"/>
          </a:p>
        </p:txBody>
      </p:sp>
      <p:sp>
        <p:nvSpPr>
          <p:cNvPr id="11" name="TextBox 10"/>
          <p:cNvSpPr txBox="1"/>
          <p:nvPr/>
        </p:nvSpPr>
        <p:spPr>
          <a:xfrm>
            <a:off x="2616200" y="1828800"/>
            <a:ext cx="4483100" cy="127000"/>
          </a:xfrm>
          <a:prstGeom prst="rect">
            <a:avLst/>
          </a:prstGeom>
          <a:noFill/>
        </p:spPr>
        <p:txBody>
          <a:bodyPr wrap="square" lIns="0" rIns="0" tIns="0" bIns="0" anchor="t">
            <a:spAutoFit/>
          </a:bodyPr>
          <a:lstStyle/>
          <a:p>
            <a:pPr algn="l">
              <a:lnSpc>
                <a:spcPts val="1400"/>
              </a:lnSpc>
              <a:spcAft>
                <a:spcPts val="500"/>
              </a:spcAft>
            </a:pPr>
            <a:r>
              <a:rPr sz="1100" b="1" i="0" lang="fr-FR">
                <a:solidFill>
                  <a:srgbClr val="194E9A"/>
                </a:solidFill>
                <a:latin typeface="Ubuntu Mono"/>
                <a:ea typeface="Ubuntu Mono"/>
                <a:cs typeface="Ubuntu Mono"/>
                <a:sym typeface="Ubuntu Mono"/>
              </a:rPr>
              <a:t>MUSTANG OIL SERVICES</a:t>
            </a:r>
          </a:p>
          <a:p>
            <a:pPr algn="l">
              <a:lnSpc>
                <a:spcPts val="1400"/>
              </a:lnSpc>
              <a:spcAft>
                <a:spcPts val="500"/>
              </a:spcAft>
            </a:pPr>
            <a:r>
              <a:rPr sz="1000" b="0" i="0" lang="fr-FR">
                <a:solidFill>
                  <a:srgbClr val="0B1B2E"/>
                </a:solidFill>
                <a:latin typeface="Ubuntu Mono"/>
                <a:ea typeface="Ubuntu Mono"/>
                <a:cs typeface="Ubuntu Mono"/>
                <a:sym typeface="Ubuntu Mono"/>
              </a:rPr>
              <a:t>L'entreprise démarre sous le nom de Mustang Oil Services, dédiée uniquement au fishing.</a:t>
            </a:r>
          </a:p>
        </p:txBody>
      </p:sp>
      <p:sp>
        <p:nvSpPr>
          <p:cNvPr id="12" name="Rectangle 11"/>
          <p:cNvSpPr/>
          <p:nvPr/>
        </p:nvSpPr>
        <p:spPr>
          <a:xfrm>
            <a:off x="457200" y="3302000"/>
            <a:ext cx="1651000" cy="685800"/>
          </a:xfrm>
          <a:prstGeom prst="rect">
            <a:avLst/>
          </a:prstGeom>
          <a:solidFill>
            <a:srgbClr val="0F7FCB"/>
          </a:solidFill>
          <a:ln>
            <a:noFill/>
          </a:ln>
        </p:spPr>
        <p:txBody>
          <a:bodyPr rtlCol="0" anchor="ctr"/>
          <a:lstStyle/>
          <a:p>
            <a:pPr algn="ctr"/>
          </a:p>
        </p:txBody>
      </p:sp>
      <p:sp>
        <p:nvSpPr>
          <p:cNvPr id="13" name="TextBox 12"/>
          <p:cNvSpPr txBox="1"/>
          <p:nvPr/>
        </p:nvSpPr>
        <p:spPr>
          <a:xfrm>
            <a:off x="457200" y="3411728"/>
            <a:ext cx="1651000" cy="127000"/>
          </a:xfrm>
          <a:prstGeom prst="rect">
            <a:avLst/>
          </a:prstGeom>
          <a:noFill/>
        </p:spPr>
        <p:txBody>
          <a:bodyPr wrap="square" lIns="0" rIns="0" tIns="0" bIns="0" anchor="t">
            <a:spAutoFit/>
          </a:bodyPr>
          <a:lstStyle/>
          <a:p>
            <a:pPr algn="ctr">
              <a:lnSpc>
                <a:spcPts val="2700"/>
              </a:lnSpc>
              <a:spcAft>
                <a:spcPts val="0"/>
              </a:spcAft>
            </a:pPr>
            <a:r>
              <a:rPr sz="2400" b="1" i="0" lang="fr-FR">
                <a:solidFill>
                  <a:srgbClr val="FFFFFF"/>
                </a:solidFill>
                <a:latin typeface="Ubuntu Mono"/>
                <a:ea typeface="Ubuntu Mono"/>
                <a:cs typeface="Ubuntu Mono"/>
                <a:sym typeface="Ubuntu Mono"/>
              </a:rPr>
              <a:t>2019</a:t>
            </a:r>
          </a:p>
        </p:txBody>
      </p:sp>
      <p:sp>
        <p:nvSpPr>
          <p:cNvPr id="14" name="TextBox 13"/>
          <p:cNvSpPr txBox="1"/>
          <p:nvPr/>
        </p:nvSpPr>
        <p:spPr>
          <a:xfrm>
            <a:off x="533400" y="3780028"/>
            <a:ext cx="1498600" cy="127000"/>
          </a:xfrm>
          <a:prstGeom prst="rect">
            <a:avLst/>
          </a:prstGeom>
          <a:noFill/>
        </p:spPr>
        <p:txBody>
          <a:bodyPr wrap="square" lIns="0" rIns="0" t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
            </a:r>
          </a:p>
        </p:txBody>
      </p:sp>
      <p:sp>
        <p:nvSpPr>
          <p:cNvPr id="15" name="Rectangle 14"/>
          <p:cNvSpPr/>
          <p:nvPr/>
        </p:nvSpPr>
        <p:spPr>
          <a:xfrm>
            <a:off x="2108200" y="3619500"/>
            <a:ext cx="381000" cy="50800"/>
          </a:xfrm>
          <a:prstGeom prst="rect">
            <a:avLst/>
          </a:prstGeom>
          <a:solidFill>
            <a:srgbClr val="0F7FCB"/>
          </a:solidFill>
          <a:ln>
            <a:noFill/>
          </a:ln>
        </p:spPr>
        <p:txBody>
          <a:bodyPr rtlCol="0" anchor="ctr"/>
          <a:lstStyle/>
          <a:p>
            <a:pPr algn="ctr"/>
          </a:p>
        </p:txBody>
      </p:sp>
      <p:sp>
        <p:nvSpPr>
          <p:cNvPr id="16" name="TextBox 15"/>
          <p:cNvSpPr txBox="1"/>
          <p:nvPr/>
        </p:nvSpPr>
        <p:spPr>
          <a:xfrm>
            <a:off x="2616200" y="3352800"/>
            <a:ext cx="4483100" cy="127000"/>
          </a:xfrm>
          <a:prstGeom prst="rect">
            <a:avLst/>
          </a:prstGeom>
          <a:noFill/>
        </p:spPr>
        <p:txBody>
          <a:bodyPr wrap="square" lIns="0" rIns="0" tIns="0" bIns="0" anchor="t">
            <a:spAutoFit/>
          </a:bodyPr>
          <a:lstStyle/>
          <a:p>
            <a:pPr algn="l">
              <a:lnSpc>
                <a:spcPts val="1400"/>
              </a:lnSpc>
              <a:spcAft>
                <a:spcPts val="500"/>
              </a:spcAft>
            </a:pPr>
            <a:r>
              <a:rPr sz="1100" b="1" i="0" lang="fr-FR">
                <a:solidFill>
                  <a:srgbClr val="194E9A"/>
                </a:solidFill>
                <a:latin typeface="Ubuntu Mono"/>
                <a:ea typeface="Ubuntu Mono"/>
                <a:cs typeface="Ubuntu Mono"/>
                <a:sym typeface="Ubuntu Mono"/>
              </a:rPr>
              <a:t>FORAGE DIRIGÉ + FISHING</a:t>
            </a:r>
          </a:p>
          <a:p>
            <a:pPr algn="l">
              <a:lnSpc>
                <a:spcPts val="1400"/>
              </a:lnSpc>
              <a:spcAft>
                <a:spcPts val="500"/>
              </a:spcAft>
            </a:pPr>
            <a:r>
              <a:rPr sz="1000" b="0" i="0" lang="fr-FR">
                <a:solidFill>
                  <a:srgbClr val="0B1B2E"/>
                </a:solidFill>
                <a:latin typeface="Ubuntu Mono"/>
                <a:ea typeface="Ubuntu Mono"/>
                <a:cs typeface="Ubuntu Mono"/>
                <a:sym typeface="Ubuntu Mono"/>
              </a:rPr>
              <a:t>Le forage dirigé rejoint le fishing : l'offre couvre désormais les projets de forage comme les interventions.</a:t>
            </a:r>
          </a:p>
        </p:txBody>
      </p:sp>
      <p:sp>
        <p:nvSpPr>
          <p:cNvPr id="17" name="Rectangle 16"/>
          <p:cNvSpPr/>
          <p:nvPr/>
        </p:nvSpPr>
        <p:spPr>
          <a:xfrm>
            <a:off x="457200" y="4826000"/>
            <a:ext cx="1651000" cy="685800"/>
          </a:xfrm>
          <a:prstGeom prst="rect">
            <a:avLst/>
          </a:prstGeom>
          <a:solidFill>
            <a:srgbClr val="2BAEF6"/>
          </a:solidFill>
          <a:ln>
            <a:noFill/>
          </a:ln>
        </p:spPr>
        <p:txBody>
          <a:bodyPr rtlCol="0" anchor="ctr"/>
          <a:lstStyle/>
          <a:p>
            <a:pPr algn="ctr"/>
          </a:p>
        </p:txBody>
      </p:sp>
      <p:sp>
        <p:nvSpPr>
          <p:cNvPr id="18" name="TextBox 17"/>
          <p:cNvSpPr txBox="1"/>
          <p:nvPr/>
        </p:nvSpPr>
        <p:spPr>
          <a:xfrm>
            <a:off x="457200" y="4935728"/>
            <a:ext cx="1651000" cy="127000"/>
          </a:xfrm>
          <a:prstGeom prst="rect">
            <a:avLst/>
          </a:prstGeom>
          <a:noFill/>
        </p:spPr>
        <p:txBody>
          <a:bodyPr wrap="square" lIns="0" rIns="0" tIns="0" bIns="0" anchor="t">
            <a:spAutoFit/>
          </a:bodyPr>
          <a:lstStyle/>
          <a:p>
            <a:pPr algn="ctr">
              <a:lnSpc>
                <a:spcPts val="2700"/>
              </a:lnSpc>
              <a:spcAft>
                <a:spcPts val="0"/>
              </a:spcAft>
            </a:pPr>
            <a:r>
              <a:rPr sz="2400" b="1" i="0" lang="fr-FR">
                <a:solidFill>
                  <a:srgbClr val="FFFFFF"/>
                </a:solidFill>
                <a:latin typeface="Ubuntu Mono"/>
                <a:ea typeface="Ubuntu Mono"/>
                <a:cs typeface="Ubuntu Mono"/>
                <a:sym typeface="Ubuntu Mono"/>
              </a:rPr>
              <a:t>2022</a:t>
            </a:r>
          </a:p>
        </p:txBody>
      </p:sp>
      <p:sp>
        <p:nvSpPr>
          <p:cNvPr id="19" name="TextBox 18"/>
          <p:cNvSpPr txBox="1"/>
          <p:nvPr/>
        </p:nvSpPr>
        <p:spPr>
          <a:xfrm>
            <a:off x="533400" y="5304028"/>
            <a:ext cx="1498600" cy="127000"/>
          </a:xfrm>
          <a:prstGeom prst="rect">
            <a:avLst/>
          </a:prstGeom>
          <a:noFill/>
        </p:spPr>
        <p:txBody>
          <a:bodyPr wrap="square" lIns="0" rIns="0" t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
            </a:r>
          </a:p>
        </p:txBody>
      </p:sp>
      <p:sp>
        <p:nvSpPr>
          <p:cNvPr id="20" name="Rectangle 19"/>
          <p:cNvSpPr/>
          <p:nvPr/>
        </p:nvSpPr>
        <p:spPr>
          <a:xfrm>
            <a:off x="2108200" y="5143500"/>
            <a:ext cx="381000" cy="50800"/>
          </a:xfrm>
          <a:prstGeom prst="rect">
            <a:avLst/>
          </a:prstGeom>
          <a:solidFill>
            <a:srgbClr val="2BAEF6"/>
          </a:solidFill>
          <a:ln>
            <a:noFill/>
          </a:ln>
        </p:spPr>
        <p:txBody>
          <a:bodyPr rtlCol="0" anchor="ctr"/>
          <a:lstStyle/>
          <a:p>
            <a:pPr algn="ctr"/>
          </a:p>
        </p:txBody>
      </p:sp>
      <p:sp>
        <p:nvSpPr>
          <p:cNvPr id="21" name="TextBox 20"/>
          <p:cNvSpPr txBox="1"/>
          <p:nvPr/>
        </p:nvSpPr>
        <p:spPr>
          <a:xfrm>
            <a:off x="2616200" y="4876800"/>
            <a:ext cx="4483100" cy="127000"/>
          </a:xfrm>
          <a:prstGeom prst="rect">
            <a:avLst/>
          </a:prstGeom>
          <a:noFill/>
        </p:spPr>
        <p:txBody>
          <a:bodyPr wrap="square" lIns="0" rIns="0" tIns="0" bIns="0" anchor="t">
            <a:spAutoFit/>
          </a:bodyPr>
          <a:lstStyle/>
          <a:p>
            <a:pPr algn="l">
              <a:lnSpc>
                <a:spcPts val="1400"/>
              </a:lnSpc>
              <a:spcAft>
                <a:spcPts val="500"/>
              </a:spcAft>
            </a:pPr>
            <a:r>
              <a:rPr sz="1100" b="1" i="0" lang="fr-FR">
                <a:solidFill>
                  <a:srgbClr val="194E9A"/>
                </a:solidFill>
                <a:latin typeface="Ubuntu Mono"/>
                <a:ea typeface="Ubuntu Mono"/>
                <a:cs typeface="Ubuntu Mono"/>
                <a:sym typeface="Ubuntu Mono"/>
              </a:rPr>
              <a:t>NOUVEAUX DIRIGEANTS</a:t>
            </a:r>
          </a:p>
          <a:p>
            <a:pPr algn="l">
              <a:lnSpc>
                <a:spcPts val="1400"/>
              </a:lnSpc>
              <a:spcAft>
                <a:spcPts val="500"/>
              </a:spcAft>
            </a:pPr>
            <a:r>
              <a:rPr sz="1000" b="0" i="0" lang="fr-FR">
                <a:solidFill>
                  <a:srgbClr val="0B1B2E"/>
                </a:solidFill>
                <a:latin typeface="Ubuntu Mono"/>
                <a:ea typeface="Ubuntu Mono"/>
                <a:cs typeface="Ubuntu Mono"/>
                <a:sym typeface="Ubuntu Mono"/>
              </a:rPr>
              <a:t>Fabien Jacquot et Alexis Estines reprennent la société.</a:t>
            </a:r>
          </a:p>
        </p:txBody>
      </p:sp>
      <p:sp>
        <p:nvSpPr>
          <p:cNvPr id="22" name="Rectangle 21"/>
          <p:cNvSpPr/>
          <p:nvPr/>
        </p:nvSpPr>
        <p:spPr>
          <a:xfrm>
            <a:off x="457200" y="6350000"/>
            <a:ext cx="1651000" cy="685800"/>
          </a:xfrm>
          <a:prstGeom prst="rect">
            <a:avLst/>
          </a:prstGeom>
          <a:solidFill>
            <a:srgbClr val="194E9A"/>
          </a:solidFill>
          <a:ln>
            <a:noFill/>
          </a:ln>
        </p:spPr>
        <p:txBody>
          <a:bodyPr rtlCol="0" anchor="ctr"/>
          <a:lstStyle/>
          <a:p>
            <a:pPr algn="ctr"/>
          </a:p>
        </p:txBody>
      </p:sp>
      <p:sp>
        <p:nvSpPr>
          <p:cNvPr id="23" name="TextBox 22"/>
          <p:cNvSpPr txBox="1"/>
          <p:nvPr/>
        </p:nvSpPr>
        <p:spPr>
          <a:xfrm>
            <a:off x="457200" y="6459728"/>
            <a:ext cx="1651000" cy="127000"/>
          </a:xfrm>
          <a:prstGeom prst="rect">
            <a:avLst/>
          </a:prstGeom>
          <a:noFill/>
        </p:spPr>
        <p:txBody>
          <a:bodyPr wrap="square" lIns="0" rIns="0" tIns="0" bIns="0" anchor="t">
            <a:spAutoFit/>
          </a:bodyPr>
          <a:lstStyle/>
          <a:p>
            <a:pPr algn="ctr">
              <a:lnSpc>
                <a:spcPts val="2700"/>
              </a:lnSpc>
              <a:spcAft>
                <a:spcPts val="0"/>
              </a:spcAft>
            </a:pPr>
            <a:r>
              <a:rPr sz="2400" b="1" i="0" lang="fr-FR">
                <a:solidFill>
                  <a:srgbClr val="FFFFFF"/>
                </a:solidFill>
                <a:latin typeface="Ubuntu Mono"/>
                <a:ea typeface="Ubuntu Mono"/>
                <a:cs typeface="Ubuntu Mono"/>
                <a:sym typeface="Ubuntu Mono"/>
              </a:rPr>
              <a:t>2025</a:t>
            </a:r>
          </a:p>
        </p:txBody>
      </p:sp>
      <p:sp>
        <p:nvSpPr>
          <p:cNvPr id="24" name="TextBox 23"/>
          <p:cNvSpPr txBox="1"/>
          <p:nvPr/>
        </p:nvSpPr>
        <p:spPr>
          <a:xfrm>
            <a:off x="533400" y="6828028"/>
            <a:ext cx="1498600" cy="127000"/>
          </a:xfrm>
          <a:prstGeom prst="rect">
            <a:avLst/>
          </a:prstGeom>
          <a:noFill/>
        </p:spPr>
        <p:txBody>
          <a:bodyPr wrap="square" lIns="0" rIns="0" t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
            </a:r>
          </a:p>
        </p:txBody>
      </p:sp>
      <p:sp>
        <p:nvSpPr>
          <p:cNvPr id="25" name="Rectangle 24"/>
          <p:cNvSpPr/>
          <p:nvPr/>
        </p:nvSpPr>
        <p:spPr>
          <a:xfrm>
            <a:off x="2108200" y="6667500"/>
            <a:ext cx="381000" cy="50800"/>
          </a:xfrm>
          <a:prstGeom prst="rect">
            <a:avLst/>
          </a:prstGeom>
          <a:solidFill>
            <a:srgbClr val="194E9A"/>
          </a:solidFill>
          <a:ln>
            <a:noFill/>
          </a:ln>
        </p:spPr>
        <p:txBody>
          <a:bodyPr rtlCol="0" anchor="ctr"/>
          <a:lstStyle/>
          <a:p>
            <a:pPr algn="ctr"/>
          </a:p>
        </p:txBody>
      </p:sp>
      <p:sp>
        <p:nvSpPr>
          <p:cNvPr id="26" name="TextBox 25"/>
          <p:cNvSpPr txBox="1"/>
          <p:nvPr/>
        </p:nvSpPr>
        <p:spPr>
          <a:xfrm>
            <a:off x="2616200" y="6400800"/>
            <a:ext cx="4483100" cy="127000"/>
          </a:xfrm>
          <a:prstGeom prst="rect">
            <a:avLst/>
          </a:prstGeom>
          <a:noFill/>
        </p:spPr>
        <p:txBody>
          <a:bodyPr wrap="square" lIns="0" rIns="0" tIns="0" bIns="0" anchor="t">
            <a:spAutoFit/>
          </a:bodyPr>
          <a:lstStyle/>
          <a:p>
            <a:pPr algn="l">
              <a:lnSpc>
                <a:spcPts val="1400"/>
              </a:lnSpc>
              <a:spcAft>
                <a:spcPts val="500"/>
              </a:spcAft>
            </a:pPr>
            <a:r>
              <a:rPr sz="1100" b="1" i="0" lang="fr-FR">
                <a:solidFill>
                  <a:srgbClr val="194E9A"/>
                </a:solidFill>
                <a:latin typeface="Ubuntu Mono"/>
                <a:ea typeface="Ubuntu Mono"/>
                <a:cs typeface="Ubuntu Mono"/>
                <a:sym typeface="Ubuntu Mono"/>
              </a:rPr>
              <a:t>ENEDRIL</a:t>
            </a:r>
          </a:p>
          <a:p>
            <a:pPr algn="l">
              <a:lnSpc>
                <a:spcPts val="1400"/>
              </a:lnSpc>
              <a:spcAft>
                <a:spcPts val="500"/>
              </a:spcAft>
            </a:pPr>
            <a:r>
              <a:rPr sz="1000" b="0" i="0" lang="fr-FR">
                <a:solidFill>
                  <a:srgbClr val="0B1B2E"/>
                </a:solidFill>
                <a:latin typeface="Ubuntu Mono"/>
                <a:ea typeface="Ubuntu Mono"/>
                <a:cs typeface="Ubuntu Mono"/>
                <a:sym typeface="Ubuntu Mono"/>
              </a:rPr>
              <a:t>Rebranding : Mustang Services devient Enedril, Fishing and Drilling Solutions.</a:t>
            </a:r>
          </a:p>
        </p:txBody>
      </p:sp>
      <p:sp>
        <p:nvSpPr>
          <p:cNvPr id="27" name="Rectangle 26"/>
          <p:cNvSpPr/>
          <p:nvPr/>
        </p:nvSpPr>
        <p:spPr>
          <a:xfrm>
            <a:off x="457200" y="7797800"/>
            <a:ext cx="6642100" cy="1143000"/>
          </a:xfrm>
          <a:prstGeom prst="rect">
            <a:avLst/>
          </a:prstGeom>
          <a:solidFill>
            <a:srgbClr val="194E9A"/>
          </a:solidFill>
          <a:ln>
            <a:noFill/>
          </a:ln>
        </p:spPr>
        <p:txBody>
          <a:bodyPr rtlCol="0" anchor="ctr"/>
          <a:lstStyle/>
          <a:p>
            <a:pPr algn="ctr"/>
          </a:p>
        </p:txBody>
      </p:sp>
      <p:sp>
        <p:nvSpPr>
          <p:cNvPr id="28" name="TextBox 27"/>
          <p:cNvSpPr txBox="1"/>
          <p:nvPr/>
        </p:nvSpPr>
        <p:spPr>
          <a:xfrm>
            <a:off x="635000" y="7797800"/>
            <a:ext cx="6286500" cy="1143000"/>
          </a:xfrm>
          <a:prstGeom prst="rect">
            <a:avLst/>
          </a:prstGeom>
          <a:noFill/>
        </p:spPr>
        <p:txBody>
          <a:bodyPr wrap="square" lIns="0" rIns="0" tIns="0" bIns="0" anchor="ctr">
            <a:spAutoFit/>
          </a:bodyPr>
          <a:lstStyle/>
          <a:p>
            <a:pPr algn="l">
              <a:lnSpc>
                <a:spcPts val="1400"/>
              </a:lnSpc>
              <a:spcAft>
                <a:spcPts val="0"/>
              </a:spcAft>
            </a:pPr>
            <a:r>
              <a:rPr sz="840" b="1" i="0" lang="fr-FR">
                <a:solidFill>
                  <a:srgbClr val="1CB2FE"/>
                </a:solidFill>
                <a:latin typeface="Ubuntu Mono"/>
                <a:ea typeface="Ubuntu Mono"/>
                <a:cs typeface="Ubuntu Mono"/>
                <a:sym typeface="Ubuntu Mono"/>
              </a:rPr>
              <a:t>CONTINUITÉ  </a:t>
            </a:r>
            <a:r>
              <a:rPr sz="1050" b="1" i="0" lang="fr-FR">
                <a:solidFill>
                  <a:srgbClr val="FFFFFF"/>
                </a:solidFill>
                <a:latin typeface="Ubuntu Mono"/>
                <a:ea typeface="Ubuntu Mono"/>
                <a:cs typeface="Ubuntu Mono"/>
                <a:sym typeface="Ubuntu Mono"/>
              </a:rPr>
              <a:t>Depuis 2022, les activités se poursuivent : fishing, workover, abandon de puits (P&amp;A) et forage dirigé, avec le même engagement auprès de nos clients.</a:t>
            </a:r>
          </a:p>
        </p:txBody>
      </p:sp>
      <p:sp>
        <p:nvSpPr>
          <p:cNvPr id="29" name="Rectangle 28"/>
          <p:cNvSpPr/>
          <p:nvPr/>
        </p:nvSpPr>
        <p:spPr>
          <a:xfrm>
            <a:off x="457200" y="9093200"/>
            <a:ext cx="6642100" cy="1143000"/>
          </a:xfrm>
          <a:prstGeom prst="rect">
            <a:avLst/>
          </a:prstGeom>
          <a:solidFill>
            <a:srgbClr val="0F7FCB"/>
          </a:solidFill>
          <a:ln>
            <a:noFill/>
          </a:ln>
        </p:spPr>
        <p:txBody>
          <a:bodyPr rtlCol="0" anchor="ctr"/>
          <a:lstStyle/>
          <a:p>
            <a:pPr algn="ctr"/>
          </a:p>
        </p:txBody>
      </p:sp>
      <p:sp>
        <p:nvSpPr>
          <p:cNvPr id="30" name="TextBox 29"/>
          <p:cNvSpPr txBox="1"/>
          <p:nvPr/>
        </p:nvSpPr>
        <p:spPr>
          <a:xfrm>
            <a:off x="635000" y="9093200"/>
            <a:ext cx="6286500" cy="1143000"/>
          </a:xfrm>
          <a:prstGeom prst="rect">
            <a:avLst/>
          </a:prstGeom>
          <a:noFill/>
        </p:spPr>
        <p:txBody>
          <a:bodyPr wrap="square" lIns="0" rIns="0" tIns="0" bIns="0" anchor="ctr">
            <a:spAutoFit/>
          </a:bodyPr>
          <a:lstStyle/>
          <a:p>
            <a:pPr algn="l">
              <a:lnSpc>
                <a:spcPts val="1400"/>
              </a:lnSpc>
              <a:spcAft>
                <a:spcPts val="0"/>
              </a:spcAft>
            </a:pPr>
            <a:r>
              <a:rPr sz="840" b="1" i="0" lang="fr-FR">
                <a:solidFill>
                  <a:srgbClr val="FFFFFF"/>
                </a:solidFill>
                <a:latin typeface="Ubuntu Mono"/>
                <a:ea typeface="Ubuntu Mono"/>
                <a:cs typeface="Ubuntu Mono"/>
                <a:sym typeface="Ubuntu Mono"/>
              </a:rPr>
              <a:t>UNE NOUVELLE DYNAMIQUE  </a:t>
            </a:r>
            <a:r>
              <a:rPr sz="1050" b="1" i="0" lang="fr-FR">
                <a:solidFill>
                  <a:srgbClr val="FFFFFF"/>
                </a:solidFill>
                <a:latin typeface="Ubuntu Mono"/>
                <a:ea typeface="Ubuntu Mono"/>
                <a:cs typeface="Ubuntu Mono"/>
                <a:sym typeface="Ubuntu Mono"/>
              </a:rPr>
              <a:t>Fabien et Alexis veulent donner un nouvel élan à la société, avec notamment le rebranding de 2025 qui a donné naissance à Enedril.</a:t>
            </a:r>
          </a:p>
        </p:txBody>
      </p:sp>
      <p:sp>
        <p:nvSpPr>
          <p:cNvPr id="31" name="Rectangle 30"/>
          <p:cNvSpPr/>
          <p:nvPr/>
        </p:nvSpPr>
        <p:spPr>
          <a:xfrm>
            <a:off x="457200" y="10388600"/>
            <a:ext cx="6642100" cy="10160"/>
          </a:xfrm>
          <a:prstGeom prst="rect">
            <a:avLst/>
          </a:prstGeom>
          <a:solidFill>
            <a:srgbClr val="B9CCE0"/>
          </a:solidFill>
          <a:ln>
            <a:noFill/>
          </a:ln>
        </p:spPr>
        <p:txBody>
          <a:bodyPr rtlCol="0" anchor="ctr"/>
          <a:lstStyle/>
          <a:p>
            <a:pPr algn="ctr"/>
          </a:p>
        </p:txBody>
      </p:sp>
      <p:sp>
        <p:nvSpPr>
          <p:cNvPr id="32" name="TextBox 31"/>
          <p:cNvSpPr txBox="1"/>
          <p:nvPr/>
        </p:nvSpPr>
        <p:spPr>
          <a:xfrm>
            <a:off x="457200" y="10464800"/>
            <a:ext cx="5080000" cy="127000"/>
          </a:xfrm>
          <a:prstGeom prst="rect">
            <a:avLst/>
          </a:prstGeom>
          <a:noFill/>
        </p:spPr>
        <p:txBody>
          <a:bodyPr wrap="square" lIns="0" rIns="0" tIns="0" bIns="0" anchor="t">
            <a:spAutoFit/>
          </a:bodyPr>
          <a:lstStyle/>
          <a:p>
            <a:pPr algn="l">
              <a:spcAft>
                <a:spcPts val="0"/>
              </a:spcAft>
            </a:pPr>
            <a:r>
              <a:rPr sz="640" b="0" i="0" lang="fr-FR">
                <a:solidFill>
                  <a:srgbClr val="5A6B7F"/>
                </a:solidFill>
                <a:latin typeface="Ubuntu Mono"/>
                <a:ea typeface="Ubuntu Mono"/>
                <a:cs typeface="Ubuntu Mono"/>
                <a:sym typeface="Ubuntu Mono"/>
              </a:rPr>
              <a:t>Enedril · Fishing and Drilling Solutions · 3 avenue des Lacs, 64140 Lons (France) · info@enedril.fr · +33 (0)5 59 04 50 45</a:t>
            </a:r>
          </a:p>
        </p:txBody>
      </p:sp>
      <p:sp>
        <p:nvSpPr>
          <p:cNvPr id="33" name="TextBox 32"/>
          <p:cNvSpPr txBox="1"/>
          <p:nvPr/>
        </p:nvSpPr>
        <p:spPr>
          <a:xfrm>
            <a:off x="6604000" y="10464800"/>
            <a:ext cx="495300" cy="127000"/>
          </a:xfrm>
          <a:prstGeom prst="rect">
            <a:avLst/>
          </a:prstGeom>
          <a:noFill/>
        </p:spPr>
        <p:txBody>
          <a:bodyPr wrap="square" lIns="0" rIns="0" tIns="0" bIns="0" anchor="t">
            <a:spAutoFit/>
          </a:bodyPr>
          <a:lstStyle/>
          <a:p>
            <a:pPr algn="r">
              <a:spcAft>
                <a:spcPts val="0"/>
              </a:spcAft>
            </a:pPr>
            <a:r>
              <a:rPr sz="800" b="0" i="0" lang="fr-FR">
                <a:solidFill>
                  <a:srgbClr val="194E9A"/>
                </a:solidFill>
                <a:latin typeface="Ubuntu Mono"/>
                <a:ea typeface="Ubuntu Mono"/>
                <a:cs typeface="Ubuntu Mono"/>
                <a:sym typeface="Ubuntu Mono"/>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5600700" y="279400"/>
            <a:ext cx="1498600" cy="336115"/>
          </a:xfrm>
          <a:prstGeom prst="rect">
            <a:avLst/>
          </a:prstGeom>
        </p:spPr>
      </p:pic>
      <p:sp>
        <p:nvSpPr>
          <p:cNvPr id="3" name="TextBox 2"/>
          <p:cNvSpPr txBox="1"/>
          <p:nvPr/>
        </p:nvSpPr>
        <p:spPr>
          <a:xfrm>
            <a:off x="457200" y="508000"/>
            <a:ext cx="5588000" cy="127000"/>
          </a:xfrm>
          <a:prstGeom prst="rect">
            <a:avLst/>
          </a:prstGeom>
          <a:noFill/>
        </p:spPr>
        <p:txBody>
          <a:bodyPr wrap="square" lIns="0" rIns="0" tIns="0" bIns="0" anchor="t">
            <a:spAutoFit/>
          </a:bodyPr>
          <a:lstStyle/>
          <a:p>
            <a:pPr algn="l">
              <a:lnSpc>
                <a:spcPts val="3000"/>
              </a:lnSpc>
              <a:spcAft>
                <a:spcPts val="0"/>
              </a:spcAft>
            </a:pPr>
            <a:r>
              <a:rPr sz="2700" b="1" i="0" lang="fr-FR">
                <a:solidFill>
                  <a:srgbClr val="1CB2FE"/>
                </a:solidFill>
                <a:latin typeface="Ubuntu Mono"/>
                <a:ea typeface="Ubuntu Mono"/>
                <a:cs typeface="Ubuntu Mono"/>
                <a:sym typeface="Ubuntu Mono"/>
              </a:rPr>
              <a:t>FORAGE DIRIGÉ
&amp; MWD</a:t>
            </a:r>
          </a:p>
        </p:txBody>
      </p:sp>
      <p:sp>
        <p:nvSpPr>
          <p:cNvPr id="4" name="Rectangle 3"/>
          <p:cNvSpPr/>
          <p:nvPr/>
        </p:nvSpPr>
        <p:spPr>
          <a:xfrm>
            <a:off x="457200" y="1498600"/>
            <a:ext cx="44450" cy="711200"/>
          </a:xfrm>
          <a:prstGeom prst="rect">
            <a:avLst/>
          </a:prstGeom>
          <a:solidFill>
            <a:srgbClr val="0F7FCB"/>
          </a:solidFill>
          <a:ln>
            <a:noFill/>
          </a:ln>
        </p:spPr>
        <p:txBody>
          <a:bodyPr rtlCol="0" anchor="ctr"/>
          <a:lstStyle/>
          <a:p>
            <a:pPr algn="ctr"/>
          </a:p>
        </p:txBody>
      </p:sp>
      <p:sp>
        <p:nvSpPr>
          <p:cNvPr id="5" name="TextBox 4"/>
          <p:cNvSpPr txBox="1"/>
          <p:nvPr/>
        </p:nvSpPr>
        <p:spPr>
          <a:xfrm>
            <a:off x="584200" y="1498600"/>
            <a:ext cx="6515100" cy="127000"/>
          </a:xfrm>
          <a:prstGeom prst="rect">
            <a:avLst/>
          </a:prstGeom>
          <a:noFill/>
        </p:spPr>
        <p:txBody>
          <a:bodyPr wrap="square" lIns="0" rIns="0" tIns="0" bIns="0" anchor="t">
            <a:spAutoFit/>
          </a:bodyPr>
          <a:lstStyle/>
          <a:p>
            <a:pPr algn="l">
              <a:lnSpc>
                <a:spcPts val="1100"/>
              </a:lnSpc>
              <a:spcAft>
                <a:spcPts val="400"/>
              </a:spcAft>
            </a:pPr>
            <a:r>
              <a:rPr sz="800" b="0" i="0" lang="fr-FR">
                <a:solidFill>
                  <a:srgbClr val="0B1B2E"/>
                </a:solidFill>
                <a:latin typeface="Ubuntu Mono"/>
                <a:ea typeface="Ubuntu Mono"/>
                <a:cs typeface="Ubuntu Mono"/>
                <a:sym typeface="Ubuntu Mono"/>
              </a:rPr>
              <a:t>Enedril propose des solutions avancées de forage dirigé pour les puits complexes exigeant une grande précision : moteurs de fond (PDM), systèmes rotary steerable (RSS) et outils MWD haute température. Des Directional Drillers et des ingénieurs MWD expérimentés pilotent et optimisent la trajectoire en continu, avec la planification de puits réalisée en interne.</a:t>
            </a:r>
          </a:p>
        </p:txBody>
      </p:sp>
      <p:sp>
        <p:nvSpPr>
          <p:cNvPr id="6" name="Rectangle 5"/>
          <p:cNvSpPr/>
          <p:nvPr/>
        </p:nvSpPr>
        <p:spPr>
          <a:xfrm>
            <a:off x="457200" y="2387600"/>
            <a:ext cx="2133600" cy="685800"/>
          </a:xfrm>
          <a:prstGeom prst="rect">
            <a:avLst/>
          </a:prstGeom>
          <a:solidFill>
            <a:srgbClr val="194E9A"/>
          </a:solidFill>
          <a:ln>
            <a:noFill/>
          </a:ln>
        </p:spPr>
        <p:txBody>
          <a:bodyPr rtlCol="0" anchor="ctr"/>
          <a:lstStyle/>
          <a:p>
            <a:pPr algn="ctr"/>
          </a:p>
        </p:txBody>
      </p:sp>
      <p:sp>
        <p:nvSpPr>
          <p:cNvPr id="7" name="TextBox 6"/>
          <p:cNvSpPr txBox="1"/>
          <p:nvPr/>
        </p:nvSpPr>
        <p:spPr>
          <a:xfrm>
            <a:off x="457200" y="2497328"/>
            <a:ext cx="2133600" cy="127000"/>
          </a:xfrm>
          <a:prstGeom prst="rect">
            <a:avLst/>
          </a:prstGeom>
          <a:noFill/>
        </p:spPr>
        <p:txBody>
          <a:bodyPr wrap="square" lIns="0" rIns="0" tIns="0" bIns="0" anchor="t">
            <a:spAutoFit/>
          </a:bodyPr>
          <a:lstStyle/>
          <a:p>
            <a:pPr algn="ctr">
              <a:lnSpc>
                <a:spcPts val="1800"/>
              </a:lnSpc>
              <a:spcAft>
                <a:spcPts val="0"/>
              </a:spcAft>
            </a:pPr>
            <a:r>
              <a:rPr sz="1500" b="1" i="0" lang="fr-FR">
                <a:solidFill>
                  <a:srgbClr val="FFFFFF"/>
                </a:solidFill>
                <a:latin typeface="Ubuntu Mono"/>
                <a:ea typeface="Ubuntu Mono"/>
                <a:cs typeface="Ubuntu Mono"/>
                <a:sym typeface="Ubuntu Mono"/>
              </a:rPr>
              <a:t>3-1/8" à 9-5/8"</a:t>
            </a:r>
          </a:p>
        </p:txBody>
      </p:sp>
      <p:sp>
        <p:nvSpPr>
          <p:cNvPr id="8" name="TextBox 7"/>
          <p:cNvSpPr txBox="1"/>
          <p:nvPr/>
        </p:nvSpPr>
        <p:spPr>
          <a:xfrm>
            <a:off x="533400" y="2751328"/>
            <a:ext cx="1981200" cy="127000"/>
          </a:xfrm>
          <a:prstGeom prst="rect">
            <a:avLst/>
          </a:prstGeom>
          <a:noFill/>
        </p:spPr>
        <p:txBody>
          <a:bodyPr wrap="square" lIns="0" rIns="0" t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Moteurs PDM, sections de puissance haute température</a:t>
            </a:r>
          </a:p>
        </p:txBody>
      </p:sp>
      <p:sp>
        <p:nvSpPr>
          <p:cNvPr id="9" name="Rectangle 8"/>
          <p:cNvSpPr/>
          <p:nvPr/>
        </p:nvSpPr>
        <p:spPr>
          <a:xfrm>
            <a:off x="2705100" y="2387600"/>
            <a:ext cx="2133600" cy="685800"/>
          </a:xfrm>
          <a:prstGeom prst="rect">
            <a:avLst/>
          </a:prstGeom>
          <a:solidFill>
            <a:srgbClr val="0F7FCB"/>
          </a:solidFill>
          <a:ln>
            <a:noFill/>
          </a:ln>
        </p:spPr>
        <p:txBody>
          <a:bodyPr rtlCol="0" anchor="ctr"/>
          <a:lstStyle/>
          <a:p>
            <a:pPr algn="ctr"/>
          </a:p>
        </p:txBody>
      </p:sp>
      <p:sp>
        <p:nvSpPr>
          <p:cNvPr id="10" name="TextBox 9"/>
          <p:cNvSpPr txBox="1"/>
          <p:nvPr/>
        </p:nvSpPr>
        <p:spPr>
          <a:xfrm>
            <a:off x="2705100" y="2497328"/>
            <a:ext cx="2133600" cy="127000"/>
          </a:xfrm>
          <a:prstGeom prst="rect">
            <a:avLst/>
          </a:prstGeom>
          <a:noFill/>
        </p:spPr>
        <p:txBody>
          <a:bodyPr wrap="square" lIns="0" rIns="0" tIns="0" bIns="0" anchor="t">
            <a:spAutoFit/>
          </a:bodyPr>
          <a:lstStyle/>
          <a:p>
            <a:pPr algn="ctr">
              <a:lnSpc>
                <a:spcPts val="2500"/>
              </a:lnSpc>
              <a:spcAft>
                <a:spcPts val="0"/>
              </a:spcAft>
            </a:pPr>
            <a:r>
              <a:rPr sz="2200" b="1" i="0" lang="fr-FR">
                <a:solidFill>
                  <a:srgbClr val="FFFFFF"/>
                </a:solidFill>
                <a:latin typeface="Ubuntu Mono"/>
                <a:ea typeface="Ubuntu Mono"/>
                <a:cs typeface="Ubuntu Mono"/>
                <a:sym typeface="Ubuntu Mono"/>
              </a:rPr>
              <a:t>RSS</a:t>
            </a:r>
          </a:p>
        </p:txBody>
      </p:sp>
      <p:sp>
        <p:nvSpPr>
          <p:cNvPr id="11" name="TextBox 10"/>
          <p:cNvSpPr txBox="1"/>
          <p:nvPr/>
        </p:nvSpPr>
        <p:spPr>
          <a:xfrm>
            <a:off x="2781300" y="2840228"/>
            <a:ext cx="1981200" cy="127000"/>
          </a:xfrm>
          <a:prstGeom prst="rect">
            <a:avLst/>
          </a:prstGeom>
          <a:noFill/>
        </p:spPr>
        <p:txBody>
          <a:bodyPr wrap="square" lIns="0" rIns="0" t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Systèmes push-the-bit et point-the-bit</a:t>
            </a:r>
          </a:p>
        </p:txBody>
      </p:sp>
      <p:sp>
        <p:nvSpPr>
          <p:cNvPr id="12" name="Rectangle 11"/>
          <p:cNvSpPr/>
          <p:nvPr/>
        </p:nvSpPr>
        <p:spPr>
          <a:xfrm>
            <a:off x="4953000" y="2387600"/>
            <a:ext cx="2146300" cy="685800"/>
          </a:xfrm>
          <a:prstGeom prst="rect">
            <a:avLst/>
          </a:prstGeom>
          <a:solidFill>
            <a:srgbClr val="2BAEF6"/>
          </a:solidFill>
          <a:ln>
            <a:noFill/>
          </a:ln>
        </p:spPr>
        <p:txBody>
          <a:bodyPr rtlCol="0" anchor="ctr"/>
          <a:lstStyle/>
          <a:p>
            <a:pPr algn="ctr"/>
          </a:p>
        </p:txBody>
      </p:sp>
      <p:sp>
        <p:nvSpPr>
          <p:cNvPr id="13" name="TextBox 12"/>
          <p:cNvSpPr txBox="1"/>
          <p:nvPr/>
        </p:nvSpPr>
        <p:spPr>
          <a:xfrm>
            <a:off x="4953000" y="2497328"/>
            <a:ext cx="2146300" cy="127000"/>
          </a:xfrm>
          <a:prstGeom prst="rect">
            <a:avLst/>
          </a:prstGeom>
          <a:noFill/>
        </p:spPr>
        <p:txBody>
          <a:bodyPr wrap="square" lIns="0" rIns="0" tIns="0" bIns="0" anchor="t">
            <a:spAutoFit/>
          </a:bodyPr>
          <a:lstStyle/>
          <a:p>
            <a:pPr algn="ctr">
              <a:lnSpc>
                <a:spcPts val="2100"/>
              </a:lnSpc>
              <a:spcAft>
                <a:spcPts val="0"/>
              </a:spcAft>
            </a:pPr>
            <a:r>
              <a:rPr sz="1800" b="1" i="0" lang="fr-FR">
                <a:solidFill>
                  <a:srgbClr val="FFFFFF"/>
                </a:solidFill>
                <a:latin typeface="Ubuntu Mono"/>
                <a:ea typeface="Ubuntu Mono"/>
                <a:cs typeface="Ubuntu Mono"/>
                <a:sym typeface="Ubuntu Mono"/>
              </a:rPr>
              <a:t>jusqu'à 200°C</a:t>
            </a:r>
          </a:p>
        </p:txBody>
      </p:sp>
      <p:sp>
        <p:nvSpPr>
          <p:cNvPr id="14" name="TextBox 13"/>
          <p:cNvSpPr txBox="1"/>
          <p:nvPr/>
        </p:nvSpPr>
        <p:spPr>
          <a:xfrm>
            <a:off x="5029200" y="2789428"/>
            <a:ext cx="1993900" cy="127000"/>
          </a:xfrm>
          <a:prstGeom prst="rect">
            <a:avLst/>
          </a:prstGeom>
          <a:noFill/>
        </p:spPr>
        <p:txBody>
          <a:bodyPr wrap="square" lIns="0" rIns="0" t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Kits MWD avec électronique HT</a:t>
            </a:r>
          </a:p>
        </p:txBody>
      </p:sp>
      <p:pic>
        <p:nvPicPr>
          <p:cNvPr id="15" name="Picture 14" descr="_c_motor_170_128.png"/>
          <p:cNvPicPr>
            <a:picLocks noChangeAspect="1"/>
          </p:cNvPicPr>
          <p:nvPr/>
        </p:nvPicPr>
        <p:blipFill>
          <a:blip r:embed="rId3"/>
          <a:stretch>
            <a:fillRect/>
          </a:stretch>
        </p:blipFill>
        <p:spPr>
          <a:xfrm>
            <a:off x="457200" y="3225800"/>
            <a:ext cx="2159000" cy="1625600"/>
          </a:xfrm>
          <a:prstGeom prst="rect">
            <a:avLst/>
          </a:prstGeom>
        </p:spPr>
      </p:pic>
      <p:sp>
        <p:nvSpPr>
          <p:cNvPr id="16" name="Rectangle 15"/>
          <p:cNvSpPr/>
          <p:nvPr/>
        </p:nvSpPr>
        <p:spPr>
          <a:xfrm>
            <a:off x="457200" y="4851400"/>
            <a:ext cx="2159000" cy="685800"/>
          </a:xfrm>
          <a:prstGeom prst="rect">
            <a:avLst/>
          </a:prstGeom>
          <a:solidFill>
            <a:srgbClr val="2BAEF6"/>
          </a:solidFill>
          <a:ln>
            <a:noFill/>
          </a:ln>
        </p:spPr>
        <p:txBody>
          <a:bodyPr rtlCol="0" anchor="ctr"/>
          <a:lstStyle/>
          <a:p>
            <a:pPr algn="ctr"/>
          </a:p>
        </p:txBody>
      </p:sp>
      <p:sp>
        <p:nvSpPr>
          <p:cNvPr id="17" name="TextBox 16"/>
          <p:cNvSpPr txBox="1"/>
          <p:nvPr/>
        </p:nvSpPr>
        <p:spPr>
          <a:xfrm>
            <a:off x="558800" y="4927600"/>
            <a:ext cx="1955800" cy="127000"/>
          </a:xfrm>
          <a:prstGeom prst="rect">
            <a:avLst/>
          </a:prstGeom>
          <a:noFill/>
        </p:spPr>
        <p:txBody>
          <a:bodyPr wrap="square" lIns="0" rIns="0" tIns="0" bIns="0" anchor="t">
            <a:spAutoFit/>
          </a:bodyPr>
          <a:lstStyle/>
          <a:p>
            <a:pPr algn="l">
              <a:lnSpc>
                <a:spcPts val="760"/>
              </a:lnSpc>
              <a:spcAft>
                <a:spcPts val="100"/>
              </a:spcAft>
            </a:pPr>
            <a:r>
              <a:rPr sz="800" b="1" i="0" lang="fr-FR">
                <a:solidFill>
                  <a:srgbClr val="FFFFFF"/>
                </a:solidFill>
                <a:latin typeface="Ubuntu Mono"/>
                <a:ea typeface="Ubuntu Mono"/>
                <a:cs typeface="Ubuntu Mono"/>
                <a:sym typeface="Ubuntu Mono"/>
              </a:rPr>
              <a:t>MOTEURS DE FOND &amp; RSS</a:t>
            </a:r>
          </a:p>
          <a:p>
            <a:pPr algn="l">
              <a:lnSpc>
                <a:spcPts val="760"/>
              </a:lnSpc>
              <a:spcAft>
                <a:spcPts val="100"/>
              </a:spcAft>
            </a:pPr>
            <a:r>
              <a:rPr sz="640" b="0" i="0" lang="fr-FR">
                <a:solidFill>
                  <a:srgbClr val="FFFFFF"/>
                </a:solidFill>
                <a:latin typeface="Ubuntu Mono"/>
                <a:ea typeface="Ubuntu Mono"/>
                <a:cs typeface="Ubuntu Mono"/>
                <a:sym typeface="Ubuntu Mono"/>
              </a:rPr>
              <a:t>PDM de 3-1/8" à 9-5/8" de diamètre extérieur avec une large gamme de sections de puissance, dont des stators haute température. RSS push-the-bit et point-the-bit pour un contrôle précis dans les formations complexes.</a:t>
            </a:r>
          </a:p>
        </p:txBody>
      </p:sp>
      <p:pic>
        <p:nvPicPr>
          <p:cNvPr id="18" name="Picture 17" descr="_c_wellplan_345_128.png"/>
          <p:cNvPicPr>
            <a:picLocks noChangeAspect="1"/>
          </p:cNvPicPr>
          <p:nvPr/>
        </p:nvPicPr>
        <p:blipFill>
          <a:blip r:embed="rId4"/>
          <a:stretch>
            <a:fillRect/>
          </a:stretch>
        </p:blipFill>
        <p:spPr>
          <a:xfrm>
            <a:off x="2717800" y="3225800"/>
            <a:ext cx="4381500" cy="1625600"/>
          </a:xfrm>
          <a:prstGeom prst="rect">
            <a:avLst/>
          </a:prstGeom>
        </p:spPr>
      </p:pic>
      <p:sp>
        <p:nvSpPr>
          <p:cNvPr id="19" name="Rectangle 18"/>
          <p:cNvSpPr/>
          <p:nvPr/>
        </p:nvSpPr>
        <p:spPr>
          <a:xfrm>
            <a:off x="2717800" y="4851400"/>
            <a:ext cx="4381500" cy="685800"/>
          </a:xfrm>
          <a:prstGeom prst="rect">
            <a:avLst/>
          </a:prstGeom>
          <a:solidFill>
            <a:srgbClr val="0F7FCB"/>
          </a:solidFill>
          <a:ln>
            <a:noFill/>
          </a:ln>
        </p:spPr>
        <p:txBody>
          <a:bodyPr rtlCol="0" anchor="ctr"/>
          <a:lstStyle/>
          <a:p>
            <a:pPr algn="ctr"/>
          </a:p>
        </p:txBody>
      </p:sp>
      <p:sp>
        <p:nvSpPr>
          <p:cNvPr id="20" name="TextBox 19"/>
          <p:cNvSpPr txBox="1"/>
          <p:nvPr/>
        </p:nvSpPr>
        <p:spPr>
          <a:xfrm>
            <a:off x="2819400" y="4927600"/>
            <a:ext cx="4191000" cy="127000"/>
          </a:xfrm>
          <a:prstGeom prst="rect">
            <a:avLst/>
          </a:prstGeom>
          <a:noFill/>
        </p:spPr>
        <p:txBody>
          <a:bodyPr wrap="square" lIns="0" rIns="0" tIns="0" bIns="0" anchor="t">
            <a:spAutoFit/>
          </a:bodyPr>
          <a:lstStyle/>
          <a:p>
            <a:pPr algn="l">
              <a:lnSpc>
                <a:spcPts val="800"/>
              </a:lnSpc>
              <a:spcAft>
                <a:spcPts val="100"/>
              </a:spcAft>
            </a:pPr>
            <a:r>
              <a:rPr sz="800" b="1" i="0" lang="fr-FR">
                <a:solidFill>
                  <a:srgbClr val="FFFFFF"/>
                </a:solidFill>
                <a:latin typeface="Ubuntu Mono"/>
                <a:ea typeface="Ubuntu Mono"/>
                <a:cs typeface="Ubuntu Mono"/>
                <a:sym typeface="Ubuntu Mono"/>
              </a:rPr>
              <a:t>PLANIFICATION DE PUITS</a:t>
            </a:r>
          </a:p>
          <a:p>
            <a:pPr algn="l">
              <a:lnSpc>
                <a:spcPts val="800"/>
              </a:lnSpc>
              <a:spcAft>
                <a:spcPts val="100"/>
              </a:spcAft>
            </a:pPr>
            <a:r>
              <a:rPr sz="660" b="0" i="0" lang="fr-FR">
                <a:solidFill>
                  <a:srgbClr val="FFFFFF"/>
                </a:solidFill>
                <a:latin typeface="Ubuntu Mono"/>
                <a:ea typeface="Ubuntu Mono"/>
                <a:cs typeface="Ubuntu Mono"/>
                <a:sym typeface="Ubuntu Mono"/>
              </a:rPr>
              <a:t>Logiciels Innova et DrillScan : couple et frottement, hydraulique et anticollision, pour forer en sécurité et efficacement selon les objectifs du projet. Simulation complète, enregistreur de données haute fréquence.</a:t>
            </a:r>
          </a:p>
        </p:txBody>
      </p:sp>
      <p:sp>
        <p:nvSpPr>
          <p:cNvPr id="21" name="Rectangle 20"/>
          <p:cNvSpPr/>
          <p:nvPr/>
        </p:nvSpPr>
        <p:spPr>
          <a:xfrm>
            <a:off x="457200" y="5715000"/>
            <a:ext cx="6642100" cy="3238500"/>
          </a:xfrm>
          <a:prstGeom prst="rect">
            <a:avLst/>
          </a:prstGeom>
          <a:solidFill>
            <a:srgbClr val="EAF4FC"/>
          </a:solidFill>
          <a:ln>
            <a:noFill/>
          </a:ln>
        </p:spPr>
        <p:txBody>
          <a:bodyPr rtlCol="0" anchor="ctr"/>
          <a:lstStyle/>
          <a:p>
            <a:pPr algn="ctr"/>
          </a:p>
        </p:txBody>
      </p:sp>
      <p:sp>
        <p:nvSpPr>
          <p:cNvPr id="22" name="TextBox 21"/>
          <p:cNvSpPr txBox="1"/>
          <p:nvPr/>
        </p:nvSpPr>
        <p:spPr>
          <a:xfrm>
            <a:off x="609600" y="5816600"/>
            <a:ext cx="3810000" cy="127000"/>
          </a:xfrm>
          <a:prstGeom prst="rect">
            <a:avLst/>
          </a:prstGeom>
          <a:noFill/>
        </p:spPr>
        <p:txBody>
          <a:bodyPr wrap="square" lIns="0" rIns="0" tIns="0" bIns="0" anchor="t">
            <a:spAutoFit/>
          </a:bodyPr>
          <a:lstStyle/>
          <a:p>
            <a:pPr algn="l">
              <a:spcAft>
                <a:spcPts val="0"/>
              </a:spcAft>
            </a:pPr>
            <a:r>
              <a:rPr sz="1300" b="1" i="0" lang="fr-FR">
                <a:solidFill>
                  <a:srgbClr val="194E9A"/>
                </a:solidFill>
                <a:latin typeface="Ubuntu Mono"/>
                <a:ea typeface="Ubuntu Mono"/>
                <a:cs typeface="Ubuntu Mono"/>
                <a:sym typeface="Ubuntu Mono"/>
              </a:rPr>
              <a:t>SYSTÈME MWD À IMPULSIONS DE BOUE BOOST</a:t>
            </a:r>
          </a:p>
        </p:txBody>
      </p:sp>
      <p:sp>
        <p:nvSpPr>
          <p:cNvPr id="23" name="TextBox 22"/>
          <p:cNvSpPr txBox="1"/>
          <p:nvPr/>
        </p:nvSpPr>
        <p:spPr>
          <a:xfrm>
            <a:off x="609600" y="6045200"/>
            <a:ext cx="4191000" cy="127000"/>
          </a:xfrm>
          <a:prstGeom prst="rect">
            <a:avLst/>
          </a:prstGeom>
          <a:noFill/>
        </p:spPr>
        <p:txBody>
          <a:bodyPr wrap="square" lIns="0" rIns="0" tIns="0" bIns="0" anchor="t">
            <a:spAutoFit/>
          </a:bodyPr>
          <a:lstStyle/>
          <a:p>
            <a:pPr algn="l">
              <a:lnSpc>
                <a:spcPts val="940"/>
              </a:lnSpc>
              <a:spcAft>
                <a:spcPts val="0"/>
              </a:spcAft>
            </a:pPr>
            <a:r>
              <a:rPr sz="740" b="0" i="0" lang="fr-FR">
                <a:solidFill>
                  <a:srgbClr val="0B1B2E"/>
                </a:solidFill>
                <a:latin typeface="Ubuntu Mono"/>
                <a:ea typeface="Ubuntu Mono"/>
                <a:cs typeface="Ubuntu Mono"/>
                <a:sym typeface="Ubuntu Mono"/>
              </a:rPr>
              <a:t>Des performances à toute épreuve en conditions de forage sévères. Un système à impulsions positives de boue qui envoie en surface, en temps réel, les mesures de survey, la télémétrie directionnelle, le gamma ray et les autres données des capteurs.</a:t>
            </a:r>
          </a:p>
        </p:txBody>
      </p:sp>
      <p:pic>
        <p:nvPicPr>
          <p:cNvPr id="24" name="Picture 23" descr="_c_boost_160_108.png"/>
          <p:cNvPicPr>
            <a:picLocks noChangeAspect="1"/>
          </p:cNvPicPr>
          <p:nvPr/>
        </p:nvPicPr>
        <p:blipFill>
          <a:blip r:embed="rId5"/>
          <a:stretch>
            <a:fillRect/>
          </a:stretch>
        </p:blipFill>
        <p:spPr>
          <a:xfrm>
            <a:off x="4953000" y="5791200"/>
            <a:ext cx="2032000" cy="1371600"/>
          </a:xfrm>
          <a:prstGeom prst="rect">
            <a:avLst/>
          </a:prstGeom>
        </p:spPr>
      </p:pic>
      <p:sp>
        <p:nvSpPr>
          <p:cNvPr id="25" name="TextBox 24"/>
          <p:cNvSpPr txBox="1"/>
          <p:nvPr/>
        </p:nvSpPr>
        <p:spPr>
          <a:xfrm>
            <a:off x="609600" y="6527800"/>
            <a:ext cx="4254500" cy="127000"/>
          </a:xfrm>
          <a:prstGeom prst="rect">
            <a:avLst/>
          </a:prstGeom>
          <a:noFill/>
        </p:spPr>
        <p:txBody>
          <a:bodyPr wrap="square" lIns="0" rIns="0" tIns="0" bIns="0" anchor="t">
            <a:spAutoFit/>
          </a:bodyPr>
          <a:lstStyle/>
          <a:p>
            <a:pPr algn="l">
              <a:lnSpc>
                <a:spcPts val="910"/>
              </a:lnSpc>
              <a:spcAft>
                <a:spcPts val="160"/>
              </a:spcAft>
            </a:pPr>
            <a:r>
              <a:rPr sz="530" b="0" i="0" lang="fr-FR">
                <a:solidFill>
                  <a:srgbClr val="1CB2FE"/>
                </a:solidFill>
                <a:latin typeface="Ubuntu Mono"/>
                <a:ea typeface="Ubuntu Mono"/>
                <a:cs typeface="Ubuntu Mono"/>
                <a:sym typeface="Ubuntu Mono"/>
              </a:rPr>
              <a:t>■ </a:t>
            </a:r>
            <a:r>
              <a:rPr sz="710" b="0" i="0" lang="fr-FR">
                <a:solidFill>
                  <a:srgbClr val="0B1B2E"/>
                </a:solidFill>
                <a:latin typeface="Ubuntu Mono"/>
                <a:ea typeface="Ubuntu Mono"/>
                <a:cs typeface="Ubuntu Mono"/>
                <a:sym typeface="Ubuntu Mono"/>
              </a:rPr>
              <a:t>Conception éprouvée sur le terrain, tenue standard 185°C, version 200°C disponible</a:t>
            </a:r>
          </a:p>
          <a:p>
            <a:pPr algn="l">
              <a:lnSpc>
                <a:spcPts val="910"/>
              </a:lnSpc>
              <a:spcAft>
                <a:spcPts val="160"/>
              </a:spcAft>
            </a:pPr>
            <a:r>
              <a:rPr sz="530" b="0" i="0" lang="fr-FR">
                <a:solidFill>
                  <a:srgbClr val="1CB2FE"/>
                </a:solidFill>
                <a:latin typeface="Ubuntu Mono"/>
                <a:ea typeface="Ubuntu Mono"/>
                <a:cs typeface="Ubuntu Mono"/>
                <a:sym typeface="Ubuntu Mono"/>
              </a:rPr>
              <a:t>■ </a:t>
            </a:r>
            <a:r>
              <a:rPr sz="710" b="0" i="0" lang="fr-FR">
                <a:solidFill>
                  <a:srgbClr val="0B1B2E"/>
                </a:solidFill>
                <a:latin typeface="Ubuntu Mono"/>
                <a:ea typeface="Ubuntu Mono"/>
                <a:cs typeface="Ubuntu Mono"/>
                <a:sym typeface="Ubuntu Mono"/>
              </a:rPr>
              <a:t>Systèmes à impulsions positives montés en haut et en bas</a:t>
            </a:r>
          </a:p>
          <a:p>
            <a:pPr algn="l">
              <a:lnSpc>
                <a:spcPts val="910"/>
              </a:lnSpc>
              <a:spcAft>
                <a:spcPts val="160"/>
              </a:spcAft>
            </a:pPr>
            <a:r>
              <a:rPr sz="530" b="0" i="0" lang="fr-FR">
                <a:solidFill>
                  <a:srgbClr val="1CB2FE"/>
                </a:solidFill>
                <a:latin typeface="Ubuntu Mono"/>
                <a:ea typeface="Ubuntu Mono"/>
                <a:cs typeface="Ubuntu Mono"/>
                <a:sym typeface="Ubuntu Mono"/>
              </a:rPr>
              <a:t>■ </a:t>
            </a:r>
            <a:r>
              <a:rPr sz="710" b="0" i="0" lang="fr-FR">
                <a:solidFill>
                  <a:srgbClr val="0B1B2E"/>
                </a:solidFill>
                <a:latin typeface="Ubuntu Mono"/>
                <a:ea typeface="Ubuntu Mono"/>
                <a:cs typeface="Ubuntu Mono"/>
                <a:sym typeface="Ubuntu Mono"/>
              </a:rPr>
              <a:t>Pulseur motorisé à technologie anti-bouchage : fonctionne en boue chargée en colmatant (LCM) et en solides</a:t>
            </a:r>
          </a:p>
          <a:p>
            <a:pPr algn="l">
              <a:lnSpc>
                <a:spcPts val="910"/>
              </a:lnSpc>
              <a:spcAft>
                <a:spcPts val="160"/>
              </a:spcAft>
            </a:pPr>
            <a:r>
              <a:rPr sz="530" b="0" i="0" lang="fr-FR">
                <a:solidFill>
                  <a:srgbClr val="1CB2FE"/>
                </a:solidFill>
                <a:latin typeface="Ubuntu Mono"/>
                <a:ea typeface="Ubuntu Mono"/>
                <a:cs typeface="Ubuntu Mono"/>
                <a:sym typeface="Ubuntu Mono"/>
              </a:rPr>
              <a:t>■ </a:t>
            </a:r>
            <a:r>
              <a:rPr sz="710" b="0" i="0" lang="fr-FR">
                <a:solidFill>
                  <a:srgbClr val="0B1B2E"/>
                </a:solidFill>
                <a:latin typeface="Ubuntu Mono"/>
                <a:ea typeface="Ubuntu Mono"/>
                <a:cs typeface="Ubuntu Mono"/>
                <a:sym typeface="Ubuntu Mono"/>
              </a:rPr>
              <a:t>Large plage de débits et de vitesses de rotation, facile à assembler et à entretenir</a:t>
            </a:r>
          </a:p>
          <a:p>
            <a:pPr algn="l">
              <a:lnSpc>
                <a:spcPts val="910"/>
              </a:lnSpc>
              <a:spcAft>
                <a:spcPts val="160"/>
              </a:spcAft>
            </a:pPr>
            <a:r>
              <a:rPr sz="530" b="0" i="0" lang="fr-FR">
                <a:solidFill>
                  <a:srgbClr val="1CB2FE"/>
                </a:solidFill>
                <a:latin typeface="Ubuntu Mono"/>
                <a:ea typeface="Ubuntu Mono"/>
                <a:cs typeface="Ubuntu Mono"/>
                <a:sym typeface="Ubuntu Mono"/>
              </a:rPr>
              <a:t>■ </a:t>
            </a:r>
            <a:r>
              <a:rPr sz="710" b="0" i="0" lang="fr-FR">
                <a:solidFill>
                  <a:srgbClr val="0B1B2E"/>
                </a:solidFill>
                <a:latin typeface="Ubuntu Mono"/>
                <a:ea typeface="Ubuntu Mono"/>
                <a:cs typeface="Ubuntu Mono"/>
                <a:sym typeface="Ubuntu Mono"/>
              </a:rPr>
              <a:t>Down-linking pour séquences de mesure réglables (4 programmables)</a:t>
            </a:r>
          </a:p>
        </p:txBody>
      </p:sp>
      <p:sp>
        <p:nvSpPr>
          <p:cNvPr id="26" name="Rectangle 25"/>
          <p:cNvSpPr/>
          <p:nvPr/>
        </p:nvSpPr>
        <p:spPr>
          <a:xfrm>
            <a:off x="609600" y="7620000"/>
            <a:ext cx="1549400" cy="355600"/>
          </a:xfrm>
          <a:prstGeom prst="rect">
            <a:avLst/>
          </a:prstGeom>
          <a:solidFill>
            <a:srgbClr val="FFFFFF"/>
          </a:solidFill>
          <a:ln w="9525">
            <a:solidFill>
              <a:srgbClr val="C5D6E8"/>
            </a:solidFill>
          </a:ln>
        </p:spPr>
        <p:txBody>
          <a:bodyPr rtlCol="0" anchor="ctr"/>
          <a:lstStyle/>
          <a:p>
            <a:pPr algn="ctr"/>
          </a:p>
        </p:txBody>
      </p:sp>
      <p:sp>
        <p:nvSpPr>
          <p:cNvPr id="27" name="TextBox 26"/>
          <p:cNvSpPr txBox="1"/>
          <p:nvPr/>
        </p:nvSpPr>
        <p:spPr>
          <a:xfrm>
            <a:off x="685800" y="7670800"/>
            <a:ext cx="1422400" cy="127000"/>
          </a:xfrm>
          <a:prstGeom prst="rect">
            <a:avLst/>
          </a:prstGeom>
          <a:noFill/>
        </p:spPr>
        <p:txBody>
          <a:bodyPr wrap="square" lIns="0" rIns="0" tIns="0" bIns="0" anchor="t">
            <a:spAutoFit/>
          </a:bodyPr>
          <a:lstStyle/>
          <a:p>
            <a:pPr algn="l">
              <a:lnSpc>
                <a:spcPts val="940"/>
              </a:lnSpc>
              <a:spcAft>
                <a:spcPts val="0"/>
              </a:spcAft>
            </a:pPr>
            <a:r>
              <a:rPr sz="580" b="0" i="0" lang="fr-FR">
                <a:solidFill>
                  <a:srgbClr val="5A6B7F"/>
                </a:solidFill>
                <a:latin typeface="Ubuntu Mono"/>
                <a:ea typeface="Ubuntu Mono"/>
                <a:cs typeface="Ubuntu Mono"/>
                <a:sym typeface="Ubuntu Mono"/>
              </a:rPr>
              <a:t>DIAMÈTRE EXTÉRIEUR</a:t>
            </a:r>
          </a:p>
          <a:p>
            <a:pPr algn="l">
              <a:lnSpc>
                <a:spcPts val="940"/>
              </a:lnSpc>
              <a:spcAft>
                <a:spcPts val="0"/>
              </a:spcAft>
            </a:pPr>
            <a:r>
              <a:rPr sz="860" b="1" i="0" lang="fr-FR">
                <a:solidFill>
                  <a:srgbClr val="194E9A"/>
                </a:solidFill>
                <a:latin typeface="Ubuntu Mono"/>
                <a:ea typeface="Ubuntu Mono"/>
                <a:cs typeface="Ubuntu Mono"/>
                <a:sym typeface="Ubuntu Mono"/>
              </a:rPr>
              <a:t>47,6 mm (1,875")</a:t>
            </a:r>
          </a:p>
        </p:txBody>
      </p:sp>
      <p:sp>
        <p:nvSpPr>
          <p:cNvPr id="28" name="Rectangle 27"/>
          <p:cNvSpPr/>
          <p:nvPr/>
        </p:nvSpPr>
        <p:spPr>
          <a:xfrm>
            <a:off x="2216150" y="7620000"/>
            <a:ext cx="1549400" cy="355600"/>
          </a:xfrm>
          <a:prstGeom prst="rect">
            <a:avLst/>
          </a:prstGeom>
          <a:solidFill>
            <a:srgbClr val="FFFFFF"/>
          </a:solidFill>
          <a:ln w="9525">
            <a:solidFill>
              <a:srgbClr val="C5D6E8"/>
            </a:solidFill>
          </a:ln>
        </p:spPr>
        <p:txBody>
          <a:bodyPr rtlCol="0" anchor="ctr"/>
          <a:lstStyle/>
          <a:p>
            <a:pPr algn="ctr"/>
          </a:p>
        </p:txBody>
      </p:sp>
      <p:sp>
        <p:nvSpPr>
          <p:cNvPr id="29" name="TextBox 28"/>
          <p:cNvSpPr txBox="1"/>
          <p:nvPr/>
        </p:nvSpPr>
        <p:spPr>
          <a:xfrm>
            <a:off x="2292350" y="7670800"/>
            <a:ext cx="1422400" cy="127000"/>
          </a:xfrm>
          <a:prstGeom prst="rect">
            <a:avLst/>
          </a:prstGeom>
          <a:noFill/>
        </p:spPr>
        <p:txBody>
          <a:bodyPr wrap="square" lIns="0" rIns="0" tIns="0" bIns="0" anchor="t">
            <a:spAutoFit/>
          </a:bodyPr>
          <a:lstStyle/>
          <a:p>
            <a:pPr algn="l">
              <a:lnSpc>
                <a:spcPts val="940"/>
              </a:lnSpc>
              <a:spcAft>
                <a:spcPts val="0"/>
              </a:spcAft>
            </a:pPr>
            <a:r>
              <a:rPr sz="580" b="0" i="0" lang="fr-FR">
                <a:solidFill>
                  <a:srgbClr val="5A6B7F"/>
                </a:solidFill>
                <a:latin typeface="Ubuntu Mono"/>
                <a:ea typeface="Ubuntu Mono"/>
                <a:cs typeface="Ubuntu Mono"/>
                <a:sym typeface="Ubuntu Mono"/>
              </a:rPr>
              <a:t>TENUE EN PRESSION</a:t>
            </a:r>
          </a:p>
          <a:p>
            <a:pPr algn="l">
              <a:lnSpc>
                <a:spcPts val="940"/>
              </a:lnSpc>
              <a:spcAft>
                <a:spcPts val="0"/>
              </a:spcAft>
            </a:pPr>
            <a:r>
              <a:rPr sz="860" b="1" i="0" lang="fr-FR">
                <a:solidFill>
                  <a:srgbClr val="194E9A"/>
                </a:solidFill>
                <a:latin typeface="Ubuntu Mono"/>
                <a:ea typeface="Ubuntu Mono"/>
                <a:cs typeface="Ubuntu Mono"/>
                <a:sym typeface="Ubuntu Mono"/>
              </a:rPr>
              <a:t>20 000 psi</a:t>
            </a:r>
          </a:p>
        </p:txBody>
      </p:sp>
      <p:sp>
        <p:nvSpPr>
          <p:cNvPr id="30" name="Rectangle 29"/>
          <p:cNvSpPr/>
          <p:nvPr/>
        </p:nvSpPr>
        <p:spPr>
          <a:xfrm>
            <a:off x="3822700" y="7620000"/>
            <a:ext cx="1549400" cy="355600"/>
          </a:xfrm>
          <a:prstGeom prst="rect">
            <a:avLst/>
          </a:prstGeom>
          <a:solidFill>
            <a:srgbClr val="FFFFFF"/>
          </a:solidFill>
          <a:ln w="9525">
            <a:solidFill>
              <a:srgbClr val="C5D6E8"/>
            </a:solidFill>
          </a:ln>
        </p:spPr>
        <p:txBody>
          <a:bodyPr rtlCol="0" anchor="ctr"/>
          <a:lstStyle/>
          <a:p>
            <a:pPr algn="ctr"/>
          </a:p>
        </p:txBody>
      </p:sp>
      <p:sp>
        <p:nvSpPr>
          <p:cNvPr id="31" name="TextBox 30"/>
          <p:cNvSpPr txBox="1"/>
          <p:nvPr/>
        </p:nvSpPr>
        <p:spPr>
          <a:xfrm>
            <a:off x="3898900" y="7670800"/>
            <a:ext cx="1422400" cy="127000"/>
          </a:xfrm>
          <a:prstGeom prst="rect">
            <a:avLst/>
          </a:prstGeom>
          <a:noFill/>
        </p:spPr>
        <p:txBody>
          <a:bodyPr wrap="square" lIns="0" rIns="0" tIns="0" bIns="0" anchor="t">
            <a:spAutoFit/>
          </a:bodyPr>
          <a:lstStyle/>
          <a:p>
            <a:pPr algn="l">
              <a:lnSpc>
                <a:spcPts val="940"/>
              </a:lnSpc>
              <a:spcAft>
                <a:spcPts val="0"/>
              </a:spcAft>
            </a:pPr>
            <a:r>
              <a:rPr sz="580" b="0" i="0" lang="fr-FR">
                <a:solidFill>
                  <a:srgbClr val="5A6B7F"/>
                </a:solidFill>
                <a:latin typeface="Ubuntu Mono"/>
                <a:ea typeface="Ubuntu Mono"/>
                <a:cs typeface="Ubuntu Mono"/>
                <a:sym typeface="Ubuntu Mono"/>
              </a:rPr>
              <a:t>TEMPÉRATURE</a:t>
            </a:r>
          </a:p>
          <a:p>
            <a:pPr algn="l">
              <a:lnSpc>
                <a:spcPts val="940"/>
              </a:lnSpc>
              <a:spcAft>
                <a:spcPts val="0"/>
              </a:spcAft>
            </a:pPr>
            <a:r>
              <a:rPr sz="860" b="1" i="0" lang="fr-FR">
                <a:solidFill>
                  <a:srgbClr val="194E9A"/>
                </a:solidFill>
                <a:latin typeface="Ubuntu Mono"/>
                <a:ea typeface="Ubuntu Mono"/>
                <a:cs typeface="Ubuntu Mono"/>
                <a:sym typeface="Ubuntu Mono"/>
              </a:rPr>
              <a:t>-20 à 185°C</a:t>
            </a:r>
          </a:p>
        </p:txBody>
      </p:sp>
      <p:sp>
        <p:nvSpPr>
          <p:cNvPr id="32" name="Rectangle 31"/>
          <p:cNvSpPr/>
          <p:nvPr/>
        </p:nvSpPr>
        <p:spPr>
          <a:xfrm>
            <a:off x="5429250" y="7620000"/>
            <a:ext cx="1549400" cy="355600"/>
          </a:xfrm>
          <a:prstGeom prst="rect">
            <a:avLst/>
          </a:prstGeom>
          <a:solidFill>
            <a:srgbClr val="FFFFFF"/>
          </a:solidFill>
          <a:ln w="9525">
            <a:solidFill>
              <a:srgbClr val="C5D6E8"/>
            </a:solidFill>
          </a:ln>
        </p:spPr>
        <p:txBody>
          <a:bodyPr rtlCol="0" anchor="ctr"/>
          <a:lstStyle/>
          <a:p>
            <a:pPr algn="ctr"/>
          </a:p>
        </p:txBody>
      </p:sp>
      <p:sp>
        <p:nvSpPr>
          <p:cNvPr id="33" name="TextBox 32"/>
          <p:cNvSpPr txBox="1"/>
          <p:nvPr/>
        </p:nvSpPr>
        <p:spPr>
          <a:xfrm>
            <a:off x="5505450" y="7670800"/>
            <a:ext cx="1422400" cy="127000"/>
          </a:xfrm>
          <a:prstGeom prst="rect">
            <a:avLst/>
          </a:prstGeom>
          <a:noFill/>
        </p:spPr>
        <p:txBody>
          <a:bodyPr wrap="square" lIns="0" rIns="0" tIns="0" bIns="0" anchor="t">
            <a:spAutoFit/>
          </a:bodyPr>
          <a:lstStyle/>
          <a:p>
            <a:pPr algn="l">
              <a:lnSpc>
                <a:spcPts val="940"/>
              </a:lnSpc>
              <a:spcAft>
                <a:spcPts val="0"/>
              </a:spcAft>
            </a:pPr>
            <a:r>
              <a:rPr sz="580" b="0" i="0" lang="fr-FR">
                <a:solidFill>
                  <a:srgbClr val="5A6B7F"/>
                </a:solidFill>
                <a:latin typeface="Ubuntu Mono"/>
                <a:ea typeface="Ubuntu Mono"/>
                <a:cs typeface="Ubuntu Mono"/>
                <a:sym typeface="Ubuntu Mono"/>
              </a:rPr>
              <a:t>TAILLES DE MASSE-TIGES</a:t>
            </a:r>
          </a:p>
          <a:p>
            <a:pPr algn="l">
              <a:lnSpc>
                <a:spcPts val="940"/>
              </a:lnSpc>
              <a:spcAft>
                <a:spcPts val="0"/>
              </a:spcAft>
            </a:pPr>
            <a:r>
              <a:rPr sz="860" b="1" i="0" lang="fr-FR">
                <a:solidFill>
                  <a:srgbClr val="194E9A"/>
                </a:solidFill>
                <a:latin typeface="Ubuntu Mono"/>
                <a:ea typeface="Ubuntu Mono"/>
                <a:cs typeface="Ubuntu Mono"/>
                <a:sym typeface="Ubuntu Mono"/>
              </a:rPr>
              <a:t>3,5" à 8"</a:t>
            </a:r>
          </a:p>
        </p:txBody>
      </p:sp>
      <p:sp>
        <p:nvSpPr>
          <p:cNvPr id="34" name="Rectangle 33"/>
          <p:cNvSpPr/>
          <p:nvPr/>
        </p:nvSpPr>
        <p:spPr>
          <a:xfrm>
            <a:off x="609600" y="8026400"/>
            <a:ext cx="1549400" cy="355600"/>
          </a:xfrm>
          <a:prstGeom prst="rect">
            <a:avLst/>
          </a:prstGeom>
          <a:solidFill>
            <a:srgbClr val="FFFFFF"/>
          </a:solidFill>
          <a:ln w="9525">
            <a:solidFill>
              <a:srgbClr val="C5D6E8"/>
            </a:solidFill>
          </a:ln>
        </p:spPr>
        <p:txBody>
          <a:bodyPr rtlCol="0" anchor="ctr"/>
          <a:lstStyle/>
          <a:p>
            <a:pPr algn="ctr"/>
          </a:p>
        </p:txBody>
      </p:sp>
      <p:sp>
        <p:nvSpPr>
          <p:cNvPr id="35" name="TextBox 34"/>
          <p:cNvSpPr txBox="1"/>
          <p:nvPr/>
        </p:nvSpPr>
        <p:spPr>
          <a:xfrm>
            <a:off x="685800" y="8077200"/>
            <a:ext cx="1422400" cy="127000"/>
          </a:xfrm>
          <a:prstGeom prst="rect">
            <a:avLst/>
          </a:prstGeom>
          <a:noFill/>
        </p:spPr>
        <p:txBody>
          <a:bodyPr wrap="square" lIns="0" rIns="0" tIns="0" bIns="0" anchor="t">
            <a:spAutoFit/>
          </a:bodyPr>
          <a:lstStyle/>
          <a:p>
            <a:pPr algn="l">
              <a:lnSpc>
                <a:spcPts val="940"/>
              </a:lnSpc>
              <a:spcAft>
                <a:spcPts val="0"/>
              </a:spcAft>
            </a:pPr>
            <a:r>
              <a:rPr sz="580" b="0" i="0" lang="fr-FR">
                <a:solidFill>
                  <a:srgbClr val="5A6B7F"/>
                </a:solidFill>
                <a:latin typeface="Ubuntu Mono"/>
                <a:ea typeface="Ubuntu Mono"/>
                <a:cs typeface="Ubuntu Mono"/>
                <a:sym typeface="Ubuntu Mono"/>
              </a:rPr>
              <a:t>DÉBIT</a:t>
            </a:r>
          </a:p>
          <a:p>
            <a:pPr algn="l">
              <a:lnSpc>
                <a:spcPts val="940"/>
              </a:lnSpc>
              <a:spcAft>
                <a:spcPts val="0"/>
              </a:spcAft>
            </a:pPr>
            <a:r>
              <a:rPr sz="860" b="1" i="0" lang="fr-FR">
                <a:solidFill>
                  <a:srgbClr val="194E9A"/>
                </a:solidFill>
                <a:latin typeface="Ubuntu Mono"/>
                <a:ea typeface="Ubuntu Mono"/>
                <a:cs typeface="Ubuntu Mono"/>
                <a:sym typeface="Ubuntu Mono"/>
              </a:rPr>
              <a:t>75 - 1 200 gpm</a:t>
            </a:r>
          </a:p>
        </p:txBody>
      </p:sp>
      <p:sp>
        <p:nvSpPr>
          <p:cNvPr id="36" name="Rectangle 35"/>
          <p:cNvSpPr/>
          <p:nvPr/>
        </p:nvSpPr>
        <p:spPr>
          <a:xfrm>
            <a:off x="2216150" y="8026400"/>
            <a:ext cx="1549400" cy="355600"/>
          </a:xfrm>
          <a:prstGeom prst="rect">
            <a:avLst/>
          </a:prstGeom>
          <a:solidFill>
            <a:srgbClr val="FFFFFF"/>
          </a:solidFill>
          <a:ln w="9525">
            <a:solidFill>
              <a:srgbClr val="C5D6E8"/>
            </a:solidFill>
          </a:ln>
        </p:spPr>
        <p:txBody>
          <a:bodyPr rtlCol="0" anchor="ctr"/>
          <a:lstStyle/>
          <a:p>
            <a:pPr algn="ctr"/>
          </a:p>
        </p:txBody>
      </p:sp>
      <p:sp>
        <p:nvSpPr>
          <p:cNvPr id="37" name="TextBox 36"/>
          <p:cNvSpPr txBox="1"/>
          <p:nvPr/>
        </p:nvSpPr>
        <p:spPr>
          <a:xfrm>
            <a:off x="2292350" y="8077200"/>
            <a:ext cx="1422400" cy="127000"/>
          </a:xfrm>
          <a:prstGeom prst="rect">
            <a:avLst/>
          </a:prstGeom>
          <a:noFill/>
        </p:spPr>
        <p:txBody>
          <a:bodyPr wrap="square" lIns="0" rIns="0" tIns="0" bIns="0" anchor="t">
            <a:spAutoFit/>
          </a:bodyPr>
          <a:lstStyle/>
          <a:p>
            <a:pPr algn="l">
              <a:lnSpc>
                <a:spcPts val="940"/>
              </a:lnSpc>
              <a:spcAft>
                <a:spcPts val="0"/>
              </a:spcAft>
            </a:pPr>
            <a:r>
              <a:rPr sz="580" b="0" i="0" lang="fr-FR">
                <a:solidFill>
                  <a:srgbClr val="5A6B7F"/>
                </a:solidFill>
                <a:latin typeface="Ubuntu Mono"/>
                <a:ea typeface="Ubuntu Mono"/>
                <a:cs typeface="Ubuntu Mono"/>
                <a:sym typeface="Ubuntu Mono"/>
              </a:rPr>
              <a:t>AUTONOMIE BATTERIE</a:t>
            </a:r>
          </a:p>
          <a:p>
            <a:pPr algn="l">
              <a:lnSpc>
                <a:spcPts val="940"/>
              </a:lnSpc>
              <a:spcAft>
                <a:spcPts val="0"/>
              </a:spcAft>
            </a:pPr>
            <a:r>
              <a:rPr sz="860" b="1" i="0" lang="fr-FR">
                <a:solidFill>
                  <a:srgbClr val="194E9A"/>
                </a:solidFill>
                <a:latin typeface="Ubuntu Mono"/>
                <a:ea typeface="Ubuntu Mono"/>
                <a:cs typeface="Ubuntu Mono"/>
                <a:sym typeface="Ubuntu Mono"/>
              </a:rPr>
              <a:t>400+ h (2 modules)</a:t>
            </a:r>
          </a:p>
        </p:txBody>
      </p:sp>
      <p:sp>
        <p:nvSpPr>
          <p:cNvPr id="38" name="Rectangle 37"/>
          <p:cNvSpPr/>
          <p:nvPr/>
        </p:nvSpPr>
        <p:spPr>
          <a:xfrm>
            <a:off x="3822700" y="8026400"/>
            <a:ext cx="1549400" cy="355600"/>
          </a:xfrm>
          <a:prstGeom prst="rect">
            <a:avLst/>
          </a:prstGeom>
          <a:solidFill>
            <a:srgbClr val="FFFFFF"/>
          </a:solidFill>
          <a:ln w="9525">
            <a:solidFill>
              <a:srgbClr val="C5D6E8"/>
            </a:solidFill>
          </a:ln>
        </p:spPr>
        <p:txBody>
          <a:bodyPr rtlCol="0" anchor="ctr"/>
          <a:lstStyle/>
          <a:p>
            <a:pPr algn="ctr"/>
          </a:p>
        </p:txBody>
      </p:sp>
      <p:sp>
        <p:nvSpPr>
          <p:cNvPr id="39" name="TextBox 38"/>
          <p:cNvSpPr txBox="1"/>
          <p:nvPr/>
        </p:nvSpPr>
        <p:spPr>
          <a:xfrm>
            <a:off x="3898900" y="8077200"/>
            <a:ext cx="1422400" cy="127000"/>
          </a:xfrm>
          <a:prstGeom prst="rect">
            <a:avLst/>
          </a:prstGeom>
          <a:noFill/>
        </p:spPr>
        <p:txBody>
          <a:bodyPr wrap="square" lIns="0" rIns="0" tIns="0" bIns="0" anchor="t">
            <a:spAutoFit/>
          </a:bodyPr>
          <a:lstStyle/>
          <a:p>
            <a:pPr algn="l">
              <a:lnSpc>
                <a:spcPts val="940"/>
              </a:lnSpc>
              <a:spcAft>
                <a:spcPts val="0"/>
              </a:spcAft>
            </a:pPr>
            <a:r>
              <a:rPr sz="580" b="0" i="0" lang="fr-FR">
                <a:solidFill>
                  <a:srgbClr val="5A6B7F"/>
                </a:solidFill>
                <a:latin typeface="Ubuntu Mono"/>
                <a:ea typeface="Ubuntu Mono"/>
                <a:cs typeface="Ubuntu Mono"/>
                <a:sym typeface="Ubuntu Mono"/>
              </a:rPr>
              <a:t>LIMITE DE CHOC</a:t>
            </a:r>
          </a:p>
          <a:p>
            <a:pPr algn="l">
              <a:lnSpc>
                <a:spcPts val="940"/>
              </a:lnSpc>
              <a:spcAft>
                <a:spcPts val="0"/>
              </a:spcAft>
            </a:pPr>
            <a:r>
              <a:rPr sz="860" b="1" i="0" lang="fr-FR">
                <a:solidFill>
                  <a:srgbClr val="194E9A"/>
                </a:solidFill>
                <a:latin typeface="Ubuntu Mono"/>
                <a:ea typeface="Ubuntu Mono"/>
                <a:cs typeface="Ubuntu Mono"/>
                <a:sym typeface="Ubuntu Mono"/>
              </a:rPr>
              <a:t>500 g</a:t>
            </a:r>
          </a:p>
        </p:txBody>
      </p:sp>
      <p:sp>
        <p:nvSpPr>
          <p:cNvPr id="40" name="Rectangle 39"/>
          <p:cNvSpPr/>
          <p:nvPr/>
        </p:nvSpPr>
        <p:spPr>
          <a:xfrm>
            <a:off x="5429250" y="8026400"/>
            <a:ext cx="1549400" cy="355600"/>
          </a:xfrm>
          <a:prstGeom prst="rect">
            <a:avLst/>
          </a:prstGeom>
          <a:solidFill>
            <a:srgbClr val="FFFFFF"/>
          </a:solidFill>
          <a:ln w="9525">
            <a:solidFill>
              <a:srgbClr val="C5D6E8"/>
            </a:solidFill>
          </a:ln>
        </p:spPr>
        <p:txBody>
          <a:bodyPr rtlCol="0" anchor="ctr"/>
          <a:lstStyle/>
          <a:p>
            <a:pPr algn="ctr"/>
          </a:p>
        </p:txBody>
      </p:sp>
      <p:sp>
        <p:nvSpPr>
          <p:cNvPr id="41" name="TextBox 40"/>
          <p:cNvSpPr txBox="1"/>
          <p:nvPr/>
        </p:nvSpPr>
        <p:spPr>
          <a:xfrm>
            <a:off x="5505450" y="8077200"/>
            <a:ext cx="1422400" cy="127000"/>
          </a:xfrm>
          <a:prstGeom prst="rect">
            <a:avLst/>
          </a:prstGeom>
          <a:noFill/>
        </p:spPr>
        <p:txBody>
          <a:bodyPr wrap="square" lIns="0" rIns="0" tIns="0" bIns="0" anchor="t">
            <a:spAutoFit/>
          </a:bodyPr>
          <a:lstStyle/>
          <a:p>
            <a:pPr algn="l">
              <a:lnSpc>
                <a:spcPts val="940"/>
              </a:lnSpc>
              <a:spcAft>
                <a:spcPts val="0"/>
              </a:spcAft>
            </a:pPr>
            <a:r>
              <a:rPr sz="580" b="0" i="0" lang="fr-FR">
                <a:solidFill>
                  <a:srgbClr val="5A6B7F"/>
                </a:solidFill>
                <a:latin typeface="Ubuntu Mono"/>
                <a:ea typeface="Ubuntu Mono"/>
                <a:cs typeface="Ubuntu Mono"/>
                <a:sym typeface="Ubuntu Mono"/>
              </a:rPr>
              <a:t>MÉMOIRE INTERNE</a:t>
            </a:r>
          </a:p>
          <a:p>
            <a:pPr algn="l">
              <a:lnSpc>
                <a:spcPts val="940"/>
              </a:lnSpc>
              <a:spcAft>
                <a:spcPts val="0"/>
              </a:spcAft>
            </a:pPr>
            <a:r>
              <a:rPr sz="860" b="1" i="0" lang="fr-FR">
                <a:solidFill>
                  <a:srgbClr val="194E9A"/>
                </a:solidFill>
                <a:latin typeface="Ubuntu Mono"/>
                <a:ea typeface="Ubuntu Mono"/>
                <a:cs typeface="Ubuntu Mono"/>
                <a:sym typeface="Ubuntu Mono"/>
              </a:rPr>
              <a:t>24 Mo</a:t>
            </a:r>
          </a:p>
        </p:txBody>
      </p:sp>
      <p:sp>
        <p:nvSpPr>
          <p:cNvPr id="42" name="TextBox 41"/>
          <p:cNvSpPr txBox="1"/>
          <p:nvPr/>
        </p:nvSpPr>
        <p:spPr>
          <a:xfrm>
            <a:off x="609600" y="8483600"/>
            <a:ext cx="6350000" cy="127000"/>
          </a:xfrm>
          <a:prstGeom prst="rect">
            <a:avLst/>
          </a:prstGeom>
          <a:noFill/>
        </p:spPr>
        <p:txBody>
          <a:bodyPr wrap="square" lIns="0" rIns="0" tIns="0" bIns="0" anchor="t">
            <a:spAutoFit/>
          </a:bodyPr>
          <a:lstStyle/>
          <a:p>
            <a:pPr algn="l">
              <a:lnSpc>
                <a:spcPts val="860"/>
              </a:lnSpc>
              <a:spcAft>
                <a:spcPts val="0"/>
              </a:spcAft>
            </a:pPr>
            <a:r>
              <a:rPr sz="680" b="1" i="0" lang="fr-FR">
                <a:solidFill>
                  <a:srgbClr val="194E9A"/>
                </a:solidFill>
                <a:latin typeface="Ubuntu Mono"/>
                <a:ea typeface="Ubuntu Mono"/>
                <a:cs typeface="Ubuntu Mono"/>
                <a:sym typeface="Ubuntu Mono"/>
              </a:rPr>
              <a:t>Télémétrie : </a:t>
            </a:r>
            <a:r>
              <a:rPr sz="680" b="0" i="0" lang="fr-FR">
                <a:solidFill>
                  <a:srgbClr val="0B1B2E"/>
                </a:solidFill>
                <a:latin typeface="Ubuntu Mono"/>
                <a:ea typeface="Ubuntu Mono"/>
                <a:cs typeface="Ubuntu Mono"/>
                <a:sym typeface="Ubuntu Mono"/>
              </a:rPr>
              <a:t>inclinaison, azimut, toolface, inclinaison et azimut continus, gamma ray, chocs, vibrations, tr/min, stick-slip, température, pression annulaire, état de la batterie. Inclinaison ±0,10°, azimut ±0,50°, toolface ±0,20°.</a:t>
            </a:r>
          </a:p>
        </p:txBody>
      </p:sp>
      <p:sp>
        <p:nvSpPr>
          <p:cNvPr id="43" name="TextBox 42"/>
          <p:cNvSpPr txBox="1"/>
          <p:nvPr/>
        </p:nvSpPr>
        <p:spPr>
          <a:xfrm>
            <a:off x="457200" y="9093200"/>
            <a:ext cx="3810000" cy="127000"/>
          </a:xfrm>
          <a:prstGeom prst="rect">
            <a:avLst/>
          </a:prstGeom>
          <a:noFill/>
        </p:spPr>
        <p:txBody>
          <a:bodyPr wrap="square" lIns="0" rIns="0" tIns="0" bIns="0" anchor="t">
            <a:spAutoFit/>
          </a:bodyPr>
          <a:lstStyle/>
          <a:p>
            <a:pPr algn="l">
              <a:spcAft>
                <a:spcPts val="0"/>
              </a:spcAft>
            </a:pPr>
            <a:r>
              <a:rPr sz="860" b="1" i="0" lang="fr-FR">
                <a:solidFill>
                  <a:srgbClr val="194E9A"/>
                </a:solidFill>
                <a:latin typeface="Ubuntu Mono"/>
                <a:ea typeface="Ubuntu Mono"/>
                <a:cs typeface="Ubuntu Mono"/>
                <a:sym typeface="Ubuntu Mono"/>
              </a:rPr>
              <a:t>ÉGALEMENT DISPONIBLE</a:t>
            </a:r>
          </a:p>
        </p:txBody>
      </p:sp>
      <p:sp>
        <p:nvSpPr>
          <p:cNvPr id="44" name="Rectangle 43"/>
          <p:cNvSpPr/>
          <p:nvPr/>
        </p:nvSpPr>
        <p:spPr>
          <a:xfrm>
            <a:off x="457200" y="9296400"/>
            <a:ext cx="2273300" cy="215900"/>
          </a:xfrm>
          <a:prstGeom prst="rect">
            <a:avLst/>
          </a:prstGeom>
          <a:solidFill>
            <a:srgbClr val="FFFFFF"/>
          </a:solidFill>
          <a:ln w="9525">
            <a:solidFill>
              <a:srgbClr val="0F7FCB"/>
            </a:solidFill>
          </a:ln>
        </p:spPr>
        <p:txBody>
          <a:bodyPr rtlCol="0" anchor="ctr"/>
          <a:lstStyle/>
          <a:p>
            <a:pPr algn="ctr"/>
          </a:p>
        </p:txBody>
      </p:sp>
      <p:sp>
        <p:nvSpPr>
          <p:cNvPr id="45" name="TextBox 44"/>
          <p:cNvSpPr txBox="1"/>
          <p:nvPr/>
        </p:nvSpPr>
        <p:spPr>
          <a:xfrm>
            <a:off x="457200" y="9349740"/>
            <a:ext cx="2273300" cy="127000"/>
          </a:xfrm>
          <a:prstGeom prst="rect">
            <a:avLst/>
          </a:prstGeom>
          <a:noFill/>
        </p:spPr>
        <p:txBody>
          <a:bodyPr wrap="square" lIns="0" rIns="0" tIns="0" bIns="0" anchor="t">
            <a:spAutoFit/>
          </a:bodyPr>
          <a:lstStyle/>
          <a:p>
            <a:pPr algn="ctr">
              <a:spcAft>
                <a:spcPts val="0"/>
              </a:spcAft>
            </a:pPr>
            <a:r>
              <a:rPr sz="660" b="0" i="0" lang="fr-FR">
                <a:solidFill>
                  <a:srgbClr val="194E9A"/>
                </a:solidFill>
                <a:latin typeface="Ubuntu Mono"/>
                <a:ea typeface="Ubuntu Mono"/>
                <a:cs typeface="Ubuntu Mono"/>
                <a:sym typeface="Ubuntu Mono"/>
              </a:rPr>
              <a:t>Équipement de survey (LWD, gyro, double télémétrie)</a:t>
            </a:r>
          </a:p>
        </p:txBody>
      </p:sp>
      <p:sp>
        <p:nvSpPr>
          <p:cNvPr id="46" name="Rectangle 45"/>
          <p:cNvSpPr/>
          <p:nvPr/>
        </p:nvSpPr>
        <p:spPr>
          <a:xfrm>
            <a:off x="2806700" y="9296400"/>
            <a:ext cx="796925" cy="215900"/>
          </a:xfrm>
          <a:prstGeom prst="rect">
            <a:avLst/>
          </a:prstGeom>
          <a:solidFill>
            <a:srgbClr val="FFFFFF"/>
          </a:solidFill>
          <a:ln w="9525">
            <a:solidFill>
              <a:srgbClr val="0F7FCB"/>
            </a:solidFill>
          </a:ln>
        </p:spPr>
        <p:txBody>
          <a:bodyPr rtlCol="0" anchor="ctr"/>
          <a:lstStyle/>
          <a:p>
            <a:pPr algn="ctr"/>
          </a:p>
        </p:txBody>
      </p:sp>
      <p:sp>
        <p:nvSpPr>
          <p:cNvPr id="47" name="TextBox 46"/>
          <p:cNvSpPr txBox="1"/>
          <p:nvPr/>
        </p:nvSpPr>
        <p:spPr>
          <a:xfrm>
            <a:off x="2806700" y="9349740"/>
            <a:ext cx="796925" cy="127000"/>
          </a:xfrm>
          <a:prstGeom prst="rect">
            <a:avLst/>
          </a:prstGeom>
          <a:noFill/>
        </p:spPr>
        <p:txBody>
          <a:bodyPr wrap="square" lIns="0" rIns="0" tIns="0" bIns="0" anchor="t">
            <a:spAutoFit/>
          </a:bodyPr>
          <a:lstStyle/>
          <a:p>
            <a:pPr algn="ctr">
              <a:spcAft>
                <a:spcPts val="0"/>
              </a:spcAft>
            </a:pPr>
            <a:r>
              <a:rPr sz="660" b="0" i="0" lang="fr-FR">
                <a:solidFill>
                  <a:srgbClr val="194E9A"/>
                </a:solidFill>
                <a:latin typeface="Ubuntu Mono"/>
                <a:ea typeface="Ubuntu Mono"/>
                <a:cs typeface="Ubuntu Mono"/>
                <a:sym typeface="Ubuntu Mono"/>
              </a:rPr>
              <a:t>Turbodrilling</a:t>
            </a:r>
          </a:p>
        </p:txBody>
      </p:sp>
      <p:sp>
        <p:nvSpPr>
          <p:cNvPr id="48" name="Rectangle 47"/>
          <p:cNvSpPr/>
          <p:nvPr/>
        </p:nvSpPr>
        <p:spPr>
          <a:xfrm>
            <a:off x="3679825" y="9296400"/>
            <a:ext cx="796925" cy="215900"/>
          </a:xfrm>
          <a:prstGeom prst="rect">
            <a:avLst/>
          </a:prstGeom>
          <a:solidFill>
            <a:srgbClr val="FFFFFF"/>
          </a:solidFill>
          <a:ln w="9525">
            <a:solidFill>
              <a:srgbClr val="0F7FCB"/>
            </a:solidFill>
          </a:ln>
        </p:spPr>
        <p:txBody>
          <a:bodyPr rtlCol="0" anchor="ctr"/>
          <a:lstStyle/>
          <a:p>
            <a:pPr algn="ctr"/>
          </a:p>
        </p:txBody>
      </p:sp>
      <p:sp>
        <p:nvSpPr>
          <p:cNvPr id="49" name="TextBox 48"/>
          <p:cNvSpPr txBox="1"/>
          <p:nvPr/>
        </p:nvSpPr>
        <p:spPr>
          <a:xfrm>
            <a:off x="3679825" y="9349740"/>
            <a:ext cx="796925" cy="127000"/>
          </a:xfrm>
          <a:prstGeom prst="rect">
            <a:avLst/>
          </a:prstGeom>
          <a:noFill/>
        </p:spPr>
        <p:txBody>
          <a:bodyPr wrap="square" lIns="0" rIns="0" tIns="0" bIns="0" anchor="t">
            <a:spAutoFit/>
          </a:bodyPr>
          <a:lstStyle/>
          <a:p>
            <a:pPr algn="ctr">
              <a:spcAft>
                <a:spcPts val="0"/>
              </a:spcAft>
            </a:pPr>
            <a:r>
              <a:rPr sz="660" b="0" i="0" lang="fr-FR">
                <a:solidFill>
                  <a:srgbClr val="194E9A"/>
                </a:solidFill>
                <a:latin typeface="Ubuntu Mono"/>
                <a:ea typeface="Ubuntu Mono"/>
                <a:cs typeface="Ubuntu Mono"/>
                <a:sym typeface="Ubuntu Mono"/>
              </a:rPr>
              <a:t>Coulisses (jars)</a:t>
            </a:r>
          </a:p>
        </p:txBody>
      </p:sp>
      <p:sp>
        <p:nvSpPr>
          <p:cNvPr id="50" name="Rectangle 49"/>
          <p:cNvSpPr/>
          <p:nvPr/>
        </p:nvSpPr>
        <p:spPr>
          <a:xfrm>
            <a:off x="4552950" y="9296400"/>
            <a:ext cx="1225550" cy="215900"/>
          </a:xfrm>
          <a:prstGeom prst="rect">
            <a:avLst/>
          </a:prstGeom>
          <a:solidFill>
            <a:srgbClr val="FFFFFF"/>
          </a:solidFill>
          <a:ln w="9525">
            <a:solidFill>
              <a:srgbClr val="0F7FCB"/>
            </a:solidFill>
          </a:ln>
        </p:spPr>
        <p:txBody>
          <a:bodyPr rtlCol="0" anchor="ctr"/>
          <a:lstStyle/>
          <a:p>
            <a:pPr algn="ctr"/>
          </a:p>
        </p:txBody>
      </p:sp>
      <p:sp>
        <p:nvSpPr>
          <p:cNvPr id="51" name="TextBox 50"/>
          <p:cNvSpPr txBox="1"/>
          <p:nvPr/>
        </p:nvSpPr>
        <p:spPr>
          <a:xfrm>
            <a:off x="4552950" y="9349740"/>
            <a:ext cx="1225550" cy="127000"/>
          </a:xfrm>
          <a:prstGeom prst="rect">
            <a:avLst/>
          </a:prstGeom>
          <a:noFill/>
        </p:spPr>
        <p:txBody>
          <a:bodyPr wrap="square" lIns="0" rIns="0" tIns="0" bIns="0" anchor="t">
            <a:spAutoFit/>
          </a:bodyPr>
          <a:lstStyle/>
          <a:p>
            <a:pPr algn="ctr">
              <a:spcAft>
                <a:spcPts val="0"/>
              </a:spcAft>
            </a:pPr>
            <a:r>
              <a:rPr sz="660" b="0" i="0" lang="fr-FR">
                <a:solidFill>
                  <a:srgbClr val="194E9A"/>
                </a:solidFill>
                <a:latin typeface="Ubuntu Mono"/>
                <a:ea typeface="Ubuntu Mono"/>
                <a:cs typeface="Ubuntu Mono"/>
                <a:sym typeface="Ubuntu Mono"/>
              </a:rPr>
              <a:t>Équipement amagnétique</a:t>
            </a:r>
          </a:p>
        </p:txBody>
      </p:sp>
      <p:sp>
        <p:nvSpPr>
          <p:cNvPr id="52" name="Rectangle 51"/>
          <p:cNvSpPr/>
          <p:nvPr/>
        </p:nvSpPr>
        <p:spPr>
          <a:xfrm>
            <a:off x="5854700" y="9296400"/>
            <a:ext cx="1177925" cy="215900"/>
          </a:xfrm>
          <a:prstGeom prst="rect">
            <a:avLst/>
          </a:prstGeom>
          <a:solidFill>
            <a:srgbClr val="FFFFFF"/>
          </a:solidFill>
          <a:ln w="9525">
            <a:solidFill>
              <a:srgbClr val="0F7FCB"/>
            </a:solidFill>
          </a:ln>
        </p:spPr>
        <p:txBody>
          <a:bodyPr rtlCol="0" anchor="ctr"/>
          <a:lstStyle/>
          <a:p>
            <a:pPr algn="ctr"/>
          </a:p>
        </p:txBody>
      </p:sp>
      <p:sp>
        <p:nvSpPr>
          <p:cNvPr id="53" name="TextBox 52"/>
          <p:cNvSpPr txBox="1"/>
          <p:nvPr/>
        </p:nvSpPr>
        <p:spPr>
          <a:xfrm>
            <a:off x="5854700" y="9349740"/>
            <a:ext cx="1177925" cy="127000"/>
          </a:xfrm>
          <a:prstGeom prst="rect">
            <a:avLst/>
          </a:prstGeom>
          <a:noFill/>
        </p:spPr>
        <p:txBody>
          <a:bodyPr wrap="square" lIns="0" rIns="0" tIns="0" bIns="0" anchor="t">
            <a:spAutoFit/>
          </a:bodyPr>
          <a:lstStyle/>
          <a:p>
            <a:pPr algn="ctr">
              <a:spcAft>
                <a:spcPts val="0"/>
              </a:spcAft>
            </a:pPr>
            <a:r>
              <a:rPr sz="660" b="0" i="0" lang="fr-FR">
                <a:solidFill>
                  <a:srgbClr val="194E9A"/>
                </a:solidFill>
                <a:latin typeface="Ubuntu Mono"/>
                <a:ea typeface="Ubuntu Mono"/>
                <a:cs typeface="Ubuntu Mono"/>
                <a:sym typeface="Ubuntu Mono"/>
              </a:rPr>
              <a:t>Outils slimhole 3-1/2"</a:t>
            </a:r>
          </a:p>
        </p:txBody>
      </p:sp>
      <p:sp>
        <p:nvSpPr>
          <p:cNvPr id="54" name="Rectangle 53"/>
          <p:cNvSpPr/>
          <p:nvPr/>
        </p:nvSpPr>
        <p:spPr>
          <a:xfrm>
            <a:off x="457200" y="9563100"/>
            <a:ext cx="1320800" cy="215900"/>
          </a:xfrm>
          <a:prstGeom prst="rect">
            <a:avLst/>
          </a:prstGeom>
          <a:solidFill>
            <a:srgbClr val="FFFFFF"/>
          </a:solidFill>
          <a:ln w="9525">
            <a:solidFill>
              <a:srgbClr val="0F7FCB"/>
            </a:solidFill>
          </a:ln>
        </p:spPr>
        <p:txBody>
          <a:bodyPr rtlCol="0" anchor="ctr"/>
          <a:lstStyle/>
          <a:p>
            <a:pPr algn="ctr"/>
          </a:p>
        </p:txBody>
      </p:sp>
      <p:sp>
        <p:nvSpPr>
          <p:cNvPr id="55" name="TextBox 54"/>
          <p:cNvSpPr txBox="1"/>
          <p:nvPr/>
        </p:nvSpPr>
        <p:spPr>
          <a:xfrm>
            <a:off x="457200" y="9616440"/>
            <a:ext cx="1320800" cy="127000"/>
          </a:xfrm>
          <a:prstGeom prst="rect">
            <a:avLst/>
          </a:prstGeom>
          <a:noFill/>
        </p:spPr>
        <p:txBody>
          <a:bodyPr wrap="square" lIns="0" rIns="0" tIns="0" bIns="0" anchor="t">
            <a:spAutoFit/>
          </a:bodyPr>
          <a:lstStyle/>
          <a:p>
            <a:pPr algn="ctr">
              <a:spcAft>
                <a:spcPts val="0"/>
              </a:spcAft>
            </a:pPr>
            <a:r>
              <a:rPr sz="660" b="0" i="0" lang="fr-FR">
                <a:solidFill>
                  <a:srgbClr val="194E9A"/>
                </a:solidFill>
                <a:latin typeface="Ubuntu Mono"/>
                <a:ea typeface="Ubuntu Mono"/>
                <a:cs typeface="Ubuntu Mono"/>
                <a:sym typeface="Ubuntu Mono"/>
              </a:rPr>
              <a:t>Systèmes haute température</a:t>
            </a:r>
          </a:p>
        </p:txBody>
      </p:sp>
      <p:sp>
        <p:nvSpPr>
          <p:cNvPr id="56" name="Rectangle 55"/>
          <p:cNvSpPr/>
          <p:nvPr/>
        </p:nvSpPr>
        <p:spPr>
          <a:xfrm>
            <a:off x="457200" y="9956800"/>
            <a:ext cx="6642100" cy="330200"/>
          </a:xfrm>
          <a:prstGeom prst="rect">
            <a:avLst/>
          </a:prstGeom>
          <a:solidFill>
            <a:srgbClr val="194E9A"/>
          </a:solidFill>
          <a:ln>
            <a:noFill/>
          </a:ln>
        </p:spPr>
        <p:txBody>
          <a:bodyPr rtlCol="0" anchor="ctr"/>
          <a:lstStyle/>
          <a:p>
            <a:pPr algn="ctr"/>
          </a:p>
        </p:txBody>
      </p:sp>
      <p:sp>
        <p:nvSpPr>
          <p:cNvPr id="57" name="TextBox 56"/>
          <p:cNvSpPr txBox="1"/>
          <p:nvPr/>
        </p:nvSpPr>
        <p:spPr>
          <a:xfrm>
            <a:off x="457200" y="9956800"/>
            <a:ext cx="6642100" cy="330200"/>
          </a:xfrm>
          <a:prstGeom prst="rect">
            <a:avLst/>
          </a:prstGeom>
          <a:noFill/>
        </p:spPr>
        <p:txBody>
          <a:bodyPr wrap="square" lIns="0" rIns="0" tIns="0" bIns="0" anchor="ctr">
            <a:spAutoFit/>
          </a:bodyPr>
          <a:lstStyle/>
          <a:p>
            <a:pPr algn="ctr">
              <a:spcAft>
                <a:spcPts val="0"/>
              </a:spcAft>
            </a:pPr>
            <a:r>
              <a:rPr sz="800" b="1" i="0" lang="fr-FR">
                <a:solidFill>
                  <a:srgbClr val="FFFFFF"/>
                </a:solidFill>
                <a:latin typeface="Ubuntu Mono"/>
                <a:ea typeface="Ubuntu Mono"/>
                <a:cs typeface="Ubuntu Mono"/>
                <a:sym typeface="Ubuntu Mono"/>
              </a:rPr>
              <a:t>98 500 m forés · 75 puits · jusqu'à 3 000 m TVD · géothermie, pétrole et gaz, stockage souterrain de gaz</a:t>
            </a:r>
          </a:p>
        </p:txBody>
      </p:sp>
      <p:sp>
        <p:nvSpPr>
          <p:cNvPr id="58" name="Rectangle 57"/>
          <p:cNvSpPr/>
          <p:nvPr/>
        </p:nvSpPr>
        <p:spPr>
          <a:xfrm>
            <a:off x="457200" y="10388600"/>
            <a:ext cx="6642100" cy="10160"/>
          </a:xfrm>
          <a:prstGeom prst="rect">
            <a:avLst/>
          </a:prstGeom>
          <a:solidFill>
            <a:srgbClr val="B9CCE0"/>
          </a:solidFill>
          <a:ln>
            <a:noFill/>
          </a:ln>
        </p:spPr>
        <p:txBody>
          <a:bodyPr rtlCol="0" anchor="ctr"/>
          <a:lstStyle/>
          <a:p>
            <a:pPr algn="ctr"/>
          </a:p>
        </p:txBody>
      </p:sp>
      <p:sp>
        <p:nvSpPr>
          <p:cNvPr id="59" name="TextBox 58"/>
          <p:cNvSpPr txBox="1"/>
          <p:nvPr/>
        </p:nvSpPr>
        <p:spPr>
          <a:xfrm>
            <a:off x="457200" y="10464800"/>
            <a:ext cx="5080000" cy="127000"/>
          </a:xfrm>
          <a:prstGeom prst="rect">
            <a:avLst/>
          </a:prstGeom>
          <a:noFill/>
        </p:spPr>
        <p:txBody>
          <a:bodyPr wrap="square" lIns="0" rIns="0" tIns="0" bIns="0" anchor="t">
            <a:spAutoFit/>
          </a:bodyPr>
          <a:lstStyle/>
          <a:p>
            <a:pPr algn="l">
              <a:spcAft>
                <a:spcPts val="0"/>
              </a:spcAft>
            </a:pPr>
            <a:r>
              <a:rPr sz="640" b="0" i="0" lang="fr-FR">
                <a:solidFill>
                  <a:srgbClr val="5A6B7F"/>
                </a:solidFill>
                <a:latin typeface="Ubuntu Mono"/>
                <a:ea typeface="Ubuntu Mono"/>
                <a:cs typeface="Ubuntu Mono"/>
                <a:sym typeface="Ubuntu Mono"/>
              </a:rPr>
              <a:t>Enedril · Fishing and Drilling Solutions · 3 avenue des Lacs, 64140 Lons (France) · info@enedril.fr · +33 (0)5 59 04 50 45</a:t>
            </a:r>
          </a:p>
        </p:txBody>
      </p:sp>
      <p:sp>
        <p:nvSpPr>
          <p:cNvPr id="60" name="TextBox 59"/>
          <p:cNvSpPr txBox="1"/>
          <p:nvPr/>
        </p:nvSpPr>
        <p:spPr>
          <a:xfrm>
            <a:off x="6604000" y="10464800"/>
            <a:ext cx="495300" cy="127000"/>
          </a:xfrm>
          <a:prstGeom prst="rect">
            <a:avLst/>
          </a:prstGeom>
          <a:noFill/>
        </p:spPr>
        <p:txBody>
          <a:bodyPr wrap="square" lIns="0" rIns="0" tIns="0" bIns="0" anchor="t">
            <a:spAutoFit/>
          </a:bodyPr>
          <a:lstStyle/>
          <a:p>
            <a:pPr algn="r">
              <a:spcAft>
                <a:spcPts val="0"/>
              </a:spcAft>
            </a:pPr>
            <a:r>
              <a:rPr sz="800" b="0" i="0" lang="fr-FR">
                <a:solidFill>
                  <a:srgbClr val="194E9A"/>
                </a:solidFill>
                <a:latin typeface="Ubuntu Mono"/>
                <a:ea typeface="Ubuntu Mono"/>
                <a:cs typeface="Ubuntu Mono"/>
                <a:sym typeface="Ubuntu Mono"/>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5600700" y="279400"/>
            <a:ext cx="1498600" cy="336115"/>
          </a:xfrm>
          <a:prstGeom prst="rect">
            <a:avLst/>
          </a:prstGeom>
        </p:spPr>
      </p:pic>
      <p:sp>
        <p:nvSpPr>
          <p:cNvPr id="3" name="TextBox 2"/>
          <p:cNvSpPr txBox="1"/>
          <p:nvPr/>
        </p:nvSpPr>
        <p:spPr>
          <a:xfrm>
            <a:off x="457200" y="508000"/>
            <a:ext cx="5588000" cy="127000"/>
          </a:xfrm>
          <a:prstGeom prst="rect">
            <a:avLst/>
          </a:prstGeom>
          <a:noFill/>
        </p:spPr>
        <p:txBody>
          <a:bodyPr wrap="square" lIns="0" rIns="0" tIns="0" bIns="0" anchor="t">
            <a:spAutoFit/>
          </a:bodyPr>
          <a:lstStyle/>
          <a:p>
            <a:pPr algn="l">
              <a:lnSpc>
                <a:spcPts val="2700"/>
              </a:lnSpc>
              <a:spcAft>
                <a:spcPts val="0"/>
              </a:spcAft>
            </a:pPr>
            <a:r>
              <a:rPr sz="2400" b="1" i="0" lang="fr-FR">
                <a:solidFill>
                  <a:srgbClr val="1CB2FE"/>
                </a:solidFill>
                <a:latin typeface="Ubuntu Mono"/>
                <a:ea typeface="Ubuntu Mono"/>
                <a:cs typeface="Ubuntu Mono"/>
                <a:sym typeface="Ubuntu Mono"/>
              </a:rPr>
              <a:t>FISHING, WORKOVER
&amp; ABANDON DE PUITS</a:t>
            </a:r>
          </a:p>
        </p:txBody>
      </p:sp>
      <p:sp>
        <p:nvSpPr>
          <p:cNvPr id="4" name="Rectangle 3"/>
          <p:cNvSpPr/>
          <p:nvPr/>
        </p:nvSpPr>
        <p:spPr>
          <a:xfrm>
            <a:off x="457200" y="1447800"/>
            <a:ext cx="44450" cy="711200"/>
          </a:xfrm>
          <a:prstGeom prst="rect">
            <a:avLst/>
          </a:prstGeom>
          <a:solidFill>
            <a:srgbClr val="0F7FCB"/>
          </a:solidFill>
          <a:ln>
            <a:noFill/>
          </a:ln>
        </p:spPr>
        <p:txBody>
          <a:bodyPr rtlCol="0" anchor="ctr"/>
          <a:lstStyle/>
          <a:p>
            <a:pPr algn="ctr"/>
          </a:p>
        </p:txBody>
      </p:sp>
      <p:sp>
        <p:nvSpPr>
          <p:cNvPr id="5" name="TextBox 4"/>
          <p:cNvSpPr txBox="1"/>
          <p:nvPr/>
        </p:nvSpPr>
        <p:spPr>
          <a:xfrm>
            <a:off x="584200" y="1447800"/>
            <a:ext cx="6515100" cy="127000"/>
          </a:xfrm>
          <a:prstGeom prst="rect">
            <a:avLst/>
          </a:prstGeom>
          <a:noFill/>
        </p:spPr>
        <p:txBody>
          <a:bodyPr wrap="square" lIns="0" rIns="0" tIns="0" bIns="0" anchor="t">
            <a:spAutoFit/>
          </a:bodyPr>
          <a:lstStyle/>
          <a:p>
            <a:pPr algn="l">
              <a:lnSpc>
                <a:spcPts val="1100"/>
              </a:lnSpc>
              <a:spcAft>
                <a:spcPts val="400"/>
              </a:spcAft>
            </a:pPr>
            <a:r>
              <a:rPr sz="800" b="0" i="0" lang="fr-FR">
                <a:solidFill>
                  <a:srgbClr val="0B1B2E"/>
                </a:solidFill>
                <a:latin typeface="Ubuntu Mono"/>
                <a:ea typeface="Ubuntu Mono"/>
                <a:cs typeface="Ubuntu Mono"/>
                <a:sym typeface="Ubuntu Mono"/>
              </a:rPr>
              <a:t>Fishing, workover et abandon de puits (P&amp;A) : toute la gamme d'opérations pour récupérer, remettre en état et sécuriser les puits, pendant le forage, le workover ou l'abandon. Notre équipe fishing réagit rapidement avec un large parc en location et à la vente, appuyée par notre propre atelier et la conception d'outils sur mesure.</a:t>
            </a:r>
          </a:p>
        </p:txBody>
      </p:sp>
      <p:sp>
        <p:nvSpPr>
          <p:cNvPr id="6" name="Rectangle 5"/>
          <p:cNvSpPr/>
          <p:nvPr/>
        </p:nvSpPr>
        <p:spPr>
          <a:xfrm>
            <a:off x="457200" y="2311400"/>
            <a:ext cx="1587500" cy="660400"/>
          </a:xfrm>
          <a:prstGeom prst="rect">
            <a:avLst/>
          </a:prstGeom>
          <a:solidFill>
            <a:srgbClr val="194E9A"/>
          </a:solidFill>
          <a:ln>
            <a:noFill/>
          </a:ln>
        </p:spPr>
        <p:txBody>
          <a:bodyPr rtlCol="0" anchor="ctr"/>
          <a:lstStyle/>
          <a:p>
            <a:pPr algn="ctr"/>
          </a:p>
        </p:txBody>
      </p:sp>
      <p:sp>
        <p:nvSpPr>
          <p:cNvPr id="7" name="TextBox 6"/>
          <p:cNvSpPr txBox="1"/>
          <p:nvPr/>
        </p:nvSpPr>
        <p:spPr>
          <a:xfrm>
            <a:off x="457200" y="2417064"/>
            <a:ext cx="1587500" cy="127000"/>
          </a:xfrm>
          <a:prstGeom prst="rect">
            <a:avLst/>
          </a:prstGeom>
          <a:noFill/>
        </p:spPr>
        <p:txBody>
          <a:bodyPr wrap="square" lIns="0" rIns="0" tIns="0" bIns="0" anchor="t">
            <a:spAutoFit/>
          </a:bodyPr>
          <a:lstStyle/>
          <a:p>
            <a:pPr algn="ctr">
              <a:lnSpc>
                <a:spcPts val="2500"/>
              </a:lnSpc>
              <a:spcAft>
                <a:spcPts val="0"/>
              </a:spcAft>
            </a:pPr>
            <a:r>
              <a:rPr sz="2200" b="1" i="0" lang="fr-FR">
                <a:solidFill>
                  <a:srgbClr val="FFFFFF"/>
                </a:solidFill>
                <a:latin typeface="Ubuntu Mono"/>
                <a:ea typeface="Ubuntu Mono"/>
                <a:cs typeface="Ubuntu Mono"/>
                <a:sym typeface="Ubuntu Mono"/>
              </a:rPr>
              <a:t>2 500</a:t>
            </a:r>
          </a:p>
        </p:txBody>
      </p:sp>
      <p:sp>
        <p:nvSpPr>
          <p:cNvPr id="8" name="TextBox 7"/>
          <p:cNvSpPr txBox="1"/>
          <p:nvPr/>
        </p:nvSpPr>
        <p:spPr>
          <a:xfrm>
            <a:off x="533400" y="2759964"/>
            <a:ext cx="1435100" cy="127000"/>
          </a:xfrm>
          <a:prstGeom prst="rect">
            <a:avLst/>
          </a:prstGeom>
          <a:noFill/>
        </p:spPr>
        <p:txBody>
          <a:bodyPr wrap="square" lIns="0" rIns="0" t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outils disponibles</a:t>
            </a:r>
          </a:p>
        </p:txBody>
      </p:sp>
      <p:sp>
        <p:nvSpPr>
          <p:cNvPr id="9" name="Rectangle 8"/>
          <p:cNvSpPr/>
          <p:nvPr/>
        </p:nvSpPr>
        <p:spPr>
          <a:xfrm>
            <a:off x="2120900" y="2311400"/>
            <a:ext cx="1587500" cy="660400"/>
          </a:xfrm>
          <a:prstGeom prst="rect">
            <a:avLst/>
          </a:prstGeom>
          <a:solidFill>
            <a:srgbClr val="0F7FCB"/>
          </a:solidFill>
          <a:ln>
            <a:noFill/>
          </a:ln>
        </p:spPr>
        <p:txBody>
          <a:bodyPr rtlCol="0" anchor="ctr"/>
          <a:lstStyle/>
          <a:p>
            <a:pPr algn="ctr"/>
          </a:p>
        </p:txBody>
      </p:sp>
      <p:sp>
        <p:nvSpPr>
          <p:cNvPr id="10" name="TextBox 9"/>
          <p:cNvSpPr txBox="1"/>
          <p:nvPr/>
        </p:nvSpPr>
        <p:spPr>
          <a:xfrm>
            <a:off x="2120900" y="2417064"/>
            <a:ext cx="1587500" cy="127000"/>
          </a:xfrm>
          <a:prstGeom prst="rect">
            <a:avLst/>
          </a:prstGeom>
          <a:noFill/>
        </p:spPr>
        <p:txBody>
          <a:bodyPr wrap="square" lIns="0" rIns="0" tIns="0" bIns="0" anchor="t">
            <a:spAutoFit/>
          </a:bodyPr>
          <a:lstStyle/>
          <a:p>
            <a:pPr algn="ctr">
              <a:lnSpc>
                <a:spcPts val="2300"/>
              </a:lnSpc>
              <a:spcAft>
                <a:spcPts val="0"/>
              </a:spcAft>
            </a:pPr>
            <a:r>
              <a:rPr sz="2000" b="1" i="0" lang="fr-FR">
                <a:solidFill>
                  <a:srgbClr val="FFFFFF"/>
                </a:solidFill>
                <a:latin typeface="Ubuntu Mono"/>
                <a:ea typeface="Ubuntu Mono"/>
                <a:cs typeface="Ubuntu Mono"/>
                <a:sym typeface="Ubuntu Mono"/>
              </a:rPr>
              <a:t>24 / 48h</a:t>
            </a:r>
          </a:p>
        </p:txBody>
      </p:sp>
      <p:sp>
        <p:nvSpPr>
          <p:cNvPr id="11" name="TextBox 10"/>
          <p:cNvSpPr txBox="1"/>
          <p:nvPr/>
        </p:nvSpPr>
        <p:spPr>
          <a:xfrm>
            <a:off x="2197100" y="2734564"/>
            <a:ext cx="1435100" cy="127000"/>
          </a:xfrm>
          <a:prstGeom prst="rect">
            <a:avLst/>
          </a:prstGeom>
          <a:noFill/>
        </p:spPr>
        <p:txBody>
          <a:bodyPr wrap="square" lIns="0" rIns="0" t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délai d'intervention</a:t>
            </a:r>
          </a:p>
        </p:txBody>
      </p:sp>
      <p:sp>
        <p:nvSpPr>
          <p:cNvPr id="12" name="Rectangle 11"/>
          <p:cNvSpPr/>
          <p:nvPr/>
        </p:nvSpPr>
        <p:spPr>
          <a:xfrm>
            <a:off x="3784600" y="2311400"/>
            <a:ext cx="1587500" cy="660400"/>
          </a:xfrm>
          <a:prstGeom prst="rect">
            <a:avLst/>
          </a:prstGeom>
          <a:solidFill>
            <a:srgbClr val="2BAEF6"/>
          </a:solidFill>
          <a:ln>
            <a:noFill/>
          </a:ln>
        </p:spPr>
        <p:txBody>
          <a:bodyPr rtlCol="0" anchor="ctr"/>
          <a:lstStyle/>
          <a:p>
            <a:pPr algn="ctr"/>
          </a:p>
        </p:txBody>
      </p:sp>
      <p:sp>
        <p:nvSpPr>
          <p:cNvPr id="13" name="TextBox 12"/>
          <p:cNvSpPr txBox="1"/>
          <p:nvPr/>
        </p:nvSpPr>
        <p:spPr>
          <a:xfrm>
            <a:off x="3784600" y="2417064"/>
            <a:ext cx="1587500" cy="127000"/>
          </a:xfrm>
          <a:prstGeom prst="rect">
            <a:avLst/>
          </a:prstGeom>
          <a:noFill/>
        </p:spPr>
        <p:txBody>
          <a:bodyPr wrap="square" lIns="0" rIns="0" tIns="0" bIns="0" anchor="t">
            <a:spAutoFit/>
          </a:bodyPr>
          <a:lstStyle/>
          <a:p>
            <a:pPr algn="ctr">
              <a:lnSpc>
                <a:spcPts val="2500"/>
              </a:lnSpc>
              <a:spcAft>
                <a:spcPts val="0"/>
              </a:spcAft>
            </a:pPr>
            <a:r>
              <a:rPr sz="2200" b="1" i="0" lang="fr-FR">
                <a:solidFill>
                  <a:srgbClr val="FFFFFF"/>
                </a:solidFill>
                <a:latin typeface="Ubuntu Mono"/>
                <a:ea typeface="Ubuntu Mono"/>
                <a:cs typeface="Ubuntu Mono"/>
                <a:sym typeface="Ubuntu Mono"/>
              </a:rPr>
              <a:t>142</a:t>
            </a:r>
          </a:p>
        </p:txBody>
      </p:sp>
      <p:sp>
        <p:nvSpPr>
          <p:cNvPr id="14" name="TextBox 13"/>
          <p:cNvSpPr txBox="1"/>
          <p:nvPr/>
        </p:nvSpPr>
        <p:spPr>
          <a:xfrm>
            <a:off x="3860800" y="2759964"/>
            <a:ext cx="1435100" cy="127000"/>
          </a:xfrm>
          <a:prstGeom prst="rect">
            <a:avLst/>
          </a:prstGeom>
          <a:noFill/>
        </p:spPr>
        <p:txBody>
          <a:bodyPr wrap="square" lIns="0" rIns="0" t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interventions fishing, workover et P&amp;A</a:t>
            </a:r>
          </a:p>
        </p:txBody>
      </p:sp>
      <p:sp>
        <p:nvSpPr>
          <p:cNvPr id="15" name="Rectangle 14"/>
          <p:cNvSpPr/>
          <p:nvPr/>
        </p:nvSpPr>
        <p:spPr>
          <a:xfrm>
            <a:off x="5448300" y="2311400"/>
            <a:ext cx="1651000" cy="660400"/>
          </a:xfrm>
          <a:prstGeom prst="rect">
            <a:avLst/>
          </a:prstGeom>
          <a:solidFill>
            <a:srgbClr val="194E9A"/>
          </a:solidFill>
          <a:ln>
            <a:noFill/>
          </a:ln>
        </p:spPr>
        <p:txBody>
          <a:bodyPr rtlCol="0" anchor="ctr"/>
          <a:lstStyle/>
          <a:p>
            <a:pPr algn="ctr"/>
          </a:p>
        </p:txBody>
      </p:sp>
      <p:sp>
        <p:nvSpPr>
          <p:cNvPr id="16" name="TextBox 15"/>
          <p:cNvSpPr txBox="1"/>
          <p:nvPr/>
        </p:nvSpPr>
        <p:spPr>
          <a:xfrm>
            <a:off x="5448300" y="2417064"/>
            <a:ext cx="1651000" cy="127000"/>
          </a:xfrm>
          <a:prstGeom prst="rect">
            <a:avLst/>
          </a:prstGeom>
          <a:noFill/>
        </p:spPr>
        <p:txBody>
          <a:bodyPr wrap="square" lIns="0" rIns="0" tIns="0" bIns="0" anchor="t">
            <a:spAutoFit/>
          </a:bodyPr>
          <a:lstStyle/>
          <a:p>
            <a:pPr algn="ctr">
              <a:lnSpc>
                <a:spcPts val="2000"/>
              </a:lnSpc>
              <a:spcAft>
                <a:spcPts val="0"/>
              </a:spcAft>
            </a:pPr>
            <a:r>
              <a:rPr sz="1700" b="1" i="0" lang="fr-FR">
                <a:solidFill>
                  <a:srgbClr val="FFFFFF"/>
                </a:solidFill>
                <a:latin typeface="Ubuntu Mono"/>
                <a:ea typeface="Ubuntu Mono"/>
                <a:cs typeface="Ubuntu Mono"/>
                <a:sym typeface="Ubuntu Mono"/>
              </a:rPr>
              <a:t>ISO 9001</a:t>
            </a:r>
          </a:p>
        </p:txBody>
      </p:sp>
      <p:sp>
        <p:nvSpPr>
          <p:cNvPr id="17" name="TextBox 16"/>
          <p:cNvSpPr txBox="1"/>
          <p:nvPr/>
        </p:nvSpPr>
        <p:spPr>
          <a:xfrm>
            <a:off x="5524500" y="2696464"/>
            <a:ext cx="1498600" cy="127000"/>
          </a:xfrm>
          <a:prstGeom prst="rect">
            <a:avLst/>
          </a:prstGeom>
          <a:noFill/>
        </p:spPr>
        <p:txBody>
          <a:bodyPr wrap="square" lIns="0" rIns="0" tIns="0" bIns="0" anchor="t">
            <a:spAutoFit/>
          </a:bodyPr>
          <a:lstStyle/>
          <a:p>
            <a:pPr algn="ctr">
              <a:lnSpc>
                <a:spcPts val="840"/>
              </a:lnSpc>
              <a:spcAft>
                <a:spcPts val="0"/>
              </a:spcAft>
            </a:pPr>
            <a:r>
              <a:rPr sz="690" b="0" i="0" lang="fr-FR">
                <a:solidFill>
                  <a:srgbClr val="FFFFFF"/>
                </a:solidFill>
                <a:latin typeface="Ubuntu Mono"/>
                <a:ea typeface="Ubuntu Mono"/>
                <a:cs typeface="Ubuntu Mono"/>
                <a:sym typeface="Ubuntu Mono"/>
              </a:rPr>
              <a:t>management de la qualité certifié</a:t>
            </a:r>
          </a:p>
        </p:txBody>
      </p:sp>
      <p:sp>
        <p:nvSpPr>
          <p:cNvPr id="18" name="Rectangle 17"/>
          <p:cNvSpPr/>
          <p:nvPr/>
        </p:nvSpPr>
        <p:spPr>
          <a:xfrm>
            <a:off x="457200" y="3149600"/>
            <a:ext cx="2120900" cy="1549400"/>
          </a:xfrm>
          <a:prstGeom prst="rect">
            <a:avLst/>
          </a:prstGeom>
          <a:solidFill>
            <a:srgbClr val="194E9A"/>
          </a:solidFill>
          <a:ln>
            <a:noFill/>
          </a:ln>
        </p:spPr>
        <p:txBody>
          <a:bodyPr rtlCol="0" anchor="ctr"/>
          <a:lstStyle/>
          <a:p>
            <a:pPr algn="ctr"/>
          </a:p>
        </p:txBody>
      </p:sp>
      <p:sp>
        <p:nvSpPr>
          <p:cNvPr id="19" name="TextBox 18"/>
          <p:cNvSpPr txBox="1"/>
          <p:nvPr/>
        </p:nvSpPr>
        <p:spPr>
          <a:xfrm>
            <a:off x="558800" y="3238500"/>
            <a:ext cx="1917700" cy="127000"/>
          </a:xfrm>
          <a:prstGeom prst="rect">
            <a:avLst/>
          </a:prstGeom>
          <a:noFill/>
        </p:spPr>
        <p:txBody>
          <a:bodyPr wrap="square" lIns="0" rIns="0" tIns="0" bIns="0" anchor="t">
            <a:spAutoFit/>
          </a:bodyPr>
          <a:lstStyle/>
          <a:p>
            <a:pPr algn="l">
              <a:spcAft>
                <a:spcPts val="0"/>
              </a:spcAft>
            </a:pPr>
            <a:r>
              <a:rPr sz="860" b="1" i="0" lang="fr-FR">
                <a:solidFill>
                  <a:srgbClr val="FFFFFF"/>
                </a:solidFill>
                <a:latin typeface="Ubuntu Mono"/>
                <a:ea typeface="Ubuntu Mono"/>
                <a:cs typeface="Ubuntu Mono"/>
                <a:sym typeface="Ubuntu Mono"/>
              </a:rPr>
              <a:t>FISHING</a:t>
            </a:r>
          </a:p>
        </p:txBody>
      </p:sp>
      <p:sp>
        <p:nvSpPr>
          <p:cNvPr id="20" name="TextBox 19"/>
          <p:cNvSpPr txBox="1"/>
          <p:nvPr/>
        </p:nvSpPr>
        <p:spPr>
          <a:xfrm>
            <a:off x="558800" y="3429000"/>
            <a:ext cx="1917700" cy="127000"/>
          </a:xfrm>
          <a:prstGeom prst="rect">
            <a:avLst/>
          </a:prstGeom>
          <a:noFill/>
        </p:spPr>
        <p:txBody>
          <a:bodyPr wrap="square" lIns="0" rIns="0" tIns="0" bIns="0" anchor="t">
            <a:spAutoFit/>
          </a:bodyPr>
          <a:lstStyle/>
          <a:p>
            <a:pPr algn="l">
              <a:lnSpc>
                <a:spcPts val="930"/>
              </a:lnSpc>
              <a:spcAft>
                <a:spcPts val="200"/>
              </a:spcAft>
            </a:pPr>
            <a:r>
              <a:rPr sz="710" b="0" i="0" lang="fr-FR">
                <a:solidFill>
                  <a:srgbClr val="FFFFFF"/>
                </a:solidFill>
                <a:latin typeface="Ubuntu Mono"/>
                <a:ea typeface="Ubuntu Mono"/>
                <a:cs typeface="Ubuntu Mono"/>
                <a:sym typeface="Ubuntu Mono"/>
              </a:rPr>
              <a:t>Récupération de tiges, de garnitures de forage, de BHA et d'outils coincés ou perdus.</a:t>
            </a:r>
          </a:p>
          <a:p>
            <a:pPr algn="l">
              <a:lnSpc>
                <a:spcPts val="930"/>
              </a:lnSpc>
              <a:spcAft>
                <a:spcPts val="200"/>
              </a:spcAft>
            </a:pPr>
            <a:r>
              <a:rPr sz="710" b="0" i="0" lang="fr-FR">
                <a:solidFill>
                  <a:srgbClr val="FFFFFF"/>
                </a:solidFill>
                <a:latin typeface="Ubuntu Mono"/>
                <a:ea typeface="Ubuntu Mono"/>
                <a:cs typeface="Ubuntu Mono"/>
                <a:sym typeface="Ubuntu Mono"/>
              </a:rPr>
              <a:t>Outils de battage et d'impact, amortisseurs et intensificateurs.</a:t>
            </a:r>
          </a:p>
          <a:p>
            <a:pPr algn="l">
              <a:lnSpc>
                <a:spcPts val="930"/>
              </a:lnSpc>
              <a:spcAft>
                <a:spcPts val="200"/>
              </a:spcAft>
            </a:pPr>
            <a:r>
              <a:rPr sz="710" b="0" i="0" lang="fr-FR">
                <a:solidFill>
                  <a:srgbClr val="FFFFFF"/>
                </a:solidFill>
                <a:latin typeface="Ubuntu Mono"/>
                <a:ea typeface="Ubuntu Mono"/>
                <a:cs typeface="Ubuntu Mono"/>
                <a:sym typeface="Ubuntu Mono"/>
              </a:rPr>
              <a:t>Overshots, spears, die collars, aimants, taper taps.</a:t>
            </a:r>
          </a:p>
          <a:p>
            <a:pPr algn="l">
              <a:lnSpc>
                <a:spcPts val="930"/>
              </a:lnSpc>
              <a:spcAft>
                <a:spcPts val="200"/>
              </a:spcAft>
            </a:pPr>
            <a:r>
              <a:rPr sz="710" b="0" i="0" lang="fr-FR">
                <a:solidFill>
                  <a:srgbClr val="FFFFFF"/>
                </a:solidFill>
                <a:latin typeface="Ubuntu Mono"/>
                <a:ea typeface="Ubuntu Mono"/>
                <a:cs typeface="Ubuntu Mono"/>
                <a:sym typeface="Ubuntu Mono"/>
              </a:rPr>
              <a:t>Outils disponibles sur site, à la location ou à l'achat.</a:t>
            </a:r>
          </a:p>
        </p:txBody>
      </p:sp>
      <p:sp>
        <p:nvSpPr>
          <p:cNvPr id="21" name="Rectangle 20"/>
          <p:cNvSpPr/>
          <p:nvPr/>
        </p:nvSpPr>
        <p:spPr>
          <a:xfrm>
            <a:off x="2717800" y="3149600"/>
            <a:ext cx="2120900" cy="1549400"/>
          </a:xfrm>
          <a:prstGeom prst="rect">
            <a:avLst/>
          </a:prstGeom>
          <a:solidFill>
            <a:srgbClr val="0F7FCB"/>
          </a:solidFill>
          <a:ln>
            <a:noFill/>
          </a:ln>
        </p:spPr>
        <p:txBody>
          <a:bodyPr rtlCol="0" anchor="ctr"/>
          <a:lstStyle/>
          <a:p>
            <a:pPr algn="ctr"/>
          </a:p>
        </p:txBody>
      </p:sp>
      <p:sp>
        <p:nvSpPr>
          <p:cNvPr id="22" name="TextBox 21"/>
          <p:cNvSpPr txBox="1"/>
          <p:nvPr/>
        </p:nvSpPr>
        <p:spPr>
          <a:xfrm>
            <a:off x="2819400" y="3238500"/>
            <a:ext cx="1917700" cy="127000"/>
          </a:xfrm>
          <a:prstGeom prst="rect">
            <a:avLst/>
          </a:prstGeom>
          <a:noFill/>
        </p:spPr>
        <p:txBody>
          <a:bodyPr wrap="square" lIns="0" rIns="0" tIns="0" bIns="0" anchor="t">
            <a:spAutoFit/>
          </a:bodyPr>
          <a:lstStyle/>
          <a:p>
            <a:pPr algn="l">
              <a:spcAft>
                <a:spcPts val="0"/>
              </a:spcAft>
            </a:pPr>
            <a:r>
              <a:rPr sz="860" b="1" i="0" lang="fr-FR">
                <a:solidFill>
                  <a:srgbClr val="FFFFFF"/>
                </a:solidFill>
                <a:latin typeface="Ubuntu Mono"/>
                <a:ea typeface="Ubuntu Mono"/>
                <a:cs typeface="Ubuntu Mono"/>
                <a:sym typeface="Ubuntu Mono"/>
              </a:rPr>
              <a:t>WORKOVER</a:t>
            </a:r>
          </a:p>
        </p:txBody>
      </p:sp>
      <p:sp>
        <p:nvSpPr>
          <p:cNvPr id="23" name="TextBox 22"/>
          <p:cNvSpPr txBox="1"/>
          <p:nvPr/>
        </p:nvSpPr>
        <p:spPr>
          <a:xfrm>
            <a:off x="2819400" y="3429000"/>
            <a:ext cx="1917700" cy="127000"/>
          </a:xfrm>
          <a:prstGeom prst="rect">
            <a:avLst/>
          </a:prstGeom>
          <a:noFill/>
        </p:spPr>
        <p:txBody>
          <a:bodyPr wrap="square" lIns="0" rIns="0" tIns="0" bIns="0" anchor="t">
            <a:spAutoFit/>
          </a:bodyPr>
          <a:lstStyle/>
          <a:p>
            <a:pPr algn="l">
              <a:lnSpc>
                <a:spcPts val="930"/>
              </a:lnSpc>
              <a:spcAft>
                <a:spcPts val="200"/>
              </a:spcAft>
            </a:pPr>
            <a:r>
              <a:rPr sz="710" b="0" i="0" lang="fr-FR">
                <a:solidFill>
                  <a:srgbClr val="FFFFFF"/>
                </a:solidFill>
                <a:latin typeface="Ubuntu Mono"/>
                <a:ea typeface="Ubuntu Mono"/>
                <a:cs typeface="Ubuntu Mono"/>
                <a:sym typeface="Ubuntu Mono"/>
              </a:rPr>
              <a:t>Remise en état du puits et préparation du retour en production.</a:t>
            </a:r>
          </a:p>
          <a:p>
            <a:pPr algn="l">
              <a:lnSpc>
                <a:spcPts val="930"/>
              </a:lnSpc>
              <a:spcAft>
                <a:spcPts val="200"/>
              </a:spcAft>
            </a:pPr>
            <a:r>
              <a:rPr sz="710" b="0" i="0" lang="fr-FR">
                <a:solidFill>
                  <a:srgbClr val="FFFFFF"/>
                </a:solidFill>
                <a:latin typeface="Ubuntu Mono"/>
                <a:ea typeface="Ubuntu Mono"/>
                <a:cs typeface="Ubuntu Mono"/>
                <a:sym typeface="Ubuntu Mono"/>
              </a:rPr>
              <a:t>Fraisage de section et wash over.</a:t>
            </a:r>
          </a:p>
          <a:p>
            <a:pPr algn="l">
              <a:lnSpc>
                <a:spcPts val="930"/>
              </a:lnSpc>
              <a:spcAft>
                <a:spcPts val="200"/>
              </a:spcAft>
            </a:pPr>
            <a:r>
              <a:rPr sz="710" b="0" i="0" lang="fr-FR">
                <a:solidFill>
                  <a:srgbClr val="FFFFFF"/>
                </a:solidFill>
                <a:latin typeface="Ubuntu Mono"/>
                <a:ea typeface="Ubuntu Mono"/>
                <a:cs typeface="Ubuntu Mono"/>
                <a:sym typeface="Ubuntu Mono"/>
              </a:rPr>
              <a:t>Réparation de tubage : racleurs, blocs d'impression, paniers à débris.</a:t>
            </a:r>
          </a:p>
          <a:p>
            <a:pPr algn="l">
              <a:lnSpc>
                <a:spcPts val="930"/>
              </a:lnSpc>
              <a:spcAft>
                <a:spcPts val="200"/>
              </a:spcAft>
            </a:pPr>
            <a:r>
              <a:rPr sz="710" b="0" i="0" lang="fr-FR">
                <a:solidFill>
                  <a:srgbClr val="FFFFFF"/>
                </a:solidFill>
                <a:latin typeface="Ubuntu Mono"/>
                <a:ea typeface="Ubuntu Mono"/>
                <a:cs typeface="Ubuntu Mono"/>
                <a:sym typeface="Ubuntu Mono"/>
              </a:rPr>
              <a:t>Élargissement et alésage avec les élargisseurs RTU, DTU et SPX.</a:t>
            </a:r>
          </a:p>
        </p:txBody>
      </p:sp>
      <p:sp>
        <p:nvSpPr>
          <p:cNvPr id="24" name="Rectangle 23"/>
          <p:cNvSpPr/>
          <p:nvPr/>
        </p:nvSpPr>
        <p:spPr>
          <a:xfrm>
            <a:off x="4978400" y="3149600"/>
            <a:ext cx="2120900" cy="1549400"/>
          </a:xfrm>
          <a:prstGeom prst="rect">
            <a:avLst/>
          </a:prstGeom>
          <a:solidFill>
            <a:srgbClr val="2BAEF6"/>
          </a:solidFill>
          <a:ln>
            <a:noFill/>
          </a:ln>
        </p:spPr>
        <p:txBody>
          <a:bodyPr rtlCol="0" anchor="ctr"/>
          <a:lstStyle/>
          <a:p>
            <a:pPr algn="ctr"/>
          </a:p>
        </p:txBody>
      </p:sp>
      <p:sp>
        <p:nvSpPr>
          <p:cNvPr id="25" name="TextBox 24"/>
          <p:cNvSpPr txBox="1"/>
          <p:nvPr/>
        </p:nvSpPr>
        <p:spPr>
          <a:xfrm>
            <a:off x="5080000" y="3238500"/>
            <a:ext cx="1917700" cy="127000"/>
          </a:xfrm>
          <a:prstGeom prst="rect">
            <a:avLst/>
          </a:prstGeom>
          <a:noFill/>
        </p:spPr>
        <p:txBody>
          <a:bodyPr wrap="square" lIns="0" rIns="0" tIns="0" bIns="0" anchor="t">
            <a:spAutoFit/>
          </a:bodyPr>
          <a:lstStyle/>
          <a:p>
            <a:pPr algn="l">
              <a:spcAft>
                <a:spcPts val="0"/>
              </a:spcAft>
            </a:pPr>
            <a:r>
              <a:rPr sz="860" b="1" i="0" lang="fr-FR">
                <a:solidFill>
                  <a:srgbClr val="FFFFFF"/>
                </a:solidFill>
                <a:latin typeface="Ubuntu Mono"/>
                <a:ea typeface="Ubuntu Mono"/>
                <a:cs typeface="Ubuntu Mono"/>
                <a:sym typeface="Ubuntu Mono"/>
              </a:rPr>
              <a:t>ABANDON DE PUITS (P&amp;A)</a:t>
            </a:r>
          </a:p>
        </p:txBody>
      </p:sp>
      <p:sp>
        <p:nvSpPr>
          <p:cNvPr id="26" name="TextBox 25"/>
          <p:cNvSpPr txBox="1"/>
          <p:nvPr/>
        </p:nvSpPr>
        <p:spPr>
          <a:xfrm>
            <a:off x="5080000" y="3429000"/>
            <a:ext cx="1917700" cy="127000"/>
          </a:xfrm>
          <a:prstGeom prst="rect">
            <a:avLst/>
          </a:prstGeom>
          <a:noFill/>
        </p:spPr>
        <p:txBody>
          <a:bodyPr wrap="square" lIns="0" rIns="0" tIns="0" bIns="0" anchor="t">
            <a:spAutoFit/>
          </a:bodyPr>
          <a:lstStyle/>
          <a:p>
            <a:pPr algn="l">
              <a:lnSpc>
                <a:spcPts val="930"/>
              </a:lnSpc>
              <a:spcAft>
                <a:spcPts val="200"/>
              </a:spcAft>
            </a:pPr>
            <a:r>
              <a:rPr sz="710" b="0" i="0" lang="fr-FR">
                <a:solidFill>
                  <a:srgbClr val="FFFFFF"/>
                </a:solidFill>
                <a:latin typeface="Ubuntu Mono"/>
                <a:ea typeface="Ubuntu Mono"/>
                <a:cs typeface="Ubuntu Mono"/>
                <a:sym typeface="Ubuntu Mono"/>
              </a:rPr>
              <a:t>Abandon définitif et sécurisé des puits.</a:t>
            </a:r>
          </a:p>
          <a:p>
            <a:pPr algn="l">
              <a:lnSpc>
                <a:spcPts val="930"/>
              </a:lnSpc>
              <a:spcAft>
                <a:spcPts val="200"/>
              </a:spcAft>
            </a:pPr>
            <a:r>
              <a:rPr sz="710" b="0" i="0" lang="fr-FR">
                <a:solidFill>
                  <a:srgbClr val="FFFFFF"/>
                </a:solidFill>
                <a:latin typeface="Ubuntu Mono"/>
                <a:ea typeface="Ubuntu Mono"/>
                <a:cs typeface="Ubuntu Mono"/>
                <a:sym typeface="Ubuntu Mono"/>
              </a:rPr>
              <a:t>Coupe avec des coupe-tubes hydrauliques et des fraises de section.</a:t>
            </a:r>
          </a:p>
          <a:p>
            <a:pPr algn="l">
              <a:lnSpc>
                <a:spcPts val="930"/>
              </a:lnSpc>
              <a:spcAft>
                <a:spcPts val="200"/>
              </a:spcAft>
            </a:pPr>
            <a:r>
              <a:rPr sz="710" b="0" i="0" lang="fr-FR">
                <a:solidFill>
                  <a:srgbClr val="FFFFFF"/>
                </a:solidFill>
                <a:latin typeface="Ubuntu Mono"/>
                <a:ea typeface="Ubuntu Mono"/>
                <a:cs typeface="Ubuntu Mono"/>
                <a:sym typeface="Ubuntu Mono"/>
              </a:rPr>
              <a:t>Whipstocks et sidetracks, packers, bouchons, suspensions de liner.</a:t>
            </a:r>
          </a:p>
          <a:p>
            <a:pPr algn="l">
              <a:lnSpc>
                <a:spcPts val="930"/>
              </a:lnSpc>
              <a:spcAft>
                <a:spcPts val="200"/>
              </a:spcAft>
            </a:pPr>
            <a:r>
              <a:rPr sz="710" b="0" i="0" lang="fr-FR">
                <a:solidFill>
                  <a:srgbClr val="FFFFFF"/>
                </a:solidFill>
                <a:latin typeface="Ubuntu Mono"/>
                <a:ea typeface="Ubuntu Mono"/>
                <a:cs typeface="Ubuntu Mono"/>
                <a:sym typeface="Ubuntu Mono"/>
              </a:rPr>
              <a:t>Coupe à froid, remplacement de tête de puits, vérins de tubage, bacs.</a:t>
            </a:r>
          </a:p>
        </p:txBody>
      </p:sp>
      <p:pic>
        <p:nvPicPr>
          <p:cNvPr id="27" name="Picture 26" descr="_c_w4_125_170.png"/>
          <p:cNvPicPr>
            <a:picLocks noChangeAspect="1"/>
          </p:cNvPicPr>
          <p:nvPr/>
        </p:nvPicPr>
        <p:blipFill>
          <a:blip r:embed="rId3"/>
          <a:stretch>
            <a:fillRect/>
          </a:stretch>
        </p:blipFill>
        <p:spPr>
          <a:xfrm>
            <a:off x="457200" y="4876800"/>
            <a:ext cx="1587500" cy="2159000"/>
          </a:xfrm>
          <a:prstGeom prst="rect">
            <a:avLst/>
          </a:prstGeom>
        </p:spPr>
      </p:pic>
      <p:pic>
        <p:nvPicPr>
          <p:cNvPr id="28" name="Picture 27" descr="_c_w3_125_170.png"/>
          <p:cNvPicPr>
            <a:picLocks noChangeAspect="1"/>
          </p:cNvPicPr>
          <p:nvPr/>
        </p:nvPicPr>
        <p:blipFill>
          <a:blip r:embed="rId4"/>
          <a:stretch>
            <a:fillRect/>
          </a:stretch>
        </p:blipFill>
        <p:spPr>
          <a:xfrm>
            <a:off x="2120900" y="4876800"/>
            <a:ext cx="1587500" cy="2159000"/>
          </a:xfrm>
          <a:prstGeom prst="rect">
            <a:avLst/>
          </a:prstGeom>
        </p:spPr>
      </p:pic>
      <p:pic>
        <p:nvPicPr>
          <p:cNvPr id="29" name="Picture 28" descr="_c_w1_125_170.png"/>
          <p:cNvPicPr>
            <a:picLocks noChangeAspect="1"/>
          </p:cNvPicPr>
          <p:nvPr/>
        </p:nvPicPr>
        <p:blipFill>
          <a:blip r:embed="rId5"/>
          <a:stretch>
            <a:fillRect/>
          </a:stretch>
        </p:blipFill>
        <p:spPr>
          <a:xfrm>
            <a:off x="3784600" y="4876800"/>
            <a:ext cx="1587500" cy="2159000"/>
          </a:xfrm>
          <a:prstGeom prst="rect">
            <a:avLst/>
          </a:prstGeom>
        </p:spPr>
      </p:pic>
      <p:pic>
        <p:nvPicPr>
          <p:cNvPr id="30" name="Picture 29" descr="_c_w2_130_170.png"/>
          <p:cNvPicPr>
            <a:picLocks noChangeAspect="1"/>
          </p:cNvPicPr>
          <p:nvPr/>
        </p:nvPicPr>
        <p:blipFill>
          <a:blip r:embed="rId6"/>
          <a:stretch>
            <a:fillRect/>
          </a:stretch>
        </p:blipFill>
        <p:spPr>
          <a:xfrm>
            <a:off x="5448300" y="4876800"/>
            <a:ext cx="1651000" cy="2159000"/>
          </a:xfrm>
          <a:prstGeom prst="rect">
            <a:avLst/>
          </a:prstGeom>
        </p:spPr>
      </p:pic>
      <p:sp>
        <p:nvSpPr>
          <p:cNvPr id="31" name="Rectangle 30"/>
          <p:cNvSpPr/>
          <p:nvPr/>
        </p:nvSpPr>
        <p:spPr>
          <a:xfrm>
            <a:off x="457200" y="7315200"/>
            <a:ext cx="6642100" cy="1905000"/>
          </a:xfrm>
          <a:prstGeom prst="rect">
            <a:avLst/>
          </a:prstGeom>
          <a:solidFill>
            <a:srgbClr val="EAF4FC"/>
          </a:solidFill>
          <a:ln>
            <a:noFill/>
          </a:ln>
        </p:spPr>
        <p:txBody>
          <a:bodyPr rtlCol="0" anchor="ctr"/>
          <a:lstStyle/>
          <a:p>
            <a:pPr algn="ctr"/>
          </a:p>
        </p:txBody>
      </p:sp>
      <p:sp>
        <p:nvSpPr>
          <p:cNvPr id="32" name="Rectangle 31"/>
          <p:cNvSpPr/>
          <p:nvPr/>
        </p:nvSpPr>
        <p:spPr>
          <a:xfrm>
            <a:off x="457200" y="7315200"/>
            <a:ext cx="76200" cy="1905000"/>
          </a:xfrm>
          <a:prstGeom prst="rect">
            <a:avLst/>
          </a:prstGeom>
          <a:solidFill>
            <a:srgbClr val="1CB2FE"/>
          </a:solidFill>
          <a:ln>
            <a:noFill/>
          </a:ln>
        </p:spPr>
        <p:txBody>
          <a:bodyPr rtlCol="0" anchor="ctr"/>
          <a:lstStyle/>
          <a:p>
            <a:pPr algn="ctr"/>
          </a:p>
        </p:txBody>
      </p:sp>
      <p:sp>
        <p:nvSpPr>
          <p:cNvPr id="33" name="TextBox 32"/>
          <p:cNvSpPr txBox="1"/>
          <p:nvPr/>
        </p:nvSpPr>
        <p:spPr>
          <a:xfrm>
            <a:off x="685800" y="7442200"/>
            <a:ext cx="5080000" cy="127000"/>
          </a:xfrm>
          <a:prstGeom prst="rect">
            <a:avLst/>
          </a:prstGeom>
          <a:noFill/>
        </p:spPr>
        <p:txBody>
          <a:bodyPr wrap="square" lIns="0" rIns="0" tIns="0" bIns="0" anchor="t">
            <a:spAutoFit/>
          </a:bodyPr>
          <a:lstStyle/>
          <a:p>
            <a:pPr algn="l">
              <a:spcAft>
                <a:spcPts val="0"/>
              </a:spcAft>
            </a:pPr>
            <a:r>
              <a:rPr sz="1300" b="1" i="0" lang="fr-FR">
                <a:solidFill>
                  <a:srgbClr val="194E9A"/>
                </a:solidFill>
                <a:latin typeface="Ubuntu Mono"/>
                <a:ea typeface="Ubuntu Mono"/>
                <a:cs typeface="Ubuntu Mono"/>
                <a:sym typeface="Ubuntu Mono"/>
              </a:rPr>
              <a:t>AUSSI POUR LES FORAGES D'EAU</a:t>
            </a:r>
          </a:p>
        </p:txBody>
      </p:sp>
      <p:sp>
        <p:nvSpPr>
          <p:cNvPr id="34" name="TextBox 33"/>
          <p:cNvSpPr txBox="1"/>
          <p:nvPr/>
        </p:nvSpPr>
        <p:spPr>
          <a:xfrm>
            <a:off x="685800" y="7670800"/>
            <a:ext cx="6223000" cy="127000"/>
          </a:xfrm>
          <a:prstGeom prst="rect">
            <a:avLst/>
          </a:prstGeom>
          <a:noFill/>
        </p:spPr>
        <p:txBody>
          <a:bodyPr wrap="square" lIns="0" rIns="0" tIns="0" bIns="0" anchor="t">
            <a:spAutoFit/>
          </a:bodyPr>
          <a:lstStyle/>
          <a:p>
            <a:pPr algn="l">
              <a:lnSpc>
                <a:spcPts val="980"/>
              </a:lnSpc>
              <a:spcAft>
                <a:spcPts val="0"/>
              </a:spcAft>
            </a:pPr>
            <a:r>
              <a:rPr sz="760" b="0" i="0" lang="fr-FR">
                <a:solidFill>
                  <a:srgbClr val="0B1B2E"/>
                </a:solidFill>
                <a:latin typeface="Ubuntu Mono"/>
                <a:ea typeface="Ubuntu Mono"/>
                <a:cs typeface="Ubuntu Mono"/>
                <a:sym typeface="Ubuntu Mono"/>
              </a:rPr>
              <a:t>Nous intervenons aussi sur des forages d'eau, généralement entre 300 et 1 000 m, en appui aux entreprises de forage. Les habitudes prises sur des puits de 3 000 m nous font traiter les puits peu profonds avec la même rigueur.</a:t>
            </a:r>
          </a:p>
        </p:txBody>
      </p:sp>
      <p:sp>
        <p:nvSpPr>
          <p:cNvPr id="35" name="Rectangle 34"/>
          <p:cNvSpPr/>
          <p:nvPr/>
        </p:nvSpPr>
        <p:spPr>
          <a:xfrm>
            <a:off x="685800" y="8128000"/>
            <a:ext cx="1955800" cy="939800"/>
          </a:xfrm>
          <a:prstGeom prst="rect">
            <a:avLst/>
          </a:prstGeom>
          <a:solidFill>
            <a:srgbClr val="FFFFFF"/>
          </a:solidFill>
          <a:ln w="9525">
            <a:solidFill>
              <a:srgbClr val="C5D6E8"/>
            </a:solidFill>
          </a:ln>
        </p:spPr>
        <p:txBody>
          <a:bodyPr rtlCol="0" anchor="ctr"/>
          <a:lstStyle/>
          <a:p>
            <a:pPr algn="ctr"/>
          </a:p>
        </p:txBody>
      </p:sp>
      <p:sp>
        <p:nvSpPr>
          <p:cNvPr id="36" name="TextBox 35"/>
          <p:cNvSpPr txBox="1"/>
          <p:nvPr/>
        </p:nvSpPr>
        <p:spPr>
          <a:xfrm>
            <a:off x="787400" y="8204200"/>
            <a:ext cx="1752600" cy="127000"/>
          </a:xfrm>
          <a:prstGeom prst="rect">
            <a:avLst/>
          </a:prstGeom>
          <a:noFill/>
        </p:spPr>
        <p:txBody>
          <a:bodyPr wrap="square" lIns="0" rIns="0" tIns="0" bIns="0" anchor="t">
            <a:spAutoFit/>
          </a:bodyPr>
          <a:lstStyle/>
          <a:p>
            <a:pPr algn="l">
              <a:lnSpc>
                <a:spcPts val="880"/>
              </a:lnSpc>
              <a:spcAft>
                <a:spcPts val="200"/>
              </a:spcAft>
            </a:pPr>
            <a:r>
              <a:rPr sz="860" b="1" i="0" lang="fr-FR">
                <a:solidFill>
                  <a:srgbClr val="0F7FCB"/>
                </a:solidFill>
                <a:latin typeface="Ubuntu Mono"/>
                <a:ea typeface="Ubuntu Mono"/>
                <a:cs typeface="Ubuntu Mono"/>
                <a:sym typeface="Ubuntu Mono"/>
              </a:rPr>
              <a:t>COUPE ET EXTRACTION</a:t>
            </a:r>
          </a:p>
          <a:p>
            <a:pPr algn="l">
              <a:lnSpc>
                <a:spcPts val="880"/>
              </a:lnSpc>
              <a:spcAft>
                <a:spcPts val="200"/>
              </a:spcAft>
            </a:pPr>
            <a:r>
              <a:rPr sz="690" b="0" i="0" lang="fr-FR">
                <a:solidFill>
                  <a:srgbClr val="0B1B2E"/>
                </a:solidFill>
                <a:latin typeface="Ubuntu Mono"/>
                <a:ea typeface="Ubuntu Mono"/>
                <a:cs typeface="Ubuntu Mono"/>
                <a:sym typeface="Ubuntu Mono"/>
              </a:rPr>
              <a:t>Coupe-tubes hydrauliques et externes, spears et overshots pour couper et extraire tubage, tubing ou garnitures coincées.</a:t>
            </a:r>
          </a:p>
        </p:txBody>
      </p:sp>
      <p:sp>
        <p:nvSpPr>
          <p:cNvPr id="37" name="Rectangle 36"/>
          <p:cNvSpPr/>
          <p:nvPr/>
        </p:nvSpPr>
        <p:spPr>
          <a:xfrm>
            <a:off x="2743200" y="8128000"/>
            <a:ext cx="1955800" cy="939800"/>
          </a:xfrm>
          <a:prstGeom prst="rect">
            <a:avLst/>
          </a:prstGeom>
          <a:solidFill>
            <a:srgbClr val="FFFFFF"/>
          </a:solidFill>
          <a:ln w="9525">
            <a:solidFill>
              <a:srgbClr val="C5D6E8"/>
            </a:solidFill>
          </a:ln>
        </p:spPr>
        <p:txBody>
          <a:bodyPr rtlCol="0" anchor="ctr"/>
          <a:lstStyle/>
          <a:p>
            <a:pPr algn="ctr"/>
          </a:p>
        </p:txBody>
      </p:sp>
      <p:sp>
        <p:nvSpPr>
          <p:cNvPr id="38" name="TextBox 37"/>
          <p:cNvSpPr txBox="1"/>
          <p:nvPr/>
        </p:nvSpPr>
        <p:spPr>
          <a:xfrm>
            <a:off x="2844800" y="8204200"/>
            <a:ext cx="1752600" cy="127000"/>
          </a:xfrm>
          <a:prstGeom prst="rect">
            <a:avLst/>
          </a:prstGeom>
          <a:noFill/>
        </p:spPr>
        <p:txBody>
          <a:bodyPr wrap="square" lIns="0" rIns="0" tIns="0" bIns="0" anchor="t">
            <a:spAutoFit/>
          </a:bodyPr>
          <a:lstStyle/>
          <a:p>
            <a:pPr algn="l">
              <a:lnSpc>
                <a:spcPts val="880"/>
              </a:lnSpc>
              <a:spcAft>
                <a:spcPts val="200"/>
              </a:spcAft>
            </a:pPr>
            <a:r>
              <a:rPr sz="860" b="1" i="0" lang="fr-FR">
                <a:solidFill>
                  <a:srgbClr val="0F7FCB"/>
                </a:solidFill>
                <a:latin typeface="Ubuntu Mono"/>
                <a:ea typeface="Ubuntu Mono"/>
                <a:cs typeface="Ubuntu Mono"/>
                <a:sym typeface="Ubuntu Mono"/>
              </a:rPr>
              <a:t>ALÉSAGE</a:t>
            </a:r>
          </a:p>
          <a:p>
            <a:pPr algn="l">
              <a:lnSpc>
                <a:spcPts val="880"/>
              </a:lnSpc>
              <a:spcAft>
                <a:spcPts val="200"/>
              </a:spcAft>
            </a:pPr>
            <a:r>
              <a:rPr sz="690" b="0" i="0" lang="fr-FR">
                <a:solidFill>
                  <a:srgbClr val="0B1B2E"/>
                </a:solidFill>
                <a:latin typeface="Ubuntu Mono"/>
                <a:ea typeface="Ubuntu Mono"/>
                <a:cs typeface="Ubuntu Mono"/>
                <a:sym typeface="Ubuntu Mono"/>
              </a:rPr>
              <a:t>Élargisseurs rotatifs et directionnels, hole openers, roller reamers et élargisseurs SPX de type drag.</a:t>
            </a:r>
          </a:p>
        </p:txBody>
      </p:sp>
      <p:sp>
        <p:nvSpPr>
          <p:cNvPr id="39" name="Rectangle 38"/>
          <p:cNvSpPr/>
          <p:nvPr/>
        </p:nvSpPr>
        <p:spPr>
          <a:xfrm>
            <a:off x="4800600" y="8128000"/>
            <a:ext cx="1955800" cy="939800"/>
          </a:xfrm>
          <a:prstGeom prst="rect">
            <a:avLst/>
          </a:prstGeom>
          <a:solidFill>
            <a:srgbClr val="FFFFFF"/>
          </a:solidFill>
          <a:ln w="9525">
            <a:solidFill>
              <a:srgbClr val="C5D6E8"/>
            </a:solidFill>
          </a:ln>
        </p:spPr>
        <p:txBody>
          <a:bodyPr rtlCol="0" anchor="ctr"/>
          <a:lstStyle/>
          <a:p>
            <a:pPr algn="ctr"/>
          </a:p>
        </p:txBody>
      </p:sp>
      <p:sp>
        <p:nvSpPr>
          <p:cNvPr id="40" name="TextBox 39"/>
          <p:cNvSpPr txBox="1"/>
          <p:nvPr/>
        </p:nvSpPr>
        <p:spPr>
          <a:xfrm>
            <a:off x="4902200" y="8204200"/>
            <a:ext cx="1752600" cy="127000"/>
          </a:xfrm>
          <a:prstGeom prst="rect">
            <a:avLst/>
          </a:prstGeom>
          <a:noFill/>
        </p:spPr>
        <p:txBody>
          <a:bodyPr wrap="square" lIns="0" rIns="0" tIns="0" bIns="0" anchor="t">
            <a:spAutoFit/>
          </a:bodyPr>
          <a:lstStyle/>
          <a:p>
            <a:pPr algn="l">
              <a:lnSpc>
                <a:spcPts val="880"/>
              </a:lnSpc>
              <a:spcAft>
                <a:spcPts val="200"/>
              </a:spcAft>
            </a:pPr>
            <a:r>
              <a:rPr sz="860" b="1" i="0" lang="fr-FR">
                <a:solidFill>
                  <a:srgbClr val="0F7FCB"/>
                </a:solidFill>
                <a:latin typeface="Ubuntu Mono"/>
                <a:ea typeface="Ubuntu Mono"/>
                <a:cs typeface="Ubuntu Mono"/>
                <a:sym typeface="Ubuntu Mono"/>
              </a:rPr>
              <a:t>FRAISAGE</a:t>
            </a:r>
          </a:p>
          <a:p>
            <a:pPr algn="l">
              <a:lnSpc>
                <a:spcPts val="880"/>
              </a:lnSpc>
              <a:spcAft>
                <a:spcPts val="200"/>
              </a:spcAft>
            </a:pPr>
            <a:r>
              <a:rPr sz="690" b="0" i="0" lang="fr-FR">
                <a:solidFill>
                  <a:srgbClr val="0B1B2E"/>
                </a:solidFill>
                <a:latin typeface="Ubuntu Mono"/>
                <a:ea typeface="Ubuntu Mono"/>
                <a:cs typeface="Ubuntu Mono"/>
                <a:sym typeface="Ubuntu Mono"/>
              </a:rPr>
              <a:t>Fraises à débris, pilot mills, taper mills, fraises de section et washover shoes pour dégager et ouvrir le trou.</a:t>
            </a:r>
          </a:p>
        </p:txBody>
      </p:sp>
      <p:sp>
        <p:nvSpPr>
          <p:cNvPr id="41" name="Rectangle 40"/>
          <p:cNvSpPr/>
          <p:nvPr/>
        </p:nvSpPr>
        <p:spPr>
          <a:xfrm>
            <a:off x="457200" y="9398000"/>
            <a:ext cx="6642100" cy="787400"/>
          </a:xfrm>
          <a:prstGeom prst="rect">
            <a:avLst/>
          </a:prstGeom>
          <a:solidFill>
            <a:srgbClr val="194E9A"/>
          </a:solidFill>
          <a:ln>
            <a:noFill/>
          </a:ln>
        </p:spPr>
        <p:txBody>
          <a:bodyPr rtlCol="0" anchor="ctr"/>
          <a:lstStyle/>
          <a:p>
            <a:pPr algn="ctr"/>
          </a:p>
        </p:txBody>
      </p:sp>
      <p:sp>
        <p:nvSpPr>
          <p:cNvPr id="42" name="TextBox 41"/>
          <p:cNvSpPr txBox="1"/>
          <p:nvPr/>
        </p:nvSpPr>
        <p:spPr>
          <a:xfrm>
            <a:off x="635000" y="9499600"/>
            <a:ext cx="6350000" cy="127000"/>
          </a:xfrm>
          <a:prstGeom prst="rect">
            <a:avLst/>
          </a:prstGeom>
          <a:noFill/>
        </p:spPr>
        <p:txBody>
          <a:bodyPr wrap="square" lIns="0" rIns="0" tIns="0" bIns="0" anchor="t">
            <a:spAutoFit/>
          </a:bodyPr>
          <a:lstStyle/>
          <a:p>
            <a:pPr algn="l">
              <a:lnSpc>
                <a:spcPts val="960"/>
              </a:lnSpc>
              <a:spcAft>
                <a:spcPts val="200"/>
              </a:spcAft>
            </a:pPr>
            <a:r>
              <a:rPr sz="840" b="1" i="0" lang="fr-FR">
                <a:solidFill>
                  <a:srgbClr val="1CB2FE"/>
                </a:solidFill>
                <a:latin typeface="Ubuntu Mono"/>
                <a:ea typeface="Ubuntu Mono"/>
                <a:cs typeface="Ubuntu Mono"/>
                <a:sym typeface="Ubuntu Mono"/>
              </a:rPr>
              <a:t>OÙ NOUS INTERVENONS</a:t>
            </a:r>
          </a:p>
          <a:p>
            <a:pPr algn="l">
              <a:lnSpc>
                <a:spcPts val="960"/>
              </a:lnSpc>
              <a:spcAft>
                <a:spcPts val="200"/>
              </a:spcAft>
            </a:pPr>
            <a:r>
              <a:rPr sz="740" b="0" i="0" lang="fr-FR">
                <a:solidFill>
                  <a:srgbClr val="FFFFFF"/>
                </a:solidFill>
                <a:latin typeface="Ubuntu Mono"/>
                <a:ea typeface="Ubuntu Mono"/>
                <a:cs typeface="Ubuntu Mono"/>
                <a:sym typeface="Ubuntu Mono"/>
              </a:rPr>
              <a:t>Basés à Lons (64), dans le sud-ouest de la France. Nous nous mobilisons partout en France métropolitaine sous 24 à 48 heures en cas d'urgence, et avons une expérience internationale en Europe et en Afrique du Nord. Une équipe unique et dédiée suit chaque intervention, du diagnostic à la résolution.</a:t>
            </a:r>
          </a:p>
        </p:txBody>
      </p:sp>
      <p:sp>
        <p:nvSpPr>
          <p:cNvPr id="43" name="Rectangle 42"/>
          <p:cNvSpPr/>
          <p:nvPr/>
        </p:nvSpPr>
        <p:spPr>
          <a:xfrm>
            <a:off x="457200" y="10388600"/>
            <a:ext cx="6642100" cy="10160"/>
          </a:xfrm>
          <a:prstGeom prst="rect">
            <a:avLst/>
          </a:prstGeom>
          <a:solidFill>
            <a:srgbClr val="B9CCE0"/>
          </a:solidFill>
          <a:ln>
            <a:noFill/>
          </a:ln>
        </p:spPr>
        <p:txBody>
          <a:bodyPr rtlCol="0" anchor="ctr"/>
          <a:lstStyle/>
          <a:p>
            <a:pPr algn="ctr"/>
          </a:p>
        </p:txBody>
      </p:sp>
      <p:sp>
        <p:nvSpPr>
          <p:cNvPr id="44" name="TextBox 43"/>
          <p:cNvSpPr txBox="1"/>
          <p:nvPr/>
        </p:nvSpPr>
        <p:spPr>
          <a:xfrm>
            <a:off x="457200" y="10464800"/>
            <a:ext cx="5080000" cy="127000"/>
          </a:xfrm>
          <a:prstGeom prst="rect">
            <a:avLst/>
          </a:prstGeom>
          <a:noFill/>
        </p:spPr>
        <p:txBody>
          <a:bodyPr wrap="square" lIns="0" rIns="0" tIns="0" bIns="0" anchor="t">
            <a:spAutoFit/>
          </a:bodyPr>
          <a:lstStyle/>
          <a:p>
            <a:pPr algn="l">
              <a:spcAft>
                <a:spcPts val="0"/>
              </a:spcAft>
            </a:pPr>
            <a:r>
              <a:rPr sz="640" b="0" i="0" lang="fr-FR">
                <a:solidFill>
                  <a:srgbClr val="5A6B7F"/>
                </a:solidFill>
                <a:latin typeface="Ubuntu Mono"/>
                <a:ea typeface="Ubuntu Mono"/>
                <a:cs typeface="Ubuntu Mono"/>
                <a:sym typeface="Ubuntu Mono"/>
              </a:rPr>
              <a:t>Enedril · Fishing and Drilling Solutions · 3 avenue des Lacs, 64140 Lons (France) · info@enedril.fr · +33 (0)5 59 04 50 45</a:t>
            </a:r>
          </a:p>
        </p:txBody>
      </p:sp>
      <p:sp>
        <p:nvSpPr>
          <p:cNvPr id="45" name="TextBox 44"/>
          <p:cNvSpPr txBox="1"/>
          <p:nvPr/>
        </p:nvSpPr>
        <p:spPr>
          <a:xfrm>
            <a:off x="6604000" y="10464800"/>
            <a:ext cx="495300" cy="127000"/>
          </a:xfrm>
          <a:prstGeom prst="rect">
            <a:avLst/>
          </a:prstGeom>
          <a:noFill/>
        </p:spPr>
        <p:txBody>
          <a:bodyPr wrap="square" lIns="0" rIns="0" tIns="0" bIns="0" anchor="t">
            <a:spAutoFit/>
          </a:bodyPr>
          <a:lstStyle/>
          <a:p>
            <a:pPr algn="r">
              <a:spcAft>
                <a:spcPts val="0"/>
              </a:spcAft>
            </a:pPr>
            <a:r>
              <a:rPr sz="800" b="0" i="0" lang="fr-FR">
                <a:solidFill>
                  <a:srgbClr val="194E9A"/>
                </a:solidFill>
                <a:latin typeface="Ubuntu Mono"/>
                <a:ea typeface="Ubuntu Mono"/>
                <a:cs typeface="Ubuntu Mono"/>
                <a:sym typeface="Ubuntu Mon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5600700" y="279400"/>
            <a:ext cx="1498600" cy="336115"/>
          </a:xfrm>
          <a:prstGeom prst="rect">
            <a:avLst/>
          </a:prstGeom>
        </p:spPr>
      </p:pic>
      <p:sp>
        <p:nvSpPr>
          <p:cNvPr id="3" name="TextBox 2"/>
          <p:cNvSpPr txBox="1"/>
          <p:nvPr/>
        </p:nvSpPr>
        <p:spPr>
          <a:xfrm>
            <a:off x="457200" y="558800"/>
            <a:ext cx="5588000" cy="127000"/>
          </a:xfrm>
          <a:prstGeom prst="rect">
            <a:avLst/>
          </a:prstGeom>
          <a:noFill/>
        </p:spPr>
        <p:txBody>
          <a:bodyPr wrap="square" lIns="0" rIns="0" tIns="0" bIns="0" anchor="t">
            <a:spAutoFit/>
          </a:bodyPr>
          <a:lstStyle/>
          <a:p>
            <a:pPr algn="l">
              <a:lnSpc>
                <a:spcPts val="3000"/>
              </a:lnSpc>
              <a:spcAft>
                <a:spcPts val="0"/>
              </a:spcAft>
            </a:pPr>
            <a:r>
              <a:rPr sz="2700" b="1" i="0" lang="fr-FR">
                <a:solidFill>
                  <a:srgbClr val="1CB2FE"/>
                </a:solidFill>
                <a:latin typeface="Ubuntu Mono"/>
                <a:ea typeface="Ubuntu Mono"/>
                <a:cs typeface="Ubuntu Mono"/>
                <a:sym typeface="Ubuntu Mono"/>
              </a:rPr>
              <a:t>CATALOGUE D'OUTILS</a:t>
            </a:r>
          </a:p>
        </p:txBody>
      </p:sp>
      <p:sp>
        <p:nvSpPr>
          <p:cNvPr id="4" name="Rectangle 3"/>
          <p:cNvSpPr/>
          <p:nvPr/>
        </p:nvSpPr>
        <p:spPr>
          <a:xfrm>
            <a:off x="457200" y="1041400"/>
            <a:ext cx="44450" cy="660400"/>
          </a:xfrm>
          <a:prstGeom prst="rect">
            <a:avLst/>
          </a:prstGeom>
          <a:solidFill>
            <a:srgbClr val="0F7FCB"/>
          </a:solidFill>
          <a:ln>
            <a:noFill/>
          </a:ln>
        </p:spPr>
        <p:txBody>
          <a:bodyPr rtlCol="0" anchor="ctr"/>
          <a:lstStyle/>
          <a:p>
            <a:pPr algn="ctr"/>
          </a:p>
        </p:txBody>
      </p:sp>
      <p:sp>
        <p:nvSpPr>
          <p:cNvPr id="5" name="TextBox 4"/>
          <p:cNvSpPr txBox="1"/>
          <p:nvPr/>
        </p:nvSpPr>
        <p:spPr>
          <a:xfrm>
            <a:off x="584200" y="1041400"/>
            <a:ext cx="6515100" cy="127000"/>
          </a:xfrm>
          <a:prstGeom prst="rect">
            <a:avLst/>
          </a:prstGeom>
          <a:noFill/>
        </p:spPr>
        <p:txBody>
          <a:bodyPr wrap="square" lIns="0" rIns="0" tIns="0" bIns="0" anchor="t">
            <a:spAutoFit/>
          </a:bodyPr>
          <a:lstStyle/>
          <a:p>
            <a:pPr algn="l">
              <a:lnSpc>
                <a:spcPts val="1100"/>
              </a:lnSpc>
              <a:spcAft>
                <a:spcPts val="400"/>
              </a:spcAft>
            </a:pPr>
            <a:r>
              <a:rPr sz="800" b="0" i="0" lang="fr-FR">
                <a:solidFill>
                  <a:srgbClr val="0B1B2E"/>
                </a:solidFill>
                <a:latin typeface="Ubuntu Mono"/>
                <a:ea typeface="Ubuntu Mono"/>
                <a:cs typeface="Ubuntu Mono"/>
                <a:sym typeface="Ubuntu Mono"/>
              </a:rPr>
              <a:t>Une sélection des principaux outils en stock, disponibles à la location ou à l'achat. Le catalogue complet et les fiches techniques sont disponibles sur demande. Tailles en pouces ; les séries d'outils sont indiquées le cas échéant.</a:t>
            </a:r>
          </a:p>
        </p:txBody>
      </p:sp>
      <p:graphicFrame>
        <p:nvGraphicFramePr>
          <p:cNvPr id="6" name="Table 5"/>
          <p:cNvGraphicFramePr>
            <a:graphicFrameLocks noGrp="1"/>
          </p:cNvGraphicFramePr>
          <p:nvPr/>
        </p:nvGraphicFramePr>
        <p:xfrm>
          <a:off x="457200" y="1905000"/>
          <a:ext cx="3238500" cy="863600"/>
        </p:xfrm>
        <a:graphic>
          <a:graphicData uri="http://schemas.openxmlformats.org/drawingml/2006/table">
            <a:tbl>
              <a:tblPr/>
              <a:tblGrid>
                <a:gridCol w="1625600"/>
                <a:gridCol w="1612900"/>
              </a:tblGrid>
              <a:tr h="203200">
                <a:tc>
                  <a:txBody>
                    <a:bodyPr/>
                    <a:lstStyle/>
                    <a:p>
                      <a:pPr algn="ctr"/>
                      <a:r>
                        <a:rPr sz="730" b="1" i="0" lang="fr-FR">
                          <a:solidFill>
                            <a:srgbClr val="FFFFFF"/>
                          </a:solidFill>
                          <a:latin typeface="Ubuntu Mono"/>
                          <a:ea typeface="Ubuntu Mono"/>
                          <a:cs typeface="Ubuntu Mono"/>
                          <a:sym typeface="Ubuntu Mono"/>
                        </a:rPr>
                        <a:t>NETTOYAGE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c>
                  <a:txBody>
                    <a:bodyPr/>
                    <a:lstStyle/>
                    <a:p>
                      <a:pPr algn="l"/>
                      <a:r>
                        <a:rPr sz="730" b="1" i="0" lang="fr-FR">
                          <a:solidFill>
                            <a:srgbClr val="FFFFFF"/>
                          </a:solidFill>
                          <a:latin typeface="Ubuntu Mono"/>
                          <a:ea typeface="Ubuntu Mono"/>
                          <a:cs typeface="Ubuntu Mono"/>
                          <a:sym typeface="Ubuntu Mono"/>
                        </a:rPr>
                        <a:t>Plage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r>
              <a:tr h="165100">
                <a:tc>
                  <a:txBody>
                    <a:bodyPr/>
                    <a:lstStyle/>
                    <a:p>
                      <a:pPr algn="l"/>
                      <a:r>
                        <a:rPr sz="730" b="1" i="0" lang="fr-FR">
                          <a:solidFill>
                            <a:srgbClr val="0B1B2E"/>
                          </a:solidFill>
                          <a:latin typeface="Ubuntu Mono"/>
                          <a:ea typeface="Ubuntu Mono"/>
                          <a:cs typeface="Ubuntu Mono"/>
                          <a:sym typeface="Ubuntu Mono"/>
                        </a:rPr>
                        <a:t>Racleur de tubage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730" b="0" i="0" lang="fr-FR">
                          <a:solidFill>
                            <a:srgbClr val="0B1B2E"/>
                          </a:solidFill>
                          <a:latin typeface="Ubuntu Mono"/>
                          <a:ea typeface="Ubuntu Mono"/>
                          <a:cs typeface="Ubuntu Mono"/>
                          <a:sym typeface="Ubuntu Mono"/>
                        </a:rPr>
                        <a:t>3-5/8" - 7-7/8"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r>
              <a:tr h="165100">
                <a:tc>
                  <a:txBody>
                    <a:bodyPr/>
                    <a:lstStyle/>
                    <a:p>
                      <a:pPr algn="l"/>
                      <a:r>
                        <a:rPr sz="730" b="1" i="0" lang="fr-FR">
                          <a:solidFill>
                            <a:srgbClr val="0B1B2E"/>
                          </a:solidFill>
                          <a:latin typeface="Ubuntu Mono"/>
                          <a:ea typeface="Ubuntu Mono"/>
                          <a:cs typeface="Ubuntu Mono"/>
                          <a:sym typeface="Ubuntu Mono"/>
                        </a:rPr>
                        <a:t>Bloc d'impression</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730" b="0" i="0" lang="fr-FR">
                          <a:solidFill>
                            <a:srgbClr val="0B1B2E"/>
                          </a:solidFill>
                          <a:latin typeface="Ubuntu Mono"/>
                          <a:ea typeface="Ubuntu Mono"/>
                          <a:cs typeface="Ubuntu Mono"/>
                          <a:sym typeface="Ubuntu Mono"/>
                        </a:rPr>
                        <a:t>2-1/8" - 13-1/2"</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r>
              <a:tr h="165100">
                <a:tc>
                  <a:txBody>
                    <a:bodyPr/>
                    <a:lstStyle/>
                    <a:p>
                      <a:pPr algn="l"/>
                      <a:r>
                        <a:rPr sz="730" b="1" i="0" lang="fr-FR">
                          <a:solidFill>
                            <a:srgbClr val="0B1B2E"/>
                          </a:solidFill>
                          <a:latin typeface="Ubuntu Mono"/>
                          <a:ea typeface="Ubuntu Mono"/>
                          <a:cs typeface="Ubuntu Mono"/>
                          <a:sym typeface="Ubuntu Mono"/>
                        </a:rPr>
                        <a:t>Panier à débris à circ. inverse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730" b="0" i="0" lang="fr-FR">
                          <a:solidFill>
                            <a:srgbClr val="0B1B2E"/>
                          </a:solidFill>
                          <a:latin typeface="Ubuntu Mono"/>
                          <a:ea typeface="Ubuntu Mono"/>
                          <a:cs typeface="Ubuntu Mono"/>
                          <a:sym typeface="Ubuntu Mono"/>
                        </a:rPr>
                        <a:t>5-5/8" - 17"</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r>
              <a:tr h="165100">
                <a:tc>
                  <a:txBody>
                    <a:bodyPr/>
                    <a:lstStyle/>
                    <a:p>
                      <a:pPr algn="l"/>
                      <a:r>
                        <a:rPr sz="730" b="1" i="0" lang="fr-FR">
                          <a:solidFill>
                            <a:srgbClr val="0B1B2E"/>
                          </a:solidFill>
                          <a:latin typeface="Ubuntu Mono"/>
                          <a:ea typeface="Ubuntu Mono"/>
                          <a:cs typeface="Ubuntu Mono"/>
                          <a:sym typeface="Ubuntu Mono"/>
                        </a:rPr>
                        <a:t>Panier à débris</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730" b="0" i="0" lang="fr-FR">
                          <a:solidFill>
                            <a:srgbClr val="0B1B2E"/>
                          </a:solidFill>
                          <a:latin typeface="Ubuntu Mono"/>
                          <a:ea typeface="Ubuntu Mono"/>
                          <a:cs typeface="Ubuntu Mono"/>
                          <a:sym typeface="Ubuntu Mono"/>
                        </a:rPr>
                        <a:t>3-1/2" - 13-3/8"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r>
            </a:tbl>
          </a:graphicData>
        </a:graphic>
      </p:graphicFrame>
      <p:graphicFrame>
        <p:nvGraphicFramePr>
          <p:cNvPr id="7" name="Table 6"/>
          <p:cNvGraphicFramePr>
            <a:graphicFrameLocks noGrp="1"/>
          </p:cNvGraphicFramePr>
          <p:nvPr/>
        </p:nvGraphicFramePr>
        <p:xfrm>
          <a:off x="3860800" y="1905000"/>
          <a:ext cx="3238500" cy="698500"/>
        </p:xfrm>
        <a:graphic>
          <a:graphicData uri="http://schemas.openxmlformats.org/drawingml/2006/table">
            <a:tbl>
              <a:tblPr/>
              <a:tblGrid>
                <a:gridCol w="1625600"/>
                <a:gridCol w="1612900"/>
              </a:tblGrid>
              <a:tr h="203200">
                <a:tc>
                  <a:txBody>
                    <a:bodyPr/>
                    <a:lstStyle/>
                    <a:p>
                      <a:pPr algn="ctr"/>
                      <a:r>
                        <a:rPr sz="730" b="1" i="0" lang="fr-FR">
                          <a:solidFill>
                            <a:srgbClr val="FFFFFF"/>
                          </a:solidFill>
                          <a:latin typeface="Ubuntu Mono"/>
                          <a:ea typeface="Ubuntu Mono"/>
                          <a:cs typeface="Ubuntu Mono"/>
                          <a:sym typeface="Ubuntu Mono"/>
                        </a:rPr>
                        <a:t>COUPE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c>
                  <a:txBody>
                    <a:bodyPr/>
                    <a:lstStyle/>
                    <a:p>
                      <a:pPr algn="l"/>
                      <a:r>
                        <a:rPr sz="730" b="1" i="0" lang="fr-FR">
                          <a:solidFill>
                            <a:srgbClr val="FFFFFF"/>
                          </a:solidFill>
                          <a:latin typeface="Ubuntu Mono"/>
                          <a:ea typeface="Ubuntu Mono"/>
                          <a:cs typeface="Ubuntu Mono"/>
                          <a:sym typeface="Ubuntu Mono"/>
                        </a:rPr>
                        <a:t>Plage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r>
              <a:tr h="165100">
                <a:tc>
                  <a:txBody>
                    <a:bodyPr/>
                    <a:lstStyle/>
                    <a:p>
                      <a:pPr algn="l"/>
                      <a:r>
                        <a:rPr sz="730" b="1" i="0" lang="fr-FR">
                          <a:solidFill>
                            <a:srgbClr val="0B1B2E"/>
                          </a:solidFill>
                          <a:latin typeface="Ubuntu Mono"/>
                          <a:ea typeface="Ubuntu Mono"/>
                          <a:cs typeface="Ubuntu Mono"/>
                          <a:sym typeface="Ubuntu Mono"/>
                        </a:rPr>
                        <a:t>Coupe-tube hydraulique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730" b="0" i="0" lang="fr-FR">
                          <a:solidFill>
                            <a:srgbClr val="0B1B2E"/>
                          </a:solidFill>
                          <a:latin typeface="Ubuntu Mono"/>
                          <a:ea typeface="Ubuntu Mono"/>
                          <a:cs typeface="Ubuntu Mono"/>
                          <a:sym typeface="Ubuntu Mono"/>
                        </a:rPr>
                        <a:t>3600, 5700, 8200, 11700s</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r>
              <a:tr h="165100">
                <a:tc>
                  <a:txBody>
                    <a:bodyPr/>
                    <a:lstStyle/>
                    <a:p>
                      <a:pPr algn="l"/>
                      <a:r>
                        <a:rPr sz="730" b="1" i="0" lang="fr-FR">
                          <a:solidFill>
                            <a:srgbClr val="0B1B2E"/>
                          </a:solidFill>
                          <a:latin typeface="Ubuntu Mono"/>
                          <a:ea typeface="Ubuntu Mono"/>
                          <a:cs typeface="Ubuntu Mono"/>
                          <a:sym typeface="Ubuntu Mono"/>
                        </a:rPr>
                        <a:t>Fraise de section</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730" b="0" i="0" lang="fr-FR">
                          <a:solidFill>
                            <a:srgbClr val="0B1B2E"/>
                          </a:solidFill>
                          <a:latin typeface="Ubuntu Mono"/>
                          <a:ea typeface="Ubuntu Mono"/>
                          <a:cs typeface="Ubuntu Mono"/>
                          <a:sym typeface="Ubuntu Mono"/>
                        </a:rPr>
                        <a:t>3600, 5500, 8200, 11700s</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r>
              <a:tr h="165100">
                <a:tc>
                  <a:txBody>
                    <a:bodyPr/>
                    <a:lstStyle/>
                    <a:p>
                      <a:pPr algn="l"/>
                      <a:r>
                        <a:rPr sz="730" b="1" i="0" lang="fr-FR">
                          <a:solidFill>
                            <a:srgbClr val="0B1B2E"/>
                          </a:solidFill>
                          <a:latin typeface="Ubuntu Mono"/>
                          <a:ea typeface="Ubuntu Mono"/>
                          <a:cs typeface="Ubuntu Mono"/>
                          <a:sym typeface="Ubuntu Mono"/>
                        </a:rPr>
                        <a:t>Coupe-tube hydraulique externe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730" b="0" i="0" lang="fr-FR">
                          <a:solidFill>
                            <a:srgbClr val="0B1B2E"/>
                          </a:solidFill>
                          <a:latin typeface="Ubuntu Mono"/>
                          <a:ea typeface="Ubuntu Mono"/>
                          <a:cs typeface="Ubuntu Mono"/>
                          <a:sym typeface="Ubuntu Mono"/>
                        </a:rPr>
                        <a:t>5-5/8" - 8"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r>
            </a:tbl>
          </a:graphicData>
        </a:graphic>
      </p:graphicFrame>
      <p:graphicFrame>
        <p:nvGraphicFramePr>
          <p:cNvPr id="8" name="Table 7"/>
          <p:cNvGraphicFramePr>
            <a:graphicFrameLocks noGrp="1"/>
          </p:cNvGraphicFramePr>
          <p:nvPr/>
        </p:nvGraphicFramePr>
        <p:xfrm>
          <a:off x="457200" y="2895600"/>
          <a:ext cx="3238500" cy="1193800"/>
        </p:xfrm>
        <a:graphic>
          <a:graphicData uri="http://schemas.openxmlformats.org/drawingml/2006/table">
            <a:tbl>
              <a:tblPr/>
              <a:tblGrid>
                <a:gridCol w="1625600"/>
                <a:gridCol w="1612900"/>
              </a:tblGrid>
              <a:tr h="203200">
                <a:tc>
                  <a:txBody>
                    <a:bodyPr/>
                    <a:lstStyle/>
                    <a:p>
                      <a:pPr algn="ctr"/>
                      <a:r>
                        <a:rPr sz="730" b="1" i="0" lang="fr-FR">
                          <a:solidFill>
                            <a:srgbClr val="FFFFFF"/>
                          </a:solidFill>
                          <a:latin typeface="Ubuntu Mono"/>
                          <a:ea typeface="Ubuntu Mono"/>
                          <a:cs typeface="Ubuntu Mono"/>
                          <a:sym typeface="Ubuntu Mono"/>
                        </a:rPr>
                        <a:t>FRAISAGE &amp; WASHOVER</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c>
                  <a:txBody>
                    <a:bodyPr/>
                    <a:lstStyle/>
                    <a:p>
                      <a:pPr algn="l"/>
                      <a:r>
                        <a:rPr sz="730" b="1" i="0" lang="fr-FR">
                          <a:solidFill>
                            <a:srgbClr val="FFFFFF"/>
                          </a:solidFill>
                          <a:latin typeface="Ubuntu Mono"/>
                          <a:ea typeface="Ubuntu Mono"/>
                          <a:cs typeface="Ubuntu Mono"/>
                          <a:sym typeface="Ubuntu Mono"/>
                        </a:rPr>
                        <a:t>Plage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r>
              <a:tr h="165100">
                <a:tc>
                  <a:txBody>
                    <a:bodyPr/>
                    <a:lstStyle/>
                    <a:p>
                      <a:pPr algn="l"/>
                      <a:r>
                        <a:rPr sz="730" b="1" i="0" lang="fr-FR">
                          <a:solidFill>
                            <a:srgbClr val="0B1B2E"/>
                          </a:solidFill>
                          <a:latin typeface="Ubuntu Mono"/>
                          <a:ea typeface="Ubuntu Mono"/>
                          <a:cs typeface="Ubuntu Mono"/>
                          <a:sym typeface="Ubuntu Mono"/>
                        </a:rPr>
                        <a:t>Economill</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730" b="0" i="0" lang="fr-FR">
                          <a:solidFill>
                            <a:srgbClr val="0B1B2E"/>
                          </a:solidFill>
                          <a:latin typeface="Ubuntu Mono"/>
                          <a:ea typeface="Ubuntu Mono"/>
                          <a:cs typeface="Ubuntu Mono"/>
                          <a:sym typeface="Ubuntu Mono"/>
                        </a:rPr>
                        <a:t>3-3/4" - 12-1/8"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r>
              <a:tr h="165100">
                <a:tc>
                  <a:txBody>
                    <a:bodyPr/>
                    <a:lstStyle/>
                    <a:p>
                      <a:pPr algn="l"/>
                      <a:r>
                        <a:rPr sz="730" b="1" i="0" lang="fr-FR">
                          <a:solidFill>
                            <a:srgbClr val="0B1B2E"/>
                          </a:solidFill>
                          <a:latin typeface="Ubuntu Mono"/>
                          <a:ea typeface="Ubuntu Mono"/>
                          <a:cs typeface="Ubuntu Mono"/>
                          <a:sym typeface="Ubuntu Mono"/>
                        </a:rPr>
                        <a:t>Fraise à débris</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730" b="0" i="0" lang="fr-FR">
                          <a:solidFill>
                            <a:srgbClr val="0B1B2E"/>
                          </a:solidFill>
                          <a:latin typeface="Ubuntu Mono"/>
                          <a:ea typeface="Ubuntu Mono"/>
                          <a:cs typeface="Ubuntu Mono"/>
                          <a:sym typeface="Ubuntu Mono"/>
                        </a:rPr>
                        <a:t>2-1/8" - 17-3/8"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r>
              <a:tr h="165100">
                <a:tc>
                  <a:txBody>
                    <a:bodyPr/>
                    <a:lstStyle/>
                    <a:p>
                      <a:pPr algn="l"/>
                      <a:r>
                        <a:rPr sz="730" b="1" i="0" lang="fr-FR">
                          <a:solidFill>
                            <a:srgbClr val="0B1B2E"/>
                          </a:solidFill>
                          <a:latin typeface="Ubuntu Mono"/>
                          <a:ea typeface="Ubuntu Mono"/>
                          <a:cs typeface="Ubuntu Mono"/>
                          <a:sym typeface="Ubuntu Mono"/>
                        </a:rPr>
                        <a:t>Fraise à débris Super</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730" b="0" i="0" lang="fr-FR">
                          <a:solidFill>
                            <a:srgbClr val="0B1B2E"/>
                          </a:solidFill>
                          <a:latin typeface="Ubuntu Mono"/>
                          <a:ea typeface="Ubuntu Mono"/>
                          <a:cs typeface="Ubuntu Mono"/>
                          <a:sym typeface="Ubuntu Mono"/>
                        </a:rPr>
                        <a:t>3-3/4" - 18-3/8"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r>
              <a:tr h="165100">
                <a:tc>
                  <a:txBody>
                    <a:bodyPr/>
                    <a:lstStyle/>
                    <a:p>
                      <a:pPr algn="l"/>
                      <a:r>
                        <a:rPr sz="730" b="1" i="0" lang="fr-FR">
                          <a:solidFill>
                            <a:srgbClr val="0B1B2E"/>
                          </a:solidFill>
                          <a:latin typeface="Ubuntu Mono"/>
                          <a:ea typeface="Ubuntu Mono"/>
                          <a:cs typeface="Ubuntu Mono"/>
                          <a:sym typeface="Ubuntu Mono"/>
                        </a:rPr>
                        <a:t>Pilot mill</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730" b="0" i="0" lang="fr-FR">
                          <a:solidFill>
                            <a:srgbClr val="0B1B2E"/>
                          </a:solidFill>
                          <a:latin typeface="Ubuntu Mono"/>
                          <a:ea typeface="Ubuntu Mono"/>
                          <a:cs typeface="Ubuntu Mono"/>
                          <a:sym typeface="Ubuntu Mono"/>
                        </a:rPr>
                        <a:t>3-1/4" - 8-1/2"</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r>
              <a:tr h="165100">
                <a:tc>
                  <a:txBody>
                    <a:bodyPr/>
                    <a:lstStyle/>
                    <a:p>
                      <a:pPr algn="l"/>
                      <a:r>
                        <a:rPr sz="730" b="1" i="0" lang="fr-FR">
                          <a:solidFill>
                            <a:srgbClr val="0B1B2E"/>
                          </a:solidFill>
                          <a:latin typeface="Ubuntu Mono"/>
                          <a:ea typeface="Ubuntu Mono"/>
                          <a:cs typeface="Ubuntu Mono"/>
                          <a:sym typeface="Ubuntu Mono"/>
                        </a:rPr>
                        <a:t>Taper mill</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730" b="0" i="0" lang="fr-FR">
                          <a:solidFill>
                            <a:srgbClr val="0B1B2E"/>
                          </a:solidFill>
                          <a:latin typeface="Ubuntu Mono"/>
                          <a:ea typeface="Ubuntu Mono"/>
                          <a:cs typeface="Ubuntu Mono"/>
                          <a:sym typeface="Ubuntu Mono"/>
                        </a:rPr>
                        <a:t>2-1/2" - 18-1/2"</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r>
              <a:tr h="165100">
                <a:tc>
                  <a:txBody>
                    <a:bodyPr/>
                    <a:lstStyle/>
                    <a:p>
                      <a:pPr algn="l"/>
                      <a:r>
                        <a:rPr sz="730" b="1" i="0" lang="fr-FR">
                          <a:solidFill>
                            <a:srgbClr val="0B1B2E"/>
                          </a:solidFill>
                          <a:latin typeface="Ubuntu Mono"/>
                          <a:ea typeface="Ubuntu Mono"/>
                          <a:cs typeface="Ubuntu Mono"/>
                          <a:sym typeface="Ubuntu Mono"/>
                        </a:rPr>
                        <a:t>Washover shoe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730" b="0" i="0" lang="fr-FR">
                          <a:solidFill>
                            <a:srgbClr val="0B1B2E"/>
                          </a:solidFill>
                          <a:latin typeface="Ubuntu Mono"/>
                          <a:ea typeface="Ubuntu Mono"/>
                          <a:cs typeface="Ubuntu Mono"/>
                          <a:sym typeface="Ubuntu Mono"/>
                        </a:rPr>
                        <a:t>2-9/16" - 13-3/8"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r>
            </a:tbl>
          </a:graphicData>
        </a:graphic>
      </p:graphicFrame>
      <p:graphicFrame>
        <p:nvGraphicFramePr>
          <p:cNvPr id="9" name="Table 8"/>
          <p:cNvGraphicFramePr>
            <a:graphicFrameLocks noGrp="1"/>
          </p:cNvGraphicFramePr>
          <p:nvPr/>
        </p:nvGraphicFramePr>
        <p:xfrm>
          <a:off x="3860800" y="2730500"/>
          <a:ext cx="3238500" cy="1193800"/>
        </p:xfrm>
        <a:graphic>
          <a:graphicData uri="http://schemas.openxmlformats.org/drawingml/2006/table">
            <a:tbl>
              <a:tblPr/>
              <a:tblGrid>
                <a:gridCol w="1625600"/>
                <a:gridCol w="1612900"/>
              </a:tblGrid>
              <a:tr h="203200">
                <a:tc>
                  <a:txBody>
                    <a:bodyPr/>
                    <a:lstStyle/>
                    <a:p>
                      <a:pPr algn="ctr"/>
                      <a:r>
                        <a:rPr sz="730" b="1" i="0" lang="fr-FR">
                          <a:solidFill>
                            <a:srgbClr val="FFFFFF"/>
                          </a:solidFill>
                          <a:latin typeface="Ubuntu Mono"/>
                          <a:ea typeface="Ubuntu Mono"/>
                          <a:cs typeface="Ubuntu Mono"/>
                          <a:sym typeface="Ubuntu Mono"/>
                        </a:rPr>
                        <a:t>REPÊCHAGE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c>
                  <a:txBody>
                    <a:bodyPr/>
                    <a:lstStyle/>
                    <a:p>
                      <a:pPr algn="l"/>
                      <a:r>
                        <a:rPr sz="730" b="1" i="0" lang="fr-FR">
                          <a:solidFill>
                            <a:srgbClr val="FFFFFF"/>
                          </a:solidFill>
                          <a:latin typeface="Ubuntu Mono"/>
                          <a:ea typeface="Ubuntu Mono"/>
                          <a:cs typeface="Ubuntu Mono"/>
                          <a:sym typeface="Ubuntu Mono"/>
                        </a:rPr>
                        <a:t>Plage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r>
              <a:tr h="165100">
                <a:tc>
                  <a:txBody>
                    <a:bodyPr/>
                    <a:lstStyle/>
                    <a:p>
                      <a:pPr algn="l"/>
                      <a:r>
                        <a:rPr sz="730" b="1" i="0" lang="fr-FR">
                          <a:solidFill>
                            <a:srgbClr val="0B1B2E"/>
                          </a:solidFill>
                          <a:latin typeface="Ubuntu Mono"/>
                          <a:ea typeface="Ubuntu Mono"/>
                          <a:cs typeface="Ubuntu Mono"/>
                          <a:sym typeface="Ubuntu Mono"/>
                        </a:rPr>
                        <a:t>Die collar</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730" b="0" i="0" lang="fr-FR">
                          <a:solidFill>
                            <a:srgbClr val="0B1B2E"/>
                          </a:solidFill>
                          <a:latin typeface="Ubuntu Mono"/>
                          <a:ea typeface="Ubuntu Mono"/>
                          <a:cs typeface="Ubuntu Mono"/>
                          <a:sym typeface="Ubuntu Mono"/>
                        </a:rPr>
                        <a:t>4" - 9-5/8"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r>
              <a:tr h="165100">
                <a:tc>
                  <a:txBody>
                    <a:bodyPr/>
                    <a:lstStyle/>
                    <a:p>
                      <a:pPr algn="l"/>
                      <a:r>
                        <a:rPr sz="730" b="1" i="0" lang="fr-FR">
                          <a:solidFill>
                            <a:srgbClr val="0B1B2E"/>
                          </a:solidFill>
                          <a:latin typeface="Ubuntu Mono"/>
                          <a:ea typeface="Ubuntu Mono"/>
                          <a:cs typeface="Ubuntu Mono"/>
                          <a:sym typeface="Ubuntu Mono"/>
                        </a:rPr>
                        <a:t>Aimant de repêchage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730" b="0" i="0" lang="fr-FR">
                          <a:solidFill>
                            <a:srgbClr val="0B1B2E"/>
                          </a:solidFill>
                          <a:latin typeface="Ubuntu Mono"/>
                          <a:ea typeface="Ubuntu Mono"/>
                          <a:cs typeface="Ubuntu Mono"/>
                          <a:sym typeface="Ubuntu Mono"/>
                        </a:rPr>
                        <a:t>3-3/4" - 15"</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r>
              <a:tr h="165100">
                <a:tc>
                  <a:txBody>
                    <a:bodyPr/>
                    <a:lstStyle/>
                    <a:p>
                      <a:pPr algn="l"/>
                      <a:r>
                        <a:rPr sz="730" b="1" i="0" lang="fr-FR">
                          <a:solidFill>
                            <a:srgbClr val="0B1B2E"/>
                          </a:solidFill>
                          <a:latin typeface="Ubuntu Mono"/>
                          <a:ea typeface="Ubuntu Mono"/>
                          <a:cs typeface="Ubuntu Mono"/>
                          <a:sym typeface="Ubuntu Mono"/>
                        </a:rPr>
                        <a:t>Spear interne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730" b="0" i="0" lang="fr-FR">
                          <a:solidFill>
                            <a:srgbClr val="0B1B2E"/>
                          </a:solidFill>
                          <a:latin typeface="Ubuntu Mono"/>
                          <a:ea typeface="Ubuntu Mono"/>
                          <a:cs typeface="Ubuntu Mono"/>
                          <a:sym typeface="Ubuntu Mono"/>
                        </a:rPr>
                        <a:t>6-3/4" - 8"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r>
              <a:tr h="165100">
                <a:tc>
                  <a:txBody>
                    <a:bodyPr/>
                    <a:lstStyle/>
                    <a:p>
                      <a:pPr algn="l"/>
                      <a:r>
                        <a:rPr sz="730" b="1" i="0" lang="fr-FR">
                          <a:solidFill>
                            <a:srgbClr val="0B1B2E"/>
                          </a:solidFill>
                          <a:latin typeface="Ubuntu Mono"/>
                          <a:ea typeface="Ubuntu Mono"/>
                          <a:cs typeface="Ubuntu Mono"/>
                          <a:sym typeface="Ubuntu Mono"/>
                        </a:rPr>
                        <a:t>Spear</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730" b="0" i="0" lang="fr-FR">
                          <a:solidFill>
                            <a:srgbClr val="0B1B2E"/>
                          </a:solidFill>
                          <a:latin typeface="Ubuntu Mono"/>
                          <a:ea typeface="Ubuntu Mono"/>
                          <a:cs typeface="Ubuntu Mono"/>
                          <a:sym typeface="Ubuntu Mono"/>
                        </a:rPr>
                        <a:t>2-3/8" - 20"</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r>
              <a:tr h="165100">
                <a:tc>
                  <a:txBody>
                    <a:bodyPr/>
                    <a:lstStyle/>
                    <a:p>
                      <a:pPr algn="l"/>
                      <a:r>
                        <a:rPr sz="730" b="1" i="0" lang="fr-FR">
                          <a:solidFill>
                            <a:srgbClr val="0B1B2E"/>
                          </a:solidFill>
                          <a:latin typeface="Ubuntu Mono"/>
                          <a:ea typeface="Ubuntu Mono"/>
                          <a:cs typeface="Ubuntu Mono"/>
                          <a:sym typeface="Ubuntu Mono"/>
                        </a:rPr>
                        <a:t>Overshot</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730" b="0" i="0" lang="fr-FR">
                          <a:solidFill>
                            <a:srgbClr val="0B1B2E"/>
                          </a:solidFill>
                          <a:latin typeface="Ubuntu Mono"/>
                          <a:ea typeface="Ubuntu Mono"/>
                          <a:cs typeface="Ubuntu Mono"/>
                          <a:sym typeface="Ubuntu Mono"/>
                        </a:rPr>
                        <a:t>SFS, SH, XSH, FS</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r>
              <a:tr h="165100">
                <a:tc>
                  <a:txBody>
                    <a:bodyPr/>
                    <a:lstStyle/>
                    <a:p>
                      <a:pPr algn="l"/>
                      <a:r>
                        <a:rPr sz="730" b="1" i="0" lang="fr-FR">
                          <a:solidFill>
                            <a:srgbClr val="0B1B2E"/>
                          </a:solidFill>
                          <a:latin typeface="Ubuntu Mono"/>
                          <a:ea typeface="Ubuntu Mono"/>
                          <a:cs typeface="Ubuntu Mono"/>
                          <a:sym typeface="Ubuntu Mono"/>
                        </a:rPr>
                        <a:t>Taper tap</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730" b="0" i="0" lang="fr-FR">
                          <a:solidFill>
                            <a:srgbClr val="0B1B2E"/>
                          </a:solidFill>
                          <a:latin typeface="Ubuntu Mono"/>
                          <a:ea typeface="Ubuntu Mono"/>
                          <a:cs typeface="Ubuntu Mono"/>
                          <a:sym typeface="Ubuntu Mono"/>
                        </a:rPr>
                        <a:t>3-1/16" - 8"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r>
            </a:tbl>
          </a:graphicData>
        </a:graphic>
      </p:graphicFrame>
      <p:graphicFrame>
        <p:nvGraphicFramePr>
          <p:cNvPr id="10" name="Table 9"/>
          <p:cNvGraphicFramePr>
            <a:graphicFrameLocks noGrp="1"/>
          </p:cNvGraphicFramePr>
          <p:nvPr/>
        </p:nvGraphicFramePr>
        <p:xfrm>
          <a:off x="457200" y="4216400"/>
          <a:ext cx="3238500" cy="1193800"/>
        </p:xfrm>
        <a:graphic>
          <a:graphicData uri="http://schemas.openxmlformats.org/drawingml/2006/table">
            <a:tbl>
              <a:tblPr/>
              <a:tblGrid>
                <a:gridCol w="1625600"/>
                <a:gridCol w="1612900"/>
              </a:tblGrid>
              <a:tr h="203200">
                <a:tc>
                  <a:txBody>
                    <a:bodyPr/>
                    <a:lstStyle/>
                    <a:p>
                      <a:pPr algn="ctr"/>
                      <a:r>
                        <a:rPr sz="730" b="1" i="0" lang="fr-FR">
                          <a:solidFill>
                            <a:srgbClr val="FFFFFF"/>
                          </a:solidFill>
                          <a:latin typeface="Ubuntu Mono"/>
                          <a:ea typeface="Ubuntu Mono"/>
                          <a:cs typeface="Ubuntu Mono"/>
                          <a:sym typeface="Ubuntu Mono"/>
                        </a:rPr>
                        <a:t>ALÉSAGE &amp; ÉLARGISSEMENT</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c>
                  <a:txBody>
                    <a:bodyPr/>
                    <a:lstStyle/>
                    <a:p>
                      <a:pPr algn="l"/>
                      <a:r>
                        <a:rPr sz="730" b="1" i="0" lang="fr-FR">
                          <a:solidFill>
                            <a:srgbClr val="FFFFFF"/>
                          </a:solidFill>
                          <a:latin typeface="Ubuntu Mono"/>
                          <a:ea typeface="Ubuntu Mono"/>
                          <a:cs typeface="Ubuntu Mono"/>
                          <a:sym typeface="Ubuntu Mono"/>
                        </a:rPr>
                        <a:t>Plage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r>
              <a:tr h="165100">
                <a:tc>
                  <a:txBody>
                    <a:bodyPr/>
                    <a:lstStyle/>
                    <a:p>
                      <a:pPr algn="l"/>
                      <a:r>
                        <a:rPr sz="730" b="1" i="0" lang="fr-FR">
                          <a:solidFill>
                            <a:srgbClr val="0B1B2E"/>
                          </a:solidFill>
                          <a:latin typeface="Ubuntu Mono"/>
                          <a:ea typeface="Ubuntu Mono"/>
                          <a:cs typeface="Ubuntu Mono"/>
                          <a:sym typeface="Ubuntu Mono"/>
                        </a:rPr>
                        <a:t>Élargisseur rotatif (RTU)</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730" b="0" i="0" lang="fr-FR">
                          <a:solidFill>
                            <a:srgbClr val="0B1B2E"/>
                          </a:solidFill>
                          <a:latin typeface="Ubuntu Mono"/>
                          <a:ea typeface="Ubuntu Mono"/>
                          <a:cs typeface="Ubuntu Mono"/>
                          <a:sym typeface="Ubuntu Mono"/>
                        </a:rPr>
                        <a:t>DTS 350, 5700, 8200</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r>
              <a:tr h="165100">
                <a:tc>
                  <a:txBody>
                    <a:bodyPr/>
                    <a:lstStyle/>
                    <a:p>
                      <a:pPr algn="l"/>
                      <a:r>
                        <a:rPr sz="730" b="1" i="0" lang="fr-FR">
                          <a:solidFill>
                            <a:srgbClr val="0B1B2E"/>
                          </a:solidFill>
                          <a:latin typeface="Ubuntu Mono"/>
                          <a:ea typeface="Ubuntu Mono"/>
                          <a:cs typeface="Ubuntu Mono"/>
                          <a:sym typeface="Ubuntu Mono"/>
                        </a:rPr>
                        <a:t>Élargisseur de type forage (DTU)</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730" b="0" i="0" lang="fr-FR">
                          <a:solidFill>
                            <a:srgbClr val="0B1B2E"/>
                          </a:solidFill>
                          <a:latin typeface="Ubuntu Mono"/>
                          <a:ea typeface="Ubuntu Mono"/>
                          <a:cs typeface="Ubuntu Mono"/>
                          <a:sym typeface="Ubuntu Mono"/>
                        </a:rPr>
                        <a:t>5700, 8200, 12000, 18000</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r>
              <a:tr h="165100">
                <a:tc>
                  <a:txBody>
                    <a:bodyPr/>
                    <a:lstStyle/>
                    <a:p>
                      <a:pPr algn="l"/>
                      <a:r>
                        <a:rPr sz="730" b="1" i="0" lang="fr-FR">
                          <a:solidFill>
                            <a:srgbClr val="0B1B2E"/>
                          </a:solidFill>
                          <a:latin typeface="Ubuntu Mono"/>
                          <a:ea typeface="Ubuntu Mono"/>
                          <a:cs typeface="Ubuntu Mono"/>
                          <a:sym typeface="Ubuntu Mono"/>
                        </a:rPr>
                        <a:t>Master Driller</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730" b="0" i="0" lang="fr-FR">
                          <a:solidFill>
                            <a:srgbClr val="0B1B2E"/>
                          </a:solidFill>
                          <a:latin typeface="Ubuntu Mono"/>
                          <a:ea typeface="Ubuntu Mono"/>
                          <a:cs typeface="Ubuntu Mono"/>
                          <a:sym typeface="Ubuntu Mono"/>
                        </a:rPr>
                        <a:t>8200, 14000</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r>
              <a:tr h="165100">
                <a:tc>
                  <a:txBody>
                    <a:bodyPr/>
                    <a:lstStyle/>
                    <a:p>
                      <a:pPr algn="l"/>
                      <a:r>
                        <a:rPr sz="730" b="1" i="0" lang="fr-FR">
                          <a:solidFill>
                            <a:srgbClr val="0B1B2E"/>
                          </a:solidFill>
                          <a:latin typeface="Ubuntu Mono"/>
                          <a:ea typeface="Ubuntu Mono"/>
                          <a:cs typeface="Ubuntu Mono"/>
                          <a:sym typeface="Ubuntu Mono"/>
                        </a:rPr>
                        <a:t>Hole opener</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730" b="0" i="0" lang="fr-FR">
                          <a:solidFill>
                            <a:srgbClr val="0B1B2E"/>
                          </a:solidFill>
                          <a:latin typeface="Ubuntu Mono"/>
                          <a:ea typeface="Ubuntu Mono"/>
                          <a:cs typeface="Ubuntu Mono"/>
                          <a:sym typeface="Ubuntu Mono"/>
                        </a:rPr>
                        <a:t>14-3/4"</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r>
              <a:tr h="165100">
                <a:tc>
                  <a:txBody>
                    <a:bodyPr/>
                    <a:lstStyle/>
                    <a:p>
                      <a:pPr algn="l"/>
                      <a:r>
                        <a:rPr sz="730" b="1" i="0" lang="fr-FR">
                          <a:solidFill>
                            <a:srgbClr val="0B1B2E"/>
                          </a:solidFill>
                          <a:latin typeface="Ubuntu Mono"/>
                          <a:ea typeface="Ubuntu Mono"/>
                          <a:cs typeface="Ubuntu Mono"/>
                          <a:sym typeface="Ubuntu Mono"/>
                        </a:rPr>
                        <a:t>Élargisseur SPX de type drag</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730" b="0" i="0" lang="fr-FR">
                          <a:solidFill>
                            <a:srgbClr val="0B1B2E"/>
                          </a:solidFill>
                          <a:latin typeface="Ubuntu Mono"/>
                          <a:ea typeface="Ubuntu Mono"/>
                          <a:cs typeface="Ubuntu Mono"/>
                          <a:sym typeface="Ubuntu Mono"/>
                        </a:rPr>
                        <a:t>5700</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r>
              <a:tr h="165100">
                <a:tc>
                  <a:txBody>
                    <a:bodyPr/>
                    <a:lstStyle/>
                    <a:p>
                      <a:pPr algn="l"/>
                      <a:r>
                        <a:rPr sz="730" b="1" i="0" lang="fr-FR">
                          <a:solidFill>
                            <a:srgbClr val="0B1B2E"/>
                          </a:solidFill>
                          <a:latin typeface="Ubuntu Mono"/>
                          <a:ea typeface="Ubuntu Mono"/>
                          <a:cs typeface="Ubuntu Mono"/>
                          <a:sym typeface="Ubuntu Mono"/>
                        </a:rPr>
                        <a:t>Roller reamer</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730" b="0" i="0" lang="fr-FR">
                          <a:solidFill>
                            <a:srgbClr val="0B1B2E"/>
                          </a:solidFill>
                          <a:latin typeface="Ubuntu Mono"/>
                          <a:ea typeface="Ubuntu Mono"/>
                          <a:cs typeface="Ubuntu Mono"/>
                          <a:sym typeface="Ubuntu Mono"/>
                        </a:rPr>
                        <a:t>8200</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r>
            </a:tbl>
          </a:graphicData>
        </a:graphic>
      </p:graphicFrame>
      <p:graphicFrame>
        <p:nvGraphicFramePr>
          <p:cNvPr id="11" name="Table 10"/>
          <p:cNvGraphicFramePr>
            <a:graphicFrameLocks noGrp="1"/>
          </p:cNvGraphicFramePr>
          <p:nvPr/>
        </p:nvGraphicFramePr>
        <p:xfrm>
          <a:off x="3860800" y="4051300"/>
          <a:ext cx="3238500" cy="1193800"/>
        </p:xfrm>
        <a:graphic>
          <a:graphicData uri="http://schemas.openxmlformats.org/drawingml/2006/table">
            <a:tbl>
              <a:tblPr/>
              <a:tblGrid>
                <a:gridCol w="1625600"/>
                <a:gridCol w="1612900"/>
              </a:tblGrid>
              <a:tr h="203200">
                <a:tc>
                  <a:txBody>
                    <a:bodyPr/>
                    <a:lstStyle/>
                    <a:p>
                      <a:pPr algn="ctr"/>
                      <a:r>
                        <a:rPr sz="730" b="1" i="0" lang="fr-FR">
                          <a:solidFill>
                            <a:srgbClr val="FFFFFF"/>
                          </a:solidFill>
                          <a:latin typeface="Ubuntu Mono"/>
                          <a:ea typeface="Ubuntu Mono"/>
                          <a:cs typeface="Ubuntu Mono"/>
                          <a:sym typeface="Ubuntu Mono"/>
                        </a:rPr>
                        <a:t>BATTAGE &amp; IMPACT</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c>
                  <a:txBody>
                    <a:bodyPr/>
                    <a:lstStyle/>
                    <a:p>
                      <a:pPr algn="l"/>
                      <a:r>
                        <a:rPr sz="730" b="1" i="0" lang="fr-FR">
                          <a:solidFill>
                            <a:srgbClr val="FFFFFF"/>
                          </a:solidFill>
                          <a:latin typeface="Ubuntu Mono"/>
                          <a:ea typeface="Ubuntu Mono"/>
                          <a:cs typeface="Ubuntu Mono"/>
                          <a:sym typeface="Ubuntu Mono"/>
                        </a:rPr>
                        <a:t>Plage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194E9A"/>
                    </a:solidFill>
                  </a:tcPr>
                </a:tc>
              </a:tr>
              <a:tr h="165100">
                <a:tc>
                  <a:txBody>
                    <a:bodyPr/>
                    <a:lstStyle/>
                    <a:p>
                      <a:pPr algn="l"/>
                      <a:r>
                        <a:rPr sz="730" b="1" i="0" lang="fr-FR">
                          <a:solidFill>
                            <a:srgbClr val="0B1B2E"/>
                          </a:solidFill>
                          <a:latin typeface="Ubuntu Mono"/>
                          <a:ea typeface="Ubuntu Mono"/>
                          <a:cs typeface="Ubuntu Mono"/>
                          <a:sym typeface="Ubuntu Mono"/>
                        </a:rPr>
                        <a:t>Coulisse de fishing</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730" b="0" i="0" lang="fr-FR">
                          <a:solidFill>
                            <a:srgbClr val="0B1B2E"/>
                          </a:solidFill>
                          <a:latin typeface="Ubuntu Mono"/>
                          <a:ea typeface="Ubuntu Mono"/>
                          <a:cs typeface="Ubuntu Mono"/>
                          <a:sym typeface="Ubuntu Mono"/>
                        </a:rPr>
                        <a:t>3-1/8" - 8"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r>
              <a:tr h="165100">
                <a:tc>
                  <a:txBody>
                    <a:bodyPr/>
                    <a:lstStyle/>
                    <a:p>
                      <a:pPr algn="l"/>
                      <a:r>
                        <a:rPr sz="730" b="1" i="0" lang="fr-FR">
                          <a:solidFill>
                            <a:srgbClr val="0B1B2E"/>
                          </a:solidFill>
                          <a:latin typeface="Ubuntu Mono"/>
                          <a:ea typeface="Ubuntu Mono"/>
                          <a:cs typeface="Ubuntu Mono"/>
                          <a:sym typeface="Ubuntu Mono"/>
                        </a:rPr>
                        <a:t>Intensificateur de coulisse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730" b="0" i="0" lang="fr-FR">
                          <a:solidFill>
                            <a:srgbClr val="0B1B2E"/>
                          </a:solidFill>
                          <a:latin typeface="Ubuntu Mono"/>
                          <a:ea typeface="Ubuntu Mono"/>
                          <a:cs typeface="Ubuntu Mono"/>
                          <a:sym typeface="Ubuntu Mono"/>
                        </a:rPr>
                        <a:t>3-1/8" - 6-1/2"</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r>
              <a:tr h="165100">
                <a:tc>
                  <a:txBody>
                    <a:bodyPr/>
                    <a:lstStyle/>
                    <a:p>
                      <a:pPr algn="l"/>
                      <a:r>
                        <a:rPr sz="730" b="1" i="0" lang="fr-FR">
                          <a:solidFill>
                            <a:srgbClr val="0B1B2E"/>
                          </a:solidFill>
                          <a:latin typeface="Ubuntu Mono"/>
                          <a:ea typeface="Ubuntu Mono"/>
                          <a:cs typeface="Ubuntu Mono"/>
                          <a:sym typeface="Ubuntu Mono"/>
                        </a:rPr>
                        <a:t>Joint de sécurité</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730" b="0" i="0" lang="fr-FR">
                          <a:solidFill>
                            <a:srgbClr val="0B1B2E"/>
                          </a:solidFill>
                          <a:latin typeface="Ubuntu Mono"/>
                          <a:ea typeface="Ubuntu Mono"/>
                          <a:cs typeface="Ubuntu Mono"/>
                          <a:sym typeface="Ubuntu Mono"/>
                        </a:rPr>
                        <a:t>3-1/2" - 8"</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r>
              <a:tr h="165100">
                <a:tc>
                  <a:txBody>
                    <a:bodyPr/>
                    <a:lstStyle/>
                    <a:p>
                      <a:pPr algn="l"/>
                      <a:r>
                        <a:rPr sz="730" b="1" i="0" lang="fr-FR">
                          <a:solidFill>
                            <a:srgbClr val="0B1B2E"/>
                          </a:solidFill>
                          <a:latin typeface="Ubuntu Mono"/>
                          <a:ea typeface="Ubuntu Mono"/>
                          <a:cs typeface="Ubuntu Mono"/>
                          <a:sym typeface="Ubuntu Mono"/>
                        </a:rPr>
                        <a:t>Stabilisateur</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730" b="0" i="0" lang="fr-FR">
                          <a:solidFill>
                            <a:srgbClr val="0B1B2E"/>
                          </a:solidFill>
                          <a:latin typeface="Ubuntu Mono"/>
                          <a:ea typeface="Ubuntu Mono"/>
                          <a:cs typeface="Ubuntu Mono"/>
                          <a:sym typeface="Ubuntu Mono"/>
                        </a:rPr>
                        <a:t>3-1/8" - 9-1/2"</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r>
              <a:tr h="165100">
                <a:tc>
                  <a:txBody>
                    <a:bodyPr/>
                    <a:lstStyle/>
                    <a:p>
                      <a:pPr algn="l"/>
                      <a:r>
                        <a:rPr sz="730" b="1" i="0" lang="fr-FR">
                          <a:solidFill>
                            <a:srgbClr val="0B1B2E"/>
                          </a:solidFill>
                          <a:latin typeface="Ubuntu Mono"/>
                          <a:ea typeface="Ubuntu Mono"/>
                          <a:cs typeface="Ubuntu Mono"/>
                          <a:sym typeface="Ubuntu Mono"/>
                        </a:rPr>
                        <a:t>Raccord de réduction (XO)</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c>
                  <a:txBody>
                    <a:bodyPr/>
                    <a:lstStyle/>
                    <a:p>
                      <a:pPr algn="l"/>
                      <a:r>
                        <a:rPr sz="730" b="0" i="0" lang="fr-FR">
                          <a:solidFill>
                            <a:srgbClr val="0B1B2E"/>
                          </a:solidFill>
                          <a:latin typeface="Ubuntu Mono"/>
                          <a:ea typeface="Ubuntu Mono"/>
                          <a:cs typeface="Ubuntu Mono"/>
                          <a:sym typeface="Ubuntu Mono"/>
                        </a:rPr>
                        <a:t>3-3/8" - 11-3/4"</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FFFFFF"/>
                    </a:solidFill>
                  </a:tcPr>
                </a:tc>
              </a:tr>
              <a:tr h="165100">
                <a:tc>
                  <a:txBody>
                    <a:bodyPr/>
                    <a:lstStyle/>
                    <a:p>
                      <a:pPr algn="l"/>
                      <a:r>
                        <a:rPr sz="730" b="1" i="0" lang="fr-FR">
                          <a:solidFill>
                            <a:srgbClr val="0B1B2E"/>
                          </a:solidFill>
                          <a:latin typeface="Ubuntu Mono"/>
                          <a:ea typeface="Ubuntu Mono"/>
                          <a:cs typeface="Ubuntu Mono"/>
                          <a:sym typeface="Ubuntu Mono"/>
                        </a:rPr>
                        <a:t>Bit sub / Float sub / Bull nose</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c>
                  <a:txBody>
                    <a:bodyPr/>
                    <a:lstStyle/>
                    <a:p>
                      <a:pPr algn="l"/>
                      <a:r>
                        <a:rPr sz="730" b="0" i="0" lang="fr-FR">
                          <a:solidFill>
                            <a:srgbClr val="0B1B2E"/>
                          </a:solidFill>
                          <a:latin typeface="Ubuntu Mono"/>
                          <a:ea typeface="Ubuntu Mono"/>
                          <a:cs typeface="Ubuntu Mono"/>
                          <a:sym typeface="Ubuntu Mono"/>
                        </a:rPr>
                        <a:t>2-3/16" - 10-1/4"</a:t>
                      </a:r>
                    </a:p>
                  </a:txBody>
                  <a:tcPr marL="38100" marR="38100" marT="12700" marB="12700" anchor="ctr">
                    <a:lnL w="4762">
                      <a:solidFill>
                        <a:srgbClr val="C5D6E8"/>
                      </a:solidFill>
                    </a:lnL>
                    <a:lnR w="4762">
                      <a:solidFill>
                        <a:srgbClr val="C5D6E8"/>
                      </a:solidFill>
                    </a:lnR>
                    <a:lnT w="4762">
                      <a:solidFill>
                        <a:srgbClr val="C5D6E8"/>
                      </a:solidFill>
                    </a:lnT>
                    <a:lnB w="4762">
                      <a:solidFill>
                        <a:srgbClr val="C5D6E8"/>
                      </a:solidFill>
                    </a:lnB>
                    <a:solidFill>
                      <a:srgbClr val="EEF6FD"/>
                    </a:solidFill>
                  </a:tcPr>
                </a:tc>
              </a:tr>
            </a:tbl>
          </a:graphicData>
        </a:graphic>
      </p:graphicFrame>
      <p:sp>
        <p:nvSpPr>
          <p:cNvPr id="12" name="Rectangle 11"/>
          <p:cNvSpPr/>
          <p:nvPr/>
        </p:nvSpPr>
        <p:spPr>
          <a:xfrm>
            <a:off x="457200" y="5562600"/>
            <a:ext cx="6642100" cy="1092200"/>
          </a:xfrm>
          <a:prstGeom prst="rect">
            <a:avLst/>
          </a:prstGeom>
          <a:solidFill>
            <a:srgbClr val="EAF4FC"/>
          </a:solidFill>
          <a:ln>
            <a:noFill/>
          </a:ln>
        </p:spPr>
        <p:txBody>
          <a:bodyPr rtlCol="0" anchor="ctr"/>
          <a:lstStyle/>
          <a:p>
            <a:pPr algn="ctr"/>
          </a:p>
        </p:txBody>
      </p:sp>
      <p:sp>
        <p:nvSpPr>
          <p:cNvPr id="13" name="Rectangle 12"/>
          <p:cNvSpPr/>
          <p:nvPr/>
        </p:nvSpPr>
        <p:spPr>
          <a:xfrm>
            <a:off x="457200" y="5562600"/>
            <a:ext cx="76200" cy="1092200"/>
          </a:xfrm>
          <a:prstGeom prst="rect">
            <a:avLst/>
          </a:prstGeom>
          <a:solidFill>
            <a:srgbClr val="1CB2FE"/>
          </a:solidFill>
          <a:ln>
            <a:noFill/>
          </a:ln>
        </p:spPr>
        <p:txBody>
          <a:bodyPr rtlCol="0" anchor="ctr"/>
          <a:lstStyle/>
          <a:p>
            <a:pPr algn="ctr"/>
          </a:p>
        </p:txBody>
      </p:sp>
      <p:sp>
        <p:nvSpPr>
          <p:cNvPr id="14" name="TextBox 13"/>
          <p:cNvSpPr txBox="1"/>
          <p:nvPr/>
        </p:nvSpPr>
        <p:spPr>
          <a:xfrm>
            <a:off x="660400" y="5664200"/>
            <a:ext cx="3810000" cy="127000"/>
          </a:xfrm>
          <a:prstGeom prst="rect">
            <a:avLst/>
          </a:prstGeom>
          <a:noFill/>
        </p:spPr>
        <p:txBody>
          <a:bodyPr wrap="square" lIns="0" rIns="0" tIns="0" bIns="0" anchor="t">
            <a:spAutoFit/>
          </a:bodyPr>
          <a:lstStyle/>
          <a:p>
            <a:pPr algn="l">
              <a:spcAft>
                <a:spcPts val="0"/>
              </a:spcAft>
            </a:pPr>
            <a:r>
              <a:rPr sz="900" b="1" i="0" lang="fr-FR">
                <a:solidFill>
                  <a:srgbClr val="194E9A"/>
                </a:solidFill>
                <a:latin typeface="Ubuntu Mono"/>
                <a:ea typeface="Ubuntu Mono"/>
                <a:cs typeface="Ubuntu Mono"/>
                <a:sym typeface="Ubuntu Mono"/>
              </a:rPr>
              <a:t>POUR LES FORAGES D'EAU (généralement 300 - 1 000 m)</a:t>
            </a:r>
          </a:p>
        </p:txBody>
      </p:sp>
      <p:sp>
        <p:nvSpPr>
          <p:cNvPr id="15" name="TextBox 14"/>
          <p:cNvSpPr txBox="1"/>
          <p:nvPr/>
        </p:nvSpPr>
        <p:spPr>
          <a:xfrm>
            <a:off x="660400" y="5867400"/>
            <a:ext cx="6286500" cy="127000"/>
          </a:xfrm>
          <a:prstGeom prst="rect">
            <a:avLst/>
          </a:prstGeom>
          <a:noFill/>
        </p:spPr>
        <p:txBody>
          <a:bodyPr wrap="square" lIns="0" rIns="0" tIns="0" bIns="0" anchor="t">
            <a:spAutoFit/>
          </a:bodyPr>
          <a:lstStyle/>
          <a:p>
            <a:pPr algn="l">
              <a:lnSpc>
                <a:spcPts val="1000"/>
              </a:lnSpc>
              <a:spcAft>
                <a:spcPts val="200"/>
              </a:spcAft>
            </a:pPr>
            <a:r>
              <a:rPr sz="720" b="1" i="0" lang="fr-FR">
                <a:solidFill>
                  <a:srgbClr val="0F7FCB"/>
                </a:solidFill>
                <a:latin typeface="Ubuntu Mono"/>
                <a:ea typeface="Ubuntu Mono"/>
                <a:cs typeface="Ubuntu Mono"/>
                <a:sym typeface="Ubuntu Mono"/>
              </a:rPr>
              <a:t>Coupe et extraction : </a:t>
            </a:r>
            <a:r>
              <a:rPr sz="720" b="0" i="0" lang="fr-FR">
                <a:solidFill>
                  <a:srgbClr val="0B1B2E"/>
                </a:solidFill>
                <a:latin typeface="Ubuntu Mono"/>
                <a:ea typeface="Ubuntu Mono"/>
                <a:cs typeface="Ubuntu Mono"/>
                <a:sym typeface="Ubuntu Mono"/>
              </a:rPr>
              <a:t>coupe-tubes hydrauliques, coupe-tubes externes, spears, overshots, coulisses.</a:t>
            </a:r>
          </a:p>
          <a:p>
            <a:pPr algn="l">
              <a:lnSpc>
                <a:spcPts val="1000"/>
              </a:lnSpc>
              <a:spcAft>
                <a:spcPts val="200"/>
              </a:spcAft>
            </a:pPr>
            <a:r>
              <a:rPr sz="720" b="1" i="0" lang="fr-FR">
                <a:solidFill>
                  <a:srgbClr val="0F7FCB"/>
                </a:solidFill>
                <a:latin typeface="Ubuntu Mono"/>
                <a:ea typeface="Ubuntu Mono"/>
                <a:cs typeface="Ubuntu Mono"/>
                <a:sym typeface="Ubuntu Mono"/>
              </a:rPr>
              <a:t>Alésage : </a:t>
            </a:r>
            <a:r>
              <a:rPr sz="720" b="0" i="0" lang="fr-FR">
                <a:solidFill>
                  <a:srgbClr val="0B1B2E"/>
                </a:solidFill>
                <a:latin typeface="Ubuntu Mono"/>
                <a:ea typeface="Ubuntu Mono"/>
                <a:cs typeface="Ubuntu Mono"/>
                <a:sym typeface="Ubuntu Mono"/>
              </a:rPr>
              <a:t>RTU, DTU, SPX de type drag, hole openers, roller reamers.</a:t>
            </a:r>
          </a:p>
          <a:p>
            <a:pPr algn="l">
              <a:lnSpc>
                <a:spcPts val="1000"/>
              </a:lnSpc>
              <a:spcAft>
                <a:spcPts val="200"/>
              </a:spcAft>
            </a:pPr>
            <a:r>
              <a:rPr sz="720" b="1" i="0" lang="fr-FR">
                <a:solidFill>
                  <a:srgbClr val="0F7FCB"/>
                </a:solidFill>
                <a:latin typeface="Ubuntu Mono"/>
                <a:ea typeface="Ubuntu Mono"/>
                <a:cs typeface="Ubuntu Mono"/>
                <a:sym typeface="Ubuntu Mono"/>
              </a:rPr>
              <a:t>Fraisage : </a:t>
            </a:r>
            <a:r>
              <a:rPr sz="720" b="0" i="0" lang="fr-FR">
                <a:solidFill>
                  <a:srgbClr val="0B1B2E"/>
                </a:solidFill>
                <a:latin typeface="Ubuntu Mono"/>
                <a:ea typeface="Ubuntu Mono"/>
                <a:cs typeface="Ubuntu Mono"/>
                <a:sym typeface="Ubuntu Mono"/>
              </a:rPr>
              <a:t>fraises à débris, pilot mills, taper mills, fraises de section, washover shoes.</a:t>
            </a:r>
          </a:p>
          <a:p>
            <a:pPr algn="l">
              <a:lnSpc>
                <a:spcPts val="1000"/>
              </a:lnSpc>
              <a:spcAft>
                <a:spcPts val="200"/>
              </a:spcAft>
            </a:pPr>
            <a:r>
              <a:rPr sz="720" b="1" i="0" lang="fr-FR">
                <a:solidFill>
                  <a:srgbClr val="194E9A"/>
                </a:solidFill>
                <a:latin typeface="Ubuntu Mono"/>
                <a:ea typeface="Ubuntu Mono"/>
                <a:cs typeface="Ubuntu Mono"/>
                <a:sym typeface="Ubuntu Mono"/>
              </a:rPr>
              <a:t>Stock disponible, intervention sous 24/48 h partout en France métropolitaine.</a:t>
            </a:r>
          </a:p>
        </p:txBody>
      </p:sp>
      <p:sp>
        <p:nvSpPr>
          <p:cNvPr id="16" name="Rectangle 15"/>
          <p:cNvSpPr/>
          <p:nvPr/>
        </p:nvSpPr>
        <p:spPr>
          <a:xfrm>
            <a:off x="457200" y="6781800"/>
            <a:ext cx="6642100" cy="1524000"/>
          </a:xfrm>
          <a:prstGeom prst="rect">
            <a:avLst/>
          </a:prstGeom>
          <a:solidFill>
            <a:srgbClr val="FFFFFF"/>
          </a:solidFill>
          <a:ln w="9525">
            <a:solidFill>
              <a:srgbClr val="C5D6E8"/>
            </a:solidFill>
          </a:ln>
        </p:spPr>
        <p:txBody>
          <a:bodyPr rtlCol="0" anchor="ctr"/>
          <a:lstStyle/>
          <a:p>
            <a:pPr algn="ctr"/>
          </a:p>
        </p:txBody>
      </p:sp>
      <p:pic>
        <p:nvPicPr>
          <p:cNvPr id="17" name="Picture 16" descr="_c_cutters_58_104.png"/>
          <p:cNvPicPr>
            <a:picLocks noChangeAspect="1"/>
          </p:cNvPicPr>
          <p:nvPr/>
        </p:nvPicPr>
        <p:blipFill>
          <a:blip r:embed="rId3"/>
          <a:stretch>
            <a:fillRect/>
          </a:stretch>
        </p:blipFill>
        <p:spPr>
          <a:xfrm>
            <a:off x="558800" y="6883400"/>
            <a:ext cx="736600" cy="1320800"/>
          </a:xfrm>
          <a:prstGeom prst="rect">
            <a:avLst/>
          </a:prstGeom>
        </p:spPr>
      </p:pic>
      <p:pic>
        <p:nvPicPr>
          <p:cNvPr id="18" name="Picture 17" descr="_c_spx_tool_170_31.png"/>
          <p:cNvPicPr>
            <a:picLocks noChangeAspect="1"/>
          </p:cNvPicPr>
          <p:nvPr/>
        </p:nvPicPr>
        <p:blipFill>
          <a:blip r:embed="rId4"/>
          <a:stretch>
            <a:fillRect/>
          </a:stretch>
        </p:blipFill>
        <p:spPr>
          <a:xfrm>
            <a:off x="1422400" y="7289800"/>
            <a:ext cx="2159000" cy="393700"/>
          </a:xfrm>
          <a:prstGeom prst="rect">
            <a:avLst/>
          </a:prstGeom>
        </p:spPr>
      </p:pic>
      <p:sp>
        <p:nvSpPr>
          <p:cNvPr id="19" name="TextBox 18"/>
          <p:cNvSpPr txBox="1"/>
          <p:nvPr/>
        </p:nvSpPr>
        <p:spPr>
          <a:xfrm>
            <a:off x="1422400" y="6883400"/>
            <a:ext cx="2159000" cy="127000"/>
          </a:xfrm>
          <a:prstGeom prst="rect">
            <a:avLst/>
          </a:prstGeom>
          <a:noFill/>
        </p:spPr>
        <p:txBody>
          <a:bodyPr wrap="square" lIns="0" rIns="0" tIns="0" bIns="0" anchor="t">
            <a:spAutoFit/>
          </a:bodyPr>
          <a:lstStyle/>
          <a:p>
            <a:pPr algn="l">
              <a:lnSpc>
                <a:spcPts val="950"/>
              </a:lnSpc>
              <a:spcAft>
                <a:spcPts val="0"/>
              </a:spcAft>
            </a:pPr>
            <a:r>
              <a:rPr sz="860" b="1" i="0" lang="fr-FR">
                <a:solidFill>
                  <a:srgbClr val="194E9A"/>
                </a:solidFill>
                <a:latin typeface="Ubuntu Mono"/>
                <a:ea typeface="Ubuntu Mono"/>
                <a:cs typeface="Ubuntu Mono"/>
                <a:sym typeface="Ubuntu Mono"/>
              </a:rPr>
              <a:t>ÉLARGISSEURS</a:t>
            </a:r>
          </a:p>
          <a:p>
            <a:pPr algn="l">
              <a:lnSpc>
                <a:spcPts val="950"/>
              </a:lnSpc>
              <a:spcAft>
                <a:spcPts val="0"/>
              </a:spcAft>
            </a:pPr>
            <a:r>
              <a:rPr sz="690" b="0" i="0" lang="fr-FR">
                <a:solidFill>
                  <a:srgbClr val="5A6B7F"/>
                </a:solidFill>
                <a:latin typeface="Ubuntu Mono"/>
                <a:ea typeface="Ubuntu Mono"/>
                <a:cs typeface="Ubuntu Mono"/>
                <a:sym typeface="Ubuntu Mono"/>
              </a:rPr>
              <a:t>Fiches techniques DTU et SPX disponibles</a:t>
            </a:r>
          </a:p>
        </p:txBody>
      </p:sp>
      <p:sp>
        <p:nvSpPr>
          <p:cNvPr id="20" name="TextBox 19"/>
          <p:cNvSpPr txBox="1"/>
          <p:nvPr/>
        </p:nvSpPr>
        <p:spPr>
          <a:xfrm>
            <a:off x="3810000" y="6908800"/>
            <a:ext cx="3175000" cy="127000"/>
          </a:xfrm>
          <a:prstGeom prst="rect">
            <a:avLst/>
          </a:prstGeom>
          <a:noFill/>
        </p:spPr>
        <p:txBody>
          <a:bodyPr wrap="square" lIns="0" rIns="0" tIns="0" bIns="0" anchor="t">
            <a:spAutoFit/>
          </a:bodyPr>
          <a:lstStyle/>
          <a:p>
            <a:pPr algn="l">
              <a:lnSpc>
                <a:spcPts val="880"/>
              </a:lnSpc>
              <a:spcAft>
                <a:spcPts val="300"/>
              </a:spcAft>
            </a:pPr>
            <a:r>
              <a:rPr sz="510" b="0" i="0" lang="fr-FR">
                <a:solidFill>
                  <a:srgbClr val="1CB2FE"/>
                </a:solidFill>
                <a:latin typeface="Ubuntu Mono"/>
                <a:ea typeface="Ubuntu Mono"/>
                <a:cs typeface="Ubuntu Mono"/>
                <a:sym typeface="Ubuntu Mono"/>
              </a:rPr>
              <a:t>■ </a:t>
            </a:r>
            <a:r>
              <a:rPr sz="690" b="1" i="0" lang="fr-FR">
                <a:solidFill>
                  <a:srgbClr val="0B1B2E"/>
                </a:solidFill>
                <a:latin typeface="Ubuntu Mono"/>
                <a:ea typeface="Ubuntu Mono"/>
                <a:cs typeface="Ubuntu Mono"/>
                <a:sym typeface="Ubuntu Mono"/>
              </a:rPr>
              <a:t>Outils de fond et trépans : </a:t>
            </a:r>
            <a:r>
              <a:rPr sz="690" b="0" i="0" lang="fr-FR">
                <a:solidFill>
                  <a:srgbClr val="0B1B2E"/>
                </a:solidFill>
                <a:latin typeface="Ubuntu Mono"/>
                <a:ea typeface="Ubuntu Mono"/>
                <a:cs typeface="Ubuntu Mono"/>
                <a:sym typeface="Ubuntu Mono"/>
              </a:rPr>
              <a:t>trépans de forage (PDC), élargissement, coulisses, stabilisateurs, tubulaires, circulating subs.</a:t>
            </a:r>
          </a:p>
          <a:p>
            <a:pPr algn="l">
              <a:lnSpc>
                <a:spcPts val="880"/>
              </a:lnSpc>
              <a:spcAft>
                <a:spcPts val="300"/>
              </a:spcAft>
            </a:pPr>
            <a:r>
              <a:rPr sz="510" b="0" i="0" lang="fr-FR">
                <a:solidFill>
                  <a:srgbClr val="1CB2FE"/>
                </a:solidFill>
                <a:latin typeface="Ubuntu Mono"/>
                <a:ea typeface="Ubuntu Mono"/>
                <a:cs typeface="Ubuntu Mono"/>
                <a:sym typeface="Ubuntu Mono"/>
              </a:rPr>
              <a:t>■ </a:t>
            </a:r>
            <a:r>
              <a:rPr sz="690" b="1" i="0" lang="fr-FR">
                <a:solidFill>
                  <a:srgbClr val="0B1B2E"/>
                </a:solidFill>
                <a:latin typeface="Ubuntu Mono"/>
                <a:ea typeface="Ubuntu Mono"/>
                <a:cs typeface="Ubuntu Mono"/>
                <a:sym typeface="Ubuntu Mono"/>
              </a:rPr>
              <a:t>Interventions spéciales : </a:t>
            </a:r>
            <a:r>
              <a:rPr sz="690" b="0" i="0" lang="fr-FR">
                <a:solidFill>
                  <a:srgbClr val="0B1B2E"/>
                </a:solidFill>
                <a:latin typeface="Ubuntu Mono"/>
                <a:ea typeface="Ubuntu Mono"/>
                <a:cs typeface="Ubuntu Mono"/>
                <a:sym typeface="Ubuntu Mono"/>
              </a:rPr>
              <a:t>whipstocks et sidetracks, packers, bouchons, suspensions de liner, vérins de tubage, bacs.</a:t>
            </a:r>
          </a:p>
          <a:p>
            <a:pPr algn="l">
              <a:lnSpc>
                <a:spcPts val="880"/>
              </a:lnSpc>
              <a:spcAft>
                <a:spcPts val="300"/>
              </a:spcAft>
            </a:pPr>
            <a:r>
              <a:rPr sz="510" b="0" i="0" lang="fr-FR">
                <a:solidFill>
                  <a:srgbClr val="1CB2FE"/>
                </a:solidFill>
                <a:latin typeface="Ubuntu Mono"/>
                <a:ea typeface="Ubuntu Mono"/>
                <a:cs typeface="Ubuntu Mono"/>
                <a:sym typeface="Ubuntu Mono"/>
              </a:rPr>
              <a:t>■ </a:t>
            </a:r>
            <a:r>
              <a:rPr sz="690" b="1" i="0" lang="fr-FR">
                <a:solidFill>
                  <a:srgbClr val="0B1B2E"/>
                </a:solidFill>
                <a:latin typeface="Ubuntu Mono"/>
                <a:ea typeface="Ubuntu Mono"/>
                <a:cs typeface="Ubuntu Mono"/>
                <a:sym typeface="Ubuntu Mono"/>
              </a:rPr>
              <a:t>Outils sur mesure : </a:t>
            </a:r>
            <a:r>
              <a:rPr sz="690" b="0" i="0" lang="fr-FR">
                <a:solidFill>
                  <a:srgbClr val="0B1B2E"/>
                </a:solidFill>
                <a:latin typeface="Ubuntu Mono"/>
                <a:ea typeface="Ubuntu Mono"/>
                <a:cs typeface="Ubuntu Mono"/>
                <a:sym typeface="Ubuntu Mono"/>
              </a:rPr>
              <a:t>conçus avec un atelier d'usinage certifié API 5 &amp; 7, réparés et reconditionnés dans notre atelier.</a:t>
            </a:r>
          </a:p>
        </p:txBody>
      </p:sp>
      <p:sp>
        <p:nvSpPr>
          <p:cNvPr id="21" name="Rectangle 20"/>
          <p:cNvSpPr/>
          <p:nvPr/>
        </p:nvSpPr>
        <p:spPr>
          <a:xfrm>
            <a:off x="457200" y="8432800"/>
            <a:ext cx="6642100" cy="1320800"/>
          </a:xfrm>
          <a:prstGeom prst="rect">
            <a:avLst/>
          </a:prstGeom>
          <a:solidFill>
            <a:srgbClr val="FFFFFF"/>
          </a:solidFill>
          <a:ln w="9525">
            <a:solidFill>
              <a:srgbClr val="C5D6E8"/>
            </a:solidFill>
          </a:ln>
        </p:spPr>
        <p:txBody>
          <a:bodyPr rtlCol="0" anchor="ctr"/>
          <a:lstStyle/>
          <a:p>
            <a:pPr algn="ctr"/>
          </a:p>
        </p:txBody>
      </p:sp>
      <p:pic>
        <p:nvPicPr>
          <p:cNvPr id="22" name="Picture 21" descr="_c_pipecutter_140_44.png"/>
          <p:cNvPicPr>
            <a:picLocks noChangeAspect="1"/>
          </p:cNvPicPr>
          <p:nvPr/>
        </p:nvPicPr>
        <p:blipFill>
          <a:blip r:embed="rId5"/>
          <a:stretch>
            <a:fillRect/>
          </a:stretch>
        </p:blipFill>
        <p:spPr>
          <a:xfrm>
            <a:off x="558800" y="8813800"/>
            <a:ext cx="1778000" cy="558800"/>
          </a:xfrm>
          <a:prstGeom prst="rect">
            <a:avLst/>
          </a:prstGeom>
        </p:spPr>
      </p:pic>
      <p:sp>
        <p:nvSpPr>
          <p:cNvPr id="23" name="TextBox 22"/>
          <p:cNvSpPr txBox="1"/>
          <p:nvPr/>
        </p:nvSpPr>
        <p:spPr>
          <a:xfrm>
            <a:off x="2489200" y="8534400"/>
            <a:ext cx="4445000" cy="127000"/>
          </a:xfrm>
          <a:prstGeom prst="rect">
            <a:avLst/>
          </a:prstGeom>
          <a:noFill/>
        </p:spPr>
        <p:txBody>
          <a:bodyPr wrap="square" lIns="0" rIns="0" tIns="0" bIns="0" anchor="t">
            <a:spAutoFit/>
          </a:bodyPr>
          <a:lstStyle/>
          <a:p>
            <a:pPr algn="l">
              <a:lnSpc>
                <a:spcPts val="950"/>
              </a:lnSpc>
              <a:spcAft>
                <a:spcPts val="0"/>
              </a:spcAft>
            </a:pPr>
            <a:r>
              <a:rPr sz="860" b="1" i="0" lang="fr-FR">
                <a:solidFill>
                  <a:srgbClr val="194E9A"/>
                </a:solidFill>
                <a:latin typeface="Ubuntu Mono"/>
                <a:ea typeface="Ubuntu Mono"/>
                <a:cs typeface="Ubuntu Mono"/>
                <a:sym typeface="Ubuntu Mono"/>
              </a:rPr>
              <a:t>COUPE-TUBE HYDRAULIQUE</a:t>
            </a:r>
          </a:p>
          <a:p>
            <a:pPr algn="l">
              <a:lnSpc>
                <a:spcPts val="950"/>
              </a:lnSpc>
              <a:spcAft>
                <a:spcPts val="0"/>
              </a:spcAft>
            </a:pPr>
            <a:r>
              <a:rPr sz="690" b="0" i="0" lang="fr-FR">
                <a:solidFill>
                  <a:srgbClr val="5A6B7F"/>
                </a:solidFill>
                <a:latin typeface="Ubuntu Mono"/>
                <a:ea typeface="Ubuntu Mono"/>
                <a:cs typeface="Ubuntu Mono"/>
                <a:sym typeface="Ubuntu Mono"/>
              </a:rPr>
              <a:t>Fiche technique disponible</a:t>
            </a:r>
          </a:p>
        </p:txBody>
      </p:sp>
      <p:sp>
        <p:nvSpPr>
          <p:cNvPr id="24" name="TextBox 23"/>
          <p:cNvSpPr txBox="1"/>
          <p:nvPr/>
        </p:nvSpPr>
        <p:spPr>
          <a:xfrm>
            <a:off x="2489200" y="8813800"/>
            <a:ext cx="4445000" cy="127000"/>
          </a:xfrm>
          <a:prstGeom prst="rect">
            <a:avLst/>
          </a:prstGeom>
          <a:noFill/>
        </p:spPr>
        <p:txBody>
          <a:bodyPr wrap="square" lIns="0" rIns="0" tIns="0" bIns="0" anchor="t">
            <a:spAutoFit/>
          </a:bodyPr>
          <a:lstStyle/>
          <a:p>
            <a:pPr algn="l">
              <a:lnSpc>
                <a:spcPts val="880"/>
              </a:lnSpc>
              <a:spcAft>
                <a:spcPts val="240"/>
              </a:spcAft>
            </a:pPr>
            <a:r>
              <a:rPr sz="510" b="0" i="0" lang="fr-FR">
                <a:solidFill>
                  <a:srgbClr val="1CB2FE"/>
                </a:solidFill>
                <a:latin typeface="Ubuntu Mono"/>
                <a:ea typeface="Ubuntu Mono"/>
                <a:cs typeface="Ubuntu Mono"/>
                <a:sym typeface="Ubuntu Mono"/>
              </a:rPr>
              <a:t>■ </a:t>
            </a:r>
            <a:r>
              <a:rPr sz="690" b="0" i="0" lang="fr-FR">
                <a:solidFill>
                  <a:srgbClr val="0B1B2E"/>
                </a:solidFill>
                <a:latin typeface="Ubuntu Mono"/>
                <a:ea typeface="Ubuntu Mono"/>
                <a:cs typeface="Ubuntu Mono"/>
                <a:sym typeface="Ubuntu Mono"/>
              </a:rPr>
              <a:t>Coupe-tube hydraulique interne pour un ou plusieurs tubages concentriques ou excentrés.</a:t>
            </a:r>
          </a:p>
          <a:p>
            <a:pPr algn="l">
              <a:lnSpc>
                <a:spcPts val="880"/>
              </a:lnSpc>
              <a:spcAft>
                <a:spcPts val="240"/>
              </a:spcAft>
            </a:pPr>
            <a:r>
              <a:rPr sz="510" b="0" i="0" lang="fr-FR">
                <a:solidFill>
                  <a:srgbClr val="1CB2FE"/>
                </a:solidFill>
                <a:latin typeface="Ubuntu Mono"/>
                <a:ea typeface="Ubuntu Mono"/>
                <a:cs typeface="Ubuntu Mono"/>
                <a:sym typeface="Ubuntu Mono"/>
              </a:rPr>
              <a:t>■ </a:t>
            </a:r>
            <a:r>
              <a:rPr sz="690" b="0" i="0" lang="fr-FR">
                <a:solidFill>
                  <a:srgbClr val="0B1B2E"/>
                </a:solidFill>
                <a:latin typeface="Ubuntu Mono"/>
                <a:ea typeface="Ubuntu Mono"/>
                <a:cs typeface="Ubuntu Mono"/>
                <a:sym typeface="Ubuntu Mono"/>
              </a:rPr>
              <a:t>Utilisé surtout pour l'abandon de puits, lorsque les tubages sont cimentés et ne peuvent pas être coupés et extraits individuellement.</a:t>
            </a:r>
          </a:p>
          <a:p>
            <a:pPr algn="l">
              <a:lnSpc>
                <a:spcPts val="880"/>
              </a:lnSpc>
              <a:spcAft>
                <a:spcPts val="240"/>
              </a:spcAft>
            </a:pPr>
            <a:r>
              <a:rPr sz="510" b="0" i="0" lang="fr-FR">
                <a:solidFill>
                  <a:srgbClr val="1CB2FE"/>
                </a:solidFill>
                <a:latin typeface="Ubuntu Mono"/>
                <a:ea typeface="Ubuntu Mono"/>
                <a:cs typeface="Ubuntu Mono"/>
                <a:sym typeface="Ubuntu Mono"/>
              </a:rPr>
              <a:t>■ </a:t>
            </a:r>
            <a:r>
              <a:rPr sz="690" b="0" i="0" lang="fr-FR">
                <a:solidFill>
                  <a:srgbClr val="0B1B2E"/>
                </a:solidFill>
                <a:latin typeface="Ubuntu Mono"/>
                <a:ea typeface="Ubuntu Mono"/>
                <a:cs typeface="Ubuntu Mono"/>
                <a:sym typeface="Ubuntu Mono"/>
              </a:rPr>
              <a:t>Quatre diamètres d'outil (3-5/8", 5-3/4", 8-1/4", 11-3/4") pour couper des tubages de 4-1/2" à 36".</a:t>
            </a:r>
          </a:p>
          <a:p>
            <a:pPr algn="l">
              <a:lnSpc>
                <a:spcPts val="880"/>
              </a:lnSpc>
              <a:spcAft>
                <a:spcPts val="240"/>
              </a:spcAft>
            </a:pPr>
            <a:r>
              <a:rPr sz="510" b="0" i="0" lang="fr-FR">
                <a:solidFill>
                  <a:srgbClr val="1CB2FE"/>
                </a:solidFill>
                <a:latin typeface="Ubuntu Mono"/>
                <a:ea typeface="Ubuntu Mono"/>
                <a:cs typeface="Ubuntu Mono"/>
                <a:sym typeface="Ubuntu Mono"/>
              </a:rPr>
              <a:t>■ </a:t>
            </a:r>
            <a:r>
              <a:rPr sz="690" b="0" i="0" lang="fr-FR">
                <a:solidFill>
                  <a:srgbClr val="0B1B2E"/>
                </a:solidFill>
                <a:latin typeface="Ubuntu Mono"/>
                <a:ea typeface="Ubuntu Mono"/>
                <a:cs typeface="Ubuntu Mono"/>
                <a:sym typeface="Ubuntu Mono"/>
              </a:rPr>
              <a:t>Fonctionne jusqu'à 400 L/min et 35 - 60 bar. Couteaux : standard, rechargés ou carbure.</a:t>
            </a:r>
          </a:p>
        </p:txBody>
      </p:sp>
      <p:sp>
        <p:nvSpPr>
          <p:cNvPr id="25" name="Rectangle 24"/>
          <p:cNvSpPr/>
          <p:nvPr/>
        </p:nvSpPr>
        <p:spPr>
          <a:xfrm>
            <a:off x="457200" y="9855200"/>
            <a:ext cx="6642100" cy="508000"/>
          </a:xfrm>
          <a:prstGeom prst="rect">
            <a:avLst/>
          </a:prstGeom>
          <a:solidFill>
            <a:srgbClr val="194E9A"/>
          </a:solidFill>
          <a:ln>
            <a:noFill/>
          </a:ln>
        </p:spPr>
        <p:txBody>
          <a:bodyPr rtlCol="0" anchor="ctr"/>
          <a:lstStyle/>
          <a:p>
            <a:pPr algn="ctr"/>
          </a:p>
        </p:txBody>
      </p:sp>
      <p:sp>
        <p:nvSpPr>
          <p:cNvPr id="26" name="TextBox 25"/>
          <p:cNvSpPr txBox="1"/>
          <p:nvPr/>
        </p:nvSpPr>
        <p:spPr>
          <a:xfrm>
            <a:off x="635000" y="9855200"/>
            <a:ext cx="6286500" cy="508000"/>
          </a:xfrm>
          <a:prstGeom prst="rect">
            <a:avLst/>
          </a:prstGeom>
          <a:noFill/>
        </p:spPr>
        <p:txBody>
          <a:bodyPr wrap="square" lIns="0" rIns="0" tIns="0" bIns="0" anchor="ctr">
            <a:spAutoFit/>
          </a:bodyPr>
          <a:lstStyle/>
          <a:p>
            <a:pPr algn="l">
              <a:lnSpc>
                <a:spcPts val="1000"/>
              </a:lnSpc>
              <a:spcAft>
                <a:spcPts val="0"/>
              </a:spcAft>
            </a:pPr>
            <a:r>
              <a:rPr sz="740" b="1" i="0" lang="fr-FR">
                <a:solidFill>
                  <a:srgbClr val="1CB2FE"/>
                </a:solidFill>
                <a:latin typeface="Ubuntu Mono"/>
                <a:ea typeface="Ubuntu Mono"/>
                <a:cs typeface="Ubuntu Mono"/>
                <a:sym typeface="Ubuntu Mono"/>
              </a:rPr>
              <a:t>POUR DEMANDER UN DEVIS : </a:t>
            </a:r>
            <a:r>
              <a:rPr sz="740" b="0" i="0" lang="fr-FR">
                <a:solidFill>
                  <a:srgbClr val="FFFFFF"/>
                </a:solidFill>
                <a:latin typeface="Ubuntu Mono"/>
                <a:ea typeface="Ubuntu Mono"/>
                <a:cs typeface="Ubuntu Mono"/>
                <a:sym typeface="Ubuntu Mono"/>
              </a:rPr>
              <a:t>précisez le type d'outil, la taille ou la série, les connexions haut et bas, et l'opération prévue (coupe et extraction, alésage, fraisage...). Location ou achat.</a:t>
            </a:r>
          </a:p>
        </p:txBody>
      </p:sp>
      <p:sp>
        <p:nvSpPr>
          <p:cNvPr id="27" name="Rectangle 26"/>
          <p:cNvSpPr/>
          <p:nvPr/>
        </p:nvSpPr>
        <p:spPr>
          <a:xfrm>
            <a:off x="457200" y="10388600"/>
            <a:ext cx="6642100" cy="10160"/>
          </a:xfrm>
          <a:prstGeom prst="rect">
            <a:avLst/>
          </a:prstGeom>
          <a:solidFill>
            <a:srgbClr val="B9CCE0"/>
          </a:solidFill>
          <a:ln>
            <a:noFill/>
          </a:ln>
        </p:spPr>
        <p:txBody>
          <a:bodyPr rtlCol="0" anchor="ctr"/>
          <a:lstStyle/>
          <a:p>
            <a:pPr algn="ctr"/>
          </a:p>
        </p:txBody>
      </p:sp>
      <p:sp>
        <p:nvSpPr>
          <p:cNvPr id="28" name="TextBox 27"/>
          <p:cNvSpPr txBox="1"/>
          <p:nvPr/>
        </p:nvSpPr>
        <p:spPr>
          <a:xfrm>
            <a:off x="457200" y="10464800"/>
            <a:ext cx="5080000" cy="127000"/>
          </a:xfrm>
          <a:prstGeom prst="rect">
            <a:avLst/>
          </a:prstGeom>
          <a:noFill/>
        </p:spPr>
        <p:txBody>
          <a:bodyPr wrap="square" lIns="0" rIns="0" tIns="0" bIns="0" anchor="t">
            <a:spAutoFit/>
          </a:bodyPr>
          <a:lstStyle/>
          <a:p>
            <a:pPr algn="l">
              <a:spcAft>
                <a:spcPts val="0"/>
              </a:spcAft>
            </a:pPr>
            <a:r>
              <a:rPr sz="640" b="0" i="0" lang="fr-FR">
                <a:solidFill>
                  <a:srgbClr val="5A6B7F"/>
                </a:solidFill>
                <a:latin typeface="Ubuntu Mono"/>
                <a:ea typeface="Ubuntu Mono"/>
                <a:cs typeface="Ubuntu Mono"/>
                <a:sym typeface="Ubuntu Mono"/>
              </a:rPr>
              <a:t>Enedril · Fishing and Drilling Solutions · 3 avenue des Lacs, 64140 Lons (France) · info@enedril.fr · +33 (0)5 59 04 50 45</a:t>
            </a:r>
          </a:p>
        </p:txBody>
      </p:sp>
      <p:sp>
        <p:nvSpPr>
          <p:cNvPr id="29" name="TextBox 28"/>
          <p:cNvSpPr txBox="1"/>
          <p:nvPr/>
        </p:nvSpPr>
        <p:spPr>
          <a:xfrm>
            <a:off x="6604000" y="10464800"/>
            <a:ext cx="495300" cy="127000"/>
          </a:xfrm>
          <a:prstGeom prst="rect">
            <a:avLst/>
          </a:prstGeom>
          <a:noFill/>
        </p:spPr>
        <p:txBody>
          <a:bodyPr wrap="square" lIns="0" rIns="0" tIns="0" bIns="0" anchor="t">
            <a:spAutoFit/>
          </a:bodyPr>
          <a:lstStyle/>
          <a:p>
            <a:pPr algn="r">
              <a:spcAft>
                <a:spcPts val="0"/>
              </a:spcAft>
            </a:pPr>
            <a:r>
              <a:rPr sz="800" b="0" i="0" lang="fr-FR">
                <a:solidFill>
                  <a:srgbClr val="194E9A"/>
                </a:solidFill>
                <a:latin typeface="Ubuntu Mono"/>
                <a:ea typeface="Ubuntu Mono"/>
                <a:cs typeface="Ubuntu Mono"/>
                <a:sym typeface="Ubuntu Mon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56500" cy="10693400"/>
          </a:xfrm>
          <a:prstGeom prst="rect">
            <a:avLst/>
          </a:prstGeom>
          <a:solidFill>
            <a:srgbClr val="FFFFFF"/>
          </a:solidFill>
          <a:ln>
            <a:noFill/>
          </a:ln>
        </p:spPr>
        <p:txBody>
          <a:bodyPr rtlCol="0" anchor="ctr"/>
          <a:lstStyle/>
          <a:p>
            <a:pPr algn="ctr"/>
          </a:p>
        </p:txBody>
      </p:sp>
      <p:sp>
        <p:nvSpPr>
          <p:cNvPr id="3" name="Freeform 2"/>
          <p:cNvSpPr/>
          <p:nvPr/>
        </p:nvSpPr>
        <p:spPr>
          <a:xfrm>
            <a:off x="0" y="0"/>
            <a:ext cx="5207000" cy="6604000"/>
          </a:xfrm>
          <a:custGeom>
            <a:avLst/>
            <a:gdLst/>
            <a:ahLst/>
            <a:cxnLst/>
            <a:rect l="l" t="t" r="r" b="b"/>
            <a:pathLst>
              <a:path w="410" h="520">
                <a:moveTo>
                  <a:pt x="0" y="0"/>
                </a:moveTo>
                <a:lnTo>
                  <a:pt x="410" y="0"/>
                </a:lnTo>
                <a:lnTo>
                  <a:pt x="330" y="430"/>
                </a:lnTo>
                <a:lnTo>
                  <a:pt x="0" y="520"/>
                </a:lnTo>
                <a:close/>
              </a:path>
            </a:pathLst>
          </a:custGeom>
          <a:solidFill>
            <a:srgbClr val="0A4FA0"/>
          </a:solidFill>
          <a:ln>
            <a:noFill/>
          </a:ln>
        </p:spPr>
        <p:txBody>
          <a:bodyPr rtlCol="0" anchor="ctr"/>
          <a:lstStyle/>
          <a:p>
            <a:pPr algn="ctr"/>
          </a:p>
        </p:txBody>
      </p:sp>
      <p:sp>
        <p:nvSpPr>
          <p:cNvPr id="4" name="Freeform 3"/>
          <p:cNvSpPr/>
          <p:nvPr/>
        </p:nvSpPr>
        <p:spPr>
          <a:xfrm>
            <a:off x="4191000" y="0"/>
            <a:ext cx="3365500" cy="8890000"/>
          </a:xfrm>
          <a:custGeom>
            <a:avLst/>
            <a:gdLst/>
            <a:ahLst/>
            <a:cxnLst/>
            <a:rect l="l" t="t" r="r" b="b"/>
            <a:pathLst>
              <a:path w="265" h="700">
                <a:moveTo>
                  <a:pt x="80" y="0"/>
                </a:moveTo>
                <a:lnTo>
                  <a:pt x="265" y="0"/>
                </a:lnTo>
                <a:lnTo>
                  <a:pt x="265" y="700"/>
                </a:lnTo>
                <a:lnTo>
                  <a:pt x="0" y="430"/>
                </a:lnTo>
                <a:close/>
              </a:path>
            </a:pathLst>
          </a:custGeom>
          <a:solidFill>
            <a:srgbClr val="0F7FCB"/>
          </a:solidFill>
          <a:ln>
            <a:noFill/>
          </a:ln>
        </p:spPr>
        <p:txBody>
          <a:bodyPr rtlCol="0" anchor="ctr"/>
          <a:lstStyle/>
          <a:p>
            <a:pPr algn="ctr"/>
          </a:p>
        </p:txBody>
      </p:sp>
      <p:sp>
        <p:nvSpPr>
          <p:cNvPr id="5" name="Freeform 4"/>
          <p:cNvSpPr/>
          <p:nvPr/>
        </p:nvSpPr>
        <p:spPr>
          <a:xfrm>
            <a:off x="0" y="5461000"/>
            <a:ext cx="7556500" cy="5232400"/>
          </a:xfrm>
          <a:custGeom>
            <a:avLst/>
            <a:gdLst/>
            <a:ahLst/>
            <a:cxnLst/>
            <a:rect l="l" t="t" r="r" b="b"/>
            <a:pathLst>
              <a:path w="595" h="412">
                <a:moveTo>
                  <a:pt x="330" y="0"/>
                </a:moveTo>
                <a:lnTo>
                  <a:pt x="595" y="270"/>
                </a:lnTo>
                <a:lnTo>
                  <a:pt x="595" y="412"/>
                </a:lnTo>
                <a:lnTo>
                  <a:pt x="0" y="412"/>
                </a:lnTo>
                <a:lnTo>
                  <a:pt x="0" y="90"/>
                </a:lnTo>
                <a:close/>
              </a:path>
            </a:pathLst>
          </a:custGeom>
          <a:solidFill>
            <a:srgbClr val="2BAEF6"/>
          </a:solidFill>
          <a:ln>
            <a:noFill/>
          </a:ln>
        </p:spPr>
        <p:txBody>
          <a:bodyPr rtlCol="0" anchor="ctr"/>
          <a:lstStyle/>
          <a:p>
            <a:pPr algn="ctr"/>
          </a:p>
        </p:txBody>
      </p:sp>
      <p:cxnSp>
        <p:nvCxnSpPr>
          <p:cNvPr id="6" name="Connector 5"/>
          <p:cNvCxnSpPr/>
          <p:nvPr/>
        </p:nvCxnSpPr>
        <p:spPr>
          <a:xfrm flipV="1">
            <a:off x="4191000" y="0"/>
            <a:ext cx="1016000" cy="5461000"/>
          </a:xfrm>
          <a:prstGeom prst="line">
            <a:avLst/>
          </a:prstGeom>
          <a:ln w="114300">
            <a:solidFill>
              <a:srgbClr val="FFFFFF"/>
            </a:solidFill>
          </a:ln>
        </p:spPr>
      </p:cxnSp>
      <p:cxnSp>
        <p:nvCxnSpPr>
          <p:cNvPr id="7" name="Connector 6"/>
          <p:cNvCxnSpPr/>
          <p:nvPr/>
        </p:nvCxnSpPr>
        <p:spPr>
          <a:xfrm>
            <a:off x="4191000" y="5461000"/>
            <a:ext cx="3365500" cy="3429000"/>
          </a:xfrm>
          <a:prstGeom prst="line">
            <a:avLst/>
          </a:prstGeom>
          <a:ln w="114300">
            <a:solidFill>
              <a:srgbClr val="FFFFFF"/>
            </a:solidFill>
          </a:ln>
        </p:spPr>
      </p:cxnSp>
      <p:cxnSp>
        <p:nvCxnSpPr>
          <p:cNvPr id="8" name="Connector 7"/>
          <p:cNvCxnSpPr/>
          <p:nvPr/>
        </p:nvCxnSpPr>
        <p:spPr>
          <a:xfrm flipH="1">
            <a:off x="0" y="5461000"/>
            <a:ext cx="4191000" cy="1143000"/>
          </a:xfrm>
          <a:prstGeom prst="line">
            <a:avLst/>
          </a:prstGeom>
          <a:ln w="114300">
            <a:solidFill>
              <a:srgbClr val="FFFFFF"/>
            </a:solidFill>
          </a:ln>
        </p:spPr>
      </p:cxnSp>
      <p:pic>
        <p:nvPicPr>
          <p:cNvPr id="9" name="Picture 8" descr="logo_white.png"/>
          <p:cNvPicPr>
            <a:picLocks noChangeAspect="1"/>
          </p:cNvPicPr>
          <p:nvPr/>
        </p:nvPicPr>
        <p:blipFill>
          <a:blip r:embed="rId2"/>
          <a:stretch>
            <a:fillRect/>
          </a:stretch>
        </p:blipFill>
        <p:spPr>
          <a:xfrm>
            <a:off x="457200" y="1066800"/>
            <a:ext cx="3429000" cy="778476"/>
          </a:xfrm>
          <a:prstGeom prst="rect">
            <a:avLst/>
          </a:prstGeom>
        </p:spPr>
      </p:pic>
      <p:sp>
        <p:nvSpPr>
          <p:cNvPr id="10" name="TextBox 9"/>
          <p:cNvSpPr txBox="1"/>
          <p:nvPr/>
        </p:nvSpPr>
        <p:spPr>
          <a:xfrm>
            <a:off x="457200" y="8890000"/>
            <a:ext cx="5334000" cy="127000"/>
          </a:xfrm>
          <a:prstGeom prst="rect">
            <a:avLst/>
          </a:prstGeom>
          <a:noFill/>
        </p:spPr>
        <p:txBody>
          <a:bodyPr wrap="square" lIns="0" rIns="0" tIns="0" bIns="0" anchor="t">
            <a:spAutoFit/>
          </a:bodyPr>
          <a:lstStyle/>
          <a:p>
            <a:pPr algn="l">
              <a:lnSpc>
                <a:spcPts val="1500"/>
              </a:lnSpc>
              <a:spcAft>
                <a:spcPts val="0"/>
              </a:spcAft>
            </a:pPr>
            <a:r>
              <a:rPr sz="1100" b="1" i="0" lang="fr-FR">
                <a:solidFill>
                  <a:srgbClr val="FFFFFF"/>
                </a:solidFill>
                <a:latin typeface="Ubuntu Mono"/>
                <a:ea typeface="Ubuntu Mono"/>
                <a:cs typeface="Ubuntu Mono"/>
                <a:sym typeface="Ubuntu Mono"/>
              </a:rPr>
              <a:t>Enedril</a:t>
            </a:r>
          </a:p>
          <a:p>
            <a:pPr algn="l">
              <a:lnSpc>
                <a:spcPts val="1500"/>
              </a:lnSpc>
              <a:spcAft>
                <a:spcPts val="0"/>
              </a:spcAft>
            </a:pPr>
            <a:r>
              <a:rPr sz="1000" b="0" i="0" lang="fr-FR">
                <a:solidFill>
                  <a:srgbClr val="FFFFFF"/>
                </a:solidFill>
                <a:latin typeface="Ubuntu Mono"/>
                <a:ea typeface="Ubuntu Mono"/>
                <a:cs typeface="Ubuntu Mono"/>
                <a:sym typeface="Ubuntu Mono"/>
              </a:rPr>
              <a:t>3, avenue des Lacs</a:t>
            </a:r>
          </a:p>
          <a:p>
            <a:pPr algn="l">
              <a:lnSpc>
                <a:spcPts val="1500"/>
              </a:lnSpc>
              <a:spcAft>
                <a:spcPts val="0"/>
              </a:spcAft>
            </a:pPr>
            <a:r>
              <a:rPr sz="1000" b="0" i="0" lang="fr-FR">
                <a:solidFill>
                  <a:srgbClr val="FFFFFF"/>
                </a:solidFill>
                <a:latin typeface="Ubuntu Mono"/>
                <a:ea typeface="Ubuntu Mono"/>
                <a:cs typeface="Ubuntu Mono"/>
                <a:sym typeface="Ubuntu Mono"/>
              </a:rPr>
              <a:t>64140 Lons (FRANCE)</a:t>
            </a:r>
          </a:p>
          <a:p>
            <a:pPr algn="l">
              <a:lnSpc>
                <a:spcPts val="1500"/>
              </a:lnSpc>
              <a:spcAft>
                <a:spcPts val="0"/>
              </a:spcAft>
            </a:pPr>
            <a:r>
              <a:rPr sz="1000" b="0" i="0" lang="fr-FR">
                <a:solidFill>
                  <a:srgbClr val="FFFFFF"/>
                </a:solidFill>
                <a:latin typeface="Ubuntu Mono"/>
                <a:ea typeface="Ubuntu Mono"/>
                <a:cs typeface="Ubuntu Mono"/>
                <a:sym typeface="Ubuntu Mono"/>
              </a:rPr>
              <a:t>info@enedril.fr</a:t>
            </a:r>
          </a:p>
          <a:p>
            <a:pPr algn="l">
              <a:lnSpc>
                <a:spcPts val="1500"/>
              </a:lnSpc>
              <a:spcAft>
                <a:spcPts val="0"/>
              </a:spcAft>
            </a:pPr>
            <a:r>
              <a:rPr sz="1000" b="0" i="0" lang="fr-FR">
                <a:solidFill>
                  <a:srgbClr val="FFFFFF"/>
                </a:solidFill>
                <a:latin typeface="Ubuntu Mono"/>
                <a:ea typeface="Ubuntu Mono"/>
                <a:cs typeface="Ubuntu Mono"/>
                <a:sym typeface="Ubuntu Mono"/>
              </a:rPr>
              <a:t>+33 (0)5 59 04 50 45</a:t>
            </a:r>
          </a:p>
          <a:p>
            <a:pPr algn="l">
              <a:lnSpc>
                <a:spcPts val="1500"/>
              </a:lnSpc>
              <a:spcAft>
                <a:spcPts val="0"/>
              </a:spcAft>
            </a:pPr>
            <a:r>
              <a:rPr sz="1000" b="0" i="0" lang="fr-FR">
                <a:solidFill>
                  <a:srgbClr val="FFFFFF"/>
                </a:solidFill>
                <a:latin typeface="Ubuntu Mono"/>
                <a:ea typeface="Ubuntu Mono"/>
                <a:cs typeface="Ubuntu Mono"/>
                <a:sym typeface="Ubuntu Mono"/>
              </a:rPr>
              <a:t>www.enedril.com</a:t>
            </a:r>
          </a:p>
        </p:txBody>
      </p:sp>
      <p:sp>
        <p:nvSpPr>
          <p:cNvPr id="11" name="TextBox 10"/>
          <p:cNvSpPr txBox="1"/>
          <p:nvPr/>
        </p:nvSpPr>
        <p:spPr>
          <a:xfrm>
            <a:off x="457200" y="10236200"/>
            <a:ext cx="5715000" cy="127000"/>
          </a:xfrm>
          <a:prstGeom prst="rect">
            <a:avLst/>
          </a:prstGeom>
          <a:noFill/>
        </p:spPr>
        <p:txBody>
          <a:bodyPr wrap="square" lIns="0" rIns="0" tIns="0" bIns="0" anchor="t">
            <a:spAutoFit/>
          </a:bodyPr>
          <a:lstStyle/>
          <a:p>
            <a:pPr algn="l">
              <a:spcAft>
                <a:spcPts val="0"/>
              </a:spcAft>
            </a:pPr>
            <a:r>
              <a:rPr sz="800" b="1" i="0" lang="fr-FR">
                <a:solidFill>
                  <a:srgbClr val="194E9A"/>
                </a:solidFill>
                <a:latin typeface="Ubuntu Mono"/>
                <a:ea typeface="Ubuntu Mono"/>
                <a:cs typeface="Ubuntu Mono"/>
                <a:sym typeface="Ubuntu Mono"/>
              </a:rPr>
              <a:t>Intervention fishing sous 24/48 h partout en France métropolitaine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