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7556500" cy="10693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56500" cy="4191000"/>
          </a:xfrm>
          <a:prstGeom prst="rect">
            <a:avLst/>
          </a:prstGeom>
          <a:solidFill>
            <a:srgbClr val="194E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" name="Picture 2" descr="_c_rig_265_3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0" y="0"/>
            <a:ext cx="3365500" cy="4191000"/>
          </a:xfrm>
          <a:prstGeom prst="rect">
            <a:avLst/>
          </a:prstGeom>
        </p:spPr>
      </p:pic>
      <p:pic>
        <p:nvPicPr>
          <p:cNvPr id="4" name="Picture 3" descr="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31800"/>
            <a:ext cx="1905000" cy="43248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270000"/>
            <a:ext cx="38100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00"/>
              </a:lnSpc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DRILLING SERVICES
&amp; DOWNHOLE TOOLS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33600"/>
            <a:ext cx="34290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50"/>
              </a:lnSpc>
              <a:spcAft>
                <a:spcPts val="400"/>
              </a:spcAft>
            </a:pPr>
            <a:r>
              <a:rPr sz="1100" b="1" i="0">
                <a:solidFill>
                  <a:srgbClr val="1CB2FE"/>
                </a:solidFill>
                <a:latin typeface="Ubuntu Mono"/>
                <a:ea typeface="Ubuntu Mono"/>
                <a:cs typeface="Ubuntu Mono"/>
                <a:sym typeface="Ubuntu Mono"/>
              </a:rPr>
              <a:t>From shallow to deep wells</a:t>
            </a:r>
          </a:p>
          <a:p>
            <a:pPr algn="l">
              <a:lnSpc>
                <a:spcPts val="1150"/>
              </a:lnSpc>
              <a:spcAft>
                <a:spcPts val="400"/>
              </a:spcAft>
            </a:pPr>
            <a:r>
              <a:rPr sz="840" b="0" i="0">
                <a:solidFill>
                  <a:srgbClr val="DCE9F6"/>
                </a:solidFill>
                <a:latin typeface="Ubuntu Mono"/>
                <a:ea typeface="Ubuntu Mono"/>
                <a:cs typeface="Ubuntu Mono"/>
                <a:sym typeface="Ubuntu Mono"/>
              </a:rPr>
              <a:t>Directional drilling, fishing, workover and plug &amp; abandonment for geothermal, oil &amp; gas, underground gas storage and water wells.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327400"/>
            <a:ext cx="38100" cy="660400"/>
          </a:xfrm>
          <a:prstGeom prst="rect">
            <a:avLst/>
          </a:prstGeom>
          <a:solidFill>
            <a:srgbClr val="1CB2F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4200" y="3327400"/>
            <a:ext cx="31750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00"/>
              </a:lnSpc>
              <a:spcAft>
                <a:spcPts val="0"/>
              </a:spcAft>
            </a:pPr>
            <a:r>
              <a:rPr sz="800" b="0" i="0">
                <a:solidFill>
                  <a:srgbClr val="DCE9F6"/>
                </a:solidFill>
                <a:latin typeface="Ubuntu Mono"/>
                <a:ea typeface="Ubuntu Mono"/>
                <a:cs typeface="Ubuntu Mono"/>
                <a:sym typeface="Ubuntu Mono"/>
              </a:rPr>
              <a:t>Independent French company, founded in 2013 and based in Lons, near Pau. ISO 9001 certified.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5524500" y="3708400"/>
            <a:ext cx="2032000" cy="508000"/>
          </a:xfrm>
          <a:prstGeom prst="rect">
            <a:avLst/>
          </a:prstGeom>
          <a:solidFill>
            <a:srgbClr val="1CB2F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26100" y="3771900"/>
            <a:ext cx="18796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00"/>
              </a:lnSpc>
              <a:spcAft>
                <a:spcPts val="0"/>
              </a:spcAft>
            </a:pPr>
            <a:r>
              <a:rPr sz="880" b="1" i="0">
                <a:solidFill>
                  <a:srgbClr val="194E9A"/>
                </a:solidFill>
                <a:latin typeface="Ubuntu Mono"/>
                <a:ea typeface="Ubuntu Mono"/>
                <a:cs typeface="Ubuntu Mono"/>
                <a:sym typeface="Ubuntu Mono"/>
              </a:rPr>
              <a:t>WATER WELLS TOO</a:t>
            </a:r>
          </a:p>
          <a:p>
            <a:pPr algn="l">
              <a:lnSpc>
                <a:spcPts val="1000"/>
              </a:lnSpc>
              <a:spcAft>
                <a:spcPts val="0"/>
              </a:spcAft>
            </a:pPr>
            <a:r>
              <a:rPr sz="740" b="0" i="0">
                <a:solidFill>
                  <a:srgbClr val="194E9A"/>
                </a:solidFill>
                <a:latin typeface="Ubuntu Mono"/>
                <a:ea typeface="Ubuntu Mono"/>
                <a:cs typeface="Ubuntu Mono"/>
                <a:sym typeface="Ubuntu Mono"/>
              </a:rPr>
              <a:t>Cut &amp; pull, reaming, milling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368800"/>
            <a:ext cx="1587500" cy="736600"/>
          </a:xfrm>
          <a:prstGeom prst="rect">
            <a:avLst/>
          </a:prstGeom>
          <a:solidFill>
            <a:srgbClr val="194E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4486656"/>
            <a:ext cx="15875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1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98,500 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3400" y="4778756"/>
            <a:ext cx="14351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</a:pPr>
            <a:r>
              <a:rPr sz="690" b="0" i="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drilled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20900" y="4368800"/>
            <a:ext cx="1587500" cy="736600"/>
          </a:xfrm>
          <a:prstGeom prst="rect">
            <a:avLst/>
          </a:prstGeom>
          <a:solidFill>
            <a:srgbClr val="0F7F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20900" y="4486656"/>
            <a:ext cx="15875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00"/>
              </a:lnSpc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60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7100" y="4829556"/>
            <a:ext cx="14351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</a:pPr>
            <a:r>
              <a:rPr sz="690" b="0" i="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wells, up to 3,000 m TVD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784600" y="4368800"/>
            <a:ext cx="1587500" cy="736600"/>
          </a:xfrm>
          <a:prstGeom prst="rect">
            <a:avLst/>
          </a:prstGeom>
          <a:solidFill>
            <a:srgbClr val="2BAE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84600" y="4486656"/>
            <a:ext cx="15875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00"/>
              </a:lnSpc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142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60800" y="4829556"/>
            <a:ext cx="14351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</a:pPr>
            <a:r>
              <a:rPr sz="690" b="0" i="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fishing, workover and P&amp;A jobs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48300" y="4368800"/>
            <a:ext cx="1651000" cy="736600"/>
          </a:xfrm>
          <a:prstGeom prst="rect">
            <a:avLst/>
          </a:prstGeom>
          <a:solidFill>
            <a:srgbClr val="194E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48300" y="4486656"/>
            <a:ext cx="16510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00"/>
              </a:lnSpc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2,500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24500" y="4829556"/>
            <a:ext cx="14986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</a:pPr>
            <a:r>
              <a:rPr sz="690" b="0" i="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tools in stock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334000"/>
            <a:ext cx="38100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CB2FE"/>
                </a:solidFill>
                <a:latin typeface="Ubuntu Mono"/>
                <a:ea typeface="Ubuntu Mono"/>
                <a:cs typeface="Ubuntu Mono"/>
                <a:sym typeface="Ubuntu Mono"/>
              </a:rPr>
              <a:t>OUR SERVICES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613400"/>
            <a:ext cx="3263900" cy="1016000"/>
          </a:xfrm>
          <a:prstGeom prst="rect">
            <a:avLst/>
          </a:prstGeom>
          <a:solidFill>
            <a:srgbClr val="194E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4200" y="5715000"/>
            <a:ext cx="30099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60"/>
              </a:lnSpc>
              <a:spcAft>
                <a:spcPts val="300"/>
              </a:spcAft>
            </a:pPr>
            <a:r>
              <a:rPr sz="880" b="1" i="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DIRECTIONAL DRILLING &amp; MWD</a:t>
            </a:r>
          </a:p>
          <a:p>
            <a:pPr algn="l">
              <a:lnSpc>
                <a:spcPts val="960"/>
              </a:lnSpc>
              <a:spcAft>
                <a:spcPts val="300"/>
              </a:spcAft>
            </a:pPr>
            <a:r>
              <a:rPr sz="730" b="0" i="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PDM motors 3-1/8" to 9-5/8", push and point-the-bit RSS, high-temperature MWD up to 200°C, in-house well planning.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835400" y="5613400"/>
            <a:ext cx="3263900" cy="1016000"/>
          </a:xfrm>
          <a:prstGeom prst="rect">
            <a:avLst/>
          </a:prstGeom>
          <a:solidFill>
            <a:srgbClr val="0F7F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962400" y="5715000"/>
            <a:ext cx="30099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60"/>
              </a:lnSpc>
              <a:spcAft>
                <a:spcPts val="300"/>
              </a:spcAft>
            </a:pPr>
            <a:r>
              <a:rPr sz="880" b="1" i="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FISHING</a:t>
            </a:r>
          </a:p>
          <a:p>
            <a:pPr algn="l">
              <a:lnSpc>
                <a:spcPts val="960"/>
              </a:lnSpc>
              <a:spcAft>
                <a:spcPts val="300"/>
              </a:spcAft>
            </a:pPr>
            <a:r>
              <a:rPr sz="730" b="0" i="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Recovery of rods, strings and stuck tools. Jars, overshots, spears, magnets, mills. Response within 24/48h.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6731000"/>
            <a:ext cx="3263900" cy="1016000"/>
          </a:xfrm>
          <a:prstGeom prst="rect">
            <a:avLst/>
          </a:prstGeom>
          <a:solidFill>
            <a:srgbClr val="2BAE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4200" y="6832600"/>
            <a:ext cx="30099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60"/>
              </a:lnSpc>
              <a:spcAft>
                <a:spcPts val="300"/>
              </a:spcAft>
            </a:pPr>
            <a:r>
              <a:rPr sz="880" b="1" i="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WORKOVER</a:t>
            </a:r>
          </a:p>
          <a:p>
            <a:pPr algn="l">
              <a:lnSpc>
                <a:spcPts val="960"/>
              </a:lnSpc>
              <a:spcAft>
                <a:spcPts val="300"/>
              </a:spcAft>
            </a:pPr>
            <a:r>
              <a:rPr sz="730" b="0" i="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Well restoration: section milling, wash over, casing repair, reaming and enlargement.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835400" y="6731000"/>
            <a:ext cx="3263900" cy="1016000"/>
          </a:xfrm>
          <a:prstGeom prst="rect">
            <a:avLst/>
          </a:prstGeom>
          <a:solidFill>
            <a:srgbClr val="194E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962400" y="6832600"/>
            <a:ext cx="30099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60"/>
              </a:lnSpc>
              <a:spcAft>
                <a:spcPts val="300"/>
              </a:spcAft>
            </a:pPr>
            <a:r>
              <a:rPr sz="880" b="1" i="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PLUG &amp; ABANDONMENT</a:t>
            </a:r>
          </a:p>
          <a:p>
            <a:pPr algn="l">
              <a:lnSpc>
                <a:spcPts val="960"/>
              </a:lnSpc>
              <a:spcAft>
                <a:spcPts val="300"/>
              </a:spcAft>
            </a:pPr>
            <a:r>
              <a:rPr sz="730" b="0" i="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Safe abandonment of wells with cutters, whipstocks, packers, bridge plugs and liner hangers.</a:t>
            </a:r>
          </a:p>
        </p:txBody>
      </p:sp>
      <p:pic>
        <p:nvPicPr>
          <p:cNvPr id="32" name="Picture 31" descr="_c_w2_82_11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7975600"/>
            <a:ext cx="1041400" cy="1422400"/>
          </a:xfrm>
          <a:prstGeom prst="rect">
            <a:avLst/>
          </a:prstGeom>
        </p:spPr>
      </p:pic>
      <p:pic>
        <p:nvPicPr>
          <p:cNvPr id="33" name="Picture 32" descr="_c_w1_82_11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74800" y="7975600"/>
            <a:ext cx="1041400" cy="14224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819400" y="7975600"/>
            <a:ext cx="42799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00"/>
              </a:lnSpc>
              <a:spcAft>
                <a:spcPts val="300"/>
              </a:spcAft>
            </a:pPr>
            <a:r>
              <a:rPr sz="1050" b="1" i="0">
                <a:solidFill>
                  <a:srgbClr val="194E9A"/>
                </a:solidFill>
                <a:latin typeface="Ubuntu Mono"/>
                <a:ea typeface="Ubuntu Mono"/>
                <a:cs typeface="Ubuntu Mono"/>
                <a:sym typeface="Ubuntu Mono"/>
              </a:rPr>
              <a:t>OWN WORKSHOP, CUSTOM TOOLS</a:t>
            </a:r>
          </a:p>
          <a:p>
            <a:pPr algn="l">
              <a:lnSpc>
                <a:spcPts val="1000"/>
              </a:lnSpc>
              <a:spcAft>
                <a:spcPts val="300"/>
              </a:spcAft>
            </a:pPr>
            <a:r>
              <a:rPr sz="760" b="0" i="0">
                <a:solidFill>
                  <a:srgbClr val="0B1B2E"/>
                </a:solidFill>
                <a:latin typeface="Ubuntu Mono"/>
                <a:ea typeface="Ubuntu Mono"/>
                <a:cs typeface="Ubuntu Mono"/>
                <a:sym typeface="Ubuntu Mono"/>
              </a:rPr>
              <a:t>Two workshops of more than 1,000 m² with a 5 t overhead crane, break-out unit, jar tester, lathe, milling and welding. Tools are inspected, repaired and redressed in-house. Custom tools are designed with an API 5 &amp; 7 certified machine shop, within tight deadlines.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819400" y="8966200"/>
            <a:ext cx="4279900" cy="431800"/>
          </a:xfrm>
          <a:prstGeom prst="rect">
            <a:avLst/>
          </a:prstGeom>
          <a:solidFill>
            <a:srgbClr val="EAF4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946400" y="8966200"/>
            <a:ext cx="4064000" cy="431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40" b="1" i="0">
                <a:solidFill>
                  <a:srgbClr val="194E9A"/>
                </a:solidFill>
                <a:latin typeface="Ubuntu Mono"/>
                <a:ea typeface="Ubuntu Mono"/>
                <a:cs typeface="Ubuntu Mono"/>
                <a:sym typeface="Ubuntu Mono"/>
              </a:rPr>
              <a:t>3,500 m² outdoor yard for tubulars, stabilizers and on-site containers.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9652000"/>
            <a:ext cx="6642100" cy="635000"/>
          </a:xfrm>
          <a:prstGeom prst="rect">
            <a:avLst/>
          </a:prstGeom>
          <a:solidFill>
            <a:srgbClr val="0F7F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5000" y="9702800"/>
            <a:ext cx="628650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00"/>
              </a:lnSpc>
              <a:spcAft>
                <a:spcPts val="200"/>
              </a:spcAft>
            </a:pPr>
            <a:r>
              <a:rPr sz="1000" b="1" i="1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"When you need us, it is already too late to look for us."</a:t>
            </a:r>
          </a:p>
          <a:p>
            <a:pPr algn="l">
              <a:lnSpc>
                <a:spcPts val="1100"/>
              </a:lnSpc>
              <a:spcAft>
                <a:spcPts val="200"/>
              </a:spcAft>
            </a:pPr>
            <a:r>
              <a:rPr sz="740" b="0" i="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Stock of 2,500 tools and teams ready to mobilise: fewer days of costly standby for your rig.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10388600"/>
            <a:ext cx="6642100" cy="10160"/>
          </a:xfrm>
          <a:prstGeom prst="rect">
            <a:avLst/>
          </a:prstGeom>
          <a:solidFill>
            <a:srgbClr val="B9CC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10464800"/>
            <a:ext cx="50800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40" b="0" i="0">
                <a:solidFill>
                  <a:srgbClr val="5A6B7F"/>
                </a:solidFill>
                <a:latin typeface="Ubuntu Mono"/>
                <a:ea typeface="Ubuntu Mono"/>
                <a:cs typeface="Ubuntu Mono"/>
                <a:sym typeface="Ubuntu Mono"/>
              </a:rPr>
              <a:t>Enedril · Fishing and Drilling Solutions · 3 avenue des lacs, 64140 Lons (France) · info@enedril.fr · +33 (0)5 59 04 50 45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0700" y="279400"/>
            <a:ext cx="1498600" cy="33611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558800"/>
            <a:ext cx="55880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00"/>
              </a:lnSpc>
              <a:spcAft>
                <a:spcPts val="0"/>
              </a:spcAft>
            </a:pPr>
            <a:r>
              <a:rPr sz="2700" b="1" i="0">
                <a:solidFill>
                  <a:srgbClr val="1CB2FE"/>
                </a:solidFill>
                <a:latin typeface="Ubuntu Mono"/>
                <a:ea typeface="Ubuntu Mono"/>
                <a:cs typeface="Ubuntu Mono"/>
                <a:sym typeface="Ubuntu Mono"/>
              </a:rPr>
              <a:t>WHY ENEDRIL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68400"/>
            <a:ext cx="44450" cy="787400"/>
          </a:xfrm>
          <a:prstGeom prst="rect">
            <a:avLst/>
          </a:prstGeom>
          <a:solidFill>
            <a:srgbClr val="1CB2F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1168400"/>
            <a:ext cx="31115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9"/>
              </a:lnSpc>
              <a:spcAft>
                <a:spcPts val="300"/>
              </a:spcAft>
            </a:pPr>
            <a:r>
              <a:rPr sz="880" b="1" i="0">
                <a:solidFill>
                  <a:srgbClr val="194E9A"/>
                </a:solidFill>
                <a:latin typeface="Ubuntu Mono"/>
                <a:ea typeface="Ubuntu Mono"/>
                <a:cs typeface="Ubuntu Mono"/>
                <a:sym typeface="Ubuntu Mono"/>
              </a:rPr>
              <a:t>DEEP EXPERTISE, LIGHT WELLS TOO</a:t>
            </a:r>
          </a:p>
          <a:p>
            <a:pPr algn="l">
              <a:lnSpc>
                <a:spcPts val="1019"/>
              </a:lnSpc>
              <a:spcAft>
                <a:spcPts val="300"/>
              </a:spcAft>
            </a:pPr>
            <a:r>
              <a:rPr sz="760" b="0" i="0">
                <a:solidFill>
                  <a:srgbClr val="0B1B2E"/>
                </a:solidFill>
                <a:latin typeface="Ubuntu Mono"/>
                <a:ea typeface="Ubuntu Mono"/>
                <a:cs typeface="Ubuntu Mono"/>
                <a:sym typeface="Ubuntu Mono"/>
              </a:rPr>
              <a:t>Used to 3,000 m wells in oil &amp; gas and geothermal, we master shallow wells between 300 and 1,000 m just as well.</a:t>
            </a:r>
          </a:p>
        </p:txBody>
      </p:sp>
      <p:sp>
        <p:nvSpPr>
          <p:cNvPr id="6" name="Rectangle 5"/>
          <p:cNvSpPr/>
          <p:nvPr/>
        </p:nvSpPr>
        <p:spPr>
          <a:xfrm>
            <a:off x="3835400" y="1168400"/>
            <a:ext cx="44450" cy="787400"/>
          </a:xfrm>
          <a:prstGeom prst="rect">
            <a:avLst/>
          </a:prstGeom>
          <a:solidFill>
            <a:srgbClr val="1CB2F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987800" y="1168400"/>
            <a:ext cx="31115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9"/>
              </a:lnSpc>
              <a:spcAft>
                <a:spcPts val="300"/>
              </a:spcAft>
            </a:pPr>
            <a:r>
              <a:rPr sz="880" b="1" i="0">
                <a:solidFill>
                  <a:srgbClr val="194E9A"/>
                </a:solidFill>
                <a:latin typeface="Ubuntu Mono"/>
                <a:ea typeface="Ubuntu Mono"/>
                <a:cs typeface="Ubuntu Mono"/>
                <a:sym typeface="Ubuntu Mono"/>
              </a:rPr>
              <a:t>EMERGENCY RESPONSE 24/48H</a:t>
            </a:r>
          </a:p>
          <a:p>
            <a:pPr algn="l">
              <a:lnSpc>
                <a:spcPts val="1019"/>
              </a:lnSpc>
              <a:spcAft>
                <a:spcPts val="300"/>
              </a:spcAft>
            </a:pPr>
            <a:r>
              <a:rPr sz="760" b="0" i="0">
                <a:solidFill>
                  <a:srgbClr val="0B1B2E"/>
                </a:solidFill>
                <a:latin typeface="Ubuntu Mono"/>
                <a:ea typeface="Ubuntu Mono"/>
                <a:cs typeface="Ubuntu Mono"/>
                <a:sym typeface="Ubuntu Mono"/>
              </a:rPr>
              <a:t>Stuck tool, blocked string: our stock and our teams save you days of costly downtime.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108200"/>
            <a:ext cx="44450" cy="787400"/>
          </a:xfrm>
          <a:prstGeom prst="rect">
            <a:avLst/>
          </a:prstGeom>
          <a:solidFill>
            <a:srgbClr val="1CB2F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9600" y="2108200"/>
            <a:ext cx="31115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9"/>
              </a:lnSpc>
              <a:spcAft>
                <a:spcPts val="300"/>
              </a:spcAft>
            </a:pPr>
            <a:r>
              <a:rPr sz="880" b="1" i="0">
                <a:solidFill>
                  <a:srgbClr val="194E9A"/>
                </a:solidFill>
                <a:latin typeface="Ubuntu Mono"/>
                <a:ea typeface="Ubuntu Mono"/>
                <a:cs typeface="Ubuntu Mono"/>
                <a:sym typeface="Ubuntu Mono"/>
              </a:rPr>
              <a:t>TAILORED INTERVENTIONS</a:t>
            </a:r>
          </a:p>
          <a:p>
            <a:pPr algn="l">
              <a:lnSpc>
                <a:spcPts val="1019"/>
              </a:lnSpc>
              <a:spcAft>
                <a:spcPts val="300"/>
              </a:spcAft>
            </a:pPr>
            <a:r>
              <a:rPr sz="760" b="0" i="0">
                <a:solidFill>
                  <a:srgbClr val="0B1B2E"/>
                </a:solidFill>
                <a:latin typeface="Ubuntu Mono"/>
                <a:ea typeface="Ubuntu Mono"/>
                <a:cs typeface="Ubuntu Mono"/>
                <a:sym typeface="Ubuntu Mono"/>
              </a:rPr>
              <a:t>Every well is unique. We adapt BHA and procedures to your geology and your equipment.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35400" y="2108200"/>
            <a:ext cx="44450" cy="787400"/>
          </a:xfrm>
          <a:prstGeom prst="rect">
            <a:avLst/>
          </a:prstGeom>
          <a:solidFill>
            <a:srgbClr val="1CB2F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87800" y="2108200"/>
            <a:ext cx="31115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9"/>
              </a:lnSpc>
              <a:spcAft>
                <a:spcPts val="300"/>
              </a:spcAft>
            </a:pPr>
            <a:r>
              <a:rPr sz="880" b="1" i="0">
                <a:solidFill>
                  <a:srgbClr val="194E9A"/>
                </a:solidFill>
                <a:latin typeface="Ubuntu Mono"/>
                <a:ea typeface="Ubuntu Mono"/>
                <a:cs typeface="Ubuntu Mono"/>
                <a:sym typeface="Ubuntu Mono"/>
              </a:rPr>
              <a:t>ONE CONTACT, START TO FINISH</a:t>
            </a:r>
          </a:p>
          <a:p>
            <a:pPr algn="l">
              <a:lnSpc>
                <a:spcPts val="1019"/>
              </a:lnSpc>
              <a:spcAft>
                <a:spcPts val="300"/>
              </a:spcAft>
            </a:pPr>
            <a:r>
              <a:rPr sz="760" b="0" i="0">
                <a:solidFill>
                  <a:srgbClr val="0B1B2E"/>
                </a:solidFill>
                <a:latin typeface="Ubuntu Mono"/>
                <a:ea typeface="Ubuntu Mono"/>
                <a:cs typeface="Ubuntu Mono"/>
                <a:sym typeface="Ubuntu Mono"/>
              </a:rPr>
              <a:t>From diagnosis to resolution, a dedicated team follows your job. ISO 9001 certified.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200400"/>
            <a:ext cx="6642100" cy="2413000"/>
          </a:xfrm>
          <a:prstGeom prst="rect">
            <a:avLst/>
          </a:prstGeom>
          <a:solidFill>
            <a:srgbClr val="EAF4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3200400"/>
            <a:ext cx="76200" cy="2413000"/>
          </a:xfrm>
          <a:prstGeom prst="rect">
            <a:avLst/>
          </a:prstGeom>
          <a:solidFill>
            <a:srgbClr val="1CB2F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327400"/>
            <a:ext cx="50800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94E9A"/>
                </a:solidFill>
                <a:latin typeface="Ubuntu Mono"/>
                <a:ea typeface="Ubuntu Mono"/>
                <a:cs typeface="Ubuntu Mono"/>
                <a:sym typeface="Ubuntu Mono"/>
              </a:rPr>
              <a:t>WATER WELLS: CUT &amp; PULL, REAMING, MILLING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556000"/>
            <a:ext cx="62230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0"/>
              </a:lnSpc>
              <a:spcAft>
                <a:spcPts val="0"/>
              </a:spcAft>
            </a:pPr>
            <a:r>
              <a:rPr sz="780" b="0" i="0">
                <a:solidFill>
                  <a:srgbClr val="0B1B2E"/>
                </a:solidFill>
                <a:latin typeface="Ubuntu Mono"/>
                <a:ea typeface="Ubuntu Mono"/>
                <a:cs typeface="Ubuntu Mono"/>
                <a:sym typeface="Ubuntu Mono"/>
              </a:rPr>
              <a:t>Our solutions are fully suited to water wells, typically between 300 and 1,000 m. We support drilling contractors when a job goes wrong or when a well must be restored or enlarged.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4089400"/>
            <a:ext cx="1955800" cy="1117600"/>
          </a:xfrm>
          <a:prstGeom prst="rect">
            <a:avLst/>
          </a:prstGeom>
          <a:solidFill>
            <a:srgbClr val="FFFFFF"/>
          </a:solidFill>
          <a:ln w="9525">
            <a:solidFill>
              <a:srgbClr val="C5D6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7400" y="4178300"/>
            <a:ext cx="17526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00"/>
              </a:lnSpc>
              <a:spcAft>
                <a:spcPts val="200"/>
              </a:spcAft>
            </a:pPr>
            <a:r>
              <a:rPr sz="880" b="1" i="0">
                <a:solidFill>
                  <a:srgbClr val="0F7FCB"/>
                </a:solidFill>
                <a:latin typeface="Ubuntu Mono"/>
                <a:ea typeface="Ubuntu Mono"/>
                <a:cs typeface="Ubuntu Mono"/>
                <a:sym typeface="Ubuntu Mono"/>
              </a:rPr>
              <a:t>CUT &amp; PULL</a:t>
            </a:r>
          </a:p>
          <a:p>
            <a:pPr algn="l">
              <a:lnSpc>
                <a:spcPts val="900"/>
              </a:lnSpc>
              <a:spcAft>
                <a:spcPts val="200"/>
              </a:spcAft>
            </a:pPr>
            <a:r>
              <a:rPr sz="700" b="0" i="0">
                <a:solidFill>
                  <a:srgbClr val="0B1B2E"/>
                </a:solidFill>
                <a:latin typeface="Ubuntu Mono"/>
                <a:ea typeface="Ubuntu Mono"/>
                <a:cs typeface="Ubuntu Mono"/>
                <a:sym typeface="Ubuntu Mono"/>
              </a:rPr>
              <a:t>Hydraulic and external pipe cutters, spears and overshots to cut and recover casing, tubing or stuck strings.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0" y="4089400"/>
            <a:ext cx="1955800" cy="1117600"/>
          </a:xfrm>
          <a:prstGeom prst="rect">
            <a:avLst/>
          </a:prstGeom>
          <a:solidFill>
            <a:srgbClr val="FFFFFF"/>
          </a:solidFill>
          <a:ln w="9525">
            <a:solidFill>
              <a:srgbClr val="C5D6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44800" y="4178300"/>
            <a:ext cx="17526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00"/>
              </a:lnSpc>
              <a:spcAft>
                <a:spcPts val="200"/>
              </a:spcAft>
            </a:pPr>
            <a:r>
              <a:rPr sz="880" b="1" i="0">
                <a:solidFill>
                  <a:srgbClr val="0F7FCB"/>
                </a:solidFill>
                <a:latin typeface="Ubuntu Mono"/>
                <a:ea typeface="Ubuntu Mono"/>
                <a:cs typeface="Ubuntu Mono"/>
                <a:sym typeface="Ubuntu Mono"/>
              </a:rPr>
              <a:t>REAMING</a:t>
            </a:r>
          </a:p>
          <a:p>
            <a:pPr algn="l">
              <a:lnSpc>
                <a:spcPts val="900"/>
              </a:lnSpc>
              <a:spcAft>
                <a:spcPts val="200"/>
              </a:spcAft>
            </a:pPr>
            <a:r>
              <a:rPr sz="700" b="0" i="0">
                <a:solidFill>
                  <a:srgbClr val="0B1B2E"/>
                </a:solidFill>
                <a:latin typeface="Ubuntu Mono"/>
                <a:ea typeface="Ubuntu Mono"/>
                <a:cs typeface="Ubuntu Mono"/>
                <a:sym typeface="Ubuntu Mono"/>
              </a:rPr>
              <a:t>Rotary and directional underreamers, hole openers, roller reamers and SPX drag-type underreamers.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00600" y="4089400"/>
            <a:ext cx="1955800" cy="1117600"/>
          </a:xfrm>
          <a:prstGeom prst="rect">
            <a:avLst/>
          </a:prstGeom>
          <a:solidFill>
            <a:srgbClr val="FFFFFF"/>
          </a:solidFill>
          <a:ln w="9525">
            <a:solidFill>
              <a:srgbClr val="C5D6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02200" y="4178300"/>
            <a:ext cx="17526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00"/>
              </a:lnSpc>
              <a:spcAft>
                <a:spcPts val="200"/>
              </a:spcAft>
            </a:pPr>
            <a:r>
              <a:rPr sz="880" b="1" i="0">
                <a:solidFill>
                  <a:srgbClr val="0F7FCB"/>
                </a:solidFill>
                <a:latin typeface="Ubuntu Mono"/>
                <a:ea typeface="Ubuntu Mono"/>
                <a:cs typeface="Ubuntu Mono"/>
                <a:sym typeface="Ubuntu Mono"/>
              </a:rPr>
              <a:t>MILLING</a:t>
            </a:r>
          </a:p>
          <a:p>
            <a:pPr algn="l">
              <a:lnSpc>
                <a:spcPts val="900"/>
              </a:lnSpc>
              <a:spcAft>
                <a:spcPts val="200"/>
              </a:spcAft>
            </a:pPr>
            <a:r>
              <a:rPr sz="700" b="0" i="0">
                <a:solidFill>
                  <a:srgbClr val="0B1B2E"/>
                </a:solidFill>
                <a:latin typeface="Ubuntu Mono"/>
                <a:ea typeface="Ubuntu Mono"/>
                <a:cs typeface="Ubuntu Mono"/>
                <a:sym typeface="Ubuntu Mono"/>
              </a:rPr>
              <a:t>Junk mills, pilot and taper mills, section mills and washover shoes.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308600"/>
            <a:ext cx="62230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40" b="1" i="0">
                <a:solidFill>
                  <a:srgbClr val="194E9A"/>
                </a:solidFill>
                <a:latin typeface="Ubuntu Mono"/>
                <a:ea typeface="Ubuntu Mono"/>
                <a:cs typeface="Ubuntu Mono"/>
                <a:sym typeface="Ubuntu Mono"/>
              </a:rPr>
              <a:t>Mobilisation within 24/48h across metropolitan France · 2,500 tools in stock · BHA and procedures adapted to your geology.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816600"/>
            <a:ext cx="66421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0"/>
              </a:lnSpc>
              <a:spcAft>
                <a:spcPts val="300"/>
              </a:spcAft>
            </a:pPr>
            <a:r>
              <a:rPr sz="1200" b="1" i="0">
                <a:solidFill>
                  <a:srgbClr val="194E9A"/>
                </a:solidFill>
                <a:latin typeface="Ubuntu Mono"/>
                <a:ea typeface="Ubuntu Mono"/>
                <a:cs typeface="Ubuntu Mono"/>
                <a:sym typeface="Ubuntu Mono"/>
              </a:rPr>
              <a:t>A TEAM OF 33</a:t>
            </a:r>
          </a:p>
          <a:p>
            <a:pPr algn="l">
              <a:lnSpc>
                <a:spcPts val="1040"/>
              </a:lnSpc>
              <a:spcAft>
                <a:spcPts val="300"/>
              </a:spcAft>
            </a:pPr>
            <a:r>
              <a:rPr sz="780" b="0" i="0">
                <a:solidFill>
                  <a:srgbClr val="0B1B2E"/>
                </a:solidFill>
                <a:latin typeface="Ubuntu Mono"/>
                <a:ea typeface="Ubuntu Mono"/>
                <a:cs typeface="Ubuntu Mono"/>
                <a:sym typeface="Ubuntu Mono"/>
              </a:rPr>
              <a:t>Directional Drillers, MWD Engineers, fishing engineers, mechanics and welders, working from Lons and on your site. We are known for being fast, flexible and easy to work with.</a:t>
            </a:r>
          </a:p>
        </p:txBody>
      </p:sp>
      <p:pic>
        <p:nvPicPr>
          <p:cNvPr id="24" name="Picture 23" descr="_c_w4_127_1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426200"/>
            <a:ext cx="1612900" cy="1422400"/>
          </a:xfrm>
          <a:prstGeom prst="rect">
            <a:avLst/>
          </a:prstGeom>
        </p:spPr>
      </p:pic>
      <p:pic>
        <p:nvPicPr>
          <p:cNvPr id="25" name="Picture 24" descr="_c_w3_127_11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3600" y="6426200"/>
            <a:ext cx="1612900" cy="1422400"/>
          </a:xfrm>
          <a:prstGeom prst="rect">
            <a:avLst/>
          </a:prstGeom>
        </p:spPr>
      </p:pic>
      <p:pic>
        <p:nvPicPr>
          <p:cNvPr id="26" name="Picture 25" descr="_c_w1_127_11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0" y="6426200"/>
            <a:ext cx="1612900" cy="1422400"/>
          </a:xfrm>
          <a:prstGeom prst="rect">
            <a:avLst/>
          </a:prstGeom>
        </p:spPr>
      </p:pic>
      <p:pic>
        <p:nvPicPr>
          <p:cNvPr id="27" name="Picture 26" descr="_c_w2_127_11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0" y="6426200"/>
            <a:ext cx="1612900" cy="1422400"/>
          </a:xfrm>
          <a:prstGeom prst="rect">
            <a:avLst/>
          </a:prstGeom>
        </p:spPr>
      </p:pic>
      <p:sp>
        <p:nvSpPr>
          <p:cNvPr id="28" name="Rectangle 27"/>
          <p:cNvSpPr/>
          <p:nvPr/>
        </p:nvSpPr>
        <p:spPr>
          <a:xfrm>
            <a:off x="457200" y="8026400"/>
            <a:ext cx="1612900" cy="685800"/>
          </a:xfrm>
          <a:prstGeom prst="rect">
            <a:avLst/>
          </a:prstGeom>
          <a:solidFill>
            <a:srgbClr val="194E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8136128"/>
            <a:ext cx="16129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2013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3400" y="8402828"/>
            <a:ext cx="14605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</a:pPr>
            <a:r>
              <a:rPr sz="690" b="0" i="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founded as Mustang Services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33600" y="8026400"/>
            <a:ext cx="1612900" cy="685800"/>
          </a:xfrm>
          <a:prstGeom prst="rect">
            <a:avLst/>
          </a:prstGeom>
          <a:solidFill>
            <a:srgbClr val="0F7F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133600" y="8136128"/>
            <a:ext cx="16129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2 × 1,000 m²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09800" y="8402828"/>
            <a:ext cx="14605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</a:pPr>
            <a:r>
              <a:rPr sz="690" b="0" i="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equipped workshops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810000" y="8026400"/>
            <a:ext cx="1612900" cy="685800"/>
          </a:xfrm>
          <a:prstGeom prst="rect">
            <a:avLst/>
          </a:prstGeom>
          <a:solidFill>
            <a:srgbClr val="2BAE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810000" y="8136128"/>
            <a:ext cx="16129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~15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86200" y="8402828"/>
            <a:ext cx="14605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</a:pPr>
            <a:r>
              <a:rPr sz="690" b="0" i="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clients supported each year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0" y="8026400"/>
            <a:ext cx="1612900" cy="685800"/>
          </a:xfrm>
          <a:prstGeom prst="rect">
            <a:avLst/>
          </a:prstGeom>
          <a:solidFill>
            <a:srgbClr val="194E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0" y="8136128"/>
            <a:ext cx="16129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+200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562600" y="8402828"/>
            <a:ext cx="14605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</a:pPr>
            <a:r>
              <a:rPr sz="690" b="0" i="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operations completed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8940800"/>
            <a:ext cx="6642100" cy="1346200"/>
          </a:xfrm>
          <a:prstGeom prst="rect">
            <a:avLst/>
          </a:prstGeom>
          <a:solidFill>
            <a:srgbClr val="194E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1" name="Picture 40" descr="_c_iso_82_8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0400" y="9093200"/>
            <a:ext cx="1041400" cy="104140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1905000" y="9067800"/>
            <a:ext cx="34290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50"/>
              </a:lnSpc>
              <a:spcAft>
                <a:spcPts val="100"/>
              </a:spcAft>
            </a:pPr>
            <a:r>
              <a:rPr sz="1200" b="1" i="0">
                <a:solidFill>
                  <a:srgbClr val="1CB2FE"/>
                </a:solidFill>
                <a:latin typeface="Ubuntu Mono"/>
                <a:ea typeface="Ubuntu Mono"/>
                <a:cs typeface="Ubuntu Mono"/>
                <a:sym typeface="Ubuntu Mono"/>
              </a:rPr>
              <a:t>CONTACT</a:t>
            </a:r>
          </a:p>
          <a:p>
            <a:pPr algn="l">
              <a:lnSpc>
                <a:spcPts val="1150"/>
              </a:lnSpc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Enedril, Fishing and Drilling Solutions</a:t>
            </a:r>
          </a:p>
          <a:p>
            <a:pPr algn="l">
              <a:lnSpc>
                <a:spcPts val="1150"/>
              </a:lnSpc>
              <a:spcAft>
                <a:spcPts val="100"/>
              </a:spcAft>
            </a:pPr>
            <a:r>
              <a:rPr sz="800" b="0" i="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3, avenue des lacs, 64140 Lons (France)</a:t>
            </a:r>
          </a:p>
          <a:p>
            <a:pPr algn="l">
              <a:lnSpc>
                <a:spcPts val="1150"/>
              </a:lnSpc>
              <a:spcAft>
                <a:spcPts val="100"/>
              </a:spcAft>
            </a:pPr>
            <a:r>
              <a:rPr sz="800" b="0" i="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+33 (0)5 59 04 50 45</a:t>
            </a:r>
          </a:p>
          <a:p>
            <a:pPr algn="l">
              <a:lnSpc>
                <a:spcPts val="1150"/>
              </a:lnSpc>
              <a:spcAft>
                <a:spcPts val="100"/>
              </a:spcAft>
            </a:pPr>
            <a:r>
              <a:rPr sz="800" b="0" i="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info@enedril.fr · www.enedril.com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207000" y="9067800"/>
            <a:ext cx="17780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00"/>
              </a:lnSpc>
              <a:spcAft>
                <a:spcPts val="200"/>
              </a:spcAft>
            </a:pPr>
            <a:r>
              <a:rPr sz="840" b="1" i="0">
                <a:solidFill>
                  <a:srgbClr val="1CB2FE"/>
                </a:solidFill>
                <a:latin typeface="Ubuntu Mono"/>
                <a:ea typeface="Ubuntu Mono"/>
                <a:cs typeface="Ubuntu Mono"/>
                <a:sym typeface="Ubuntu Mono"/>
              </a:rPr>
              <a:t>EMERGENCY</a:t>
            </a:r>
          </a:p>
          <a:p>
            <a:pPr algn="l">
              <a:lnSpc>
                <a:spcPts val="1000"/>
              </a:lnSpc>
              <a:spcAft>
                <a:spcPts val="200"/>
              </a:spcAft>
            </a:pPr>
            <a:r>
              <a:rPr sz="760" b="0" i="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Fishing response within 24/48h</a:t>
            </a:r>
          </a:p>
          <a:p>
            <a:pPr algn="l">
              <a:lnSpc>
                <a:spcPts val="1000"/>
              </a:lnSpc>
              <a:spcAft>
                <a:spcPts val="200"/>
              </a:spcAft>
            </a:pPr>
            <a:r>
              <a:rPr sz="700" b="0" i="0">
                <a:solidFill>
                  <a:srgbClr val="B9CCE0"/>
                </a:solidFill>
                <a:latin typeface="Ubuntu Mono"/>
                <a:ea typeface="Ubuntu Mono"/>
                <a:cs typeface="Ubuntu Mono"/>
                <a:sym typeface="Ubuntu Mono"/>
              </a:rPr>
              <a:t>Interventions across France, Europe and North Africa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" y="10388600"/>
            <a:ext cx="6642100" cy="10160"/>
          </a:xfrm>
          <a:prstGeom prst="rect">
            <a:avLst/>
          </a:prstGeom>
          <a:solidFill>
            <a:srgbClr val="B9CC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7200" y="10464800"/>
            <a:ext cx="50800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40" b="0" i="0">
                <a:solidFill>
                  <a:srgbClr val="5A6B7F"/>
                </a:solidFill>
                <a:latin typeface="Ubuntu Mono"/>
                <a:ea typeface="Ubuntu Mono"/>
                <a:cs typeface="Ubuntu Mono"/>
                <a:sym typeface="Ubuntu Mono"/>
              </a:rPr>
              <a:t>Enedril · Fishing and Drilling Solutions · 3 avenue des lacs, 64140 Lons (France) · info@enedril.fr · +33 (0)5 59 04 50 45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