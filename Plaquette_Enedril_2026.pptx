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500" cy="10693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4191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_c_rig_265_3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0"/>
            <a:ext cx="3365500" cy="4191000"/>
          </a:xfrm>
          <a:prstGeom prst="rect">
            <a:avLst/>
          </a:prstGeom>
        </p:spPr>
      </p:pic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31800"/>
            <a:ext cx="1905000" cy="4324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2700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DRILLING SERVICES
&amp; DOWNHOLE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3600"/>
            <a:ext cx="3429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</a:pPr>
            <a:r>
              <a:rPr sz="11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From shallow to deep wells</a:t>
            </a:r>
          </a:p>
          <a:p>
            <a:pPr algn="l">
              <a:lnSpc>
                <a:spcPts val="1150"/>
              </a:lnSpc>
              <a:spcAft>
                <a:spcPts val="400"/>
              </a:spcAft>
            </a:pPr>
            <a:r>
              <a:rPr sz="840" b="0" i="0">
                <a:solidFill>
                  <a:srgbClr val="DCE9F6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drilling, fishing, workover and plug &amp; abandonment for geothermal, oil &amp; gas, underground gas storage and water wells.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274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4200" y="3327400"/>
            <a:ext cx="317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800" b="0" i="0">
                <a:solidFill>
                  <a:srgbClr val="DCE9F6"/>
                </a:solidFill>
                <a:latin typeface="Ubuntu Mono"/>
                <a:ea typeface="Ubuntu Mono"/>
                <a:cs typeface="Ubuntu Mono"/>
                <a:sym typeface="Ubuntu Mono"/>
              </a:rPr>
              <a:t>Independent French company, founded in 2013 and based in Lons, near Pau. ISO 9001 certified.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0" y="3708400"/>
            <a:ext cx="2032000" cy="5080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26100" y="3771900"/>
            <a:ext cx="1879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0"/>
              </a:spcAft>
            </a:pPr>
            <a:r>
              <a:rPr sz="88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WATER WELLS TOO</a:t>
            </a:r>
          </a:p>
          <a:p>
            <a:pPr algn="l">
              <a:lnSpc>
                <a:spcPts val="1000"/>
              </a:lnSpc>
              <a:spcAft>
                <a:spcPts val="0"/>
              </a:spcAft>
            </a:pPr>
            <a:r>
              <a:rPr sz="74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pull, reaming, milling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368800"/>
            <a:ext cx="1587500" cy="7366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486656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98,500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4778756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drilled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0900" y="4368800"/>
            <a:ext cx="1587500" cy="7366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0900" y="4486656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7100" y="4829556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wells, up to 3,000 m TVD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84600" y="4368800"/>
            <a:ext cx="1587500" cy="7366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84600" y="4486656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142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0800" y="4829556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P&amp;A jobs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8300" y="4368800"/>
            <a:ext cx="1651000" cy="7366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8300" y="4486656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2,500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4500" y="4829556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in stock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340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OUR SERVICES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13400"/>
            <a:ext cx="3263900" cy="1016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4200" y="5715000"/>
            <a:ext cx="3009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88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 &amp; MWD</a:t>
            </a:r>
          </a:p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73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PDM motors 3-1/8" to 9-5/8", push and point-the-bit RSS, high-temperature MWD up to 200°C, in-house well planning.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35400" y="5613400"/>
            <a:ext cx="3263900" cy="10160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62400" y="5715000"/>
            <a:ext cx="3009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88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</a:t>
            </a:r>
          </a:p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73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Recovery of rods, strings and stuck tools. Jars, overshots, spears, magnets, mills. Response within 24/48h.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731000"/>
            <a:ext cx="3263900" cy="10160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200" y="6832600"/>
            <a:ext cx="3009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88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WORKOVER</a:t>
            </a:r>
          </a:p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73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 restoration: section milling, wash over, casing repair, reaming and enlargement.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35400" y="6731000"/>
            <a:ext cx="3263900" cy="1016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62400" y="6832600"/>
            <a:ext cx="3009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88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PLUG &amp; ABANDONMENT</a:t>
            </a:r>
          </a:p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73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Safe abandonment of wells with cutters, whipstocks, packers, bridge plugs and liner hangers.</a:t>
            </a:r>
          </a:p>
        </p:txBody>
      </p:sp>
      <p:pic>
        <p:nvPicPr>
          <p:cNvPr id="32" name="Picture 31" descr="_c_w2_82_1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7975600"/>
            <a:ext cx="1041400" cy="1422400"/>
          </a:xfrm>
          <a:prstGeom prst="rect">
            <a:avLst/>
          </a:prstGeom>
        </p:spPr>
      </p:pic>
      <p:pic>
        <p:nvPicPr>
          <p:cNvPr id="33" name="Picture 32" descr="_c_w1_82_1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4800" y="7975600"/>
            <a:ext cx="1041400" cy="1422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819400" y="7975600"/>
            <a:ext cx="4279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300"/>
              </a:spcAft>
            </a:pPr>
            <a:r>
              <a:rPr sz="105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OWN WORKSHOP, CUSTOM TOOLS</a:t>
            </a:r>
          </a:p>
          <a:p>
            <a:pPr algn="l">
              <a:lnSpc>
                <a:spcPts val="1000"/>
              </a:lnSpc>
              <a:spcAft>
                <a:spcPts val="3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Two workshops of more than 1,000 m² with a 5 t overhead crane, break-out unit, jar tester, lathe, milling and welding. Tools are inspected, repaired and redressed in-house. Custom tools are designed with an API 5 &amp; 7 certified machine shop, within tight deadlines.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19400" y="8966200"/>
            <a:ext cx="4279900" cy="4318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46400" y="8966200"/>
            <a:ext cx="4064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4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3,500 m² outdoor yard for tubulars, stabilizers and on-site containers.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9652000"/>
            <a:ext cx="6642100" cy="6350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000" y="9702800"/>
            <a:ext cx="6286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Aft>
                <a:spcPts val="200"/>
              </a:spcAft>
            </a:pPr>
            <a:r>
              <a:rPr sz="1000" b="1" i="1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"When you need us, it is already too late to look for us."</a:t>
            </a:r>
          </a:p>
          <a:p>
            <a:pPr algn="l">
              <a:lnSpc>
                <a:spcPts val="1100"/>
              </a:lnSpc>
              <a:spcAft>
                <a:spcPts val="200"/>
              </a:spcAft>
            </a:pPr>
            <a:r>
              <a:rPr sz="74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Stock of 2,500 tools and teams ready to mobilise: fewer days of costly standby for your rig.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88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WHY ENEDRIL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8400"/>
            <a:ext cx="44450" cy="787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1168400"/>
            <a:ext cx="3111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88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DEEP EXPERTISE, LIGHT WELLS TOO</a:t>
            </a:r>
          </a:p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Used to 3,000 m wells in oil &amp; gas and geothermal, we master shallow wells between 300 and 1,000 m just as well.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35400" y="1168400"/>
            <a:ext cx="44450" cy="787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87800" y="1168400"/>
            <a:ext cx="3111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88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EMERGENCY RESPONSE 24/48H</a:t>
            </a:r>
          </a:p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Stuck tool, blocked string: our stock and our teams save you days of costly downtime.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08200"/>
            <a:ext cx="44450" cy="787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108200"/>
            <a:ext cx="3111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88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TAILORED INTERVENTIONS</a:t>
            </a:r>
          </a:p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Every well is unique. We adapt BHA and procedures to your geology and your equipment.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35400" y="2108200"/>
            <a:ext cx="44450" cy="787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7800" y="2108200"/>
            <a:ext cx="3111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88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ONE CONTACT, START TO FINISH</a:t>
            </a:r>
          </a:p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From diagnosis to resolution, a dedicated team follows your job. ISO 9001 certified.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642100" cy="24130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76200" cy="24130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274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WATER WELLS: CUT &amp; PULL, REAMING, MILLING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56000"/>
            <a:ext cx="6223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</a:pPr>
            <a:r>
              <a:rPr sz="7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Our solutions are fully suited to water wells, typically between 300 and 1,000 m. We support drilling contractors when a job goes wrong or when a well must be restored or enlarged.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89400"/>
            <a:ext cx="1955800" cy="111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7400" y="41783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88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</a:t>
            </a:r>
          </a:p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7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Hydraulic and external pipe cutters, spears and overshots to cut and recover casing, tubing or stuck strings.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4089400"/>
            <a:ext cx="1955800" cy="111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44800" y="41783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88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REAMING</a:t>
            </a:r>
          </a:p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7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Rotary and directional underreamers, hole openers, roller reamers and SPX drag-type underreamers.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4089400"/>
            <a:ext cx="1955800" cy="111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02200" y="41783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88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MILLING</a:t>
            </a:r>
          </a:p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7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Junk mills, pilot and taper mills, section mills and washover shoes.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308600"/>
            <a:ext cx="6223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4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Mobilisation within 24/48h across metropolitan France · 2,500 tools in stock · BHA and procedures adapted to your geology.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816600"/>
            <a:ext cx="6642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  <a:spcAft>
                <a:spcPts val="300"/>
              </a:spcAft>
            </a:pPr>
            <a:r>
              <a:rPr sz="12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A TEAM OF 33</a:t>
            </a:r>
          </a:p>
          <a:p>
            <a:pPr algn="l">
              <a:lnSpc>
                <a:spcPts val="1040"/>
              </a:lnSpc>
              <a:spcAft>
                <a:spcPts val="300"/>
              </a:spcAft>
            </a:pPr>
            <a:r>
              <a:rPr sz="7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Drillers, MWD Engineers, fishing engineers, mechanics and welders, working from Lons and on your site. We are known for being fast, flexible and easy to work with.</a:t>
            </a:r>
          </a:p>
        </p:txBody>
      </p:sp>
      <p:pic>
        <p:nvPicPr>
          <p:cNvPr id="24" name="Picture 23" descr="_c_w4_127_1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26200"/>
            <a:ext cx="1612900" cy="1422400"/>
          </a:xfrm>
          <a:prstGeom prst="rect">
            <a:avLst/>
          </a:prstGeom>
        </p:spPr>
      </p:pic>
      <p:pic>
        <p:nvPicPr>
          <p:cNvPr id="25" name="Picture 24" descr="_c_w3_127_1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0" y="6426200"/>
            <a:ext cx="1612900" cy="1422400"/>
          </a:xfrm>
          <a:prstGeom prst="rect">
            <a:avLst/>
          </a:prstGeom>
        </p:spPr>
      </p:pic>
      <p:pic>
        <p:nvPicPr>
          <p:cNvPr id="26" name="Picture 25" descr="_c_w1_127_1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0" y="6426200"/>
            <a:ext cx="1612900" cy="1422400"/>
          </a:xfrm>
          <a:prstGeom prst="rect">
            <a:avLst/>
          </a:prstGeom>
        </p:spPr>
      </p:pic>
      <p:pic>
        <p:nvPicPr>
          <p:cNvPr id="27" name="Picture 26" descr="_c_w2_127_1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6426200"/>
            <a:ext cx="1612900" cy="14224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457200" y="8026400"/>
            <a:ext cx="16129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8136128"/>
            <a:ext cx="1612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2013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8402828"/>
            <a:ext cx="1460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founded as Mustang Services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33600" y="8026400"/>
            <a:ext cx="16129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33600" y="8136128"/>
            <a:ext cx="1612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 × 1,000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09800" y="8402828"/>
            <a:ext cx="1460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equipped workshops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10000" y="8026400"/>
            <a:ext cx="16129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0000" y="8136128"/>
            <a:ext cx="1612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~15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6200" y="8402828"/>
            <a:ext cx="1460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clients supported each year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8026400"/>
            <a:ext cx="16129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0" y="8136128"/>
            <a:ext cx="1612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+200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62600" y="8402828"/>
            <a:ext cx="1460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operations completed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8940800"/>
            <a:ext cx="6642100" cy="13462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_c_iso_82_8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400" y="9093200"/>
            <a:ext cx="1041400" cy="1041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905000" y="9067800"/>
            <a:ext cx="3429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0"/>
              </a:lnSpc>
              <a:spcAft>
                <a:spcPts val="100"/>
              </a:spcAft>
            </a:pPr>
            <a:r>
              <a:rPr sz="12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CONTACT</a:t>
            </a:r>
          </a:p>
          <a:p>
            <a:pPr algn="l">
              <a:lnSpc>
                <a:spcPts val="1150"/>
              </a:lnSpc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Enedril, Fishing and Drilling Solutions</a:t>
            </a:r>
          </a:p>
          <a:p>
            <a:pPr algn="l">
              <a:lnSpc>
                <a:spcPts val="1150"/>
              </a:lnSpc>
              <a:spcAft>
                <a:spcPts val="100"/>
              </a:spcAft>
            </a:pPr>
            <a:r>
              <a:rPr sz="8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3, avenue des lacs, 64140 Lons (France)</a:t>
            </a:r>
          </a:p>
          <a:p>
            <a:pPr algn="l">
              <a:lnSpc>
                <a:spcPts val="1150"/>
              </a:lnSpc>
              <a:spcAft>
                <a:spcPts val="100"/>
              </a:spcAft>
            </a:pPr>
            <a:r>
              <a:rPr sz="8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+33 (0)5 59 04 50 45</a:t>
            </a:r>
          </a:p>
          <a:p>
            <a:pPr algn="l">
              <a:lnSpc>
                <a:spcPts val="1150"/>
              </a:lnSpc>
              <a:spcAft>
                <a:spcPts val="100"/>
              </a:spcAft>
            </a:pPr>
            <a:r>
              <a:rPr sz="8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info@enedril.fr · www.enedril.com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07000" y="9067800"/>
            <a:ext cx="177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EMERGENCY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6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 response within 24/48h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00" b="0" i="0">
                <a:solidFill>
                  <a:srgbClr val="B9CCE0"/>
                </a:solidFill>
                <a:latin typeface="Ubuntu Mono"/>
                <a:ea typeface="Ubuntu Mono"/>
                <a:cs typeface="Ubuntu Mono"/>
                <a:sym typeface="Ubuntu Mono"/>
              </a:rPr>
              <a:t>Interventions across France, Europe and North Africa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