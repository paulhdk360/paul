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4191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_c_rig_265_3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0"/>
            <a:ext cx="3365500" cy="4191000"/>
          </a:xfrm>
          <a:prstGeom prst="rect">
            <a:avLst/>
          </a:prstGeom>
        </p:spPr>
      </p:pic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31800"/>
            <a:ext cx="1905000" cy="4324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2700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DRILLING SERVICES
&amp; DOWNHOLE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3600"/>
            <a:ext cx="342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0"/>
              </a:lnSpc>
              <a:spcAft>
                <a:spcPts val="400"/>
              </a:spcAft>
            </a:pPr>
            <a:r>
              <a:rPr sz="11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From shallow to deep wells</a:t>
            </a:r>
          </a:p>
          <a:p>
            <a:pPr algn="l">
              <a:lnSpc>
                <a:spcPts val="1150"/>
              </a:lnSpc>
              <a:spcAft>
                <a:spcPts val="400"/>
              </a:spcAft>
            </a:pPr>
            <a:r>
              <a:rPr sz="840" b="0" i="0">
                <a:solidFill>
                  <a:srgbClr val="DCE9F6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drilling, fishing, workover and plug &amp; abandonment for geothermal, oil &amp; gas, underground gas storage and water wells.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274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4200" y="33274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800" b="0" i="0">
                <a:solidFill>
                  <a:srgbClr val="DCE9F6"/>
                </a:solidFill>
                <a:latin typeface="Ubuntu Mono"/>
                <a:ea typeface="Ubuntu Mono"/>
                <a:cs typeface="Ubuntu Mono"/>
                <a:sym typeface="Ubuntu Mono"/>
              </a:rPr>
              <a:t>Independent French company, founded in 2013 and based in Lons, near Pau. ISO 9001 certified.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0" y="3708400"/>
            <a:ext cx="2032000" cy="508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6100" y="3771900"/>
            <a:ext cx="1879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 TOO</a:t>
            </a:r>
          </a:p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74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pull, reaming, milling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68800"/>
            <a:ext cx="1587500" cy="736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486656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4778756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0900" y="4368800"/>
            <a:ext cx="1587500" cy="7366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0900" y="4486656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7100" y="4829556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wells, up to 3,000 m TVD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4600" y="4368800"/>
            <a:ext cx="1587500" cy="7366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84600" y="4486656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0800" y="4829556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jobs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8300" y="4368800"/>
            <a:ext cx="1651000" cy="7366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8300" y="4486656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4500" y="4829556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in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340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SERVICES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13400"/>
            <a:ext cx="3263900" cy="1016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4200" y="5715000"/>
            <a:ext cx="300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8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 &amp; MWD</a:t>
            </a:r>
          </a:p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7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 motors 3-1/8" to 9-5/8", push and point-the-bit RSS, high-temperature MWD up to 200°C, in-house well planning.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5400" y="5613400"/>
            <a:ext cx="3263900" cy="1016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2400" y="5715000"/>
            <a:ext cx="300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8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</a:t>
            </a:r>
          </a:p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7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Recovery of rods, strings and stuck tools. Jars, overshots, spears, magnets, mills. Response within 24/48h.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731000"/>
            <a:ext cx="3263900" cy="10160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200" y="6832600"/>
            <a:ext cx="300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8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WORKOVER</a:t>
            </a:r>
          </a:p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7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restoration: section milling, wash over, casing repair, reaming and enlargement.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5400" y="6731000"/>
            <a:ext cx="3263900" cy="1016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62400" y="6832600"/>
            <a:ext cx="300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88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PLUG &amp; ABANDONMENT</a:t>
            </a:r>
          </a:p>
          <a:p>
            <a:pPr algn="l">
              <a:lnSpc>
                <a:spcPts val="960"/>
              </a:lnSpc>
              <a:spcAft>
                <a:spcPts val="300"/>
              </a:spcAft>
            </a:pPr>
            <a:r>
              <a:rPr sz="73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Safe abandonment of wells with cutters, whipstocks, packers, bridge plugs and liner hangers.</a:t>
            </a:r>
          </a:p>
        </p:txBody>
      </p:sp>
      <p:pic>
        <p:nvPicPr>
          <p:cNvPr id="32" name="Picture 31" descr="_c_w2_82_1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7975600"/>
            <a:ext cx="1041400" cy="1422400"/>
          </a:xfrm>
          <a:prstGeom prst="rect">
            <a:avLst/>
          </a:prstGeom>
        </p:spPr>
      </p:pic>
      <p:pic>
        <p:nvPicPr>
          <p:cNvPr id="33" name="Picture 32" descr="_c_w1_82_1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4800" y="7975600"/>
            <a:ext cx="1041400" cy="1422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819400" y="7975600"/>
            <a:ext cx="4279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300"/>
              </a:spcAft>
            </a:pPr>
            <a:r>
              <a:rPr sz="105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OWN WORKSHOP, CUSTOM TOOLS</a:t>
            </a:r>
          </a:p>
          <a:p>
            <a:pPr algn="l">
              <a:lnSpc>
                <a:spcPts val="1000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Two workshops of more than 1,000 m² with a 5 t overhead crane, break-out unit, jar tester, lathe, milling and welding. Tools are inspected, repaired and redressed in-house. Custom tools are designed with an API 5 &amp; 7 certified machine shop, within tight deadlines.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19400" y="8966200"/>
            <a:ext cx="4279900" cy="4318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46400" y="8966200"/>
            <a:ext cx="4064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3,500 m² outdoor yard for tubulars, stabilizers and on-site containers.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9652000"/>
            <a:ext cx="6642100" cy="635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000" y="9702800"/>
            <a:ext cx="6286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Aft>
                <a:spcPts val="200"/>
              </a:spcAft>
            </a:pPr>
            <a:r>
              <a:rPr sz="1000" b="1" i="1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"When you need us, it is already too late to look for us."</a:t>
            </a:r>
          </a:p>
          <a:p>
            <a:pPr algn="l">
              <a:lnSpc>
                <a:spcPts val="1100"/>
              </a:lnSpc>
              <a:spcAft>
                <a:spcPts val="200"/>
              </a:spcAft>
            </a:pP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Stock of 2,500 tools and teams ready to mobilise: fewer days of costly standby for your rig.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WHY ENEDRIL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8400"/>
            <a:ext cx="44450" cy="787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1168400"/>
            <a:ext cx="3111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DEEP EXPERTISE, LIGHT WELLS TOO</a:t>
            </a:r>
          </a:p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Used to 3,000 m wells in oil &amp; gas and geothermal, we master shallow wells between 300 and 1,000 m just as well.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35400" y="1168400"/>
            <a:ext cx="44450" cy="787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87800" y="1168400"/>
            <a:ext cx="3111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EMERGENCY RESPONSE 24/48H</a:t>
            </a:r>
          </a:p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Stuck tool, blocked string: our stock and our teams save you days of costly downtime.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08200"/>
            <a:ext cx="44450" cy="787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108200"/>
            <a:ext cx="3111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TAILORED INTERVENTIONS</a:t>
            </a:r>
          </a:p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Every well is unique. We adapt BHA and procedures to your geology and your equipment.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35400" y="2108200"/>
            <a:ext cx="44450" cy="787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7800" y="2108200"/>
            <a:ext cx="3111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8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ONE CONTACT, START TO FINISH</a:t>
            </a:r>
          </a:p>
          <a:p>
            <a:pPr algn="l">
              <a:lnSpc>
                <a:spcPts val="1019"/>
              </a:lnSpc>
              <a:spcAft>
                <a:spcPts val="3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From diagnosis to resolution, a dedicated team follows your job. ISO 9001 certified.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642100" cy="2413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76200" cy="2413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274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WELLS: CUT &amp; PULL, REAMING, MILLING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56000"/>
            <a:ext cx="622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0"/>
              </a:lnSpc>
              <a:spcAft>
                <a:spcPts val="0"/>
              </a:spcAft>
            </a:pPr>
            <a:r>
              <a:rPr sz="7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Our solutions are fully suited to water wells, typically between 300 and 1,000 m. We support drilling contractors when a job goes wrong or when a well must be restored or enlarged.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89400"/>
            <a:ext cx="1955800" cy="111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00" y="41783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8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7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and external pipe cutters, spears and overshots to cut and recover casing, tubing or stuck strings.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4089400"/>
            <a:ext cx="1955800" cy="111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44800" y="41783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8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7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Rotary and directional underreamers, hole openers, roller reamers and SPX drag-type underreamers.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4089400"/>
            <a:ext cx="1955800" cy="111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02200" y="41783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88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</a:t>
            </a:r>
          </a:p>
          <a:p>
            <a:pPr algn="l">
              <a:lnSpc>
                <a:spcPts val="900"/>
              </a:lnSpc>
              <a:spcAft>
                <a:spcPts val="200"/>
              </a:spcAft>
            </a:pPr>
            <a:r>
              <a:rPr sz="7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and taper mills, section mills and washover shoes.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308600"/>
            <a:ext cx="622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4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Mobilisation within 24/48h across metropolitan France · 2,500 tools in stock · BHA and procedures adapted to your geology.</a:t>
            </a:r>
          </a:p>
        </p:txBody>
      </p:sp>
      <p:pic>
        <p:nvPicPr>
          <p:cNvPr id="23" name="Picture 22" descr="_c_team_300_1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16600"/>
            <a:ext cx="3810000" cy="1993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445000" y="5816600"/>
            <a:ext cx="2654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9"/>
              </a:lnSpc>
              <a:spcAft>
                <a:spcPts val="400"/>
              </a:spcAft>
            </a:pPr>
            <a:r>
              <a:rPr sz="12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A TEAM OF 33</a:t>
            </a:r>
          </a:p>
          <a:p>
            <a:pPr algn="l">
              <a:lnSpc>
                <a:spcPts val="1019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Drillers, MWD Engineers, fishing engineers, mechanics and welders, working from Lons and on your site.</a:t>
            </a:r>
          </a:p>
          <a:p>
            <a:pPr algn="l">
              <a:lnSpc>
                <a:spcPts val="1019"/>
              </a:lnSpc>
              <a:spcAft>
                <a:spcPts val="400"/>
              </a:spcAft>
            </a:pPr>
            <a:r>
              <a:rPr sz="7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We are known for being fast, flexible and easy to work with.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8026400"/>
            <a:ext cx="16129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8136128"/>
            <a:ext cx="1612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" y="8402828"/>
            <a:ext cx="1460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founded as Mustang Services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33600" y="8026400"/>
            <a:ext cx="16129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33600" y="8136128"/>
            <a:ext cx="1612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 × 1,000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09800" y="8402828"/>
            <a:ext cx="1460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equipped workshops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0" y="8026400"/>
            <a:ext cx="16129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8136128"/>
            <a:ext cx="1612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~15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8402828"/>
            <a:ext cx="1460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clients supported each year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8026400"/>
            <a:ext cx="16129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0" y="8136128"/>
            <a:ext cx="1612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+200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2600" y="8402828"/>
            <a:ext cx="1460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operations completed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8940800"/>
            <a:ext cx="6642100" cy="13462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_c_iso_82_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" y="9093200"/>
            <a:ext cx="1041400" cy="10414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905000" y="9067800"/>
            <a:ext cx="342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12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CONTACT</a:t>
            </a:r>
          </a:p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Enedril, Fishing and Drilling Solutions</a:t>
            </a:r>
          </a:p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8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3, avenue des lacs, 64140 Lons (France)</a:t>
            </a:r>
          </a:p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8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+33 (0)5 59 04 50 45</a:t>
            </a:r>
          </a:p>
          <a:p>
            <a:pPr algn="l">
              <a:lnSpc>
                <a:spcPts val="1150"/>
              </a:lnSpc>
              <a:spcAft>
                <a:spcPts val="100"/>
              </a:spcAft>
            </a:pPr>
            <a:r>
              <a:rPr sz="8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info@enedril.fr · www.enedril.com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07000" y="9067800"/>
            <a:ext cx="177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EMERGENCY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6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 response within 24/48h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00" b="0" i="0">
                <a:solidFill>
                  <a:srgbClr val="B9CCE0"/>
                </a:solidFill>
                <a:latin typeface="Ubuntu Mono"/>
                <a:ea typeface="Ubuntu Mono"/>
                <a:cs typeface="Ubuntu Mono"/>
                <a:sym typeface="Ubuntu Mono"/>
              </a:rPr>
              <a:t>Interventions across France, Europe and North Africa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