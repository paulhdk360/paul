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Lst>
  <p:sldSz cx="7556500" cy="10693400"/>
  <p:notesSz cx="6858000" cy="9144000"/>
  <p:embeddedFontLst>
    <p:embeddedFont>
      <p:font typeface="Ubuntu Mono" charset="1" panose="020B0509030602030204"/>
      <p:regular r:id="rId7"/>
    </p:embeddedFont>
    <p:embeddedFont>
      <p:font typeface="Ubuntu Mono Bold" charset="1" panose="020B0809030602030204"/>
      <p:regular r:id="rId8"/>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esProps" Target="presProps.xml"/><Relationship Id="rId3" Type="http://schemas.openxmlformats.org/officeDocument/2006/relationships/viewProps" Target="viewProps.xml"/><Relationship Id="rId4" Type="http://schemas.openxmlformats.org/officeDocument/2006/relationships/theme" Target="theme/theme1.xml"/><Relationship Id="rId5" Type="http://schemas.openxmlformats.org/officeDocument/2006/relationships/tableStyles" Target="tableStyles.xml"/><Relationship Id="rId6" Type="http://schemas.openxmlformats.org/officeDocument/2006/relationships/slide" Target="slides/slide1.xml"/><Relationship Id="rId7" Type="http://schemas.openxmlformats.org/officeDocument/2006/relationships/font" Target="fonts/font7.fntdata"/><Relationship Id="rId8" Type="http://schemas.openxmlformats.org/officeDocument/2006/relationships/font" Target="fonts/font8.fntdata"/></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png"/><Relationship Id="rId6" Type="http://schemas.openxmlformats.org/officeDocument/2006/relationships/image" Target="../media/image5.png"/><Relationship Id="rId7" Type="http://schemas.openxmlformats.org/officeDocument/2006/relationships/image" Target="../media/image6.png"/></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7560000" cy="10692000"/>
          </a:xfrm>
          <a:custGeom>
            <a:avLst/>
            <a:gdLst/>
            <a:ahLst/>
            <a:cxnLst/>
            <a:rect r="r" b="b" t="t" l="l"/>
            <a:pathLst>
              <a:path h="10692000" w="7560000">
                <a:moveTo>
                  <a:pt x="0" y="0"/>
                </a:moveTo>
                <a:lnTo>
                  <a:pt x="7560000" y="0"/>
                </a:lnTo>
                <a:lnTo>
                  <a:pt x="7560000" y="10692000"/>
                </a:lnTo>
                <a:lnTo>
                  <a:pt x="0" y="10692000"/>
                </a:lnTo>
                <a:lnTo>
                  <a:pt x="0" y="0"/>
                </a:lnTo>
                <a:close/>
              </a:path>
            </a:pathLst>
          </a:custGeom>
          <a:blipFill>
            <a:blip r:embed="rId2"/>
            <a:stretch>
              <a:fillRect l="-22226" t="-1069" r="-22226" b="-1069"/>
            </a:stretch>
          </a:blipFill>
        </p:spPr>
      </p:sp>
      <p:grpSp>
        <p:nvGrpSpPr>
          <p:cNvPr name="Group 3" id="3"/>
          <p:cNvGrpSpPr/>
          <p:nvPr/>
        </p:nvGrpSpPr>
        <p:grpSpPr>
          <a:xfrm rot="0">
            <a:off x="4198589" y="2749692"/>
            <a:ext cx="3376379" cy="837955"/>
            <a:chOff x="0" y="0"/>
            <a:chExt cx="1210018" cy="300304"/>
          </a:xfrm>
        </p:grpSpPr>
        <p:sp>
          <p:nvSpPr>
            <p:cNvPr name="Freeform 4" id="4"/>
            <p:cNvSpPr/>
            <p:nvPr/>
          </p:nvSpPr>
          <p:spPr>
            <a:xfrm flipH="false" flipV="false" rot="0">
              <a:off x="0" y="0"/>
              <a:ext cx="1210018" cy="300304"/>
            </a:xfrm>
            <a:custGeom>
              <a:avLst/>
              <a:gdLst/>
              <a:ahLst/>
              <a:cxnLst/>
              <a:rect r="r" b="b" t="t" l="l"/>
              <a:pathLst>
                <a:path h="300304" w="1210018">
                  <a:moveTo>
                    <a:pt x="0" y="0"/>
                  </a:moveTo>
                  <a:lnTo>
                    <a:pt x="1210018" y="0"/>
                  </a:lnTo>
                  <a:lnTo>
                    <a:pt x="1210018" y="300304"/>
                  </a:lnTo>
                  <a:lnTo>
                    <a:pt x="0" y="300304"/>
                  </a:lnTo>
                  <a:close/>
                </a:path>
              </a:pathLst>
            </a:custGeom>
            <a:solidFill>
              <a:srgbClr val="1CB2FE"/>
            </a:solidFill>
          </p:spPr>
        </p:sp>
        <p:sp>
          <p:nvSpPr>
            <p:cNvPr name="TextBox 5" id="5"/>
            <p:cNvSpPr txBox="true"/>
            <p:nvPr/>
          </p:nvSpPr>
          <p:spPr>
            <a:xfrm>
              <a:off x="0" y="0"/>
              <a:ext cx="1210018" cy="300304"/>
            </a:xfrm>
            <a:prstGeom prst="rect">
              <a:avLst/>
            </a:prstGeom>
          </p:spPr>
          <p:txBody>
            <a:bodyPr anchor="ctr" rtlCol="false" tIns="50800" lIns="50800" bIns="50800" rIns="50800"/>
            <a:lstStyle/>
            <a:p>
              <a:pPr algn="ctr">
                <a:lnSpc>
                  <a:spcPts val="1440"/>
                </a:lnSpc>
              </a:pPr>
            </a:p>
          </p:txBody>
        </p:sp>
      </p:grpSp>
      <p:grpSp>
        <p:nvGrpSpPr>
          <p:cNvPr name="Group 6" id="6"/>
          <p:cNvGrpSpPr/>
          <p:nvPr/>
        </p:nvGrpSpPr>
        <p:grpSpPr>
          <a:xfrm rot="0">
            <a:off x="-807385" y="2570502"/>
            <a:ext cx="6036246" cy="1196335"/>
            <a:chOff x="0" y="0"/>
            <a:chExt cx="3262422" cy="646585"/>
          </a:xfrm>
        </p:grpSpPr>
        <p:sp>
          <p:nvSpPr>
            <p:cNvPr name="Freeform 7" id="7"/>
            <p:cNvSpPr/>
            <p:nvPr/>
          </p:nvSpPr>
          <p:spPr>
            <a:xfrm flipH="false" flipV="false" rot="0">
              <a:off x="0" y="0"/>
              <a:ext cx="3262422" cy="646585"/>
            </a:xfrm>
            <a:custGeom>
              <a:avLst/>
              <a:gdLst/>
              <a:ahLst/>
              <a:cxnLst/>
              <a:rect r="r" b="b" t="t" l="l"/>
              <a:pathLst>
                <a:path h="646585" w="3262422">
                  <a:moveTo>
                    <a:pt x="3059222" y="0"/>
                  </a:moveTo>
                  <a:lnTo>
                    <a:pt x="0" y="0"/>
                  </a:lnTo>
                  <a:lnTo>
                    <a:pt x="203200" y="646585"/>
                  </a:lnTo>
                  <a:lnTo>
                    <a:pt x="3262422" y="646585"/>
                  </a:lnTo>
                  <a:lnTo>
                    <a:pt x="3059222" y="0"/>
                  </a:lnTo>
                  <a:close/>
                </a:path>
              </a:pathLst>
            </a:custGeom>
            <a:solidFill>
              <a:srgbClr val="0250A5"/>
            </a:solidFill>
          </p:spPr>
        </p:sp>
        <p:sp>
          <p:nvSpPr>
            <p:cNvPr name="TextBox 8" id="8"/>
            <p:cNvSpPr txBox="true"/>
            <p:nvPr/>
          </p:nvSpPr>
          <p:spPr>
            <a:xfrm>
              <a:off x="101600" y="0"/>
              <a:ext cx="3059222" cy="646585"/>
            </a:xfrm>
            <a:prstGeom prst="rect">
              <a:avLst/>
            </a:prstGeom>
          </p:spPr>
          <p:txBody>
            <a:bodyPr anchor="ctr" rtlCol="false" tIns="50800" lIns="50800" bIns="50800" rIns="50800"/>
            <a:lstStyle/>
            <a:p>
              <a:pPr algn="ctr">
                <a:lnSpc>
                  <a:spcPts val="1440"/>
                </a:lnSpc>
              </a:pPr>
            </a:p>
          </p:txBody>
        </p:sp>
      </p:grpSp>
      <p:sp>
        <p:nvSpPr>
          <p:cNvPr name="Freeform 10" id="10"/>
          <p:cNvSpPr/>
          <p:nvPr/>
        </p:nvSpPr>
        <p:spPr>
          <a:xfrm flipH="false" flipV="false" rot="0">
            <a:off x="5595542" y="2339157"/>
            <a:ext cx="1876410" cy="342260"/>
          </a:xfrm>
          <a:custGeom>
            <a:avLst/>
            <a:gdLst/>
            <a:ahLst/>
            <a:cxnLst/>
            <a:rect r="r" b="b" t="t" l="l"/>
            <a:pathLst>
              <a:path h="342260" w="1876410">
                <a:moveTo>
                  <a:pt x="0" y="0"/>
                </a:moveTo>
                <a:lnTo>
                  <a:pt x="1876410" y="0"/>
                </a:lnTo>
                <a:lnTo>
                  <a:pt x="1876410" y="342260"/>
                </a:lnTo>
                <a:lnTo>
                  <a:pt x="0" y="342260"/>
                </a:lnTo>
                <a:lnTo>
                  <a:pt x="0" y="0"/>
                </a:lnTo>
                <a:close/>
              </a:path>
            </a:pathLst>
          </a:custGeom>
          <a:blipFill>
            <a:blip r:embed="rId3"/>
            <a:stretch>
              <a:fillRect l="0" t="0" r="0" b="0"/>
            </a:stretch>
          </a:blipFill>
        </p:spPr>
      </p:sp>
      <p:sp>
        <p:nvSpPr>
          <p:cNvPr name="TextBox 16" id="16"/>
          <p:cNvSpPr txBox="true"/>
          <p:nvPr/>
        </p:nvSpPr>
        <p:spPr>
          <a:xfrm rot="0">
            <a:off x="710217" y="2667655"/>
            <a:ext cx="4433411" cy="554354"/>
          </a:xfrm>
          <a:prstGeom prst="rect">
            <a:avLst/>
          </a:prstGeom>
        </p:spPr>
        <p:txBody>
          <a:bodyPr anchor="t" rtlCol="false" tIns="0" lIns="0" bIns="0" rIns="0">
            <a:spAutoFit/>
          </a:bodyPr>
          <a:lstStyle/>
          <a:p>
            <a:pPr algn="l">
              <a:lnSpc>
                <a:spcPts val="4199"/>
              </a:lnSpc>
            </a:pPr>
            <a:r>
              <a:rPr lang="en-US" sz="4199">
                <a:solidFill>
                  <a:srgbClr val="FFFFFF"/>
                </a:solidFill>
                <a:latin typeface="Ubuntu Mono"/>
                <a:ea typeface="Ubuntu Mono"/>
                <a:cs typeface="Ubuntu Mono"/>
                <a:sym typeface="Ubuntu Mono"/>
              </a:rPr>
              <a:t>DTU</a:t>
            </a:r>
          </a:p>
        </p:txBody>
      </p:sp>
      <p:sp>
        <p:nvSpPr>
          <p:cNvPr name="TextBox 17" id="17"/>
          <p:cNvSpPr txBox="true"/>
          <p:nvPr/>
        </p:nvSpPr>
        <p:spPr>
          <a:xfrm rot="0">
            <a:off x="5145720" y="3053100"/>
            <a:ext cx="2326232" cy="240665"/>
          </a:xfrm>
          <a:prstGeom prst="rect">
            <a:avLst/>
          </a:prstGeom>
        </p:spPr>
        <p:txBody>
          <a:bodyPr anchor="t" rtlCol="false" tIns="0" lIns="0" bIns="0" rIns="0">
            <a:spAutoFit/>
          </a:bodyPr>
          <a:lstStyle/>
          <a:p>
            <a:pPr algn="ctr">
              <a:lnSpc>
                <a:spcPts val="1870"/>
              </a:lnSpc>
            </a:pPr>
            <a:r>
              <a:rPr lang="en-US" sz="1700">
                <a:solidFill>
                  <a:srgbClr val="FFFFFF"/>
                </a:solidFill>
                <a:latin typeface="Ubuntu Mono"/>
                <a:ea typeface="Ubuntu Mono"/>
                <a:cs typeface="Ubuntu Mono"/>
                <a:sym typeface="Ubuntu Mono"/>
              </a:rPr>
              <a:t>ENLARGEMENT</a:t>
            </a:r>
          </a:p>
        </p:txBody>
      </p:sp>
      <p:sp>
        <p:nvSpPr>
          <p:cNvPr id="18" name="TextBox 17"/>
          <p:cNvSpPr txBox="1"/>
          <p:nvPr/>
        </p:nvSpPr>
        <p:spPr>
          <a:xfrm>
            <a:off x="711200" y="3314700"/>
            <a:ext cx="4191000" cy="177800"/>
          </a:xfrm>
          <a:prstGeom prst="rect">
            <a:avLst/>
          </a:prstGeom>
          <a:noFill/>
        </p:spPr>
        <p:txBody>
          <a:bodyPr wrap="square" lIns="0" rIns="0" tIns="0" bIns="0">
            <a:spAutoFit/>
          </a:bodyPr>
          <a:lstStyle/>
          <a:p>
            <a:pPr algn="l">
              <a:spcAft>
                <a:spcPts val="0"/>
              </a:spcAft>
            </a:pPr>
            <a:r>
              <a:rPr sz="950" b="0" spc="30">
                <a:solidFill>
                  <a:srgbClr val="FFFFFF"/>
                </a:solidFill>
                <a:latin typeface="Ubuntu Mono"/>
                <a:ea typeface="Ubuntu Mono"/>
                <a:cs typeface="Ubuntu Mono"/>
                <a:sym typeface="Ubuntu Mono"/>
              </a:rPr>
              <a:t>DRILLING-TYPE UNDERREAMER</a:t>
            </a:r>
          </a:p>
        </p:txBody>
      </p:sp>
      <p:sp>
        <p:nvSpPr>
          <p:cNvPr id="19" name="TextBox 18"/>
          <p:cNvSpPr txBox="1"/>
          <p:nvPr/>
        </p:nvSpPr>
        <p:spPr>
          <a:xfrm>
            <a:off x="711200" y="4013200"/>
            <a:ext cx="6134100" cy="177800"/>
          </a:xfrm>
          <a:prstGeom prst="rect">
            <a:avLst/>
          </a:prstGeom>
          <a:noFill/>
        </p:spPr>
        <p:txBody>
          <a:bodyPr wrap="square" lIns="0" rIns="0" tIns="0" bIns="0">
            <a:spAutoFit/>
          </a:bodyPr>
          <a:lstStyle/>
          <a:p>
            <a:pPr algn="l">
              <a:spcAft>
                <a:spcPts val="0"/>
              </a:spcAft>
            </a:pPr>
            <a:r>
              <a:rPr sz="1050" b="1" spc="35">
                <a:solidFill>
                  <a:srgbClr val="194E9A"/>
                </a:solidFill>
                <a:latin typeface="Ubuntu Mono"/>
                <a:ea typeface="Ubuntu Mono"/>
                <a:cs typeface="Ubuntu Mono"/>
                <a:sym typeface="Ubuntu Mono"/>
              </a:rPr>
              <a:t>GENERAL DESCRIPTION</a:t>
            </a:r>
          </a:p>
        </p:txBody>
      </p:sp>
      <p:sp>
        <p:nvSpPr>
          <p:cNvPr id="20" name="TextBox 19"/>
          <p:cNvSpPr txBox="1"/>
          <p:nvPr/>
        </p:nvSpPr>
        <p:spPr>
          <a:xfrm>
            <a:off x="711200" y="4229100"/>
            <a:ext cx="6134100" cy="762000"/>
          </a:xfrm>
          <a:prstGeom prst="rect">
            <a:avLst/>
          </a:prstGeom>
          <a:noFill/>
        </p:spPr>
        <p:txBody>
          <a:bodyPr wrap="square" lIns="0" rIns="0" tIns="0" bIns="0">
            <a:spAutoFit/>
          </a:bodyPr>
          <a:lstStyle/>
          <a:p>
            <a:pPr algn="just">
              <a:lnSpc>
                <a:spcPts val="1040"/>
              </a:lnSpc>
              <a:spcAft>
                <a:spcPts val="0"/>
              </a:spcAft>
            </a:pPr>
            <a:r>
              <a:rPr sz="760" b="0" spc="20">
                <a:solidFill>
                  <a:srgbClr val="000000"/>
                </a:solidFill>
                <a:latin typeface="Ubuntu Mono"/>
                <a:ea typeface="Ubuntu Mono"/>
                <a:cs typeface="Ubuntu Mono"/>
                <a:sym typeface="Ubuntu Mono"/>
              </a:rPr>
              <a:t>DRILLING-TYPE UNDERREAMER THAT ENLARGES PREVIOUSLY DRILLED PILOT HOLES. A BOTTOM BOX CONNECTION LETS A BIT OR A BULLNOSE RUN BELOW THE TOOL, SO THE DTU CAN DRILL AND UNDERREAM AT THE SAME TIME. MUD FLOW CAN BE SPLIT BETWEEN THE CUTTER ARMS AND THE BIT OR BULLNOSE. IT RUNS WITH WATER, MUD, AIR, AERATED MUD OR ANY OTHER CIRCULATING MEDIUM.</a:t>
            </a:r>
          </a:p>
        </p:txBody>
      </p:sp>
      <p:sp>
        <p:nvSpPr>
          <p:cNvPr id="21" name="TextBox 20"/>
          <p:cNvSpPr txBox="1"/>
          <p:nvPr/>
        </p:nvSpPr>
        <p:spPr>
          <a:xfrm>
            <a:off x="711200" y="4826000"/>
            <a:ext cx="6134100" cy="177800"/>
          </a:xfrm>
          <a:prstGeom prst="rect">
            <a:avLst/>
          </a:prstGeom>
          <a:noFill/>
        </p:spPr>
        <p:txBody>
          <a:bodyPr wrap="square" lIns="0" rIns="0" tIns="0" bIns="0">
            <a:spAutoFit/>
          </a:bodyPr>
          <a:lstStyle/>
          <a:p>
            <a:pPr algn="ctr">
              <a:spcAft>
                <a:spcPts val="0"/>
              </a:spcAft>
            </a:pPr>
            <a:r>
              <a:rPr sz="1050" b="1" spc="20">
                <a:solidFill>
                  <a:srgbClr val="194E9A"/>
                </a:solidFill>
                <a:latin typeface="Ubuntu Mono"/>
                <a:ea typeface="Ubuntu Mono"/>
                <a:cs typeface="Ubuntu Mono"/>
                <a:sym typeface="Ubuntu Mono"/>
              </a:rPr>
              <a:t>TECHNICAL CHARACTERISTICS</a:t>
            </a:r>
          </a:p>
        </p:txBody>
      </p:sp>
      <p:graphicFrame>
        <p:nvGraphicFramePr>
          <p:cNvPr id="22" name="Table 21"/>
          <p:cNvGraphicFramePr>
            <a:graphicFrameLocks noGrp="1"/>
          </p:cNvGraphicFramePr>
          <p:nvPr/>
        </p:nvGraphicFramePr>
        <p:xfrm>
          <a:off x="711200" y="5029200"/>
          <a:ext cx="6134100" cy="1648460"/>
        </p:xfrm>
        <a:graphic>
          <a:graphicData uri="http://schemas.openxmlformats.org/drawingml/2006/table">
            <a:tbl>
              <a:tblPr/>
              <a:tblGrid>
                <a:gridCol w="457200"/>
                <a:gridCol w="609600"/>
                <a:gridCol w="660400"/>
                <a:gridCol w="457200"/>
                <a:gridCol w="482600"/>
                <a:gridCol w="736600"/>
                <a:gridCol w="533400"/>
                <a:gridCol w="533400"/>
                <a:gridCol w="508000"/>
                <a:gridCol w="711200"/>
                <a:gridCol w="444500"/>
              </a:tblGrid>
              <a:tr h="368300">
                <a:tc>
                  <a:txBody>
                    <a:bodyPr wrap="square"/>
                    <a:lstStyle/>
                    <a:p>
                      <a:pPr algn="ctr">
                        <a:lnSpc>
                          <a:spcPts val="880"/>
                        </a:lnSpc>
                      </a:pPr>
                      <a:r>
                        <a:rPr sz="720" b="1">
                          <a:solidFill>
                            <a:srgbClr val="FEFEFF"/>
                          </a:solidFill>
                          <a:latin typeface="Ubuntu Mono"/>
                          <a:ea typeface="Ubuntu Mono"/>
                          <a:cs typeface="Ubuntu Mono"/>
                          <a:sym typeface="Ubuntu Mono"/>
                        </a:rPr>
                        <a:t>Tool series</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194E9A"/>
                    </a:solidFill>
                  </a:tcPr>
                </a:tc>
                <a:tc>
                  <a:txBody>
                    <a:bodyPr wrap="square"/>
                    <a:lstStyle/>
                    <a:p>
                      <a:pPr algn="ctr">
                        <a:lnSpc>
                          <a:spcPts val="880"/>
                        </a:lnSpc>
                      </a:pPr>
                      <a:r>
                        <a:rPr sz="720" b="1">
                          <a:solidFill>
                            <a:srgbClr val="FEFEFF"/>
                          </a:solidFill>
                          <a:latin typeface="Ubuntu Mono"/>
                          <a:ea typeface="Ubuntu Mono"/>
                          <a:cs typeface="Ubuntu Mono"/>
                          <a:sym typeface="Ubuntu Mono"/>
                        </a:rPr>
                        <a:t>Std. opening Ø</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194E9A"/>
                    </a:solidFill>
                  </a:tcPr>
                </a:tc>
                <a:tc>
                  <a:txBody>
                    <a:bodyPr wrap="square"/>
                    <a:lstStyle/>
                    <a:p>
                      <a:pPr algn="ctr">
                        <a:lnSpc>
                          <a:spcPts val="880"/>
                        </a:lnSpc>
                      </a:pPr>
                      <a:r>
                        <a:rPr sz="720" b="1">
                          <a:solidFill>
                            <a:srgbClr val="FEFEFF"/>
                          </a:solidFill>
                          <a:latin typeface="Ubuntu Mono"/>
                          <a:ea typeface="Ubuntu Mono"/>
                          <a:cs typeface="Ubuntu Mono"/>
                          <a:sym typeface="Ubuntu Mono"/>
                        </a:rPr>
                        <a:t>Optional opening Ø</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194E9A"/>
                    </a:solidFill>
                  </a:tcPr>
                </a:tc>
                <a:tc>
                  <a:txBody>
                    <a:bodyPr wrap="square"/>
                    <a:lstStyle/>
                    <a:p>
                      <a:pPr algn="ctr">
                        <a:lnSpc>
                          <a:spcPts val="880"/>
                        </a:lnSpc>
                      </a:pPr>
                      <a:r>
                        <a:rPr sz="720" b="1">
                          <a:solidFill>
                            <a:srgbClr val="FEFEFF"/>
                          </a:solidFill>
                          <a:latin typeface="Ubuntu Mono"/>
                          <a:ea typeface="Ubuntu Mono"/>
                          <a:cs typeface="Ubuntu Mono"/>
                          <a:sym typeface="Ubuntu Mono"/>
                        </a:rPr>
                        <a:t>Body Ø</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194E9A"/>
                    </a:solidFill>
                  </a:tcPr>
                </a:tc>
                <a:tc>
                  <a:txBody>
                    <a:bodyPr wrap="square"/>
                    <a:lstStyle/>
                    <a:p>
                      <a:pPr algn="ctr">
                        <a:lnSpc>
                          <a:spcPts val="880"/>
                        </a:lnSpc>
                      </a:pPr>
                      <a:r>
                        <a:rPr sz="720" b="1">
                          <a:solidFill>
                            <a:srgbClr val="FEFEFF"/>
                          </a:solidFill>
                          <a:latin typeface="Ubuntu Mono"/>
                          <a:ea typeface="Ubuntu Mono"/>
                          <a:cs typeface="Ubuntu Mono"/>
                          <a:sym typeface="Ubuntu Mono"/>
                        </a:rPr>
                        <a:t>Collapsed Ø</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194E9A"/>
                    </a:solidFill>
                  </a:tcPr>
                </a:tc>
                <a:tc>
                  <a:txBody>
                    <a:bodyPr wrap="square"/>
                    <a:lstStyle/>
                    <a:p>
                      <a:pPr algn="ctr">
                        <a:lnSpc>
                          <a:spcPts val="880"/>
                        </a:lnSpc>
                      </a:pPr>
                      <a:r>
                        <a:rPr sz="720" b="1">
                          <a:solidFill>
                            <a:srgbClr val="FEFEFF"/>
                          </a:solidFill>
                          <a:latin typeface="Ubuntu Mono"/>
                          <a:ea typeface="Ubuntu Mono"/>
                          <a:cs typeface="Ubuntu Mono"/>
                          <a:sym typeface="Ubuntu Mono"/>
                        </a:rPr>
                        <a:t>Through casing Ø x lb/ft</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194E9A"/>
                    </a:solidFill>
                  </a:tcPr>
                </a:tc>
                <a:tc>
                  <a:txBody>
                    <a:bodyPr wrap="square"/>
                    <a:lstStyle/>
                    <a:p>
                      <a:pPr algn="ctr">
                        <a:lnSpc>
                          <a:spcPts val="880"/>
                        </a:lnSpc>
                      </a:pPr>
                      <a:r>
                        <a:rPr sz="720" b="1">
                          <a:solidFill>
                            <a:srgbClr val="FEFEFF"/>
                          </a:solidFill>
                          <a:latin typeface="Ubuntu Mono"/>
                          <a:ea typeface="Ubuntu Mono"/>
                          <a:cs typeface="Ubuntu Mono"/>
                          <a:sym typeface="Ubuntu Mono"/>
                        </a:rPr>
                        <a:t>Fishing neck length</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194E9A"/>
                    </a:solidFill>
                  </a:tcPr>
                </a:tc>
                <a:tc>
                  <a:txBody>
                    <a:bodyPr wrap="square"/>
                    <a:lstStyle/>
                    <a:p>
                      <a:pPr algn="ctr">
                        <a:lnSpc>
                          <a:spcPts val="880"/>
                        </a:lnSpc>
                      </a:pPr>
                      <a:r>
                        <a:rPr sz="720" b="1">
                          <a:solidFill>
                            <a:srgbClr val="FEFEFF"/>
                          </a:solidFill>
                          <a:latin typeface="Ubuntu Mono"/>
                          <a:ea typeface="Ubuntu Mono"/>
                          <a:cs typeface="Ubuntu Mono"/>
                          <a:sym typeface="Ubuntu Mono"/>
                        </a:rPr>
                        <a:t>Fishing neck Ø</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194E9A"/>
                    </a:solidFill>
                  </a:tcPr>
                </a:tc>
                <a:tc>
                  <a:txBody>
                    <a:bodyPr wrap="square"/>
                    <a:lstStyle/>
                    <a:p>
                      <a:pPr algn="ctr">
                        <a:lnSpc>
                          <a:spcPts val="880"/>
                        </a:lnSpc>
                      </a:pPr>
                      <a:r>
                        <a:rPr sz="720" b="1">
                          <a:solidFill>
                            <a:srgbClr val="FEFEFF"/>
                          </a:solidFill>
                          <a:latin typeface="Ubuntu Mono"/>
                          <a:ea typeface="Ubuntu Mono"/>
                          <a:cs typeface="Ubuntu Mono"/>
                          <a:sym typeface="Ubuntu Mono"/>
                        </a:rPr>
                        <a:t>Overall length</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194E9A"/>
                    </a:solidFill>
                  </a:tcPr>
                </a:tc>
                <a:tc>
                  <a:txBody>
                    <a:bodyPr wrap="square"/>
                    <a:lstStyle/>
                    <a:p>
                      <a:pPr algn="ctr">
                        <a:lnSpc>
                          <a:spcPts val="880"/>
                        </a:lnSpc>
                      </a:pPr>
                      <a:r>
                        <a:rPr sz="720" b="1">
                          <a:solidFill>
                            <a:srgbClr val="FEFEFF"/>
                          </a:solidFill>
                          <a:latin typeface="Ubuntu Mono"/>
                          <a:ea typeface="Ubuntu Mono"/>
                          <a:cs typeface="Ubuntu Mono"/>
                          <a:sym typeface="Ubuntu Mono"/>
                        </a:rPr>
                        <a:t>Top pin API Reg.</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194E9A"/>
                    </a:solidFill>
                  </a:tcPr>
                </a:tc>
                <a:tc>
                  <a:txBody>
                    <a:bodyPr wrap="square"/>
                    <a:lstStyle/>
                    <a:p>
                      <a:pPr algn="ctr">
                        <a:lnSpc>
                          <a:spcPts val="880"/>
                        </a:lnSpc>
                      </a:pPr>
                      <a:r>
                        <a:rPr sz="720" b="1">
                          <a:solidFill>
                            <a:srgbClr val="FEFEFF"/>
                          </a:solidFill>
                          <a:latin typeface="Ubuntu Mono"/>
                          <a:ea typeface="Ubuntu Mono"/>
                          <a:cs typeface="Ubuntu Mono"/>
                          <a:sym typeface="Ubuntu Mono"/>
                        </a:rPr>
                        <a:t>Wt (lb)</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194E9A"/>
                    </a:solidFill>
                  </a:tcPr>
                </a:tc>
              </a:tr>
              <a:tr h="142240">
                <a:tc>
                  <a:txBody>
                    <a:bodyPr wrap="square"/>
                    <a:lstStyle/>
                    <a:p>
                      <a:pPr algn="ctr">
                        <a:lnSpc>
                          <a:spcPts val="880"/>
                        </a:lnSpc>
                      </a:pPr>
                      <a:r>
                        <a:rPr sz="720" b="0">
                          <a:solidFill>
                            <a:srgbClr val="FEFEFF"/>
                          </a:solidFill>
                          <a:latin typeface="Ubuntu Mono"/>
                          <a:ea typeface="Ubuntu Mono"/>
                          <a:cs typeface="Ubuntu Mono"/>
                          <a:sym typeface="Ubuntu Mono"/>
                        </a:rPr>
                        <a:t>3600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194E9A"/>
                    </a:solidFill>
                  </a:tcPr>
                </a:tc>
                <a:tc>
                  <a:txBody>
                    <a:bodyPr wrap="square"/>
                    <a:lstStyle/>
                    <a:p>
                      <a:pPr algn="ctr">
                        <a:lnSpc>
                          <a:spcPts val="880"/>
                        </a:lnSpc>
                      </a:pPr>
                      <a:r>
                        <a:rPr sz="720" b="0">
                          <a:solidFill>
                            <a:srgbClr val="000000"/>
                          </a:solidFill>
                          <a:latin typeface="Ubuntu Mono"/>
                          <a:ea typeface="Ubuntu Mono"/>
                          <a:cs typeface="Ubuntu Mono"/>
                          <a:sym typeface="Ubuntu Mono"/>
                        </a:rPr>
                        <a:t>6</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80"/>
                        </a:lnSpc>
                      </a:pPr>
                      <a:r>
                        <a:rPr sz="720" b="0">
                          <a:solidFill>
                            <a:srgbClr val="000000"/>
                          </a:solidFill>
                          <a:latin typeface="Ubuntu Mono"/>
                          <a:ea typeface="Ubuntu Mono"/>
                          <a:cs typeface="Ubuntu Mono"/>
                          <a:sym typeface="Ubuntu Mono"/>
                        </a:rPr>
                        <a:t>5-1/2 - 6</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80"/>
                        </a:lnSpc>
                      </a:pPr>
                      <a:r>
                        <a:rPr sz="720" b="0">
                          <a:solidFill>
                            <a:srgbClr val="000000"/>
                          </a:solidFill>
                          <a:latin typeface="Ubuntu Mono"/>
                          <a:ea typeface="Ubuntu Mono"/>
                          <a:cs typeface="Ubuntu Mono"/>
                          <a:sym typeface="Ubuntu Mono"/>
                        </a:rPr>
                        <a:t>3-5/8</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80"/>
                        </a:lnSpc>
                      </a:pPr>
                      <a:r>
                        <a:rPr sz="720" b="0">
                          <a:solidFill>
                            <a:srgbClr val="000000"/>
                          </a:solidFill>
                          <a:latin typeface="Ubuntu Mono"/>
                          <a:ea typeface="Ubuntu Mono"/>
                          <a:cs typeface="Ubuntu Mono"/>
                          <a:sym typeface="Ubuntu Mono"/>
                        </a:rPr>
                        <a:t>3-5/8</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80"/>
                        </a:lnSpc>
                      </a:pPr>
                      <a:r>
                        <a:rPr sz="720" b="0">
                          <a:solidFill>
                            <a:srgbClr val="000000"/>
                          </a:solidFill>
                          <a:latin typeface="Ubuntu Mono"/>
                          <a:ea typeface="Ubuntu Mono"/>
                          <a:cs typeface="Ubuntu Mono"/>
                          <a:sym typeface="Ubuntu Mono"/>
                        </a:rPr>
                        <a:t>4-1/2 x 15</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80"/>
                        </a:lnSpc>
                      </a:pPr>
                      <a:r>
                        <a:rPr sz="720" b="0">
                          <a:solidFill>
                            <a:srgbClr val="000000"/>
                          </a:solidFill>
                          <a:latin typeface="Ubuntu Mono"/>
                          <a:ea typeface="Ubuntu Mono"/>
                          <a:cs typeface="Ubuntu Mono"/>
                          <a:sym typeface="Ubuntu Mono"/>
                        </a:rPr>
                        <a:t>8</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80"/>
                        </a:lnSpc>
                      </a:pPr>
                      <a:r>
                        <a:rPr sz="720" b="0">
                          <a:solidFill>
                            <a:srgbClr val="000000"/>
                          </a:solidFill>
                          <a:latin typeface="Ubuntu Mono"/>
                          <a:ea typeface="Ubuntu Mono"/>
                          <a:cs typeface="Ubuntu Mono"/>
                          <a:sym typeface="Ubuntu Mono"/>
                        </a:rPr>
                        <a:t>3-3/8</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80"/>
                        </a:lnSpc>
                      </a:pPr>
                      <a:r>
                        <a:rPr sz="720" b="0">
                          <a:solidFill>
                            <a:srgbClr val="000000"/>
                          </a:solidFill>
                          <a:latin typeface="Ubuntu Mono"/>
                          <a:ea typeface="Ubuntu Mono"/>
                          <a:cs typeface="Ubuntu Mono"/>
                          <a:sym typeface="Ubuntu Mono"/>
                        </a:rPr>
                        <a:t>35</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80"/>
                        </a:lnSpc>
                      </a:pPr>
                      <a:r>
                        <a:rPr sz="720" b="0">
                          <a:solidFill>
                            <a:srgbClr val="000000"/>
                          </a:solidFill>
                          <a:latin typeface="Ubuntu Mono"/>
                          <a:ea typeface="Ubuntu Mono"/>
                          <a:cs typeface="Ubuntu Mono"/>
                          <a:sym typeface="Ubuntu Mono"/>
                        </a:rPr>
                        <a:t>2-3/8</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80"/>
                        </a:lnSpc>
                      </a:pPr>
                      <a:r>
                        <a:rPr sz="720" b="0">
                          <a:solidFill>
                            <a:srgbClr val="000000"/>
                          </a:solidFill>
                          <a:latin typeface="Ubuntu Mono"/>
                          <a:ea typeface="Ubuntu Mono"/>
                          <a:cs typeface="Ubuntu Mono"/>
                          <a:sym typeface="Ubuntu Mono"/>
                        </a:rPr>
                        <a:t>170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r>
              <a:tr h="142240">
                <a:tc>
                  <a:txBody>
                    <a:bodyPr wrap="square"/>
                    <a:lstStyle/>
                    <a:p>
                      <a:pPr algn="ctr">
                        <a:lnSpc>
                          <a:spcPts val="880"/>
                        </a:lnSpc>
                      </a:pPr>
                      <a:r>
                        <a:rPr sz="720" b="0">
                          <a:solidFill>
                            <a:srgbClr val="FEFEFF"/>
                          </a:solidFill>
                          <a:latin typeface="Ubuntu Mono"/>
                          <a:ea typeface="Ubuntu Mono"/>
                          <a:cs typeface="Ubuntu Mono"/>
                          <a:sym typeface="Ubuntu Mono"/>
                        </a:rPr>
                        <a:t>5700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01ADEE"/>
                    </a:solidFill>
                  </a:tcPr>
                </a:tc>
                <a:tc>
                  <a:txBody>
                    <a:bodyPr wrap="square"/>
                    <a:lstStyle/>
                    <a:p>
                      <a:pPr algn="ctr">
                        <a:lnSpc>
                          <a:spcPts val="880"/>
                        </a:lnSpc>
                      </a:pPr>
                      <a:r>
                        <a:rPr sz="720" b="0">
                          <a:solidFill>
                            <a:srgbClr val="000000"/>
                          </a:solidFill>
                          <a:latin typeface="Ubuntu Mono"/>
                          <a:ea typeface="Ubuntu Mono"/>
                          <a:cs typeface="Ubuntu Mono"/>
                          <a:sym typeface="Ubuntu Mono"/>
                        </a:rPr>
                        <a:t>8-3/4</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80"/>
                        </a:lnSpc>
                      </a:pPr>
                      <a:r>
                        <a:rPr sz="720" b="0">
                          <a:solidFill>
                            <a:srgbClr val="000000"/>
                          </a:solidFill>
                          <a:latin typeface="Ubuntu Mono"/>
                          <a:ea typeface="Ubuntu Mono"/>
                          <a:cs typeface="Ubuntu Mono"/>
                          <a:sym typeface="Ubuntu Mono"/>
                        </a:rPr>
                        <a:t>7 - 8-3/4</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80"/>
                        </a:lnSpc>
                      </a:pPr>
                      <a:r>
                        <a:rPr sz="720" b="0">
                          <a:solidFill>
                            <a:srgbClr val="000000"/>
                          </a:solidFill>
                          <a:latin typeface="Ubuntu Mono"/>
                          <a:ea typeface="Ubuntu Mono"/>
                          <a:cs typeface="Ubuntu Mono"/>
                          <a:sym typeface="Ubuntu Mono"/>
                        </a:rPr>
                        <a:t>5-3/4</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80"/>
                        </a:lnSpc>
                      </a:pPr>
                      <a:r>
                        <a:rPr sz="720" b="0">
                          <a:solidFill>
                            <a:srgbClr val="000000"/>
                          </a:solidFill>
                          <a:latin typeface="Ubuntu Mono"/>
                          <a:ea typeface="Ubuntu Mono"/>
                          <a:cs typeface="Ubuntu Mono"/>
                          <a:sym typeface="Ubuntu Mono"/>
                        </a:rPr>
                        <a:t>6</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80"/>
                        </a:lnSpc>
                      </a:pPr>
                      <a:r>
                        <a:rPr sz="720" b="0">
                          <a:solidFill>
                            <a:srgbClr val="000000"/>
                          </a:solidFill>
                          <a:latin typeface="Ubuntu Mono"/>
                          <a:ea typeface="Ubuntu Mono"/>
                          <a:cs typeface="Ubuntu Mono"/>
                          <a:sym typeface="Ubuntu Mono"/>
                        </a:rPr>
                        <a:t>7 x 38</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80"/>
                        </a:lnSpc>
                      </a:pPr>
                      <a:r>
                        <a:rPr sz="720" b="0">
                          <a:solidFill>
                            <a:srgbClr val="000000"/>
                          </a:solidFill>
                          <a:latin typeface="Ubuntu Mono"/>
                          <a:ea typeface="Ubuntu Mono"/>
                          <a:cs typeface="Ubuntu Mono"/>
                          <a:sym typeface="Ubuntu Mono"/>
                        </a:rPr>
                        <a:t>18</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80"/>
                        </a:lnSpc>
                      </a:pPr>
                      <a:r>
                        <a:rPr sz="720" b="0">
                          <a:solidFill>
                            <a:srgbClr val="000000"/>
                          </a:solidFill>
                          <a:latin typeface="Ubuntu Mono"/>
                          <a:ea typeface="Ubuntu Mono"/>
                          <a:cs typeface="Ubuntu Mono"/>
                          <a:sym typeface="Ubuntu Mono"/>
                        </a:rPr>
                        <a:t>4-3/4</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80"/>
                        </a:lnSpc>
                      </a:pPr>
                      <a:r>
                        <a:rPr sz="720" b="0">
                          <a:solidFill>
                            <a:srgbClr val="000000"/>
                          </a:solidFill>
                          <a:latin typeface="Ubuntu Mono"/>
                          <a:ea typeface="Ubuntu Mono"/>
                          <a:cs typeface="Ubuntu Mono"/>
                          <a:sym typeface="Ubuntu Mono"/>
                        </a:rPr>
                        <a:t>70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80"/>
                        </a:lnSpc>
                      </a:pPr>
                      <a:r>
                        <a:rPr sz="720" b="0">
                          <a:solidFill>
                            <a:srgbClr val="000000"/>
                          </a:solidFill>
                          <a:latin typeface="Ubuntu Mono"/>
                          <a:ea typeface="Ubuntu Mono"/>
                          <a:cs typeface="Ubuntu Mono"/>
                          <a:sym typeface="Ubuntu Mono"/>
                        </a:rPr>
                        <a:t>3-1/2</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80"/>
                        </a:lnSpc>
                      </a:pPr>
                      <a:r>
                        <a:rPr sz="720" b="0">
                          <a:solidFill>
                            <a:srgbClr val="000000"/>
                          </a:solidFill>
                          <a:latin typeface="Ubuntu Mono"/>
                          <a:ea typeface="Ubuntu Mono"/>
                          <a:cs typeface="Ubuntu Mono"/>
                          <a:sym typeface="Ubuntu Mono"/>
                        </a:rPr>
                        <a:t>360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r>
              <a:tr h="142240">
                <a:tc>
                  <a:txBody>
                    <a:bodyPr wrap="square"/>
                    <a:lstStyle/>
                    <a:p>
                      <a:pPr algn="ctr">
                        <a:lnSpc>
                          <a:spcPts val="880"/>
                        </a:lnSpc>
                      </a:pPr>
                      <a:r>
                        <a:rPr sz="720" b="0">
                          <a:solidFill>
                            <a:srgbClr val="FEFEFF"/>
                          </a:solidFill>
                          <a:latin typeface="Ubuntu Mono"/>
                          <a:ea typeface="Ubuntu Mono"/>
                          <a:cs typeface="Ubuntu Mono"/>
                          <a:sym typeface="Ubuntu Mono"/>
                        </a:rPr>
                        <a:t>7200*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194E9A"/>
                    </a:solidFill>
                  </a:tcPr>
                </a:tc>
                <a:tc>
                  <a:txBody>
                    <a:bodyPr wrap="square"/>
                    <a:lstStyle/>
                    <a:p>
                      <a:pPr algn="ctr">
                        <a:lnSpc>
                          <a:spcPts val="880"/>
                        </a:lnSpc>
                      </a:pPr>
                      <a:r>
                        <a:rPr sz="720" b="0">
                          <a:solidFill>
                            <a:srgbClr val="000000"/>
                          </a:solidFill>
                          <a:latin typeface="Ubuntu Mono"/>
                          <a:ea typeface="Ubuntu Mono"/>
                          <a:cs typeface="Ubuntu Mono"/>
                          <a:sym typeface="Ubuntu Mono"/>
                        </a:rPr>
                        <a:t>11</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80"/>
                        </a:lnSpc>
                      </a:pPr>
                      <a:r>
                        <a:rPr sz="720" b="0">
                          <a:solidFill>
                            <a:srgbClr val="000000"/>
                          </a:solidFill>
                          <a:latin typeface="Ubuntu Mono"/>
                          <a:ea typeface="Ubuntu Mono"/>
                          <a:cs typeface="Ubuntu Mono"/>
                          <a:sym typeface="Ubuntu Mono"/>
                        </a:rPr>
                        <a:t>9 - 11</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80"/>
                        </a:lnSpc>
                      </a:pPr>
                      <a:r>
                        <a:rPr sz="720" b="0">
                          <a:solidFill>
                            <a:srgbClr val="000000"/>
                          </a:solidFill>
                          <a:latin typeface="Ubuntu Mono"/>
                          <a:ea typeface="Ubuntu Mono"/>
                          <a:cs typeface="Ubuntu Mono"/>
                          <a:sym typeface="Ubuntu Mono"/>
                        </a:rPr>
                        <a:t>7-1/4</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80"/>
                        </a:lnSpc>
                      </a:pPr>
                      <a:r>
                        <a:rPr sz="720" b="0">
                          <a:solidFill>
                            <a:srgbClr val="000000"/>
                          </a:solidFill>
                          <a:latin typeface="Ubuntu Mono"/>
                          <a:ea typeface="Ubuntu Mono"/>
                          <a:cs typeface="Ubuntu Mono"/>
                          <a:sym typeface="Ubuntu Mono"/>
                        </a:rPr>
                        <a:t>7-1/2</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80"/>
                        </a:lnSpc>
                      </a:pPr>
                      <a:r>
                        <a:rPr sz="720" b="0">
                          <a:solidFill>
                            <a:srgbClr val="000000"/>
                          </a:solidFill>
                          <a:latin typeface="Ubuntu Mono"/>
                          <a:ea typeface="Ubuntu Mono"/>
                          <a:cs typeface="Ubuntu Mono"/>
                          <a:sym typeface="Ubuntu Mono"/>
                        </a:rPr>
                        <a:t>8-5/8 x 40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80"/>
                        </a:lnSpc>
                      </a:pPr>
                      <a:r>
                        <a:rPr sz="720" b="0">
                          <a:solidFill>
                            <a:srgbClr val="000000"/>
                          </a:solidFill>
                          <a:latin typeface="Ubuntu Mono"/>
                          <a:ea typeface="Ubuntu Mono"/>
                          <a:cs typeface="Ubuntu Mono"/>
                          <a:sym typeface="Ubuntu Mono"/>
                        </a:rPr>
                        <a:t>18</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80"/>
                        </a:lnSpc>
                      </a:pPr>
                      <a:r>
                        <a:rPr sz="720" b="0">
                          <a:solidFill>
                            <a:srgbClr val="000000"/>
                          </a:solidFill>
                          <a:latin typeface="Ubuntu Mono"/>
                          <a:ea typeface="Ubuntu Mono"/>
                          <a:cs typeface="Ubuntu Mono"/>
                          <a:sym typeface="Ubuntu Mono"/>
                        </a:rPr>
                        <a:t>5-3/4</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80"/>
                        </a:lnSpc>
                      </a:pPr>
                      <a:r>
                        <a:rPr sz="720" b="0">
                          <a:solidFill>
                            <a:srgbClr val="000000"/>
                          </a:solidFill>
                          <a:latin typeface="Ubuntu Mono"/>
                          <a:ea typeface="Ubuntu Mono"/>
                          <a:cs typeface="Ubuntu Mono"/>
                          <a:sym typeface="Ubuntu Mono"/>
                        </a:rPr>
                        <a:t>74</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80"/>
                        </a:lnSpc>
                      </a:pPr>
                      <a:r>
                        <a:rPr sz="720" b="0">
                          <a:solidFill>
                            <a:srgbClr val="000000"/>
                          </a:solidFill>
                          <a:latin typeface="Ubuntu Mono"/>
                          <a:ea typeface="Ubuntu Mono"/>
                          <a:cs typeface="Ubuntu Mono"/>
                          <a:sym typeface="Ubuntu Mono"/>
                        </a:rPr>
                        <a:t>4-1/2</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80"/>
                        </a:lnSpc>
                      </a:pPr>
                      <a:r>
                        <a:rPr sz="720" b="0">
                          <a:solidFill>
                            <a:srgbClr val="000000"/>
                          </a:solidFill>
                          <a:latin typeface="Ubuntu Mono"/>
                          <a:ea typeface="Ubuntu Mono"/>
                          <a:cs typeface="Ubuntu Mono"/>
                          <a:sym typeface="Ubuntu Mono"/>
                        </a:rPr>
                        <a:t>770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r>
              <a:tr h="142240">
                <a:tc>
                  <a:txBody>
                    <a:bodyPr wrap="square"/>
                    <a:lstStyle/>
                    <a:p>
                      <a:pPr algn="ctr">
                        <a:lnSpc>
                          <a:spcPts val="880"/>
                        </a:lnSpc>
                      </a:pPr>
                      <a:r>
                        <a:rPr sz="720" b="0">
                          <a:solidFill>
                            <a:srgbClr val="FEFEFF"/>
                          </a:solidFill>
                          <a:latin typeface="Ubuntu Mono"/>
                          <a:ea typeface="Ubuntu Mono"/>
                          <a:cs typeface="Ubuntu Mono"/>
                          <a:sym typeface="Ubuntu Mono"/>
                        </a:rPr>
                        <a:t>8200*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01ADEE"/>
                    </a:solidFill>
                  </a:tcPr>
                </a:tc>
                <a:tc>
                  <a:txBody>
                    <a:bodyPr wrap="square"/>
                    <a:lstStyle/>
                    <a:p>
                      <a:pPr algn="ctr">
                        <a:lnSpc>
                          <a:spcPts val="880"/>
                        </a:lnSpc>
                      </a:pPr>
                      <a:r>
                        <a:rPr sz="720" b="0">
                          <a:solidFill>
                            <a:srgbClr val="000000"/>
                          </a:solidFill>
                          <a:latin typeface="Ubuntu Mono"/>
                          <a:ea typeface="Ubuntu Mono"/>
                          <a:cs typeface="Ubuntu Mono"/>
                          <a:sym typeface="Ubuntu Mono"/>
                        </a:rPr>
                        <a:t>14</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80"/>
                        </a:lnSpc>
                      </a:pPr>
                      <a:r>
                        <a:rPr sz="720" b="0">
                          <a:solidFill>
                            <a:srgbClr val="000000"/>
                          </a:solidFill>
                          <a:latin typeface="Ubuntu Mono"/>
                          <a:ea typeface="Ubuntu Mono"/>
                          <a:cs typeface="Ubuntu Mono"/>
                          <a:sym typeface="Ubuntu Mono"/>
                        </a:rPr>
                        <a:t>10 - 14</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80"/>
                        </a:lnSpc>
                      </a:pPr>
                      <a:r>
                        <a:rPr sz="720" b="0">
                          <a:solidFill>
                            <a:srgbClr val="000000"/>
                          </a:solidFill>
                          <a:latin typeface="Ubuntu Mono"/>
                          <a:ea typeface="Ubuntu Mono"/>
                          <a:cs typeface="Ubuntu Mono"/>
                          <a:sym typeface="Ubuntu Mono"/>
                        </a:rPr>
                        <a:t>8-1/4</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80"/>
                        </a:lnSpc>
                      </a:pPr>
                      <a:r>
                        <a:rPr sz="720" b="0">
                          <a:solidFill>
                            <a:srgbClr val="000000"/>
                          </a:solidFill>
                          <a:latin typeface="Ubuntu Mono"/>
                          <a:ea typeface="Ubuntu Mono"/>
                          <a:cs typeface="Ubuntu Mono"/>
                          <a:sym typeface="Ubuntu Mono"/>
                        </a:rPr>
                        <a:t>8-1/4</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80"/>
                        </a:lnSpc>
                      </a:pPr>
                      <a:r>
                        <a:rPr sz="720" b="0">
                          <a:solidFill>
                            <a:srgbClr val="000000"/>
                          </a:solidFill>
                          <a:latin typeface="Ubuntu Mono"/>
                          <a:ea typeface="Ubuntu Mono"/>
                          <a:cs typeface="Ubuntu Mono"/>
                          <a:sym typeface="Ubuntu Mono"/>
                        </a:rPr>
                        <a:t>9-5/8 x 53</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80"/>
                        </a:lnSpc>
                      </a:pPr>
                      <a:r>
                        <a:rPr sz="720" b="0">
                          <a:solidFill>
                            <a:srgbClr val="000000"/>
                          </a:solidFill>
                          <a:latin typeface="Ubuntu Mono"/>
                          <a:ea typeface="Ubuntu Mono"/>
                          <a:cs typeface="Ubuntu Mono"/>
                          <a:sym typeface="Ubuntu Mono"/>
                        </a:rPr>
                        <a:t>18</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80"/>
                        </a:lnSpc>
                      </a:pPr>
                      <a:r>
                        <a:rPr sz="720" b="0">
                          <a:solidFill>
                            <a:srgbClr val="000000"/>
                          </a:solidFill>
                          <a:latin typeface="Ubuntu Mono"/>
                          <a:ea typeface="Ubuntu Mono"/>
                          <a:cs typeface="Ubuntu Mono"/>
                          <a:sym typeface="Ubuntu Mono"/>
                        </a:rPr>
                        <a:t>5-3/4 or 8</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80"/>
                        </a:lnSpc>
                      </a:pPr>
                      <a:r>
                        <a:rPr sz="720" b="0">
                          <a:solidFill>
                            <a:srgbClr val="000000"/>
                          </a:solidFill>
                          <a:latin typeface="Ubuntu Mono"/>
                          <a:ea typeface="Ubuntu Mono"/>
                          <a:cs typeface="Ubuntu Mono"/>
                          <a:sym typeface="Ubuntu Mono"/>
                        </a:rPr>
                        <a:t>79</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80"/>
                        </a:lnSpc>
                      </a:pPr>
                      <a:r>
                        <a:rPr sz="720" b="0">
                          <a:solidFill>
                            <a:srgbClr val="000000"/>
                          </a:solidFill>
                          <a:latin typeface="Ubuntu Mono"/>
                          <a:ea typeface="Ubuntu Mono"/>
                          <a:cs typeface="Ubuntu Mono"/>
                          <a:sym typeface="Ubuntu Mono"/>
                        </a:rPr>
                        <a:t>4-1/2 or 6-5/8</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80"/>
                        </a:lnSpc>
                      </a:pPr>
                      <a:r>
                        <a:rPr sz="720" b="0">
                          <a:solidFill>
                            <a:srgbClr val="000000"/>
                          </a:solidFill>
                          <a:latin typeface="Ubuntu Mono"/>
                          <a:ea typeface="Ubuntu Mono"/>
                          <a:cs typeface="Ubuntu Mono"/>
                          <a:sym typeface="Ubuntu Mono"/>
                        </a:rPr>
                        <a:t>900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r>
              <a:tr h="142240">
                <a:tc>
                  <a:txBody>
                    <a:bodyPr wrap="square"/>
                    <a:lstStyle/>
                    <a:p>
                      <a:pPr algn="ctr">
                        <a:lnSpc>
                          <a:spcPts val="880"/>
                        </a:lnSpc>
                      </a:pPr>
                      <a:r>
                        <a:rPr sz="720" b="0">
                          <a:solidFill>
                            <a:srgbClr val="FEFEFF"/>
                          </a:solidFill>
                          <a:latin typeface="Ubuntu Mono"/>
                          <a:ea typeface="Ubuntu Mono"/>
                          <a:cs typeface="Ubuntu Mono"/>
                          <a:sym typeface="Ubuntu Mono"/>
                        </a:rPr>
                        <a:t>9500*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194E9A"/>
                    </a:solidFill>
                  </a:tcPr>
                </a:tc>
                <a:tc>
                  <a:txBody>
                    <a:bodyPr wrap="square"/>
                    <a:lstStyle/>
                    <a:p>
                      <a:pPr algn="ctr">
                        <a:lnSpc>
                          <a:spcPts val="880"/>
                        </a:lnSpc>
                      </a:pPr>
                      <a:r>
                        <a:rPr sz="720" b="0">
                          <a:solidFill>
                            <a:srgbClr val="000000"/>
                          </a:solidFill>
                          <a:latin typeface="Ubuntu Mono"/>
                          <a:ea typeface="Ubuntu Mono"/>
                          <a:cs typeface="Ubuntu Mono"/>
                          <a:sym typeface="Ubuntu Mono"/>
                        </a:rPr>
                        <a:t>15</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80"/>
                        </a:lnSpc>
                      </a:pPr>
                      <a:r>
                        <a:rPr sz="720" b="0">
                          <a:solidFill>
                            <a:srgbClr val="000000"/>
                          </a:solidFill>
                          <a:latin typeface="Ubuntu Mono"/>
                          <a:ea typeface="Ubuntu Mono"/>
                          <a:cs typeface="Ubuntu Mono"/>
                          <a:sym typeface="Ubuntu Mono"/>
                        </a:rPr>
                        <a:t>12 - 15</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80"/>
                        </a:lnSpc>
                      </a:pPr>
                      <a:r>
                        <a:rPr sz="720" b="0">
                          <a:solidFill>
                            <a:srgbClr val="000000"/>
                          </a:solidFill>
                          <a:latin typeface="Ubuntu Mono"/>
                          <a:ea typeface="Ubuntu Mono"/>
                          <a:cs typeface="Ubuntu Mono"/>
                          <a:sym typeface="Ubuntu Mono"/>
                        </a:rPr>
                        <a:t>9-1/2</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80"/>
                        </a:lnSpc>
                      </a:pPr>
                      <a:r>
                        <a:rPr sz="720" b="0">
                          <a:solidFill>
                            <a:srgbClr val="000000"/>
                          </a:solidFill>
                          <a:latin typeface="Ubuntu Mono"/>
                          <a:ea typeface="Ubuntu Mono"/>
                          <a:cs typeface="Ubuntu Mono"/>
                          <a:sym typeface="Ubuntu Mono"/>
                        </a:rPr>
                        <a:t>10-1/4</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80"/>
                        </a:lnSpc>
                      </a:pPr>
                      <a:r>
                        <a:rPr sz="720" b="0">
                          <a:solidFill>
                            <a:srgbClr val="000000"/>
                          </a:solidFill>
                          <a:latin typeface="Ubuntu Mono"/>
                          <a:ea typeface="Ubuntu Mono"/>
                          <a:cs typeface="Ubuntu Mono"/>
                          <a:sym typeface="Ubuntu Mono"/>
                        </a:rPr>
                        <a:t>11-3/4 x 71</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80"/>
                        </a:lnSpc>
                      </a:pPr>
                      <a:r>
                        <a:rPr sz="720" b="0">
                          <a:solidFill>
                            <a:srgbClr val="000000"/>
                          </a:solidFill>
                          <a:latin typeface="Ubuntu Mono"/>
                          <a:ea typeface="Ubuntu Mono"/>
                          <a:cs typeface="Ubuntu Mono"/>
                          <a:sym typeface="Ubuntu Mono"/>
                        </a:rPr>
                        <a:t>18</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80"/>
                        </a:lnSpc>
                      </a:pPr>
                      <a:r>
                        <a:rPr sz="720" b="0">
                          <a:solidFill>
                            <a:srgbClr val="000000"/>
                          </a:solidFill>
                          <a:latin typeface="Ubuntu Mono"/>
                          <a:ea typeface="Ubuntu Mono"/>
                          <a:cs typeface="Ubuntu Mono"/>
                          <a:sym typeface="Ubuntu Mono"/>
                        </a:rPr>
                        <a:t>8</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80"/>
                        </a:lnSpc>
                      </a:pPr>
                      <a:r>
                        <a:rPr sz="720" b="0">
                          <a:solidFill>
                            <a:srgbClr val="000000"/>
                          </a:solidFill>
                          <a:latin typeface="Ubuntu Mono"/>
                          <a:ea typeface="Ubuntu Mono"/>
                          <a:cs typeface="Ubuntu Mono"/>
                          <a:sym typeface="Ubuntu Mono"/>
                        </a:rPr>
                        <a:t>82</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80"/>
                        </a:lnSpc>
                      </a:pPr>
                      <a:r>
                        <a:rPr sz="720" b="0">
                          <a:solidFill>
                            <a:srgbClr val="000000"/>
                          </a:solidFill>
                          <a:latin typeface="Ubuntu Mono"/>
                          <a:ea typeface="Ubuntu Mono"/>
                          <a:cs typeface="Ubuntu Mono"/>
                          <a:sym typeface="Ubuntu Mono"/>
                        </a:rPr>
                        <a:t>6-5/8</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80"/>
                        </a:lnSpc>
                      </a:pPr>
                      <a:r>
                        <a:rPr sz="720" b="0">
                          <a:solidFill>
                            <a:srgbClr val="000000"/>
                          </a:solidFill>
                          <a:latin typeface="Ubuntu Mono"/>
                          <a:ea typeface="Ubuntu Mono"/>
                          <a:cs typeface="Ubuntu Mono"/>
                          <a:sym typeface="Ubuntu Mono"/>
                        </a:rPr>
                        <a:t>1,150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r>
              <a:tr h="142240">
                <a:tc>
                  <a:txBody>
                    <a:bodyPr wrap="square"/>
                    <a:lstStyle/>
                    <a:p>
                      <a:pPr algn="ctr">
                        <a:lnSpc>
                          <a:spcPts val="880"/>
                        </a:lnSpc>
                      </a:pPr>
                      <a:r>
                        <a:rPr sz="720" b="0">
                          <a:solidFill>
                            <a:srgbClr val="FEFEFF"/>
                          </a:solidFill>
                          <a:latin typeface="Ubuntu Mono"/>
                          <a:ea typeface="Ubuntu Mono"/>
                          <a:cs typeface="Ubuntu Mono"/>
                          <a:sym typeface="Ubuntu Mono"/>
                        </a:rPr>
                        <a:t>11700*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01ADEE"/>
                    </a:solidFill>
                  </a:tcPr>
                </a:tc>
                <a:tc>
                  <a:txBody>
                    <a:bodyPr wrap="square"/>
                    <a:lstStyle/>
                    <a:p>
                      <a:pPr algn="ctr">
                        <a:lnSpc>
                          <a:spcPts val="880"/>
                        </a:lnSpc>
                      </a:pPr>
                      <a:r>
                        <a:rPr sz="720" b="0">
                          <a:solidFill>
                            <a:srgbClr val="000000"/>
                          </a:solidFill>
                          <a:latin typeface="Ubuntu Mono"/>
                          <a:ea typeface="Ubuntu Mono"/>
                          <a:cs typeface="Ubuntu Mono"/>
                          <a:sym typeface="Ubuntu Mono"/>
                        </a:rPr>
                        <a:t>17-1/2</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80"/>
                        </a:lnSpc>
                      </a:pPr>
                      <a:r>
                        <a:rPr sz="720" b="0">
                          <a:solidFill>
                            <a:srgbClr val="000000"/>
                          </a:solidFill>
                          <a:latin typeface="Ubuntu Mono"/>
                          <a:ea typeface="Ubuntu Mono"/>
                          <a:cs typeface="Ubuntu Mono"/>
                          <a:sym typeface="Ubuntu Mono"/>
                        </a:rPr>
                        <a:t>14-3/4 - 20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80"/>
                        </a:lnSpc>
                      </a:pPr>
                      <a:r>
                        <a:rPr sz="720" b="0">
                          <a:solidFill>
                            <a:srgbClr val="000000"/>
                          </a:solidFill>
                          <a:latin typeface="Ubuntu Mono"/>
                          <a:ea typeface="Ubuntu Mono"/>
                          <a:cs typeface="Ubuntu Mono"/>
                          <a:sym typeface="Ubuntu Mono"/>
                        </a:rPr>
                        <a:t>11-3/4</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80"/>
                        </a:lnSpc>
                      </a:pPr>
                      <a:r>
                        <a:rPr sz="720" b="0">
                          <a:solidFill>
                            <a:srgbClr val="000000"/>
                          </a:solidFill>
                          <a:latin typeface="Ubuntu Mono"/>
                          <a:ea typeface="Ubuntu Mono"/>
                          <a:cs typeface="Ubuntu Mono"/>
                          <a:sym typeface="Ubuntu Mono"/>
                        </a:rPr>
                        <a:t>11-3/4</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80"/>
                        </a:lnSpc>
                      </a:pPr>
                      <a:r>
                        <a:rPr sz="720" b="0">
                          <a:solidFill>
                            <a:srgbClr val="000000"/>
                          </a:solidFill>
                          <a:latin typeface="Ubuntu Mono"/>
                          <a:ea typeface="Ubuntu Mono"/>
                          <a:cs typeface="Ubuntu Mono"/>
                          <a:sym typeface="Ubuntu Mono"/>
                        </a:rPr>
                        <a:t>13-3/8 x 92</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80"/>
                        </a:lnSpc>
                      </a:pPr>
                      <a:r>
                        <a:rPr sz="720" b="0">
                          <a:solidFill>
                            <a:srgbClr val="000000"/>
                          </a:solidFill>
                          <a:latin typeface="Ubuntu Mono"/>
                          <a:ea typeface="Ubuntu Mono"/>
                          <a:cs typeface="Ubuntu Mono"/>
                          <a:sym typeface="Ubuntu Mono"/>
                        </a:rPr>
                        <a:t>20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80"/>
                        </a:lnSpc>
                      </a:pPr>
                      <a:r>
                        <a:rPr sz="720" b="0">
                          <a:solidFill>
                            <a:srgbClr val="000000"/>
                          </a:solidFill>
                          <a:latin typeface="Ubuntu Mono"/>
                          <a:ea typeface="Ubuntu Mono"/>
                          <a:cs typeface="Ubuntu Mono"/>
                          <a:sym typeface="Ubuntu Mono"/>
                        </a:rPr>
                        <a:t>8</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80"/>
                        </a:lnSpc>
                      </a:pPr>
                      <a:r>
                        <a:rPr sz="720" b="0">
                          <a:solidFill>
                            <a:srgbClr val="000000"/>
                          </a:solidFill>
                          <a:latin typeface="Ubuntu Mono"/>
                          <a:ea typeface="Ubuntu Mono"/>
                          <a:cs typeface="Ubuntu Mono"/>
                          <a:sym typeface="Ubuntu Mono"/>
                        </a:rPr>
                        <a:t>96</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80"/>
                        </a:lnSpc>
                      </a:pPr>
                      <a:r>
                        <a:rPr sz="720" b="0">
                          <a:solidFill>
                            <a:srgbClr val="000000"/>
                          </a:solidFill>
                          <a:latin typeface="Ubuntu Mono"/>
                          <a:ea typeface="Ubuntu Mono"/>
                          <a:cs typeface="Ubuntu Mono"/>
                          <a:sym typeface="Ubuntu Mono"/>
                        </a:rPr>
                        <a:t>6-5/8</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80"/>
                        </a:lnSpc>
                      </a:pPr>
                      <a:r>
                        <a:rPr sz="720" b="0">
                          <a:solidFill>
                            <a:srgbClr val="000000"/>
                          </a:solidFill>
                          <a:latin typeface="Ubuntu Mono"/>
                          <a:ea typeface="Ubuntu Mono"/>
                          <a:cs typeface="Ubuntu Mono"/>
                          <a:sym typeface="Ubuntu Mono"/>
                        </a:rPr>
                        <a:t>1,670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r>
              <a:tr h="142240">
                <a:tc>
                  <a:txBody>
                    <a:bodyPr wrap="square"/>
                    <a:lstStyle/>
                    <a:p>
                      <a:pPr algn="ctr">
                        <a:lnSpc>
                          <a:spcPts val="880"/>
                        </a:lnSpc>
                      </a:pPr>
                      <a:r>
                        <a:rPr sz="720" b="0">
                          <a:solidFill>
                            <a:srgbClr val="FEFEFF"/>
                          </a:solidFill>
                          <a:latin typeface="Ubuntu Mono"/>
                          <a:ea typeface="Ubuntu Mono"/>
                          <a:cs typeface="Ubuntu Mono"/>
                          <a:sym typeface="Ubuntu Mono"/>
                        </a:rPr>
                        <a:t>15000*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194E9A"/>
                    </a:solidFill>
                  </a:tcPr>
                </a:tc>
                <a:tc>
                  <a:txBody>
                    <a:bodyPr wrap="square"/>
                    <a:lstStyle/>
                    <a:p>
                      <a:pPr algn="ctr">
                        <a:lnSpc>
                          <a:spcPts val="880"/>
                        </a:lnSpc>
                      </a:pPr>
                      <a:r>
                        <a:rPr sz="720" b="0">
                          <a:solidFill>
                            <a:srgbClr val="000000"/>
                          </a:solidFill>
                          <a:latin typeface="Ubuntu Mono"/>
                          <a:ea typeface="Ubuntu Mono"/>
                          <a:cs typeface="Ubuntu Mono"/>
                          <a:sym typeface="Ubuntu Mono"/>
                        </a:rPr>
                        <a:t>17-1/2 - 26</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80"/>
                        </a:lnSpc>
                      </a:pPr>
                      <a:r>
                        <a:rPr sz="720" b="0">
                          <a:solidFill>
                            <a:srgbClr val="000000"/>
                          </a:solidFill>
                          <a:latin typeface="Ubuntu Mono"/>
                          <a:ea typeface="Ubuntu Mono"/>
                          <a:cs typeface="Ubuntu Mono"/>
                          <a:sym typeface="Ubuntu Mono"/>
                        </a:rPr>
                        <a:t>17-1/2 - 26</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80"/>
                        </a:lnSpc>
                      </a:pPr>
                      <a:r>
                        <a:rPr sz="720" b="0">
                          <a:solidFill>
                            <a:srgbClr val="000000"/>
                          </a:solidFill>
                          <a:latin typeface="Ubuntu Mono"/>
                          <a:ea typeface="Ubuntu Mono"/>
                          <a:cs typeface="Ubuntu Mono"/>
                          <a:sym typeface="Ubuntu Mono"/>
                        </a:rPr>
                        <a:t>14-3/4</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80"/>
                        </a:lnSpc>
                      </a:pPr>
                      <a:r>
                        <a:rPr sz="720" b="0">
                          <a:solidFill>
                            <a:srgbClr val="000000"/>
                          </a:solidFill>
                          <a:latin typeface="Ubuntu Mono"/>
                          <a:ea typeface="Ubuntu Mono"/>
                          <a:cs typeface="Ubuntu Mono"/>
                          <a:sym typeface="Ubuntu Mono"/>
                        </a:rPr>
                        <a:t>14-3/4</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80"/>
                        </a:lnSpc>
                      </a:pPr>
                      <a:r>
                        <a:rPr sz="720" b="0">
                          <a:solidFill>
                            <a:srgbClr val="000000"/>
                          </a:solidFill>
                          <a:latin typeface="Ubuntu Mono"/>
                          <a:ea typeface="Ubuntu Mono"/>
                          <a:cs typeface="Ubuntu Mono"/>
                          <a:sym typeface="Ubuntu Mono"/>
                        </a:rPr>
                        <a:t>16 x 75</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80"/>
                        </a:lnSpc>
                      </a:pPr>
                      <a:r>
                        <a:rPr sz="720" b="0">
                          <a:solidFill>
                            <a:srgbClr val="000000"/>
                          </a:solidFill>
                          <a:latin typeface="Ubuntu Mono"/>
                          <a:ea typeface="Ubuntu Mono"/>
                          <a:cs typeface="Ubuntu Mono"/>
                          <a:sym typeface="Ubuntu Mono"/>
                        </a:rPr>
                        <a:t>20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80"/>
                        </a:lnSpc>
                      </a:pPr>
                      <a:r>
                        <a:rPr sz="720" b="0">
                          <a:solidFill>
                            <a:srgbClr val="000000"/>
                          </a:solidFill>
                          <a:latin typeface="Ubuntu Mono"/>
                          <a:ea typeface="Ubuntu Mono"/>
                          <a:cs typeface="Ubuntu Mono"/>
                          <a:sym typeface="Ubuntu Mono"/>
                        </a:rPr>
                        <a:t>8 or 9</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80"/>
                        </a:lnSpc>
                      </a:pPr>
                      <a:r>
                        <a:rPr sz="720" b="0">
                          <a:solidFill>
                            <a:srgbClr val="000000"/>
                          </a:solidFill>
                          <a:latin typeface="Ubuntu Mono"/>
                          <a:ea typeface="Ubuntu Mono"/>
                          <a:cs typeface="Ubuntu Mono"/>
                          <a:sym typeface="Ubuntu Mono"/>
                        </a:rPr>
                        <a:t>97</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80"/>
                        </a:lnSpc>
                      </a:pPr>
                      <a:r>
                        <a:rPr sz="720" b="0">
                          <a:solidFill>
                            <a:srgbClr val="000000"/>
                          </a:solidFill>
                          <a:latin typeface="Ubuntu Mono"/>
                          <a:ea typeface="Ubuntu Mono"/>
                          <a:cs typeface="Ubuntu Mono"/>
                          <a:sym typeface="Ubuntu Mono"/>
                        </a:rPr>
                        <a:t>6-5/8 or 7-5/8</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80"/>
                        </a:lnSpc>
                      </a:pPr>
                      <a:r>
                        <a:rPr sz="720" b="0">
                          <a:solidFill>
                            <a:srgbClr val="000000"/>
                          </a:solidFill>
                          <a:latin typeface="Ubuntu Mono"/>
                          <a:ea typeface="Ubuntu Mono"/>
                          <a:cs typeface="Ubuntu Mono"/>
                          <a:sym typeface="Ubuntu Mono"/>
                        </a:rPr>
                        <a:t>2,800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r>
              <a:tr h="142240">
                <a:tc>
                  <a:txBody>
                    <a:bodyPr wrap="square"/>
                    <a:lstStyle/>
                    <a:p>
                      <a:pPr algn="ctr">
                        <a:lnSpc>
                          <a:spcPts val="880"/>
                        </a:lnSpc>
                      </a:pPr>
                      <a:r>
                        <a:rPr sz="720" b="0">
                          <a:solidFill>
                            <a:srgbClr val="FEFEFF"/>
                          </a:solidFill>
                          <a:latin typeface="Ubuntu Mono"/>
                          <a:ea typeface="Ubuntu Mono"/>
                          <a:cs typeface="Ubuntu Mono"/>
                          <a:sym typeface="Ubuntu Mono"/>
                        </a:rPr>
                        <a:t>17000*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01ADEE"/>
                    </a:solidFill>
                  </a:tcPr>
                </a:tc>
                <a:tc>
                  <a:txBody>
                    <a:bodyPr wrap="square"/>
                    <a:lstStyle/>
                    <a:p>
                      <a:pPr algn="ctr">
                        <a:lnSpc>
                          <a:spcPts val="880"/>
                        </a:lnSpc>
                      </a:pPr>
                      <a:r>
                        <a:rPr sz="720" b="0">
                          <a:solidFill>
                            <a:srgbClr val="000000"/>
                          </a:solidFill>
                          <a:latin typeface="Ubuntu Mono"/>
                          <a:ea typeface="Ubuntu Mono"/>
                          <a:cs typeface="Ubuntu Mono"/>
                          <a:sym typeface="Ubuntu Mono"/>
                        </a:rPr>
                        <a:t>32</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80"/>
                        </a:lnSpc>
                      </a:pPr>
                      <a:r>
                        <a:rPr sz="720" b="0">
                          <a:solidFill>
                            <a:srgbClr val="000000"/>
                          </a:solidFill>
                          <a:latin typeface="Ubuntu Mono"/>
                          <a:ea typeface="Ubuntu Mono"/>
                          <a:cs typeface="Ubuntu Mono"/>
                          <a:sym typeface="Ubuntu Mono"/>
                        </a:rPr>
                        <a:t>24 - 32</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80"/>
                        </a:lnSpc>
                      </a:pPr>
                      <a:r>
                        <a:rPr sz="720" b="0">
                          <a:solidFill>
                            <a:srgbClr val="000000"/>
                          </a:solidFill>
                          <a:latin typeface="Ubuntu Mono"/>
                          <a:ea typeface="Ubuntu Mono"/>
                          <a:cs typeface="Ubuntu Mono"/>
                          <a:sym typeface="Ubuntu Mono"/>
                        </a:rPr>
                        <a:t>17</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80"/>
                        </a:lnSpc>
                      </a:pPr>
                      <a:r>
                        <a:rPr sz="720" b="0">
                          <a:solidFill>
                            <a:srgbClr val="000000"/>
                          </a:solidFill>
                          <a:latin typeface="Ubuntu Mono"/>
                          <a:ea typeface="Ubuntu Mono"/>
                          <a:cs typeface="Ubuntu Mono"/>
                          <a:sym typeface="Ubuntu Mono"/>
                        </a:rPr>
                        <a:t>17</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80"/>
                        </a:lnSpc>
                      </a:pPr>
                      <a:r>
                        <a:rPr sz="720" b="0">
                          <a:solidFill>
                            <a:srgbClr val="000000"/>
                          </a:solidFill>
                          <a:latin typeface="Ubuntu Mono"/>
                          <a:ea typeface="Ubuntu Mono"/>
                          <a:cs typeface="Ubuntu Mono"/>
                          <a:sym typeface="Ubuntu Mono"/>
                        </a:rPr>
                        <a:t>18-5/8 x 78</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80"/>
                        </a:lnSpc>
                      </a:pPr>
                      <a:r>
                        <a:rPr sz="720" b="0">
                          <a:solidFill>
                            <a:srgbClr val="000000"/>
                          </a:solidFill>
                          <a:latin typeface="Ubuntu Mono"/>
                          <a:ea typeface="Ubuntu Mono"/>
                          <a:cs typeface="Ubuntu Mono"/>
                          <a:sym typeface="Ubuntu Mono"/>
                        </a:rPr>
                        <a:t>20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80"/>
                        </a:lnSpc>
                      </a:pPr>
                      <a:r>
                        <a:rPr sz="720" b="0">
                          <a:solidFill>
                            <a:srgbClr val="000000"/>
                          </a:solidFill>
                          <a:latin typeface="Ubuntu Mono"/>
                          <a:ea typeface="Ubuntu Mono"/>
                          <a:cs typeface="Ubuntu Mono"/>
                          <a:sym typeface="Ubuntu Mono"/>
                        </a:rPr>
                        <a:t>9 or 10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80"/>
                        </a:lnSpc>
                      </a:pPr>
                      <a:r>
                        <a:rPr sz="720" b="0">
                          <a:solidFill>
                            <a:srgbClr val="000000"/>
                          </a:solidFill>
                          <a:latin typeface="Ubuntu Mono"/>
                          <a:ea typeface="Ubuntu Mono"/>
                          <a:cs typeface="Ubuntu Mono"/>
                          <a:sym typeface="Ubuntu Mono"/>
                        </a:rPr>
                        <a:t>87</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80"/>
                        </a:lnSpc>
                      </a:pPr>
                      <a:r>
                        <a:rPr sz="720" b="0">
                          <a:solidFill>
                            <a:srgbClr val="000000"/>
                          </a:solidFill>
                          <a:latin typeface="Ubuntu Mono"/>
                          <a:ea typeface="Ubuntu Mono"/>
                          <a:cs typeface="Ubuntu Mono"/>
                          <a:sym typeface="Ubuntu Mono"/>
                        </a:rPr>
                        <a:t>7-5/8 or 8-5/8</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80"/>
                        </a:lnSpc>
                      </a:pPr>
                      <a:r>
                        <a:rPr sz="720" b="0">
                          <a:solidFill>
                            <a:srgbClr val="000000"/>
                          </a:solidFill>
                          <a:latin typeface="Ubuntu Mono"/>
                          <a:ea typeface="Ubuntu Mono"/>
                          <a:cs typeface="Ubuntu Mono"/>
                          <a:sym typeface="Ubuntu Mono"/>
                        </a:rPr>
                        <a:t>3,000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r>
              <a:tr h="142240">
                <a:tc>
                  <a:txBody>
                    <a:bodyPr wrap="square"/>
                    <a:lstStyle/>
                    <a:p>
                      <a:pPr algn="ctr">
                        <a:lnSpc>
                          <a:spcPts val="880"/>
                        </a:lnSpc>
                      </a:pPr>
                      <a:r>
                        <a:rPr sz="720" b="0">
                          <a:solidFill>
                            <a:srgbClr val="FEFEFF"/>
                          </a:solidFill>
                          <a:latin typeface="Ubuntu Mono"/>
                          <a:ea typeface="Ubuntu Mono"/>
                          <a:cs typeface="Ubuntu Mono"/>
                          <a:sym typeface="Ubuntu Mono"/>
                        </a:rPr>
                        <a:t>22000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194E9A"/>
                    </a:solidFill>
                  </a:tcPr>
                </a:tc>
                <a:tc>
                  <a:txBody>
                    <a:bodyPr wrap="square"/>
                    <a:lstStyle/>
                    <a:p>
                      <a:pPr algn="ctr">
                        <a:lnSpc>
                          <a:spcPts val="880"/>
                        </a:lnSpc>
                      </a:pPr>
                      <a:r>
                        <a:rPr sz="720" b="0">
                          <a:solidFill>
                            <a:srgbClr val="000000"/>
                          </a:solidFill>
                          <a:latin typeface="Ubuntu Mono"/>
                          <a:ea typeface="Ubuntu Mono"/>
                          <a:cs typeface="Ubuntu Mono"/>
                          <a:sym typeface="Ubuntu Mono"/>
                        </a:rPr>
                        <a:t>36</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80"/>
                        </a:lnSpc>
                      </a:pPr>
                      <a:r>
                        <a:rPr sz="720" b="0">
                          <a:solidFill>
                            <a:srgbClr val="000000"/>
                          </a:solidFill>
                          <a:latin typeface="Ubuntu Mono"/>
                          <a:ea typeface="Ubuntu Mono"/>
                          <a:cs typeface="Ubuntu Mono"/>
                          <a:sym typeface="Ubuntu Mono"/>
                        </a:rPr>
                        <a:t>28 - 36</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80"/>
                        </a:lnSpc>
                      </a:pPr>
                      <a:r>
                        <a:rPr sz="720" b="0">
                          <a:solidFill>
                            <a:srgbClr val="000000"/>
                          </a:solidFill>
                          <a:latin typeface="Ubuntu Mono"/>
                          <a:ea typeface="Ubuntu Mono"/>
                          <a:cs typeface="Ubuntu Mono"/>
                          <a:sym typeface="Ubuntu Mono"/>
                        </a:rPr>
                        <a:t>22</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80"/>
                        </a:lnSpc>
                      </a:pPr>
                      <a:r>
                        <a:rPr sz="720" b="0">
                          <a:solidFill>
                            <a:srgbClr val="000000"/>
                          </a:solidFill>
                          <a:latin typeface="Ubuntu Mono"/>
                          <a:ea typeface="Ubuntu Mono"/>
                          <a:cs typeface="Ubuntu Mono"/>
                          <a:sym typeface="Ubuntu Mono"/>
                        </a:rPr>
                        <a:t>22</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80"/>
                        </a:lnSpc>
                      </a:pPr>
                      <a:r>
                        <a:rPr sz="720" b="0">
                          <a:solidFill>
                            <a:srgbClr val="000000"/>
                          </a:solidFill>
                          <a:latin typeface="Ubuntu Mono"/>
                          <a:ea typeface="Ubuntu Mono"/>
                          <a:cs typeface="Ubuntu Mono"/>
                          <a:sym typeface="Ubuntu Mono"/>
                        </a:rPr>
                        <a:t>24-1/2 x 113</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80"/>
                        </a:lnSpc>
                      </a:pPr>
                      <a:r>
                        <a:rPr sz="720" b="0">
                          <a:solidFill>
                            <a:srgbClr val="000000"/>
                          </a:solidFill>
                          <a:latin typeface="Ubuntu Mono"/>
                          <a:ea typeface="Ubuntu Mono"/>
                          <a:cs typeface="Ubuntu Mono"/>
                          <a:sym typeface="Ubuntu Mono"/>
                        </a:rPr>
                        <a:t>20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80"/>
                        </a:lnSpc>
                      </a:pPr>
                      <a:r>
                        <a:rPr sz="720" b="0">
                          <a:solidFill>
                            <a:srgbClr val="000000"/>
                          </a:solidFill>
                          <a:latin typeface="Ubuntu Mono"/>
                          <a:ea typeface="Ubuntu Mono"/>
                          <a:cs typeface="Ubuntu Mono"/>
                          <a:sym typeface="Ubuntu Mono"/>
                        </a:rPr>
                        <a:t>9 or 10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80"/>
                        </a:lnSpc>
                      </a:pPr>
                      <a:r>
                        <a:rPr sz="720" b="0">
                          <a:solidFill>
                            <a:srgbClr val="000000"/>
                          </a:solidFill>
                          <a:latin typeface="Ubuntu Mono"/>
                          <a:ea typeface="Ubuntu Mono"/>
                          <a:cs typeface="Ubuntu Mono"/>
                          <a:sym typeface="Ubuntu Mono"/>
                        </a:rPr>
                        <a:t>100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80"/>
                        </a:lnSpc>
                      </a:pPr>
                      <a:r>
                        <a:rPr sz="720" b="0">
                          <a:solidFill>
                            <a:srgbClr val="000000"/>
                          </a:solidFill>
                          <a:latin typeface="Ubuntu Mono"/>
                          <a:ea typeface="Ubuntu Mono"/>
                          <a:cs typeface="Ubuntu Mono"/>
                          <a:sym typeface="Ubuntu Mono"/>
                        </a:rPr>
                        <a:t>7-5/8 or 8-5/8</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80"/>
                        </a:lnSpc>
                      </a:pPr>
                      <a:r>
                        <a:rPr sz="720" b="0">
                          <a:solidFill>
                            <a:srgbClr val="000000"/>
                          </a:solidFill>
                          <a:latin typeface="Ubuntu Mono"/>
                          <a:ea typeface="Ubuntu Mono"/>
                          <a:cs typeface="Ubuntu Mono"/>
                          <a:sym typeface="Ubuntu Mono"/>
                        </a:rPr>
                        <a:t>4,400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r>
            </a:tbl>
          </a:graphicData>
        </a:graphic>
      </p:graphicFrame>
      <p:sp>
        <p:nvSpPr>
          <p:cNvPr id="23" name="TextBox 22"/>
          <p:cNvSpPr txBox="1"/>
          <p:nvPr/>
        </p:nvSpPr>
        <p:spPr>
          <a:xfrm>
            <a:off x="711200" y="6715759"/>
            <a:ext cx="6134100" cy="114300"/>
          </a:xfrm>
          <a:prstGeom prst="rect">
            <a:avLst/>
          </a:prstGeom>
          <a:noFill/>
        </p:spPr>
        <p:txBody>
          <a:bodyPr wrap="square" lIns="0" rIns="0" tIns="0" bIns="0">
            <a:spAutoFit/>
          </a:bodyPr>
          <a:lstStyle/>
          <a:p>
            <a:pPr algn="l">
              <a:spcAft>
                <a:spcPts val="0"/>
              </a:spcAft>
            </a:pPr>
            <a:r>
              <a:rPr sz="640" b="0">
                <a:solidFill>
                  <a:srgbClr val="444444"/>
                </a:solidFill>
                <a:latin typeface="Ubuntu Mono"/>
                <a:ea typeface="Ubuntu Mono"/>
                <a:cs typeface="Ubuntu Mono"/>
                <a:sym typeface="Ubuntu Mono"/>
              </a:rPr>
              <a:t>* Available with PDC Bearclaw cutters. Dimensions in inches, weights in lb (approximate). Optional opening diameters on request.</a:t>
            </a:r>
          </a:p>
        </p:txBody>
      </p:sp>
      <p:sp>
        <p:nvSpPr>
          <p:cNvPr id="24" name="TextBox 23"/>
          <p:cNvSpPr txBox="1"/>
          <p:nvPr/>
        </p:nvSpPr>
        <p:spPr>
          <a:xfrm>
            <a:off x="711200" y="6985000"/>
            <a:ext cx="3048000" cy="177800"/>
          </a:xfrm>
          <a:prstGeom prst="rect">
            <a:avLst/>
          </a:prstGeom>
          <a:noFill/>
        </p:spPr>
        <p:txBody>
          <a:bodyPr wrap="square" lIns="0" rIns="0" tIns="0" bIns="0">
            <a:spAutoFit/>
          </a:bodyPr>
          <a:lstStyle/>
          <a:p>
            <a:pPr algn="ctr">
              <a:spcAft>
                <a:spcPts val="0"/>
              </a:spcAft>
            </a:pPr>
            <a:r>
              <a:rPr sz="1050" b="1" spc="20">
                <a:solidFill>
                  <a:srgbClr val="194E9A"/>
                </a:solidFill>
                <a:latin typeface="Ubuntu Mono"/>
                <a:ea typeface="Ubuntu Mono"/>
                <a:cs typeface="Ubuntu Mono"/>
                <a:sym typeface="Ubuntu Mono"/>
              </a:rPr>
              <a:t>DESIGN FEATURES</a:t>
            </a:r>
          </a:p>
        </p:txBody>
      </p:sp>
      <p:sp>
        <p:nvSpPr>
          <p:cNvPr id="25" name="TextBox 24"/>
          <p:cNvSpPr txBox="1"/>
          <p:nvPr/>
        </p:nvSpPr>
        <p:spPr>
          <a:xfrm>
            <a:off x="711200" y="7188200"/>
            <a:ext cx="3098800" cy="127000"/>
          </a:xfrm>
          <a:prstGeom prst="rect">
            <a:avLst/>
          </a:prstGeom>
          <a:noFill/>
        </p:spPr>
        <p:txBody>
          <a:bodyPr wrap="square" lIns="0" rIns="0" tIns="0" bIns="0">
            <a:spAutoFit/>
          </a:bodyPr>
          <a:lstStyle/>
          <a:p>
            <a:pPr algn="l">
              <a:lnSpc>
                <a:spcPts val="919"/>
              </a:lnSpc>
              <a:spcAft>
                <a:spcPts val="220"/>
              </a:spcAft>
            </a:pPr>
            <a:r>
              <a:rPr sz="570" b="0">
                <a:solidFill>
                  <a:srgbClr val="01ADEE"/>
                </a:solidFill>
                <a:latin typeface="Ubuntu Mono"/>
                <a:ea typeface="Ubuntu Mono"/>
                <a:cs typeface="Ubuntu Mono"/>
                <a:sym typeface="Ubuntu Mono"/>
              </a:rPr>
              <a:t>■ </a:t>
            </a:r>
            <a:r>
              <a:rPr sz="720" b="1">
                <a:solidFill>
                  <a:srgbClr val="000000"/>
                </a:solidFill>
                <a:latin typeface="Ubuntu Mono"/>
                <a:ea typeface="Ubuntu Mono"/>
                <a:cs typeface="Ubuntu Mono"/>
                <a:sym typeface="Ubuntu Mono"/>
              </a:rPr>
              <a:t>Drill and underream in one run: </a:t>
            </a:r>
            <a:r>
              <a:rPr sz="720" b="0">
                <a:solidFill>
                  <a:srgbClr val="000000"/>
                </a:solidFill>
                <a:latin typeface="Ubuntu Mono"/>
                <a:ea typeface="Ubuntu Mono"/>
                <a:cs typeface="Ubuntu Mono"/>
                <a:sym typeface="Ubuntu Mono"/>
              </a:rPr>
              <a:t>bottom box connection for a bit or bullnose.</a:t>
            </a:r>
          </a:p>
          <a:p>
            <a:pPr algn="l">
              <a:lnSpc>
                <a:spcPts val="919"/>
              </a:lnSpc>
              <a:spcAft>
                <a:spcPts val="220"/>
              </a:spcAft>
            </a:pPr>
            <a:r>
              <a:rPr sz="570" b="0">
                <a:solidFill>
                  <a:srgbClr val="01ADEE"/>
                </a:solidFill>
                <a:latin typeface="Ubuntu Mono"/>
                <a:ea typeface="Ubuntu Mono"/>
                <a:cs typeface="Ubuntu Mono"/>
                <a:sym typeface="Ubuntu Mono"/>
              </a:rPr>
              <a:t>■ </a:t>
            </a:r>
            <a:r>
              <a:rPr sz="720" b="1">
                <a:solidFill>
                  <a:srgbClr val="000000"/>
                </a:solidFill>
                <a:latin typeface="Ubuntu Mono"/>
                <a:ea typeface="Ubuntu Mono"/>
                <a:cs typeface="Ubuntu Mono"/>
                <a:sym typeface="Ubuntu Mono"/>
              </a:rPr>
              <a:t>Flexible hydraulics: </a:t>
            </a:r>
            <a:r>
              <a:rPr sz="720" b="0">
                <a:solidFill>
                  <a:srgbClr val="000000"/>
                </a:solidFill>
                <a:latin typeface="Ubuntu Mono"/>
                <a:ea typeface="Ubuntu Mono"/>
                <a:cs typeface="Ubuntu Mono"/>
                <a:sym typeface="Ubuntu Mono"/>
              </a:rPr>
              <a:t>flow can be divided between the arms and the bit or bullnose; orifice jets are selected to suit the available hydraulics.</a:t>
            </a:r>
          </a:p>
          <a:p>
            <a:pPr algn="l">
              <a:lnSpc>
                <a:spcPts val="919"/>
              </a:lnSpc>
              <a:spcAft>
                <a:spcPts val="220"/>
              </a:spcAft>
            </a:pPr>
            <a:r>
              <a:rPr sz="570" b="0">
                <a:solidFill>
                  <a:srgbClr val="01ADEE"/>
                </a:solidFill>
                <a:latin typeface="Ubuntu Mono"/>
                <a:ea typeface="Ubuntu Mono"/>
                <a:cs typeface="Ubuntu Mono"/>
                <a:sym typeface="Ubuntu Mono"/>
              </a:rPr>
              <a:t>■ </a:t>
            </a:r>
            <a:r>
              <a:rPr sz="720" b="1">
                <a:solidFill>
                  <a:srgbClr val="000000"/>
                </a:solidFill>
                <a:latin typeface="Ubuntu Mono"/>
                <a:ea typeface="Ubuntu Mono"/>
                <a:cs typeface="Ubuntu Mono"/>
                <a:sym typeface="Ubuntu Mono"/>
              </a:rPr>
              <a:t>Cooling and cleaning: </a:t>
            </a:r>
            <a:r>
              <a:rPr sz="720" b="0">
                <a:solidFill>
                  <a:srgbClr val="000000"/>
                </a:solidFill>
                <a:latin typeface="Ubuntu Mono"/>
                <a:ea typeface="Ubuntu Mono"/>
                <a:cs typeface="Ubuntu Mono"/>
                <a:sym typeface="Ubuntu Mono"/>
              </a:rPr>
              <a:t>jet placement keeps the cutters cool and aids annular lift of cuttings.</a:t>
            </a:r>
          </a:p>
          <a:p>
            <a:pPr algn="l">
              <a:lnSpc>
                <a:spcPts val="919"/>
              </a:lnSpc>
              <a:spcAft>
                <a:spcPts val="220"/>
              </a:spcAft>
            </a:pPr>
            <a:r>
              <a:rPr sz="570" b="0">
                <a:solidFill>
                  <a:srgbClr val="01ADEE"/>
                </a:solidFill>
                <a:latin typeface="Ubuntu Mono"/>
                <a:ea typeface="Ubuntu Mono"/>
                <a:cs typeface="Ubuntu Mono"/>
                <a:sym typeface="Ubuntu Mono"/>
              </a:rPr>
              <a:t>■ </a:t>
            </a:r>
            <a:r>
              <a:rPr sz="720" b="1">
                <a:solidFill>
                  <a:srgbClr val="000000"/>
                </a:solidFill>
                <a:latin typeface="Ubuntu Mono"/>
                <a:ea typeface="Ubuntu Mono"/>
                <a:cs typeface="Ubuntu Mono"/>
                <a:sym typeface="Ubuntu Mono"/>
              </a:rPr>
              <a:t>Extra flow options: </a:t>
            </a:r>
            <a:r>
              <a:rPr sz="720" b="0">
                <a:solidFill>
                  <a:srgbClr val="000000"/>
                </a:solidFill>
                <a:latin typeface="Ubuntu Mono"/>
                <a:ea typeface="Ubuntu Mono"/>
                <a:cs typeface="Ubuntu Mono"/>
                <a:sym typeface="Ubuntu Mono"/>
              </a:rPr>
              <a:t>jetted bullnose and jetted top sub to divert more flow when needed.</a:t>
            </a:r>
          </a:p>
          <a:p>
            <a:pPr algn="l">
              <a:lnSpc>
                <a:spcPts val="919"/>
              </a:lnSpc>
              <a:spcAft>
                <a:spcPts val="220"/>
              </a:spcAft>
            </a:pPr>
            <a:r>
              <a:rPr sz="570" b="0">
                <a:solidFill>
                  <a:srgbClr val="01ADEE"/>
                </a:solidFill>
                <a:latin typeface="Ubuntu Mono"/>
                <a:ea typeface="Ubuntu Mono"/>
                <a:cs typeface="Ubuntu Mono"/>
                <a:sym typeface="Ubuntu Mono"/>
              </a:rPr>
              <a:t>■ </a:t>
            </a:r>
            <a:r>
              <a:rPr sz="720" b="1">
                <a:solidFill>
                  <a:srgbClr val="000000"/>
                </a:solidFill>
                <a:latin typeface="Ubuntu Mono"/>
                <a:ea typeface="Ubuntu Mono"/>
                <a:cs typeface="Ubuntu Mono"/>
                <a:sym typeface="Ubuntu Mono"/>
              </a:rPr>
              <a:t>Cutting structures: </a:t>
            </a:r>
            <a:r>
              <a:rPr sz="720" b="0">
                <a:solidFill>
                  <a:srgbClr val="000000"/>
                </a:solidFill>
                <a:latin typeface="Ubuntu Mono"/>
                <a:ea typeface="Ubuntu Mono"/>
                <a:cs typeface="Ubuntu Mono"/>
                <a:sym typeface="Ubuntu Mono"/>
              </a:rPr>
              <a:t>open-bearing milled tooth (standard), TCI or PDC Bearclaw.</a:t>
            </a:r>
          </a:p>
        </p:txBody>
      </p:sp>
      <p:sp>
        <p:nvSpPr>
          <p:cNvPr id="26" name="TextBox 25"/>
          <p:cNvSpPr txBox="1"/>
          <p:nvPr/>
        </p:nvSpPr>
        <p:spPr>
          <a:xfrm>
            <a:off x="711200" y="8763000"/>
            <a:ext cx="3098800" cy="177800"/>
          </a:xfrm>
          <a:prstGeom prst="rect">
            <a:avLst/>
          </a:prstGeom>
          <a:noFill/>
        </p:spPr>
        <p:txBody>
          <a:bodyPr wrap="square" lIns="0" rIns="0" tIns="0" bIns="0">
            <a:spAutoFit/>
          </a:bodyPr>
          <a:lstStyle/>
          <a:p>
            <a:pPr algn="ctr">
              <a:spcAft>
                <a:spcPts val="0"/>
              </a:spcAft>
            </a:pPr>
            <a:r>
              <a:rPr sz="1050" b="1" spc="20">
                <a:solidFill>
                  <a:srgbClr val="194E9A"/>
                </a:solidFill>
                <a:latin typeface="Ubuntu Mono"/>
                <a:ea typeface="Ubuntu Mono"/>
                <a:cs typeface="Ubuntu Mono"/>
                <a:sym typeface="Ubuntu Mono"/>
              </a:rPr>
              <a:t>PERFORMANCE PARAMETERS</a:t>
            </a:r>
          </a:p>
        </p:txBody>
      </p:sp>
      <p:graphicFrame>
        <p:nvGraphicFramePr>
          <p:cNvPr id="27" name="Table 26"/>
          <p:cNvGraphicFramePr>
            <a:graphicFrameLocks noGrp="1"/>
          </p:cNvGraphicFramePr>
          <p:nvPr/>
        </p:nvGraphicFramePr>
        <p:xfrm>
          <a:off x="711200" y="8953500"/>
          <a:ext cx="3098800" cy="944880"/>
        </p:xfrm>
        <a:graphic>
          <a:graphicData uri="http://schemas.openxmlformats.org/drawingml/2006/table">
            <a:tbl>
              <a:tblPr/>
              <a:tblGrid>
                <a:gridCol w="1422400"/>
                <a:gridCol w="1676400"/>
              </a:tblGrid>
              <a:tr h="157480">
                <a:tc>
                  <a:txBody>
                    <a:bodyPr wrap="square"/>
                    <a:lstStyle/>
                    <a:p>
                      <a:pPr algn="l">
                        <a:lnSpc>
                          <a:spcPts val="840"/>
                        </a:lnSpc>
                      </a:pPr>
                      <a:r>
                        <a:rPr sz="680" b="0">
                          <a:solidFill>
                            <a:srgbClr val="FEFEFF"/>
                          </a:solidFill>
                          <a:latin typeface="Ubuntu Mono"/>
                          <a:ea typeface="Ubuntu Mono"/>
                          <a:cs typeface="Ubuntu Mono"/>
                          <a:sym typeface="Ubuntu Mono"/>
                        </a:rPr>
                        <a:t>Rotary speed, reaching shoulder depth</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194E9A"/>
                    </a:solidFill>
                  </a:tcPr>
                </a:tc>
                <a:tc>
                  <a:txBody>
                    <a:bodyPr wrap="square"/>
                    <a:lstStyle/>
                    <a:p>
                      <a:pPr algn="l">
                        <a:lnSpc>
                          <a:spcPts val="840"/>
                        </a:lnSpc>
                      </a:pPr>
                      <a:r>
                        <a:rPr sz="680" b="0">
                          <a:solidFill>
                            <a:srgbClr val="000000"/>
                          </a:solidFill>
                          <a:latin typeface="Ubuntu Mono"/>
                          <a:ea typeface="Ubuntu Mono"/>
                          <a:cs typeface="Ubuntu Mono"/>
                          <a:sym typeface="Ubuntu Mono"/>
                        </a:rPr>
                        <a:t>30 - 50 rpm</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r>
              <a:tr h="157480">
                <a:tc>
                  <a:txBody>
                    <a:bodyPr wrap="square"/>
                    <a:lstStyle/>
                    <a:p>
                      <a:pPr algn="l">
                        <a:lnSpc>
                          <a:spcPts val="840"/>
                        </a:lnSpc>
                      </a:pPr>
                      <a:r>
                        <a:rPr sz="680" b="0">
                          <a:solidFill>
                            <a:srgbClr val="FEFEFF"/>
                          </a:solidFill>
                          <a:latin typeface="Ubuntu Mono"/>
                          <a:ea typeface="Ubuntu Mono"/>
                          <a:cs typeface="Ubuntu Mono"/>
                          <a:sym typeface="Ubuntu Mono"/>
                        </a:rPr>
                        <a:t>Rotary speed, cutting the shoulder</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01ADEE"/>
                    </a:solidFill>
                  </a:tcPr>
                </a:tc>
                <a:tc>
                  <a:txBody>
                    <a:bodyPr wrap="square"/>
                    <a:lstStyle/>
                    <a:p>
                      <a:pPr algn="l">
                        <a:lnSpc>
                          <a:spcPts val="840"/>
                        </a:lnSpc>
                      </a:pPr>
                      <a:r>
                        <a:rPr sz="680" b="0">
                          <a:solidFill>
                            <a:srgbClr val="000000"/>
                          </a:solidFill>
                          <a:latin typeface="Ubuntu Mono"/>
                          <a:ea typeface="Ubuntu Mono"/>
                          <a:cs typeface="Ubuntu Mono"/>
                          <a:sym typeface="Ubuntu Mono"/>
                        </a:rPr>
                        <a:t>80 - 150 rpm max.</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r>
              <a:tr h="157480">
                <a:tc>
                  <a:txBody>
                    <a:bodyPr wrap="square"/>
                    <a:lstStyle/>
                    <a:p>
                      <a:pPr algn="l">
                        <a:lnSpc>
                          <a:spcPts val="840"/>
                        </a:lnSpc>
                      </a:pPr>
                      <a:r>
                        <a:rPr sz="680" b="0">
                          <a:solidFill>
                            <a:srgbClr val="FEFEFF"/>
                          </a:solidFill>
                          <a:latin typeface="Ubuntu Mono"/>
                          <a:ea typeface="Ubuntu Mono"/>
                          <a:cs typeface="Ubuntu Mono"/>
                          <a:sym typeface="Ubuntu Mono"/>
                        </a:rPr>
                        <a:t>Rotary speed, underreaming</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194E9A"/>
                    </a:solidFill>
                  </a:tcPr>
                </a:tc>
                <a:tc>
                  <a:txBody>
                    <a:bodyPr wrap="square"/>
                    <a:lstStyle/>
                    <a:p>
                      <a:pPr algn="l">
                        <a:lnSpc>
                          <a:spcPts val="840"/>
                        </a:lnSpc>
                      </a:pPr>
                      <a:r>
                        <a:rPr sz="680" b="0">
                          <a:solidFill>
                            <a:srgbClr val="000000"/>
                          </a:solidFill>
                          <a:latin typeface="Ubuntu Mono"/>
                          <a:ea typeface="Ubuntu Mono"/>
                          <a:cs typeface="Ubuntu Mono"/>
                          <a:sym typeface="Ubuntu Mono"/>
                        </a:rPr>
                        <a:t>80 rpm</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r>
              <a:tr h="157480">
                <a:tc>
                  <a:txBody>
                    <a:bodyPr wrap="square"/>
                    <a:lstStyle/>
                    <a:p>
                      <a:pPr algn="l">
                        <a:lnSpc>
                          <a:spcPts val="840"/>
                        </a:lnSpc>
                      </a:pPr>
                      <a:r>
                        <a:rPr sz="680" b="0">
                          <a:solidFill>
                            <a:srgbClr val="FEFEFF"/>
                          </a:solidFill>
                          <a:latin typeface="Ubuntu Mono"/>
                          <a:ea typeface="Ubuntu Mono"/>
                          <a:cs typeface="Ubuntu Mono"/>
                          <a:sym typeface="Ubuntu Mono"/>
                        </a:rPr>
                        <a:t>Weight on tool</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01ADEE"/>
                    </a:solidFill>
                  </a:tcPr>
                </a:tc>
                <a:tc>
                  <a:txBody>
                    <a:bodyPr wrap="square"/>
                    <a:lstStyle/>
                    <a:p>
                      <a:pPr algn="l">
                        <a:lnSpc>
                          <a:spcPts val="840"/>
                        </a:lnSpc>
                      </a:pPr>
                      <a:r>
                        <a:rPr sz="680" b="0">
                          <a:solidFill>
                            <a:srgbClr val="000000"/>
                          </a:solidFill>
                          <a:latin typeface="Ubuntu Mono"/>
                          <a:ea typeface="Ubuntu Mono"/>
                          <a:cs typeface="Ubuntu Mono"/>
                          <a:sym typeface="Ubuntu Mono"/>
                        </a:rPr>
                        <a:t>1,000 lb per inch of body Ø</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r>
              <a:tr h="157480">
                <a:tc>
                  <a:txBody>
                    <a:bodyPr wrap="square"/>
                    <a:lstStyle/>
                    <a:p>
                      <a:pPr algn="l">
                        <a:lnSpc>
                          <a:spcPts val="840"/>
                        </a:lnSpc>
                      </a:pPr>
                      <a:r>
                        <a:rPr sz="680" b="0">
                          <a:solidFill>
                            <a:srgbClr val="FEFEFF"/>
                          </a:solidFill>
                          <a:latin typeface="Ubuntu Mono"/>
                          <a:ea typeface="Ubuntu Mono"/>
                          <a:cs typeface="Ubuntu Mono"/>
                          <a:sym typeface="Ubuntu Mono"/>
                        </a:rPr>
                        <a:t>Stabilization</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194E9A"/>
                    </a:solidFill>
                  </a:tcPr>
                </a:tc>
                <a:tc>
                  <a:txBody>
                    <a:bodyPr wrap="square"/>
                    <a:lstStyle/>
                    <a:p>
                      <a:pPr algn="l">
                        <a:lnSpc>
                          <a:spcPts val="840"/>
                        </a:lnSpc>
                      </a:pPr>
                      <a:r>
                        <a:rPr sz="680" b="0">
                          <a:solidFill>
                            <a:srgbClr val="000000"/>
                          </a:solidFill>
                          <a:latin typeface="Ubuntu Mono"/>
                          <a:ea typeface="Ubuntu Mono"/>
                          <a:cs typeface="Ubuntu Mono"/>
                          <a:sym typeface="Ubuntu Mono"/>
                        </a:rPr>
                        <a:t>Full-gauge stabilizer 60 - 90 ft above and below</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r>
              <a:tr h="157480">
                <a:tc>
                  <a:txBody>
                    <a:bodyPr wrap="square"/>
                    <a:lstStyle/>
                    <a:p>
                      <a:pPr algn="l">
                        <a:lnSpc>
                          <a:spcPts val="840"/>
                        </a:lnSpc>
                      </a:pPr>
                      <a:r>
                        <a:rPr sz="680" b="0">
                          <a:solidFill>
                            <a:srgbClr val="FEFEFF"/>
                          </a:solidFill>
                          <a:latin typeface="Ubuntu Mono"/>
                          <a:ea typeface="Ubuntu Mono"/>
                          <a:cs typeface="Ubuntu Mono"/>
                          <a:sym typeface="Ubuntu Mono"/>
                        </a:rPr>
                        <a:t>Position in the BHA</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01ADEE"/>
                    </a:solidFill>
                  </a:tcPr>
                </a:tc>
                <a:tc>
                  <a:txBody>
                    <a:bodyPr wrap="square"/>
                    <a:lstStyle/>
                    <a:p>
                      <a:pPr algn="l">
                        <a:lnSpc>
                          <a:spcPts val="840"/>
                        </a:lnSpc>
                      </a:pPr>
                      <a:r>
                        <a:rPr sz="680" b="0">
                          <a:solidFill>
                            <a:srgbClr val="000000"/>
                          </a:solidFill>
                          <a:latin typeface="Ubuntu Mono"/>
                          <a:ea typeface="Ubuntu Mono"/>
                          <a:cs typeface="Ubuntu Mono"/>
                          <a:sym typeface="Ubuntu Mono"/>
                        </a:rPr>
                        <a:t>Middle of the drill collars</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r>
            </a:tbl>
          </a:graphicData>
        </a:graphic>
      </p:graphicFrame>
      <p:sp>
        <p:nvSpPr>
          <p:cNvPr id="28" name="TextBox 27"/>
          <p:cNvSpPr txBox="1"/>
          <p:nvPr/>
        </p:nvSpPr>
        <p:spPr>
          <a:xfrm>
            <a:off x="4013200" y="6985000"/>
            <a:ext cx="2832100" cy="177800"/>
          </a:xfrm>
          <a:prstGeom prst="rect">
            <a:avLst/>
          </a:prstGeom>
          <a:noFill/>
        </p:spPr>
        <p:txBody>
          <a:bodyPr wrap="square" lIns="0" rIns="0" tIns="0" bIns="0">
            <a:spAutoFit/>
          </a:bodyPr>
          <a:lstStyle/>
          <a:p>
            <a:pPr algn="ctr">
              <a:spcAft>
                <a:spcPts val="0"/>
              </a:spcAft>
            </a:pPr>
            <a:r>
              <a:rPr sz="1050" b="1" spc="20">
                <a:solidFill>
                  <a:srgbClr val="194E9A"/>
                </a:solidFill>
                <a:latin typeface="Ubuntu Mono"/>
                <a:ea typeface="Ubuntu Mono"/>
                <a:cs typeface="Ubuntu Mono"/>
                <a:sym typeface="Ubuntu Mono"/>
              </a:rPr>
              <a:t>CUTTER OPTIONS</a:t>
            </a:r>
          </a:p>
        </p:txBody>
      </p:sp>
      <p:pic>
        <p:nvPicPr>
          <p:cNvPr id="29" name="Picture 28" descr="cutters_s.png"/>
          <p:cNvPicPr>
            <a:picLocks noChangeAspect="1"/>
          </p:cNvPicPr>
          <p:nvPr/>
        </p:nvPicPr>
        <p:blipFill>
          <a:blip r:embed="rId7"/>
          <a:stretch>
            <a:fillRect/>
          </a:stretch>
        </p:blipFill>
        <p:spPr>
          <a:xfrm>
            <a:off x="4013200" y="7188200"/>
            <a:ext cx="1365008" cy="2235200"/>
          </a:xfrm>
          <a:prstGeom prst="rect">
            <a:avLst/>
          </a:prstGeom>
        </p:spPr>
      </p:pic>
      <p:sp>
        <p:nvSpPr>
          <p:cNvPr id="30" name="TextBox 29"/>
          <p:cNvSpPr txBox="1"/>
          <p:nvPr/>
        </p:nvSpPr>
        <p:spPr>
          <a:xfrm>
            <a:off x="5435600" y="7188200"/>
            <a:ext cx="1409700" cy="127000"/>
          </a:xfrm>
          <a:prstGeom prst="rect">
            <a:avLst/>
          </a:prstGeom>
          <a:noFill/>
        </p:spPr>
        <p:txBody>
          <a:bodyPr wrap="square" lIns="0" rIns="0" tIns="0" bIns="0">
            <a:spAutoFit/>
          </a:bodyPr>
          <a:lstStyle/>
          <a:p>
            <a:pPr algn="l">
              <a:lnSpc>
                <a:spcPts val="760"/>
              </a:lnSpc>
              <a:spcAft>
                <a:spcPts val="0"/>
              </a:spcAft>
            </a:pPr>
            <a:r>
              <a:rPr sz="640" b="1">
                <a:solidFill>
                  <a:srgbClr val="194E9A"/>
                </a:solidFill>
                <a:latin typeface="Ubuntu Mono"/>
                <a:ea typeface="Ubuntu Mono"/>
                <a:cs typeface="Ubuntu Mono"/>
                <a:sym typeface="Ubuntu Mono"/>
              </a:rPr>
              <a:t>Gauge diameter tolerances, arms open</a:t>
            </a:r>
          </a:p>
        </p:txBody>
      </p:sp>
      <p:graphicFrame>
        <p:nvGraphicFramePr>
          <p:cNvPr id="31" name="Table 30"/>
          <p:cNvGraphicFramePr>
            <a:graphicFrameLocks noGrp="1"/>
          </p:cNvGraphicFramePr>
          <p:nvPr/>
        </p:nvGraphicFramePr>
        <p:xfrm>
          <a:off x="5435600" y="7442200"/>
          <a:ext cx="1409700" cy="698500"/>
        </p:xfrm>
        <a:graphic>
          <a:graphicData uri="http://schemas.openxmlformats.org/drawingml/2006/table">
            <a:tbl>
              <a:tblPr/>
              <a:tblGrid>
                <a:gridCol w="711200"/>
                <a:gridCol w="698500"/>
              </a:tblGrid>
              <a:tr h="139700">
                <a:tc>
                  <a:txBody>
                    <a:bodyPr wrap="square"/>
                    <a:lstStyle/>
                    <a:p>
                      <a:pPr algn="ctr">
                        <a:lnSpc>
                          <a:spcPts val="800"/>
                        </a:lnSpc>
                      </a:pPr>
                      <a:r>
                        <a:rPr sz="640" b="1">
                          <a:solidFill>
                            <a:srgbClr val="FEFEFF"/>
                          </a:solidFill>
                          <a:latin typeface="Ubuntu Mono"/>
                          <a:ea typeface="Ubuntu Mono"/>
                          <a:cs typeface="Ubuntu Mono"/>
                          <a:sym typeface="Ubuntu Mono"/>
                        </a:rPr>
                        <a:t>Size (in)</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194E9A"/>
                    </a:solidFill>
                  </a:tcPr>
                </a:tc>
                <a:tc>
                  <a:txBody>
                    <a:bodyPr wrap="square"/>
                    <a:lstStyle/>
                    <a:p>
                      <a:pPr algn="ctr">
                        <a:lnSpc>
                          <a:spcPts val="800"/>
                        </a:lnSpc>
                      </a:pPr>
                      <a:r>
                        <a:rPr sz="640" b="1">
                          <a:solidFill>
                            <a:srgbClr val="FEFEFF"/>
                          </a:solidFill>
                          <a:latin typeface="Ubuntu Mono"/>
                          <a:ea typeface="Ubuntu Mono"/>
                          <a:cs typeface="Ubuntu Mono"/>
                          <a:sym typeface="Ubuntu Mono"/>
                        </a:rPr>
                        <a:t>Tolerance</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194E9A"/>
                    </a:solidFill>
                  </a:tcPr>
                </a:tc>
              </a:tr>
              <a:tr h="139700">
                <a:tc>
                  <a:txBody>
                    <a:bodyPr wrap="square"/>
                    <a:lstStyle/>
                    <a:p>
                      <a:pPr algn="ctr">
                        <a:lnSpc>
                          <a:spcPts val="800"/>
                        </a:lnSpc>
                      </a:pPr>
                      <a:r>
                        <a:rPr sz="640" b="0">
                          <a:solidFill>
                            <a:srgbClr val="000000"/>
                          </a:solidFill>
                          <a:latin typeface="Ubuntu Mono"/>
                          <a:ea typeface="Ubuntu Mono"/>
                          <a:cs typeface="Ubuntu Mono"/>
                          <a:sym typeface="Ubuntu Mono"/>
                        </a:rPr>
                        <a:t>6 - 9</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00"/>
                        </a:lnSpc>
                      </a:pPr>
                      <a:r>
                        <a:rPr sz="640" b="0">
                          <a:solidFill>
                            <a:srgbClr val="000000"/>
                          </a:solidFill>
                          <a:latin typeface="Ubuntu Mono"/>
                          <a:ea typeface="Ubuntu Mono"/>
                          <a:cs typeface="Ubuntu Mono"/>
                          <a:sym typeface="Ubuntu Mono"/>
                        </a:rPr>
                        <a:t>+1/16 - 0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r>
              <a:tr h="139700">
                <a:tc>
                  <a:txBody>
                    <a:bodyPr wrap="square"/>
                    <a:lstStyle/>
                    <a:p>
                      <a:pPr algn="ctr">
                        <a:lnSpc>
                          <a:spcPts val="800"/>
                        </a:lnSpc>
                      </a:pPr>
                      <a:r>
                        <a:rPr sz="640" b="0">
                          <a:solidFill>
                            <a:srgbClr val="000000"/>
                          </a:solidFill>
                          <a:latin typeface="Ubuntu Mono"/>
                          <a:ea typeface="Ubuntu Mono"/>
                          <a:cs typeface="Ubuntu Mono"/>
                          <a:sym typeface="Ubuntu Mono"/>
                        </a:rPr>
                        <a:t>9-1/2 - 13</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00"/>
                        </a:lnSpc>
                      </a:pPr>
                      <a:r>
                        <a:rPr sz="640" b="0">
                          <a:solidFill>
                            <a:srgbClr val="000000"/>
                          </a:solidFill>
                          <a:latin typeface="Ubuntu Mono"/>
                          <a:ea typeface="Ubuntu Mono"/>
                          <a:cs typeface="Ubuntu Mono"/>
                          <a:sym typeface="Ubuntu Mono"/>
                        </a:rPr>
                        <a:t>+3/32 - 0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r>
              <a:tr h="139700">
                <a:tc>
                  <a:txBody>
                    <a:bodyPr wrap="square"/>
                    <a:lstStyle/>
                    <a:p>
                      <a:pPr algn="ctr">
                        <a:lnSpc>
                          <a:spcPts val="800"/>
                        </a:lnSpc>
                      </a:pPr>
                      <a:r>
                        <a:rPr sz="640" b="0">
                          <a:solidFill>
                            <a:srgbClr val="000000"/>
                          </a:solidFill>
                          <a:latin typeface="Ubuntu Mono"/>
                          <a:ea typeface="Ubuntu Mono"/>
                          <a:cs typeface="Ubuntu Mono"/>
                          <a:sym typeface="Ubuntu Mono"/>
                        </a:rPr>
                        <a:t>14 - 18</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00"/>
                        </a:lnSpc>
                      </a:pPr>
                      <a:r>
                        <a:rPr sz="640" b="0">
                          <a:solidFill>
                            <a:srgbClr val="000000"/>
                          </a:solidFill>
                          <a:latin typeface="Ubuntu Mono"/>
                          <a:ea typeface="Ubuntu Mono"/>
                          <a:cs typeface="Ubuntu Mono"/>
                          <a:sym typeface="Ubuntu Mono"/>
                        </a:rPr>
                        <a:t>+1/8 - 0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r>
              <a:tr h="139700">
                <a:tc>
                  <a:txBody>
                    <a:bodyPr wrap="square"/>
                    <a:lstStyle/>
                    <a:p>
                      <a:pPr algn="ctr">
                        <a:lnSpc>
                          <a:spcPts val="800"/>
                        </a:lnSpc>
                      </a:pPr>
                      <a:r>
                        <a:rPr sz="640" b="0">
                          <a:solidFill>
                            <a:srgbClr val="000000"/>
                          </a:solidFill>
                          <a:latin typeface="Ubuntu Mono"/>
                          <a:ea typeface="Ubuntu Mono"/>
                          <a:cs typeface="Ubuntu Mono"/>
                          <a:sym typeface="Ubuntu Mono"/>
                        </a:rPr>
                        <a:t>20 - 30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00"/>
                        </a:lnSpc>
                      </a:pPr>
                      <a:r>
                        <a:rPr sz="640" b="0">
                          <a:solidFill>
                            <a:srgbClr val="000000"/>
                          </a:solidFill>
                          <a:latin typeface="Ubuntu Mono"/>
                          <a:ea typeface="Ubuntu Mono"/>
                          <a:cs typeface="Ubuntu Mono"/>
                          <a:sym typeface="Ubuntu Mono"/>
                        </a:rPr>
                        <a:t>+3/16 - 0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r>
            </a:tbl>
          </a:graphicData>
        </a:graphic>
      </p:graphicFrame>
      <p:sp>
        <p:nvSpPr>
          <p:cNvPr id="32" name="TextBox 31"/>
          <p:cNvSpPr txBox="1"/>
          <p:nvPr/>
        </p:nvSpPr>
        <p:spPr>
          <a:xfrm>
            <a:off x="5435600" y="8191500"/>
            <a:ext cx="1409700" cy="508000"/>
          </a:xfrm>
          <a:prstGeom prst="rect">
            <a:avLst/>
          </a:prstGeom>
          <a:noFill/>
        </p:spPr>
        <p:txBody>
          <a:bodyPr wrap="square" lIns="0" rIns="0" tIns="0" bIns="0">
            <a:spAutoFit/>
          </a:bodyPr>
          <a:lstStyle/>
          <a:p>
            <a:pPr algn="l">
              <a:lnSpc>
                <a:spcPts val="740"/>
              </a:lnSpc>
              <a:spcAft>
                <a:spcPts val="0"/>
              </a:spcAft>
            </a:pPr>
            <a:r>
              <a:rPr sz="620" b="0">
                <a:solidFill>
                  <a:srgbClr val="444444"/>
                </a:solidFill>
                <a:latin typeface="Ubuntu Mono"/>
                <a:ea typeface="Ubuntu Mono"/>
                <a:cs typeface="Ubuntu Mono"/>
                <a:sym typeface="Ubuntu Mono"/>
              </a:rPr>
              <a:t>Applies to arm sets of RTU, DTU, drag and XTU underreamers, all cutting structures.</a:t>
            </a:r>
          </a:p>
        </p:txBody>
      </p:sp>
      <p:sp>
        <p:nvSpPr>
          <p:cNvPr id="33" name="TextBox 32"/>
          <p:cNvSpPr txBox="1"/>
          <p:nvPr/>
        </p:nvSpPr>
        <p:spPr>
          <a:xfrm>
            <a:off x="4013200" y="9499600"/>
            <a:ext cx="2832100" cy="177800"/>
          </a:xfrm>
          <a:prstGeom prst="rect">
            <a:avLst/>
          </a:prstGeom>
          <a:noFill/>
        </p:spPr>
        <p:txBody>
          <a:bodyPr wrap="square" lIns="0" rIns="0" tIns="0" bIns="0">
            <a:spAutoFit/>
          </a:bodyPr>
          <a:lstStyle/>
          <a:p>
            <a:pPr algn="ctr">
              <a:spcAft>
                <a:spcPts val="0"/>
              </a:spcAft>
            </a:pPr>
            <a:r>
              <a:rPr sz="1050" b="1" spc="20">
                <a:solidFill>
                  <a:srgbClr val="194E9A"/>
                </a:solidFill>
                <a:latin typeface="Ubuntu Mono"/>
                <a:ea typeface="Ubuntu Mono"/>
                <a:cs typeface="Ubuntu Mono"/>
                <a:sym typeface="Ubuntu Mono"/>
              </a:rPr>
              <a:t>HOW TO ORDER</a:t>
            </a:r>
          </a:p>
        </p:txBody>
      </p:sp>
      <p:sp>
        <p:nvSpPr>
          <p:cNvPr id="34" name="TextBox 33"/>
          <p:cNvSpPr txBox="1"/>
          <p:nvPr/>
        </p:nvSpPr>
        <p:spPr>
          <a:xfrm>
            <a:off x="4013200" y="9690100"/>
            <a:ext cx="2832100" cy="508000"/>
          </a:xfrm>
          <a:prstGeom prst="rect">
            <a:avLst/>
          </a:prstGeom>
          <a:noFill/>
        </p:spPr>
        <p:txBody>
          <a:bodyPr wrap="square" lIns="0" rIns="0" tIns="0" bIns="0">
            <a:spAutoFit/>
          </a:bodyPr>
          <a:lstStyle/>
          <a:p>
            <a:pPr algn="just">
              <a:lnSpc>
                <a:spcPts val="880"/>
              </a:lnSpc>
              <a:spcAft>
                <a:spcPts val="0"/>
              </a:spcAft>
            </a:pPr>
            <a:r>
              <a:rPr sz="690" b="0">
                <a:solidFill>
                  <a:srgbClr val="000000"/>
                </a:solidFill>
                <a:latin typeface="Ubuntu Mono"/>
                <a:ea typeface="Ubuntu Mono"/>
                <a:cs typeface="Ubuntu Mono"/>
                <a:sym typeface="Ubuntu Mono"/>
              </a:rPr>
              <a:t>Please specify: 1. tool series  2. top and bottom connections  3. fishing neck Ø  4. opening Ø  5. size and weight of casing to run through, if known  6. bullnose or bits (ordered separately)  7. cutting structure (milled tooth, TCI or PDC).</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DAGS_rYUj9A</dc:identifier>
  <dcterms:modified xsi:type="dcterms:W3CDTF">2011-08-01T06:04:30Z</dcterms:modified>
  <cp:revision>1</cp:revision>
  <dc:title>Catalogue outils</dc:title>
</cp:coreProperties>
</file>