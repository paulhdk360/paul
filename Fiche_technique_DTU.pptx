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Lst>
  <p:sldSz cx="7556500" cy="10693400"/>
  <p:notesSz cx="6858000" cy="9144000"/>
  <p:embeddedFontLst>
    <p:embeddedFont>
      <p:font typeface="Ubuntu Mono" charset="1" panose="020B0509030602030204"/>
      <p:regular r:id="rId7"/>
    </p:embeddedFont>
    <p:embeddedFont>
      <p:font typeface="Ubuntu Mono Bold" charset="1" panose="020B0809030602030204"/>
      <p:regular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font" Target="fonts/font7.fntdata"/><Relationship Id="rId8" Type="http://schemas.openxmlformats.org/officeDocument/2006/relationships/font" Target="fonts/font8.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DTU</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DRILLING-TYPE UNDERREAMER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DRILLING-TYPE UNDERREAMER THAT ENLARGES PREVIOUSLY DRILLED PILOT HOLES. A BOTTOM BOX CONNECTION LETS A BIT OR A BULLNOSE RUN BELOW THE TOOL, SO THE DTU CAN DRILL AND UNDERREAM AT THE SAME TIME. MUD FLOW CAN BE SPLIT BETWEEN THE CUTTER ARMS AND THE BIT OR BULLNOSE. IT RUNS WITH WATER, MUD, AIR, AERATED MUD OR ANY OTHER CIRCULATING MEDIUM.</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29200"/>
          <a:ext cx="6134100" cy="1648460"/>
        </p:xfrm>
        <a:graphic>
          <a:graphicData uri="http://schemas.openxmlformats.org/drawingml/2006/table">
            <a:tbl>
              <a:tblPr/>
              <a:tblGrid>
                <a:gridCol w="457200"/>
                <a:gridCol w="609600"/>
                <a:gridCol w="660400"/>
                <a:gridCol w="457200"/>
                <a:gridCol w="482600"/>
                <a:gridCol w="736600"/>
                <a:gridCol w="533400"/>
                <a:gridCol w="533400"/>
                <a:gridCol w="508000"/>
                <a:gridCol w="711200"/>
                <a:gridCol w="444500"/>
              </a:tblGrid>
              <a:tr h="3683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Optional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Collapsed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Through casing Ø x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x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7 - 8-3/4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x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 x 53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 x 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x 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 x 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24 - 32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18-5/8 x 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28 - 36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24-1/2 x 113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715759"/>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Available with PDC Bearclaw cutters. Dimensions in inches, weights in lb (approximate). Optional opening diameters on request.</a:t>
            </a:r>
          </a:p>
        </p:txBody>
      </p:sp>
      <p:sp>
        <p:nvSpPr>
          <p:cNvPr id="24" name="TextBox 23"/>
          <p:cNvSpPr txBox="1"/>
          <p:nvPr/>
        </p:nvSpPr>
        <p:spPr>
          <a:xfrm>
            <a:off x="711200" y="69850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188200"/>
            <a:ext cx="3098800" cy="127000"/>
          </a:xfrm>
          <a:prstGeom prst="rect">
            <a:avLst/>
          </a:prstGeom>
          <a:noFill/>
        </p:spPr>
        <p:txBody>
          <a:bodyPr wrap="square" lIns="0" rIns="0" tIns="0" bIns="0">
            <a:spAutoFit/>
          </a:bodyPr>
          <a:lstStyle/>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Drill and underream in one run: </a:t>
            </a:r>
            <a:r>
              <a:rPr sz="720" b="0">
                <a:solidFill>
                  <a:srgbClr val="000000"/>
                </a:solidFill>
                <a:latin typeface="Ubuntu Mono"/>
                <a:ea typeface="Ubuntu Mono"/>
                <a:cs typeface="Ubuntu Mono"/>
                <a:sym typeface="Ubuntu Mono"/>
              </a:rPr>
              <a:t>bottom box connection for a bit or bullnose.</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Flexible hydraulics: </a:t>
            </a:r>
            <a:r>
              <a:rPr sz="720" b="0">
                <a:solidFill>
                  <a:srgbClr val="000000"/>
                </a:solidFill>
                <a:latin typeface="Ubuntu Mono"/>
                <a:ea typeface="Ubuntu Mono"/>
                <a:cs typeface="Ubuntu Mono"/>
                <a:sym typeface="Ubuntu Mono"/>
              </a:rPr>
              <a:t>flow can be divided between the arms and the bit or bullnose; orifice jets are selected to suit the available hydraulics.</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Cooling and cleaning: </a:t>
            </a:r>
            <a:r>
              <a:rPr sz="720" b="0">
                <a:solidFill>
                  <a:srgbClr val="000000"/>
                </a:solidFill>
                <a:latin typeface="Ubuntu Mono"/>
                <a:ea typeface="Ubuntu Mono"/>
                <a:cs typeface="Ubuntu Mono"/>
                <a:sym typeface="Ubuntu Mono"/>
              </a:rPr>
              <a:t>jet placement keeps the cutters cool and aids annular lift of cuttings.</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Extra flow options: </a:t>
            </a:r>
            <a:r>
              <a:rPr sz="720" b="0">
                <a:solidFill>
                  <a:srgbClr val="000000"/>
                </a:solidFill>
                <a:latin typeface="Ubuntu Mono"/>
                <a:ea typeface="Ubuntu Mono"/>
                <a:cs typeface="Ubuntu Mono"/>
                <a:sym typeface="Ubuntu Mono"/>
              </a:rPr>
              <a:t>jetted bullnose and jetted top sub to divert more flow when needed.</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Cutting structures: </a:t>
            </a:r>
            <a:r>
              <a:rPr sz="720" b="0">
                <a:solidFill>
                  <a:srgbClr val="000000"/>
                </a:solidFill>
                <a:latin typeface="Ubuntu Mono"/>
                <a:ea typeface="Ubuntu Mono"/>
                <a:cs typeface="Ubuntu Mono"/>
                <a:sym typeface="Ubuntu Mono"/>
              </a:rPr>
              <a:t>open-bearing milled tooth (standard), TCI or PDC Bearclaw.</a:t>
            </a:r>
          </a:p>
        </p:txBody>
      </p:sp>
      <p:sp>
        <p:nvSpPr>
          <p:cNvPr id="26" name="TextBox 25"/>
          <p:cNvSpPr txBox="1"/>
          <p:nvPr/>
        </p:nvSpPr>
        <p:spPr>
          <a:xfrm>
            <a:off x="711200" y="8763000"/>
            <a:ext cx="30988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711200" y="8953500"/>
          <a:ext cx="3098800" cy="944880"/>
        </p:xfrm>
        <a:graphic>
          <a:graphicData uri="http://schemas.openxmlformats.org/drawingml/2006/table">
            <a:tbl>
              <a:tblPr/>
              <a:tblGrid>
                <a:gridCol w="1422400"/>
                <a:gridCol w="1676400"/>
              </a:tblGrid>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reaching shoulder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30 - 50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cutting the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80 - 150 rpm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underreaming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1,000 lb per inch of 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Stabilization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Full-gauge stabilizer 60 - 90 ft above and below</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Position in the BHA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Middle of the drill collars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4013200" y="69850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CUTTER OPTIONS</a:t>
            </a:r>
          </a:p>
        </p:txBody>
      </p:sp>
      <p:pic>
        <p:nvPicPr>
          <p:cNvPr id="29" name="Picture 28" descr="cutters_s.png"/>
          <p:cNvPicPr>
            <a:picLocks noChangeAspect="1"/>
          </p:cNvPicPr>
          <p:nvPr/>
        </p:nvPicPr>
        <p:blipFill>
          <a:blip r:embed="rId7"/>
          <a:stretch>
            <a:fillRect/>
          </a:stretch>
        </p:blipFill>
        <p:spPr>
          <a:xfrm>
            <a:off x="4013200" y="7188200"/>
            <a:ext cx="1365008" cy="2235200"/>
          </a:xfrm>
          <a:prstGeom prst="rect">
            <a:avLst/>
          </a:prstGeom>
        </p:spPr>
      </p:pic>
      <p:sp>
        <p:nvSpPr>
          <p:cNvPr id="30" name="TextBox 29"/>
          <p:cNvSpPr txBox="1"/>
          <p:nvPr/>
        </p:nvSpPr>
        <p:spPr>
          <a:xfrm>
            <a:off x="5435600" y="7188200"/>
            <a:ext cx="1409700" cy="127000"/>
          </a:xfrm>
          <a:prstGeom prst="rect">
            <a:avLst/>
          </a:prstGeom>
          <a:noFill/>
        </p:spPr>
        <p:txBody>
          <a:bodyPr wrap="square" lIns="0" rIns="0" tIns="0" bIns="0">
            <a:spAutoFit/>
          </a:bodyPr>
          <a:lstStyle/>
          <a:p>
            <a:pPr algn="l">
              <a:lnSpc>
                <a:spcPts val="760"/>
              </a:lnSpc>
              <a:spcAft>
                <a:spcPts val="0"/>
              </a:spcAft>
            </a:pPr>
            <a:r>
              <a:rPr sz="640" b="1">
                <a:solidFill>
                  <a:srgbClr val="194E9A"/>
                </a:solidFill>
                <a:latin typeface="Ubuntu Mono"/>
                <a:ea typeface="Ubuntu Mono"/>
                <a:cs typeface="Ubuntu Mono"/>
                <a:sym typeface="Ubuntu Mono"/>
              </a:rPr>
              <a:t>Gauge diameter tolerances, arms open</a:t>
            </a:r>
          </a:p>
        </p:txBody>
      </p:sp>
      <p:graphicFrame>
        <p:nvGraphicFramePr>
          <p:cNvPr id="31" name="Table 30"/>
          <p:cNvGraphicFramePr>
            <a:graphicFrameLocks noGrp="1"/>
          </p:cNvGraphicFramePr>
          <p:nvPr/>
        </p:nvGraphicFramePr>
        <p:xfrm>
          <a:off x="5435600" y="7442200"/>
          <a:ext cx="1409700" cy="698500"/>
        </p:xfrm>
        <a:graphic>
          <a:graphicData uri="http://schemas.openxmlformats.org/drawingml/2006/table">
            <a:tbl>
              <a:tblPr/>
              <a:tblGrid>
                <a:gridCol w="711200"/>
                <a:gridCol w="6985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Tolerance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6 - 9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+1/16 - 0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9-1/2 - 13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+3/32 - 0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14 - 18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20 - 30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+3/16 - 0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5435600" y="8191500"/>
            <a:ext cx="1409700" cy="5080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Applies to arm sets of RTU, DTU, drag and XTU underreamers, all cutting structures.</a:t>
            </a:r>
          </a:p>
        </p:txBody>
      </p:sp>
      <p:sp>
        <p:nvSpPr>
          <p:cNvPr id="33" name="TextBox 32"/>
          <p:cNvSpPr txBox="1"/>
          <p:nvPr/>
        </p:nvSpPr>
        <p:spPr>
          <a:xfrm>
            <a:off x="4013200" y="94996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13200" y="9690100"/>
            <a:ext cx="28321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DAGS_rYUj9A</dc:identifier>
  <dcterms:modified xsi:type="dcterms:W3CDTF">2011-08-01T06:04:30Z</dcterms:modified>
  <cp:revision>1</cp:revision>
  <dc:title>Catalogue outils</dc:title>
</cp:coreProperties>
</file>