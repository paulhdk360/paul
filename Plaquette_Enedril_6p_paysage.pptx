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0693400" cy="7556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3400" cy="7556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7620000" cy="5461000"/>
          </a:xfrm>
          <a:custGeom>
            <a:avLst/>
            <a:gdLst/>
            <a:ahLst/>
            <a:cxnLst/>
            <a:rect l="l" t="t" r="r" b="b"/>
            <a:pathLst>
              <a:path w="600" h="430">
                <a:moveTo>
                  <a:pt x="0" y="0"/>
                </a:moveTo>
                <a:lnTo>
                  <a:pt x="600" y="0"/>
                </a:lnTo>
                <a:lnTo>
                  <a:pt x="520" y="330"/>
                </a:lnTo>
                <a:lnTo>
                  <a:pt x="0" y="430"/>
                </a:lnTo>
                <a:close/>
              </a:path>
            </a:pathLst>
          </a:custGeom>
          <a:solidFill>
            <a:srgbClr val="0A4F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6604000" y="0"/>
            <a:ext cx="4089400" cy="5969000"/>
          </a:xfrm>
          <a:custGeom>
            <a:avLst/>
            <a:gdLst/>
            <a:ahLst/>
            <a:cxnLst/>
            <a:rect l="l" t="t" r="r" b="b"/>
            <a:pathLst>
              <a:path w="322" h="470">
                <a:moveTo>
                  <a:pt x="80" y="0"/>
                </a:moveTo>
                <a:lnTo>
                  <a:pt x="322" y="0"/>
                </a:lnTo>
                <a:lnTo>
                  <a:pt x="322" y="470"/>
                </a:lnTo>
                <a:lnTo>
                  <a:pt x="0" y="330"/>
                </a:lnTo>
                <a:close/>
              </a:path>
            </a:pathLst>
          </a:cu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0" y="4191000"/>
            <a:ext cx="10693400" cy="3365500"/>
          </a:xfrm>
          <a:custGeom>
            <a:avLst/>
            <a:gdLst/>
            <a:ahLst/>
            <a:cxnLst/>
            <a:rect l="l" t="t" r="r" b="b"/>
            <a:pathLst>
              <a:path w="842" h="265">
                <a:moveTo>
                  <a:pt x="520" y="0"/>
                </a:moveTo>
                <a:lnTo>
                  <a:pt x="842" y="140"/>
                </a:lnTo>
                <a:lnTo>
                  <a:pt x="842" y="265"/>
                </a:lnTo>
                <a:lnTo>
                  <a:pt x="0" y="265"/>
                </a:lnTo>
                <a:lnTo>
                  <a:pt x="0" y="100"/>
                </a:lnTo>
                <a:close/>
              </a:path>
            </a:pathLst>
          </a:cu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6604000" y="0"/>
            <a:ext cx="1016000" cy="4191000"/>
          </a:xfrm>
          <a:prstGeom prst="line">
            <a:avLst/>
          </a:prstGeom>
          <a:ln w="1143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6604000" y="4191000"/>
            <a:ext cx="4089400" cy="1778000"/>
          </a:xfrm>
          <a:prstGeom prst="line">
            <a:avLst/>
          </a:prstGeom>
          <a:ln w="1143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0" y="4191000"/>
            <a:ext cx="6604000" cy="1270000"/>
          </a:xfrm>
          <a:prstGeom prst="line">
            <a:avLst/>
          </a:prstGeom>
          <a:ln w="114300">
            <a:solidFill>
              <a:srgbClr val="FFFFFF"/>
            </a:solidFill>
          </a:ln>
        </p:spPr>
      </p:cxnSp>
      <p:pic>
        <p:nvPicPr>
          <p:cNvPr id="9" name="Picture 8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889000"/>
            <a:ext cx="3810000" cy="8649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6070600"/>
            <a:ext cx="635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DIRECTIONAL DRILLING</a:t>
            </a:r>
          </a:p>
          <a:p>
            <a:pPr algn="l">
              <a:lnSpc>
                <a:spcPts val="2400"/>
              </a:lnSpc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&amp; FISHING SOLUTIONS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731000"/>
            <a:ext cx="254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FRANCE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6934200"/>
            <a:ext cx="177800" cy="50800"/>
          </a:xfrm>
          <a:prstGeom prst="rect">
            <a:avLst/>
          </a:prstGeom>
          <a:solidFill>
            <a:srgbClr val="0A4F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7400" y="6934200"/>
            <a:ext cx="177800" cy="50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5200" y="6934200"/>
            <a:ext cx="177800" cy="50800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7600" y="228600"/>
            <a:ext cx="1498600" cy="33611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128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00"/>
              </a:lnSpc>
              <a:spcAft>
                <a:spcPts val="0"/>
              </a:spcAft>
            </a:pPr>
            <a:r>
              <a:rPr sz="260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ABOUT US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44450" cy="9652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4200" y="1143000"/>
            <a:ext cx="2870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0"/>
              </a:lnSpc>
              <a:spcAft>
                <a:spcPts val="400"/>
              </a:spcAft>
            </a:pPr>
            <a:r>
              <a:rPr sz="75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Enedril (formerly Mustang Services) is an independent French company founded in 2013, specialised in directional drilling, fishing and well intervention for geothermal, oil &amp; gas and underground gas storage projects, in France and abroad. We combine field experience with technical know-how, and we are known for being fast, flexible and easy to work with.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11400"/>
            <a:ext cx="2997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OUR FACILITIES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27300"/>
            <a:ext cx="2997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400"/>
              </a:spcAft>
            </a:pPr>
            <a:r>
              <a:rPr sz="72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Since 2021 we operate from Lons, near Pau, with two fully equipped workshops of more than 1,000 m², a 5 t overhead crane, a break-out unit, a jar tester, lathe, milling and grinding machines and a separate welding shop.</a:t>
            </a:r>
          </a:p>
          <a:p>
            <a:pPr algn="l">
              <a:lnSpc>
                <a:spcPts val="940"/>
              </a:lnSpc>
              <a:spcAft>
                <a:spcPts val="400"/>
              </a:spcAft>
            </a:pPr>
            <a:r>
              <a:rPr sz="72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A 3,500 m² outdoor yard stores tubulars, stabilizers and on-site containers.</a:t>
            </a:r>
          </a:p>
          <a:p>
            <a:pPr algn="l">
              <a:lnSpc>
                <a:spcPts val="940"/>
              </a:lnSpc>
              <a:spcAft>
                <a:spcPts val="400"/>
              </a:spcAft>
            </a:pPr>
            <a:r>
              <a:rPr sz="72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A rare equipment stock in France: mud motors from 3-1/8" to 9-5/8", shock tools, drilling jars, MWD kits and a very wide range of fishing tools.</a:t>
            </a:r>
          </a:p>
        </p:txBody>
      </p:sp>
      <p:pic>
        <p:nvPicPr>
          <p:cNvPr id="8" name="Picture 7" descr="_c_geo_236_1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343400"/>
            <a:ext cx="2997200" cy="2235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6629400"/>
            <a:ext cx="2997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20" b="0" i="1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Geothermal doublet: injection and production wells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1168400"/>
            <a:ext cx="1562100" cy="6858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1278128"/>
            <a:ext cx="1562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98,500 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33800" y="1557528"/>
            <a:ext cx="14097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drilled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70500" y="1168400"/>
            <a:ext cx="1562100" cy="6858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70500" y="1278128"/>
            <a:ext cx="1562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6700" y="1608328"/>
            <a:ext cx="14097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wells, up to 3,000 m TVD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0" y="1930400"/>
            <a:ext cx="1562100" cy="6858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0" y="2040127"/>
            <a:ext cx="1562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142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33800" y="2370328"/>
            <a:ext cx="14097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fishing, workover and P&amp;A jobs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70500" y="1930400"/>
            <a:ext cx="1562100" cy="6858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70500" y="2040127"/>
            <a:ext cx="1562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2,500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6700" y="2370328"/>
            <a:ext cx="14097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tools in stock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794000"/>
            <a:ext cx="3175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OUR VALUES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0" y="3022600"/>
            <a:ext cx="3175000" cy="6350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84600" y="3111500"/>
            <a:ext cx="292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00"/>
              </a:lnSpc>
              <a:spcAft>
                <a:spcPts val="200"/>
              </a:spcAft>
            </a:pPr>
            <a:r>
              <a:rPr sz="86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RESPECT</a:t>
            </a:r>
          </a:p>
          <a:p>
            <a:pPr algn="l">
              <a:lnSpc>
                <a:spcPts val="900"/>
              </a:lnSpc>
              <a:spcAft>
                <a:spcPts val="20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For our clients, our teams and the people and places around us.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33800"/>
            <a:ext cx="3175000" cy="6350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84600" y="3822700"/>
            <a:ext cx="292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00"/>
              </a:lnSpc>
              <a:spcAft>
                <a:spcPts val="200"/>
              </a:spcAft>
            </a:pPr>
            <a:r>
              <a:rPr sz="86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TEAMWORK</a:t>
            </a:r>
          </a:p>
          <a:p>
            <a:pPr algn="l">
              <a:lnSpc>
                <a:spcPts val="900"/>
              </a:lnSpc>
              <a:spcAft>
                <a:spcPts val="20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Real success comes from strong values and working together.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0" y="4445000"/>
            <a:ext cx="3175000" cy="6350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84600" y="4533900"/>
            <a:ext cx="292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00"/>
              </a:lnSpc>
              <a:spcAft>
                <a:spcPts val="200"/>
              </a:spcAft>
            </a:pPr>
            <a:r>
              <a:rPr sz="86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ENVIRONMENT</a:t>
            </a:r>
          </a:p>
          <a:p>
            <a:pPr algn="l">
              <a:lnSpc>
                <a:spcPts val="900"/>
              </a:lnSpc>
              <a:spcAft>
                <a:spcPts val="20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Caring for the environment is at the core of what we do.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0" y="5232400"/>
            <a:ext cx="3175000" cy="1346200"/>
          </a:xfrm>
          <a:prstGeom prst="rect">
            <a:avLst/>
          </a:prstGeom>
          <a:solidFill>
            <a:srgbClr val="EAF4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_c_iso_82_8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9200" y="5384800"/>
            <a:ext cx="1041400" cy="1041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927600" y="5384800"/>
            <a:ext cx="182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80"/>
              </a:lnSpc>
              <a:spcAft>
                <a:spcPts val="300"/>
              </a:spcAft>
            </a:pPr>
            <a:r>
              <a:rPr sz="819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ISO 9001:2015 CERTIFIED</a:t>
            </a:r>
          </a:p>
          <a:p>
            <a:pPr algn="l">
              <a:lnSpc>
                <a:spcPts val="880"/>
              </a:lnSpc>
              <a:spcAft>
                <a:spcPts val="300"/>
              </a:spcAft>
            </a:pPr>
            <a:r>
              <a:rPr sz="68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Quality followed on every job, from start to finish. About 15 clients supported each year, in France and abroad.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35800" y="1143000"/>
            <a:ext cx="3175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WHY CHOOSE US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35800" y="1397000"/>
            <a:ext cx="38100" cy="6858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88200" y="1397000"/>
            <a:ext cx="3022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200"/>
              </a:spcAft>
            </a:pPr>
            <a:r>
              <a:rPr sz="84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EXPERIENCE</a:t>
            </a:r>
          </a:p>
          <a:p>
            <a:pPr algn="l">
              <a:lnSpc>
                <a:spcPts val="940"/>
              </a:lnSpc>
              <a:spcAft>
                <a:spcPts val="200"/>
              </a:spcAft>
            </a:pPr>
            <a:r>
              <a:rPr sz="72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Years in the industry and a wide range of projects completed across sectors.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35800" y="2209800"/>
            <a:ext cx="38100" cy="6858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88200" y="2209800"/>
            <a:ext cx="3022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200"/>
              </a:spcAft>
            </a:pPr>
            <a:r>
              <a:rPr sz="84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EXCELLENCE</a:t>
            </a:r>
          </a:p>
          <a:p>
            <a:pPr algn="l">
              <a:lnSpc>
                <a:spcPts val="940"/>
              </a:lnSpc>
              <a:spcAft>
                <a:spcPts val="200"/>
              </a:spcAft>
            </a:pPr>
            <a:r>
              <a:rPr sz="72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Dedication to excellence, safety and innovation for superior results.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035800" y="3022600"/>
            <a:ext cx="38100" cy="6858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88200" y="3022600"/>
            <a:ext cx="3022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200"/>
              </a:spcAft>
            </a:pPr>
            <a:r>
              <a:rPr sz="84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CUSTOM SOLUTIONS</a:t>
            </a:r>
          </a:p>
          <a:p>
            <a:pPr algn="l">
              <a:lnSpc>
                <a:spcPts val="940"/>
              </a:lnSpc>
              <a:spcAft>
                <a:spcPts val="200"/>
              </a:spcAft>
            </a:pPr>
            <a:r>
              <a:rPr sz="72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Every project is unique: tailored tools and procedures.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35800" y="3835400"/>
            <a:ext cx="38100" cy="6858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88200" y="3835400"/>
            <a:ext cx="3022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200"/>
              </a:spcAft>
            </a:pPr>
            <a:r>
              <a:rPr sz="84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RELIABILITY</a:t>
            </a:r>
          </a:p>
          <a:p>
            <a:pPr algn="l">
              <a:lnSpc>
                <a:spcPts val="940"/>
              </a:lnSpc>
              <a:spcAft>
                <a:spcPts val="200"/>
              </a:spcAft>
            </a:pPr>
            <a:r>
              <a:rPr sz="72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A partner ready to go the extra mile to meet your needs and deadlines.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035800" y="4775200"/>
            <a:ext cx="3200400" cy="18034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13600" y="4775200"/>
            <a:ext cx="2870200" cy="180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00"/>
              </a:lnSpc>
              <a:spcAft>
                <a:spcPts val="400"/>
              </a:spcAft>
            </a:pPr>
            <a:r>
              <a:rPr sz="84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OUR PURPOSE</a:t>
            </a:r>
          </a:p>
          <a:p>
            <a:pPr algn="l">
              <a:lnSpc>
                <a:spcPts val="14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Supporting the next generations in the energy transition by contributing to the production of more responsible energy.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7213600"/>
            <a:ext cx="9779000" cy="10160"/>
          </a:xfrm>
          <a:prstGeom prst="rect">
            <a:avLst/>
          </a:prstGeom>
          <a:solidFill>
            <a:srgbClr val="B9C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7289800"/>
            <a:ext cx="762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4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Enedril · Fishing and Drilling Solutions · 3 avenue des lacs, 64140 Lons (France) · info@enedril.fr · +33 (0)5 59 04 50 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40900" y="7289800"/>
            <a:ext cx="4953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7600" y="228600"/>
            <a:ext cx="1498600" cy="33611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128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0"/>
              </a:lnSpc>
              <a:spcAft>
                <a:spcPts val="0"/>
              </a:spcAft>
            </a:pPr>
            <a:r>
              <a:rPr sz="220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DIRECTIONAL DRILLING &amp; MWD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5200"/>
            <a:ext cx="44450" cy="6604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4200" y="965200"/>
            <a:ext cx="48514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0"/>
              </a:lnSpc>
              <a:spcAft>
                <a:spcPts val="400"/>
              </a:spcAft>
            </a:pPr>
            <a:r>
              <a:rPr sz="74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Advanced directional drilling for complex wells with high precision requirements: downhole motors (PDM), rotary steerable systems (RSS) and high-temperature MWD tools. Experienced Directional Drillers and MWD Engineers steer and optimise the trajectory continuously, with well planning done in-house.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01800"/>
            <a:ext cx="1549400" cy="6096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799336"/>
            <a:ext cx="15494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3-1/8" to 9-5/8"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2015236"/>
            <a:ext cx="1397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PDM motors, HT power sections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2146300" y="1701800"/>
            <a:ext cx="1549400" cy="6096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46300" y="1799336"/>
            <a:ext cx="15494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RSS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22500" y="2091436"/>
            <a:ext cx="1397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Push and point-the-bit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35400" y="1701800"/>
            <a:ext cx="1600200" cy="6096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35400" y="1799336"/>
            <a:ext cx="1600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up to 200°C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1600" y="2040636"/>
            <a:ext cx="1447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MWD kits, HT electronics</a:t>
            </a:r>
          </a:p>
        </p:txBody>
      </p:sp>
      <p:pic>
        <p:nvPicPr>
          <p:cNvPr id="15" name="Picture 14" descr="_c_motor_188_1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463800"/>
            <a:ext cx="2387600" cy="1422400"/>
          </a:xfrm>
          <a:prstGeom prst="rect">
            <a:avLst/>
          </a:prstGeom>
        </p:spPr>
      </p:pic>
      <p:pic>
        <p:nvPicPr>
          <p:cNvPr id="16" name="Picture 15" descr="_c_wellplan_196_1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6400" y="2463800"/>
            <a:ext cx="2489200" cy="14224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457200" y="3886200"/>
            <a:ext cx="2387600" cy="9398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46400" y="3886200"/>
            <a:ext cx="2489200" cy="9398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8800" y="3962400"/>
            <a:ext cx="21844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60"/>
              </a:lnSpc>
              <a:spcAft>
                <a:spcPts val="100"/>
              </a:spcAft>
            </a:pPr>
            <a:r>
              <a:rPr sz="78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MUD MOTORS &amp; RSS</a:t>
            </a:r>
          </a:p>
          <a:p>
            <a:pPr algn="l">
              <a:lnSpc>
                <a:spcPts val="760"/>
              </a:lnSpc>
              <a:spcAft>
                <a:spcPts val="100"/>
              </a:spcAft>
            </a:pPr>
            <a:r>
              <a:rPr sz="63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PDMs from 3-1/8" to 9-5/8" OD, wide range of power sections incl. high-temperature stators. Push and point-the-bit RSS.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48000" y="3962400"/>
            <a:ext cx="2286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60"/>
              </a:lnSpc>
              <a:spcAft>
                <a:spcPts val="100"/>
              </a:spcAft>
            </a:pPr>
            <a:r>
              <a:rPr sz="78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WELL PLANNING</a:t>
            </a:r>
          </a:p>
          <a:p>
            <a:pPr algn="l">
              <a:lnSpc>
                <a:spcPts val="760"/>
              </a:lnSpc>
              <a:spcAft>
                <a:spcPts val="100"/>
              </a:spcAft>
            </a:pPr>
            <a:r>
              <a:rPr sz="63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Innova and DrillScan: torque and drag, hydraulics and anti-collision, for safe and efficient drilling. Full simulation, high-frequency data recorder.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03800"/>
            <a:ext cx="381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4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ALSO AVAILABLE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207000"/>
            <a:ext cx="2219960" cy="203200"/>
          </a:xfrm>
          <a:prstGeom prst="rect">
            <a:avLst/>
          </a:prstGeom>
          <a:solidFill>
            <a:srgbClr val="FFFFFF"/>
          </a:solidFill>
          <a:ln w="9525">
            <a:solidFill>
              <a:srgbClr val="0F7F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257800"/>
            <a:ext cx="221996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4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Survey equipment (LWD, gyro, dual telemetry)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0660" y="5207000"/>
            <a:ext cx="763270" cy="203200"/>
          </a:xfrm>
          <a:prstGeom prst="rect">
            <a:avLst/>
          </a:prstGeom>
          <a:solidFill>
            <a:srgbClr val="FFFFFF"/>
          </a:solidFill>
          <a:ln w="9525">
            <a:solidFill>
              <a:srgbClr val="0F7F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0660" y="5257800"/>
            <a:ext cx="76327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4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Turbodrilling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67429" y="5207000"/>
            <a:ext cx="763270" cy="203200"/>
          </a:xfrm>
          <a:prstGeom prst="rect">
            <a:avLst/>
          </a:prstGeom>
          <a:solidFill>
            <a:srgbClr val="FFFFFF"/>
          </a:solidFill>
          <a:ln w="9525">
            <a:solidFill>
              <a:srgbClr val="0F7F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67429" y="5257800"/>
            <a:ext cx="76327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4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Jar placement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461000"/>
            <a:ext cx="1186180" cy="203200"/>
          </a:xfrm>
          <a:prstGeom prst="rect">
            <a:avLst/>
          </a:prstGeom>
          <a:solidFill>
            <a:srgbClr val="FFFFFF"/>
          </a:solidFill>
          <a:ln w="9525">
            <a:solidFill>
              <a:srgbClr val="0F7F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5511800"/>
            <a:ext cx="118618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4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Non-magnetic equipment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06880" y="5461000"/>
            <a:ext cx="1139190" cy="203200"/>
          </a:xfrm>
          <a:prstGeom prst="rect">
            <a:avLst/>
          </a:prstGeom>
          <a:solidFill>
            <a:srgbClr val="FFFFFF"/>
          </a:solidFill>
          <a:ln w="9525">
            <a:solidFill>
              <a:srgbClr val="0F7F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706880" y="5511800"/>
            <a:ext cx="113919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4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Slimhole tools 3-1/2"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09570" y="5461000"/>
            <a:ext cx="1280160" cy="203200"/>
          </a:xfrm>
          <a:prstGeom prst="rect">
            <a:avLst/>
          </a:prstGeom>
          <a:solidFill>
            <a:srgbClr val="FFFFFF"/>
          </a:solidFill>
          <a:ln w="9525">
            <a:solidFill>
              <a:srgbClr val="0F7F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09570" y="5511800"/>
            <a:ext cx="128016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4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High-temperature systems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248400"/>
            <a:ext cx="4978400" cy="3556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248400"/>
            <a:ext cx="49784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98,500 m drilled · 60 wells · up to 3,000 m TVD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38800" y="965200"/>
            <a:ext cx="4597400" cy="5638800"/>
          </a:xfrm>
          <a:prstGeom prst="rect">
            <a:avLst/>
          </a:prstGeom>
          <a:solidFill>
            <a:srgbClr val="EAF4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16600" y="1092200"/>
            <a:ext cx="4318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BOOST MUD PULSE MWD SYSTEM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16600" y="1346200"/>
            <a:ext cx="2667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00"/>
              </a:lnSpc>
              <a:spcAft>
                <a:spcPts val="0"/>
              </a:spcAft>
            </a:pPr>
            <a:r>
              <a:rPr sz="70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Rock solid performance for aggressive drilling conditions. A positive mud pulse system sending surveys, directional telemetry, gamma ray and other sensor data to surface in real time.</a:t>
            </a:r>
          </a:p>
        </p:txBody>
      </p:sp>
      <p:pic>
        <p:nvPicPr>
          <p:cNvPr id="39" name="Picture 38" descr="_c_boost_120_8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5200" y="1168400"/>
            <a:ext cx="1524000" cy="10287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5816600" y="2336800"/>
            <a:ext cx="4267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80"/>
              </a:lnSpc>
              <a:spcAft>
                <a:spcPts val="180"/>
              </a:spcAft>
            </a:pPr>
            <a:r>
              <a:rPr sz="51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Field-proven design, standard rating 185°C, 200°C version available</a:t>
            </a:r>
          </a:p>
          <a:p>
            <a:pPr algn="l">
              <a:lnSpc>
                <a:spcPts val="880"/>
              </a:lnSpc>
              <a:spcAft>
                <a:spcPts val="180"/>
              </a:spcAft>
            </a:pPr>
            <a:r>
              <a:rPr sz="51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Top and bottom mounted positive pulse systems</a:t>
            </a:r>
          </a:p>
          <a:p>
            <a:pPr algn="l">
              <a:lnSpc>
                <a:spcPts val="880"/>
              </a:lnSpc>
              <a:spcAft>
                <a:spcPts val="180"/>
              </a:spcAft>
            </a:pPr>
            <a:r>
              <a:rPr sz="51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Motor-driven anti-plugging pulser: performs in LCM and high-solids mud</a:t>
            </a:r>
          </a:p>
          <a:p>
            <a:pPr algn="l">
              <a:lnSpc>
                <a:spcPts val="880"/>
              </a:lnSpc>
              <a:spcAft>
                <a:spcPts val="180"/>
              </a:spcAft>
            </a:pPr>
            <a:r>
              <a:rPr sz="51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Wide range of flow rates and rotary speeds, easy to assemble and service</a:t>
            </a:r>
          </a:p>
          <a:p>
            <a:pPr algn="l">
              <a:lnSpc>
                <a:spcPts val="880"/>
              </a:lnSpc>
              <a:spcAft>
                <a:spcPts val="180"/>
              </a:spcAft>
            </a:pPr>
            <a:r>
              <a:rPr sz="51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Down-linking for adjustable logging sequences (4 programmable)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16600" y="3403600"/>
            <a:ext cx="21082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92800" y="3441700"/>
            <a:ext cx="1981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00"/>
              </a:lnSpc>
              <a:spcAft>
                <a:spcPts val="0"/>
              </a:spcAft>
            </a:pPr>
            <a:r>
              <a:rPr sz="56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OUTSIDE DIAMETER</a:t>
            </a:r>
          </a:p>
          <a:p>
            <a:pPr algn="l">
              <a:lnSpc>
                <a:spcPts val="900"/>
              </a:lnSpc>
              <a:spcAft>
                <a:spcPts val="0"/>
              </a:spcAft>
            </a:pPr>
            <a:r>
              <a:rPr sz="819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47.6 mm (1.875")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975600" y="3403600"/>
            <a:ext cx="21082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51800" y="3441700"/>
            <a:ext cx="1981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00"/>
              </a:lnSpc>
              <a:spcAft>
                <a:spcPts val="0"/>
              </a:spcAft>
            </a:pPr>
            <a:r>
              <a:rPr sz="56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PRESSURE RATING</a:t>
            </a:r>
          </a:p>
          <a:p>
            <a:pPr algn="l">
              <a:lnSpc>
                <a:spcPts val="900"/>
              </a:lnSpc>
              <a:spcAft>
                <a:spcPts val="0"/>
              </a:spcAft>
            </a:pPr>
            <a:r>
              <a:rPr sz="819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20,000 psi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16600" y="3835400"/>
            <a:ext cx="21082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92800" y="3873500"/>
            <a:ext cx="1981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00"/>
              </a:lnSpc>
              <a:spcAft>
                <a:spcPts val="0"/>
              </a:spcAft>
            </a:pPr>
            <a:r>
              <a:rPr sz="56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TEMPERATURE</a:t>
            </a:r>
          </a:p>
          <a:p>
            <a:pPr algn="l">
              <a:lnSpc>
                <a:spcPts val="900"/>
              </a:lnSpc>
              <a:spcAft>
                <a:spcPts val="0"/>
              </a:spcAft>
            </a:pPr>
            <a:r>
              <a:rPr sz="819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-20 to 185°C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975600" y="3835400"/>
            <a:ext cx="21082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51800" y="3873500"/>
            <a:ext cx="1981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00"/>
              </a:lnSpc>
              <a:spcAft>
                <a:spcPts val="0"/>
              </a:spcAft>
            </a:pPr>
            <a:r>
              <a:rPr sz="56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COLLAR SIZES</a:t>
            </a:r>
          </a:p>
          <a:p>
            <a:pPr algn="l">
              <a:lnSpc>
                <a:spcPts val="900"/>
              </a:lnSpc>
              <a:spcAft>
                <a:spcPts val="0"/>
              </a:spcAft>
            </a:pPr>
            <a:r>
              <a:rPr sz="819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3.5" to 8"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16600" y="4267200"/>
            <a:ext cx="21082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92800" y="4305300"/>
            <a:ext cx="1981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00"/>
              </a:lnSpc>
              <a:spcAft>
                <a:spcPts val="0"/>
              </a:spcAft>
            </a:pPr>
            <a:r>
              <a:rPr sz="56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FLOW RATE</a:t>
            </a:r>
          </a:p>
          <a:p>
            <a:pPr algn="l">
              <a:lnSpc>
                <a:spcPts val="900"/>
              </a:lnSpc>
              <a:spcAft>
                <a:spcPts val="0"/>
              </a:spcAft>
            </a:pPr>
            <a:r>
              <a:rPr sz="819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75 - 1,200 gpm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975600" y="4267200"/>
            <a:ext cx="21082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051800" y="4305300"/>
            <a:ext cx="1981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00"/>
              </a:lnSpc>
              <a:spcAft>
                <a:spcPts val="0"/>
              </a:spcAft>
            </a:pPr>
            <a:r>
              <a:rPr sz="56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BATTERY LIFE</a:t>
            </a:r>
          </a:p>
          <a:p>
            <a:pPr algn="l">
              <a:lnSpc>
                <a:spcPts val="900"/>
              </a:lnSpc>
              <a:spcAft>
                <a:spcPts val="0"/>
              </a:spcAft>
            </a:pPr>
            <a:r>
              <a:rPr sz="819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400+ h (2 modules)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16600" y="4699000"/>
            <a:ext cx="21082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92800" y="4737100"/>
            <a:ext cx="1981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00"/>
              </a:lnSpc>
              <a:spcAft>
                <a:spcPts val="0"/>
              </a:spcAft>
            </a:pPr>
            <a:r>
              <a:rPr sz="56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SHOCK LIMIT</a:t>
            </a:r>
          </a:p>
          <a:p>
            <a:pPr algn="l">
              <a:lnSpc>
                <a:spcPts val="900"/>
              </a:lnSpc>
              <a:spcAft>
                <a:spcPts val="0"/>
              </a:spcAft>
            </a:pPr>
            <a:r>
              <a:rPr sz="819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500 g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975600" y="4699000"/>
            <a:ext cx="21082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051800" y="4737100"/>
            <a:ext cx="1981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00"/>
              </a:lnSpc>
              <a:spcAft>
                <a:spcPts val="0"/>
              </a:spcAft>
            </a:pPr>
            <a:r>
              <a:rPr sz="56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INTERNAL MEMORY</a:t>
            </a:r>
          </a:p>
          <a:p>
            <a:pPr algn="l">
              <a:lnSpc>
                <a:spcPts val="900"/>
              </a:lnSpc>
              <a:spcAft>
                <a:spcPts val="0"/>
              </a:spcAft>
            </a:pPr>
            <a:r>
              <a:rPr sz="819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24 MB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16600" y="5257800"/>
            <a:ext cx="4267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0"/>
              </a:lnSpc>
              <a:spcAft>
                <a:spcPts val="0"/>
              </a:spcAft>
            </a:pPr>
            <a:r>
              <a:rPr sz="6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Telemetry: </a:t>
            </a:r>
            <a:r>
              <a:rPr sz="66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inclination, azimuth, toolface, gamma ray, shock, vibration, RPM, stick-slip, temperature, annular pressure, battery status.</a:t>
            </a:r>
          </a:p>
        </p:txBody>
      </p:sp>
      <p:graphicFrame>
        <p:nvGraphicFramePr>
          <p:cNvPr id="58" name="Table 57"/>
          <p:cNvGraphicFramePr>
            <a:graphicFrameLocks noGrp="1"/>
          </p:cNvGraphicFramePr>
          <p:nvPr/>
        </p:nvGraphicFramePr>
        <p:xfrm>
          <a:off x="5816600" y="5791200"/>
          <a:ext cx="4267200" cy="330200"/>
        </p:xfrm>
        <a:graphic>
          <a:graphicData uri="http://schemas.openxmlformats.org/drawingml/2006/table">
            <a:tbl>
              <a:tblPr/>
              <a:tblGrid>
                <a:gridCol w="1066800"/>
                <a:gridCol w="1066800"/>
                <a:gridCol w="1066800"/>
                <a:gridCol w="1066800"/>
              </a:tblGrid>
              <a:tr h="165100">
                <a:tc>
                  <a:txBody>
                    <a:bodyPr/>
                    <a:lstStyle/>
                    <a:p>
                      <a:pPr algn="ctr"/>
                      <a:r>
                        <a:rPr sz="66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Inclination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Azimuth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Toolface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Temperature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66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±0.10°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±0.50°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±0.20°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±0.5°C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9" name="Rectangle 58"/>
          <p:cNvSpPr/>
          <p:nvPr/>
        </p:nvSpPr>
        <p:spPr>
          <a:xfrm>
            <a:off x="457200" y="7213600"/>
            <a:ext cx="9779000" cy="10160"/>
          </a:xfrm>
          <a:prstGeom prst="rect">
            <a:avLst/>
          </a:prstGeom>
          <a:solidFill>
            <a:srgbClr val="B9C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7200" y="7289800"/>
            <a:ext cx="762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4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Enedril · Fishing and Drilling Solutions · 3 avenue des lacs, 64140 Lons (France) · info@enedril.fr · +33 (0)5 59 04 50 45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40900" y="7289800"/>
            <a:ext cx="4953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7600" y="228600"/>
            <a:ext cx="1498600" cy="33611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128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</a:pPr>
            <a:r>
              <a:rPr sz="240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FISHING, WORKOVER &amp; P&amp;A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5200"/>
            <a:ext cx="44450" cy="5080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4200" y="965200"/>
            <a:ext cx="800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0"/>
              </a:lnSpc>
              <a:spcAft>
                <a:spcPts val="400"/>
              </a:spcAft>
            </a:pPr>
            <a:r>
              <a:rPr sz="78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Fishing, workover and plug &amp; abandonment: the full range of operations to recover, restore and secure wells during drilling, workover or abandonment. Our fishing team responds quickly with a large rental and sale fleet, backed by our own workshop and custom tool design.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25600"/>
            <a:ext cx="2349500" cy="6350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727200"/>
            <a:ext cx="2349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3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2,500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2044700"/>
            <a:ext cx="2197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tools available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2933700" y="1625600"/>
            <a:ext cx="2349500" cy="6350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33700" y="1727200"/>
            <a:ext cx="2349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24 / 48h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09900" y="2019300"/>
            <a:ext cx="2197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response time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10200" y="1625600"/>
            <a:ext cx="2349500" cy="6350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10200" y="1727200"/>
            <a:ext cx="2349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3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142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2044700"/>
            <a:ext cx="2197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fishing, workover and P&amp;A interventions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86700" y="1625600"/>
            <a:ext cx="2349500" cy="6350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86700" y="1727200"/>
            <a:ext cx="2349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ISO 9001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62900" y="1993900"/>
            <a:ext cx="2197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certified quality management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413000"/>
            <a:ext cx="3124200" cy="14986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8800" y="2501900"/>
            <a:ext cx="292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FISHING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8800" y="2692400"/>
            <a:ext cx="292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77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Recovery of rods, strings, BHAs and stuck or lost tools.</a:t>
            </a:r>
          </a:p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77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Jarring and impact tools, shock tools, intensifiers.</a:t>
            </a:r>
          </a:p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77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Overshots, spears, die collars, magnets, taper taps.</a:t>
            </a:r>
          </a:p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77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Tools for rental or purchase.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84600" y="2413000"/>
            <a:ext cx="3124200" cy="14986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86200" y="2501900"/>
            <a:ext cx="292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WORKOVER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86200" y="2692400"/>
            <a:ext cx="292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77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Well restoration and preparation for return to production.</a:t>
            </a:r>
          </a:p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77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Section milling and wash over.</a:t>
            </a:r>
          </a:p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77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Casing repair: scrapers, impression blocks, junk baskets.</a:t>
            </a:r>
          </a:p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77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Reaming with RTU, DTU and SPX underreamers.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12000" y="2413000"/>
            <a:ext cx="3124200" cy="14986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13600" y="2501900"/>
            <a:ext cx="292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PLUG &amp; ABANDONMENT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3600" y="2692400"/>
            <a:ext cx="292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77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Safe, definitive abandonment of wells.</a:t>
            </a:r>
          </a:p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77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Cutting with hydraulic pipe cutters and section mills.</a:t>
            </a:r>
          </a:p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77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Whipstocks and sidetracks, packers, bridge plugs, liner hangers.</a:t>
            </a:r>
          </a:p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77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Cold cutter, wellhead replacement, casing jack, tanks.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89400"/>
            <a:ext cx="6654800" cy="1905000"/>
          </a:xfrm>
          <a:prstGeom prst="rect">
            <a:avLst/>
          </a:prstGeom>
          <a:solidFill>
            <a:srgbClr val="EAF4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4089400"/>
            <a:ext cx="76200" cy="19050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0400" y="4191000"/>
            <a:ext cx="508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WATER WELLS TOO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0400" y="4406900"/>
            <a:ext cx="635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73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We also work on water wells, typically between 300 and 1,000 m, in support of drilling contractors. Habits formed on 3,000 m wells mean we handle shallow wells with the same rigor.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0400" y="4851400"/>
            <a:ext cx="203200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2000" y="4940300"/>
            <a:ext cx="182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0"/>
              </a:lnSpc>
              <a:spcAft>
                <a:spcPts val="200"/>
              </a:spcAft>
            </a:pPr>
            <a:r>
              <a:rPr sz="84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CUT &amp; PULL</a:t>
            </a:r>
          </a:p>
          <a:p>
            <a:pPr algn="l">
              <a:lnSpc>
                <a:spcPts val="860"/>
              </a:lnSpc>
              <a:spcAft>
                <a:spcPts val="200"/>
              </a:spcAft>
            </a:pPr>
            <a:r>
              <a:rPr sz="67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Hydraulic and external pipe cutters, spears and overshots to cut and pull casing, tubing or stuck strings.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94000" y="4851400"/>
            <a:ext cx="203200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895600" y="4940300"/>
            <a:ext cx="182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0"/>
              </a:lnSpc>
              <a:spcAft>
                <a:spcPts val="200"/>
              </a:spcAft>
            </a:pPr>
            <a:r>
              <a:rPr sz="84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REAMING</a:t>
            </a:r>
          </a:p>
          <a:p>
            <a:pPr algn="l">
              <a:lnSpc>
                <a:spcPts val="860"/>
              </a:lnSpc>
              <a:spcAft>
                <a:spcPts val="200"/>
              </a:spcAft>
            </a:pPr>
            <a:r>
              <a:rPr sz="67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Rotary and directional underreamers, hole openers, roller reamers and SPX drag-type underreamers.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27600" y="4851400"/>
            <a:ext cx="203200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940300"/>
            <a:ext cx="182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0"/>
              </a:lnSpc>
              <a:spcAft>
                <a:spcPts val="200"/>
              </a:spcAft>
            </a:pPr>
            <a:r>
              <a:rPr sz="84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MILLING</a:t>
            </a:r>
          </a:p>
          <a:p>
            <a:pPr algn="l">
              <a:lnSpc>
                <a:spcPts val="860"/>
              </a:lnSpc>
              <a:spcAft>
                <a:spcPts val="200"/>
              </a:spcAft>
            </a:pPr>
            <a:r>
              <a:rPr sz="67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Junk mills, pilot and taper mills, section mills and washover shoes.</a:t>
            </a:r>
          </a:p>
        </p:txBody>
      </p:sp>
      <p:pic>
        <p:nvPicPr>
          <p:cNvPr id="37" name="Picture 36" descr="_c_w3_112_1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9800" y="4089400"/>
            <a:ext cx="1422400" cy="1905000"/>
          </a:xfrm>
          <a:prstGeom prst="rect">
            <a:avLst/>
          </a:prstGeom>
        </p:spPr>
      </p:pic>
      <p:pic>
        <p:nvPicPr>
          <p:cNvPr id="38" name="Picture 37" descr="_c_w1_112_1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3800" y="4089400"/>
            <a:ext cx="1422400" cy="1905000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457200" y="6146800"/>
            <a:ext cx="9779000" cy="8890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0400" y="6146800"/>
            <a:ext cx="93726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00"/>
              </a:lnSpc>
              <a:spcAft>
                <a:spcPts val="300"/>
              </a:spcAft>
            </a:pPr>
            <a:r>
              <a:rPr sz="84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WHERE WE WORK</a:t>
            </a:r>
          </a:p>
          <a:p>
            <a:pPr algn="l">
              <a:lnSpc>
                <a:spcPts val="1000"/>
              </a:lnSpc>
              <a:spcAft>
                <a:spcPts val="300"/>
              </a:spcAft>
            </a:pPr>
            <a:r>
              <a:rPr sz="76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Based in Lons (64), south-west France. We mobilise across metropolitan France within 24 to 48 hours in an emergency, and have international experience in Europe and North Africa. A single dedicated team follows each job from diagnosis to resolution.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7213600"/>
            <a:ext cx="9779000" cy="10160"/>
          </a:xfrm>
          <a:prstGeom prst="rect">
            <a:avLst/>
          </a:prstGeom>
          <a:solidFill>
            <a:srgbClr val="B9C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7289800"/>
            <a:ext cx="762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4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Enedril · Fishing and Drilling Solutions · 3 avenue des lacs, 64140 Lons (France) · info@enedril.fr · +33 (0)5 59 04 50 45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40900" y="7289800"/>
            <a:ext cx="4953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7600" y="228600"/>
            <a:ext cx="1498600" cy="33611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128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</a:pPr>
            <a:r>
              <a:rPr sz="240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TOOL CATALOGUE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44450" cy="3556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4200" y="914400"/>
            <a:ext cx="800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0"/>
              </a:lnSpc>
              <a:spcAft>
                <a:spcPts val="400"/>
              </a:spcAft>
            </a:pPr>
            <a:r>
              <a:rPr sz="76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A selection of the main tools in stock, for rental or purchase. The full catalogue and technical data sheets are available on request. Sizes in inches; tool series are quoted where applicable.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3124200" cy="777240"/>
        </p:xfrm>
        <a:graphic>
          <a:graphicData uri="http://schemas.openxmlformats.org/drawingml/2006/table">
            <a:tbl>
              <a:tblPr/>
              <a:tblGrid>
                <a:gridCol w="1625600"/>
                <a:gridCol w="1498600"/>
              </a:tblGrid>
              <a:tr h="177800">
                <a:tc>
                  <a:txBody>
                    <a:bodyPr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CLEANING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Range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Casing scraper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3-5/8" - 7-7/8"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Impression block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2-1/8" - 13-1/2"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Reverse circ. junk basket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5-5/8" - 17"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Junk basket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3-1/2" - 13-3/8"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263140"/>
          <a:ext cx="3124200" cy="1076960"/>
        </p:xfrm>
        <a:graphic>
          <a:graphicData uri="http://schemas.openxmlformats.org/drawingml/2006/table">
            <a:tbl>
              <a:tblPr/>
              <a:tblGrid>
                <a:gridCol w="1625600"/>
                <a:gridCol w="1498600"/>
              </a:tblGrid>
              <a:tr h="177800">
                <a:tc>
                  <a:txBody>
                    <a:bodyPr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MILLING &amp; WASHOVER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Range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Economill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3-3/4" - 12-1/8"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Junk mill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2-1/8" - 17-3/8"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Super junk mill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3-3/4" - 18-3/8"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Pilot mill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3-1/4" - 8-1/2"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Taper mill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2-1/2" - 18-1/2"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Washover shoe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2-9/16" - 13-3/8"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784600" y="1371600"/>
          <a:ext cx="3124200" cy="627380"/>
        </p:xfrm>
        <a:graphic>
          <a:graphicData uri="http://schemas.openxmlformats.org/drawingml/2006/table">
            <a:tbl>
              <a:tblPr/>
              <a:tblGrid>
                <a:gridCol w="1625600"/>
                <a:gridCol w="1498600"/>
              </a:tblGrid>
              <a:tr h="177800">
                <a:tc>
                  <a:txBody>
                    <a:bodyPr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CUTTING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Range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Hydraulic pipe cutter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3600, 5700, 8200, 11700s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Section mill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3600, 5500, 8200, 11700s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External hydraulic cutter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5-5/8" - 8"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784600" y="2113280"/>
          <a:ext cx="3124200" cy="1076960"/>
        </p:xfrm>
        <a:graphic>
          <a:graphicData uri="http://schemas.openxmlformats.org/drawingml/2006/table">
            <a:tbl>
              <a:tblPr/>
              <a:tblGrid>
                <a:gridCol w="1625600"/>
                <a:gridCol w="1498600"/>
              </a:tblGrid>
              <a:tr h="177800">
                <a:tc>
                  <a:txBody>
                    <a:bodyPr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RECOVERY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Range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Die collar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4" - 9-5/8"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Fishing magnet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3-3/4" - 15"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Spear, internal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6-3/4" - 8"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Spear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2-3/8" - 20"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Overshot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SFS, SH, XSH, FS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Taper tap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3-1/16" - 8"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112000" y="1371600"/>
          <a:ext cx="3124200" cy="1076960"/>
        </p:xfrm>
        <a:graphic>
          <a:graphicData uri="http://schemas.openxmlformats.org/drawingml/2006/table">
            <a:tbl>
              <a:tblPr/>
              <a:tblGrid>
                <a:gridCol w="1625600"/>
                <a:gridCol w="1498600"/>
              </a:tblGrid>
              <a:tr h="177800">
                <a:tc>
                  <a:txBody>
                    <a:bodyPr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REAMING &amp; ENLARGEMENT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Range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Rotary underreamer (RTU)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DTS 350, 5700, 8200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Drilling-type underreamer (DTU)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5700, 8200, 12000, 18000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Master Driller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8200, 14000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Hole opener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14-3/4"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SPX drag-type underreamer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5700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Roller reamer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8200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112000" y="2562860"/>
          <a:ext cx="3124200" cy="1076960"/>
        </p:xfrm>
        <a:graphic>
          <a:graphicData uri="http://schemas.openxmlformats.org/drawingml/2006/table">
            <a:tbl>
              <a:tblPr/>
              <a:tblGrid>
                <a:gridCol w="1625600"/>
                <a:gridCol w="1498600"/>
              </a:tblGrid>
              <a:tr h="177800">
                <a:tc>
                  <a:txBody>
                    <a:bodyPr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JARRING &amp; IMPACT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Range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Fishing jar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3-1/8" - 8"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Jar intensifier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3-1/8" - 6-1/2"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Safety joint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3-1/2" - 8"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Stabilizer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3-1/8" - 9-1/2"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Crossover (XO)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3-3/8" - 11-3/4"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49860">
                <a:tc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Bit / Float sub / Bull nose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2-3/16" - 10-1/4"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57200" y="3708400"/>
            <a:ext cx="3175000" cy="2184400"/>
          </a:xfrm>
          <a:prstGeom prst="rect">
            <a:avLst/>
          </a:prstGeom>
          <a:solidFill>
            <a:srgbClr val="EAF4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708400"/>
            <a:ext cx="76200" cy="21844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400" y="3810000"/>
            <a:ext cx="2895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0"/>
              </a:lnSpc>
              <a:spcAft>
                <a:spcPts val="0"/>
              </a:spcAft>
            </a:pPr>
            <a:r>
              <a:rPr sz="9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FOR WATER WELLS</a:t>
            </a:r>
          </a:p>
          <a:p>
            <a:pPr algn="l">
              <a:lnSpc>
                <a:spcPts val="1000"/>
              </a:lnSpc>
              <a:spcAft>
                <a:spcPts val="0"/>
              </a:spcAft>
            </a:pPr>
            <a:r>
              <a:rPr sz="68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typically 300 - 1,000 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400" y="4165600"/>
            <a:ext cx="2895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00"/>
              </a:lnSpc>
              <a:spcAft>
                <a:spcPts val="400"/>
              </a:spcAft>
            </a:pPr>
            <a:r>
              <a:rPr sz="69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Cut &amp; pull: </a:t>
            </a: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hydraulic pipe cutters, external cutters, spears, overshots, jars.</a:t>
            </a:r>
          </a:p>
          <a:p>
            <a:pPr algn="l">
              <a:lnSpc>
                <a:spcPts val="900"/>
              </a:lnSpc>
              <a:spcAft>
                <a:spcPts val="400"/>
              </a:spcAft>
            </a:pPr>
            <a:r>
              <a:rPr sz="69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Reaming: </a:t>
            </a: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RTU, DTU, SPX drag-type, hole openers, roller reamers.</a:t>
            </a:r>
          </a:p>
          <a:p>
            <a:pPr algn="l">
              <a:lnSpc>
                <a:spcPts val="900"/>
              </a:lnSpc>
              <a:spcAft>
                <a:spcPts val="400"/>
              </a:spcAft>
            </a:pPr>
            <a:r>
              <a:rPr sz="69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Milling: </a:t>
            </a: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junk mills, pilot mills, taper mills, section mills, washover shoes.</a:t>
            </a:r>
          </a:p>
          <a:p>
            <a:pPr algn="l">
              <a:lnSpc>
                <a:spcPts val="900"/>
              </a:lnSpc>
              <a:spcAft>
                <a:spcPts val="400"/>
              </a:spcAft>
            </a:pPr>
            <a:r>
              <a:rPr sz="69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Stock available, response within 24/48h anywhere in metropolitan France.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59200" y="3708400"/>
            <a:ext cx="3175000" cy="218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86200" y="3810000"/>
            <a:ext cx="292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0"/>
              </a:lnSpc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UNDERREAMERS</a:t>
            </a:r>
          </a:p>
          <a:p>
            <a:pPr algn="l">
              <a:lnSpc>
                <a:spcPts val="950"/>
              </a:lnSpc>
              <a:spcAft>
                <a:spcPts val="0"/>
              </a:spcAft>
            </a:pPr>
            <a:r>
              <a:rPr sz="66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DTU and SPX data sheets available</a:t>
            </a:r>
          </a:p>
        </p:txBody>
      </p:sp>
      <p:pic>
        <p:nvPicPr>
          <p:cNvPr id="18" name="Picture 17" descr="_c_cutters_62_1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4140200"/>
            <a:ext cx="787400" cy="1295400"/>
          </a:xfrm>
          <a:prstGeom prst="rect">
            <a:avLst/>
          </a:prstGeom>
        </p:spPr>
      </p:pic>
      <p:pic>
        <p:nvPicPr>
          <p:cNvPr id="19" name="Picture 18" descr="_c_spx_tool_160_2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5200" y="4292600"/>
            <a:ext cx="2032000" cy="3683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775200" y="4826000"/>
            <a:ext cx="20574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0"/>
              </a:lnSpc>
              <a:spcAft>
                <a:spcPts val="0"/>
              </a:spcAft>
            </a:pPr>
            <a:r>
              <a:rPr sz="66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DTU: 6 cutter options (milled tooth, TCI, PDC Bearclaw). SPX: PDC drag-type, arms dressed with tungsten carbide.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61200" y="3708400"/>
            <a:ext cx="3175000" cy="218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88200" y="3810000"/>
            <a:ext cx="292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0"/>
              </a:lnSpc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HYDRAULIC PIPE CUTTER</a:t>
            </a:r>
          </a:p>
          <a:p>
            <a:pPr algn="l">
              <a:lnSpc>
                <a:spcPts val="950"/>
              </a:lnSpc>
              <a:spcAft>
                <a:spcPts val="0"/>
              </a:spcAft>
            </a:pPr>
            <a:r>
              <a:rPr sz="66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Data sheet available</a:t>
            </a:r>
          </a:p>
        </p:txBody>
      </p:sp>
      <p:pic>
        <p:nvPicPr>
          <p:cNvPr id="23" name="Picture 22" descr="_c_pipecutter_150_4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8200" y="4114800"/>
            <a:ext cx="1905000" cy="5969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188200" y="4826000"/>
            <a:ext cx="292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0"/>
              </a:lnSpc>
              <a:spcAft>
                <a:spcPts val="200"/>
              </a:spcAft>
            </a:pPr>
            <a:r>
              <a:rPr sz="48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6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Internal hydraulic cutter for single or multiple casing strings.</a:t>
            </a:r>
          </a:p>
          <a:p>
            <a:pPr algn="l">
              <a:lnSpc>
                <a:spcPts val="840"/>
              </a:lnSpc>
              <a:spcAft>
                <a:spcPts val="200"/>
              </a:spcAft>
            </a:pPr>
            <a:r>
              <a:rPr sz="48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6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Mainly for well abandonment, when casings are cemented.</a:t>
            </a:r>
          </a:p>
          <a:p>
            <a:pPr algn="l">
              <a:lnSpc>
                <a:spcPts val="840"/>
              </a:lnSpc>
              <a:spcAft>
                <a:spcPts val="200"/>
              </a:spcAft>
            </a:pPr>
            <a:r>
              <a:rPr sz="48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6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Four tool diameters cutting 4-1/2" to 36".</a:t>
            </a:r>
          </a:p>
          <a:p>
            <a:pPr algn="l">
              <a:lnSpc>
                <a:spcPts val="840"/>
              </a:lnSpc>
              <a:spcAft>
                <a:spcPts val="200"/>
              </a:spcAft>
            </a:pPr>
            <a:r>
              <a:rPr sz="48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6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Up to 400 L/min, 35 - 60 bar.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070600"/>
            <a:ext cx="9779000" cy="4826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000" y="6070600"/>
            <a:ext cx="94488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900"/>
              </a:lnSpc>
              <a:spcAft>
                <a:spcPts val="0"/>
              </a:spcAft>
            </a:pPr>
            <a:r>
              <a:rPr sz="70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DOWNHOLE TOOLS AND SPECIAL INTERVENTIONS: </a:t>
            </a:r>
            <a:r>
              <a:rPr sz="7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drilling bits (PDC), jars, stabilizers, tubulars, circulating subs, whipstocks and sidetracks, packers, bridge plugs, liner hangers, casing jack. Custom tools designed with an API 5 &amp; 7 certified machine shop. To request a quotation, specify tool type, size or series, connections and operation.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7213600"/>
            <a:ext cx="9779000" cy="10160"/>
          </a:xfrm>
          <a:prstGeom prst="rect">
            <a:avLst/>
          </a:prstGeom>
          <a:solidFill>
            <a:srgbClr val="B9C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7289800"/>
            <a:ext cx="762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4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Enedril · Fishing and Drilling Solutions · 3 avenue des lacs, 64140 Lons (France) · info@enedril.fr · +33 (0)5 59 04 50 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40900" y="7289800"/>
            <a:ext cx="4953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3400" cy="7556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7620000" cy="5461000"/>
          </a:xfrm>
          <a:custGeom>
            <a:avLst/>
            <a:gdLst/>
            <a:ahLst/>
            <a:cxnLst/>
            <a:rect l="l" t="t" r="r" b="b"/>
            <a:pathLst>
              <a:path w="600" h="430">
                <a:moveTo>
                  <a:pt x="0" y="0"/>
                </a:moveTo>
                <a:lnTo>
                  <a:pt x="600" y="0"/>
                </a:lnTo>
                <a:lnTo>
                  <a:pt x="520" y="330"/>
                </a:lnTo>
                <a:lnTo>
                  <a:pt x="0" y="430"/>
                </a:lnTo>
                <a:close/>
              </a:path>
            </a:pathLst>
          </a:custGeom>
          <a:solidFill>
            <a:srgbClr val="0A4F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6604000" y="0"/>
            <a:ext cx="4089400" cy="5969000"/>
          </a:xfrm>
          <a:custGeom>
            <a:avLst/>
            <a:gdLst/>
            <a:ahLst/>
            <a:cxnLst/>
            <a:rect l="l" t="t" r="r" b="b"/>
            <a:pathLst>
              <a:path w="322" h="470">
                <a:moveTo>
                  <a:pt x="80" y="0"/>
                </a:moveTo>
                <a:lnTo>
                  <a:pt x="322" y="0"/>
                </a:lnTo>
                <a:lnTo>
                  <a:pt x="322" y="470"/>
                </a:lnTo>
                <a:lnTo>
                  <a:pt x="0" y="330"/>
                </a:lnTo>
                <a:close/>
              </a:path>
            </a:pathLst>
          </a:cu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0" y="4191000"/>
            <a:ext cx="10693400" cy="3365500"/>
          </a:xfrm>
          <a:custGeom>
            <a:avLst/>
            <a:gdLst/>
            <a:ahLst/>
            <a:cxnLst/>
            <a:rect l="l" t="t" r="r" b="b"/>
            <a:pathLst>
              <a:path w="842" h="265">
                <a:moveTo>
                  <a:pt x="520" y="0"/>
                </a:moveTo>
                <a:lnTo>
                  <a:pt x="842" y="140"/>
                </a:lnTo>
                <a:lnTo>
                  <a:pt x="842" y="265"/>
                </a:lnTo>
                <a:lnTo>
                  <a:pt x="0" y="265"/>
                </a:lnTo>
                <a:lnTo>
                  <a:pt x="0" y="100"/>
                </a:lnTo>
                <a:close/>
              </a:path>
            </a:pathLst>
          </a:cu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6604000" y="0"/>
            <a:ext cx="1016000" cy="4191000"/>
          </a:xfrm>
          <a:prstGeom prst="line">
            <a:avLst/>
          </a:prstGeom>
          <a:ln w="1143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6604000" y="4191000"/>
            <a:ext cx="4089400" cy="1778000"/>
          </a:xfrm>
          <a:prstGeom prst="line">
            <a:avLst/>
          </a:prstGeom>
          <a:ln w="1143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0" y="4191000"/>
            <a:ext cx="6604000" cy="1270000"/>
          </a:xfrm>
          <a:prstGeom prst="line">
            <a:avLst/>
          </a:prstGeom>
          <a:ln w="114300">
            <a:solidFill>
              <a:srgbClr val="FFFFFF"/>
            </a:solidFill>
          </a:ln>
        </p:spPr>
      </p:cxnSp>
      <p:pic>
        <p:nvPicPr>
          <p:cNvPr id="9" name="Picture 8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889000"/>
            <a:ext cx="3810000" cy="8649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5867400"/>
            <a:ext cx="5334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Enedril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3, avenue des lacs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64140 Lons (FRANCE)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info@enedril.fr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+33 (0)5 59 04 50 45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www.enedril.com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