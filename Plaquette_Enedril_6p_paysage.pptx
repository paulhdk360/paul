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6934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620000" cy="5461000"/>
          </a:xfrm>
          <a:custGeom>
            <a:avLst/>
            <a:gdLst/>
            <a:ahLst/>
            <a:cxnLst/>
            <a:rect l="l" t="t" r="r" b="b"/>
            <a:pathLst>
              <a:path w="600" h="430">
                <a:moveTo>
                  <a:pt x="0" y="0"/>
                </a:moveTo>
                <a:lnTo>
                  <a:pt x="600" y="0"/>
                </a:lnTo>
                <a:lnTo>
                  <a:pt x="520" y="330"/>
                </a:lnTo>
                <a:lnTo>
                  <a:pt x="0" y="43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604000" y="0"/>
            <a:ext cx="4089400" cy="5969000"/>
          </a:xfrm>
          <a:custGeom>
            <a:avLst/>
            <a:gdLst/>
            <a:ahLst/>
            <a:cxnLst/>
            <a:rect l="l" t="t" r="r" b="b"/>
            <a:pathLst>
              <a:path w="322" h="470">
                <a:moveTo>
                  <a:pt x="80" y="0"/>
                </a:moveTo>
                <a:lnTo>
                  <a:pt x="322" y="0"/>
                </a:lnTo>
                <a:lnTo>
                  <a:pt x="322" y="470"/>
                </a:lnTo>
                <a:lnTo>
                  <a:pt x="0" y="3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4191000"/>
            <a:ext cx="10693400" cy="3365500"/>
          </a:xfrm>
          <a:custGeom>
            <a:avLst/>
            <a:gdLst/>
            <a:ahLst/>
            <a:cxnLst/>
            <a:rect l="l" t="t" r="r" b="b"/>
            <a:pathLst>
              <a:path w="842" h="265">
                <a:moveTo>
                  <a:pt x="520" y="0"/>
                </a:moveTo>
                <a:lnTo>
                  <a:pt x="842" y="140"/>
                </a:lnTo>
                <a:lnTo>
                  <a:pt x="842" y="265"/>
                </a:lnTo>
                <a:lnTo>
                  <a:pt x="0" y="265"/>
                </a:lnTo>
                <a:lnTo>
                  <a:pt x="0" y="10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604000" y="0"/>
            <a:ext cx="1016000" cy="419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604000" y="4191000"/>
            <a:ext cx="4089400" cy="1778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4191000"/>
            <a:ext cx="6604000" cy="1270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9000"/>
            <a:ext cx="3810000" cy="8649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070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7310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69342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7400" y="69342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5200" y="69342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00"/>
              </a:lnSpc>
              <a:spcAft>
                <a:spcPts val="0"/>
              </a:spcAft>
            </a:pPr>
            <a:r>
              <a:rPr sz="26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4450" cy="965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43000"/>
            <a:ext cx="2870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5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(formerly Mustang Services) is an independent French company founded in 2013, specialised in directional drilling, fishing and well intervention for geothermal, oil &amp; gas and underground gas storage projects, in France and abroad. We combine field experience with technical know-how, and we are known for being fast, flexible and easy to work with.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114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273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2021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containers.</a:t>
            </a:r>
          </a:p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8" name="Picture 7" descr="_c_geo_236_1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2997200" cy="2235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6294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168400"/>
            <a:ext cx="15621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278128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15575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70500" y="1168400"/>
            <a:ext cx="15621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0500" y="1278128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6700" y="1608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1930400"/>
            <a:ext cx="15621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040127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2370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70500" y="1930400"/>
            <a:ext cx="15621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0500" y="2040127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6700" y="2370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7940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022600"/>
            <a:ext cx="31750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4600" y="31115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33800"/>
            <a:ext cx="31750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84600" y="38227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4445000"/>
            <a:ext cx="3175000" cy="635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4600" y="4533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5232400"/>
            <a:ext cx="3175000" cy="1346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82_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200" y="5384800"/>
            <a:ext cx="1041400" cy="1041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27600" y="53848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Quality followed on every job, from start to finish. About 15 clients supported each year, in France and abroad.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5800" y="11430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35800" y="13970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8200" y="13970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35800" y="22098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8200" y="22098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35800" y="30226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88200" y="30226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35800" y="38354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88200" y="38354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35800" y="4775200"/>
            <a:ext cx="3200400" cy="1803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13600" y="4775200"/>
            <a:ext cx="2870200" cy="180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4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4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52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65200"/>
            <a:ext cx="4851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Advanced directional drilling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01800"/>
            <a:ext cx="1549400" cy="609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99336"/>
            <a:ext cx="1549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015236"/>
            <a:ext cx="139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HT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6300" y="1701800"/>
            <a:ext cx="1549400" cy="609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6300" y="1799336"/>
            <a:ext cx="1549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2500" y="2091436"/>
            <a:ext cx="139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 and point-the-bit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35400" y="1701800"/>
            <a:ext cx="1600200" cy="609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5400" y="1799336"/>
            <a:ext cx="1600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1600" y="2040636"/>
            <a:ext cx="1447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kits, HT electronics</a:t>
            </a:r>
          </a:p>
        </p:txBody>
      </p:sp>
      <p:pic>
        <p:nvPicPr>
          <p:cNvPr id="15" name="Picture 14" descr="_c_motor_188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3800"/>
            <a:ext cx="2387600" cy="1422400"/>
          </a:xfrm>
          <a:prstGeom prst="rect">
            <a:avLst/>
          </a:prstGeom>
        </p:spPr>
      </p:pic>
      <p:pic>
        <p:nvPicPr>
          <p:cNvPr id="16" name="Picture 15" descr="_c_wellplan_196_1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2463800"/>
            <a:ext cx="2489200" cy="14224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7200" y="3886200"/>
            <a:ext cx="2387600" cy="939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6400" y="3886200"/>
            <a:ext cx="2489200" cy="939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962400"/>
            <a:ext cx="2184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OD, wide range of power sections incl. high-temperature stators. Push and point-the-bit RSS.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8000" y="3962400"/>
            <a:ext cx="2286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DrillScan: torque and drag, hydraulics and anti-collision, for safe and efficient drilling. Full simulation, high-frequency data recorder.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03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07000"/>
            <a:ext cx="22199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57800"/>
            <a:ext cx="221996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0660" y="5207000"/>
            <a:ext cx="76327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0660" y="5257800"/>
            <a:ext cx="76327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7429" y="5207000"/>
            <a:ext cx="76327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7429" y="5257800"/>
            <a:ext cx="76327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61000"/>
            <a:ext cx="118618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11800"/>
            <a:ext cx="118618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06880" y="5461000"/>
            <a:ext cx="113919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880" y="5511800"/>
            <a:ext cx="113919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570" y="5461000"/>
            <a:ext cx="12801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09570" y="5511800"/>
            <a:ext cx="128016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48400"/>
            <a:ext cx="4978400" cy="355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248400"/>
            <a:ext cx="4978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75 wells · up to 3,000 m TVD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800" y="965200"/>
            <a:ext cx="4597400" cy="56388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6600" y="1092200"/>
            <a:ext cx="431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6600" y="1346200"/>
            <a:ext cx="266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sending surveys, directional telemetry, gamma ray and other sensor data to surface in real time.</a:t>
            </a:r>
          </a:p>
        </p:txBody>
      </p:sp>
      <p:pic>
        <p:nvPicPr>
          <p:cNvPr id="39" name="Picture 38" descr="_c_boost_120_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5200" y="1168400"/>
            <a:ext cx="1524000" cy="10287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16600" y="2336800"/>
            <a:ext cx="426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anti-plugging pulser: performs in LCM and high-solids mud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16600" y="34036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2800" y="34417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75600" y="34036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51800" y="34417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16600" y="38354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2800" y="38735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75600" y="38354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51800" y="38735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16600" y="42672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2800" y="43053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75600" y="42672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51800" y="43053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16600" y="46990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2800" y="47371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75600" y="46990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51800" y="47371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16600" y="5257800"/>
            <a:ext cx="426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0"/>
              </a:spcAft>
            </a:pPr>
            <a:r>
              <a:rPr sz="6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gamma ray, shock, vibration, RPM, stick-slip, temperature, annular pressure, battery status.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5816600" y="5791200"/>
          <a:ext cx="4267200" cy="330200"/>
        </p:xfrm>
        <a:graphic>
          <a:graphicData uri="http://schemas.openxmlformats.org/drawingml/2006/table">
            <a:tbl>
              <a:tblPr/>
              <a:tblGrid>
                <a:gridCol w="1066800"/>
                <a:gridCol w="1066800"/>
                <a:gridCol w="1066800"/>
                <a:gridCol w="1066800"/>
              </a:tblGrid>
              <a:tr h="165100"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Inclination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Azimuth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Toolface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Temperature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66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±0.10°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±0.50°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±0.20°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±0.5°C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Rectangle 58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&amp; P&amp;A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5200"/>
            <a:ext cx="44450" cy="508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65200"/>
            <a:ext cx="800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  <a:spcAft>
                <a:spcPts val="400"/>
              </a:spcAft>
            </a:pPr>
            <a:r>
              <a:rPr sz="7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abandonment: the full range of operations to recover, restore and secure wells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5600"/>
            <a:ext cx="23495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0447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33700" y="1625600"/>
            <a:ext cx="23495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37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9900" y="20193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0200" y="1625600"/>
            <a:ext cx="2349500" cy="635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0447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6700" y="1625600"/>
            <a:ext cx="23495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7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62900" y="19939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13000"/>
            <a:ext cx="3124200" cy="1498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strings, BHAs and stuck or lost tools.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tools, intensifiers.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4600" y="2413000"/>
            <a:ext cx="3124200" cy="1498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repair: scrapers, impression blocks, junk baskets.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12000" y="2413000"/>
            <a:ext cx="3124200" cy="1498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136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36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89400"/>
            <a:ext cx="66548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894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400" y="4191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" y="44069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3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4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940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956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276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shoes.</a:t>
            </a:r>
          </a:p>
        </p:txBody>
      </p:sp>
      <p:pic>
        <p:nvPicPr>
          <p:cNvPr id="37" name="Picture 36" descr="_c_w3_112_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800" y="4089400"/>
            <a:ext cx="1422400" cy="1905000"/>
          </a:xfrm>
          <a:prstGeom prst="rect">
            <a:avLst/>
          </a:prstGeom>
        </p:spPr>
      </p:pic>
      <p:pic>
        <p:nvPicPr>
          <p:cNvPr id="38" name="Picture 37" descr="_c_w1_112_1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3800" y="4089400"/>
            <a:ext cx="1422400" cy="1905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7200" y="6146800"/>
            <a:ext cx="9779000" cy="889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400" y="6146800"/>
            <a:ext cx="93726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7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44450" cy="355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14400"/>
            <a:ext cx="800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3124200" cy="77724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6314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84600" y="1371600"/>
          <a:ext cx="3124200" cy="62738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84600" y="211328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112000" y="137160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12000" y="256286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3708400"/>
            <a:ext cx="3175000" cy="21844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8400"/>
            <a:ext cx="76200" cy="2184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3810000"/>
            <a:ext cx="2895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</a:t>
            </a:r>
          </a:p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6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typically 300 - 1,000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165600"/>
            <a:ext cx="2895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59200" y="3708400"/>
            <a:ext cx="3175000" cy="218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810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pic>
        <p:nvPicPr>
          <p:cNvPr id="18" name="Picture 17" descr="_c_cutters_62_1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140200"/>
            <a:ext cx="787400" cy="1295400"/>
          </a:xfrm>
          <a:prstGeom prst="rect">
            <a:avLst/>
          </a:prstGeom>
        </p:spPr>
      </p:pic>
      <p:pic>
        <p:nvPicPr>
          <p:cNvPr id="19" name="Picture 18" descr="_c_spx_tool_160_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200" y="4292600"/>
            <a:ext cx="2032000" cy="368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75200" y="4826000"/>
            <a:ext cx="2057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0"/>
              </a:spcAft>
            </a:pP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DTU: 6 cutter options (milled tooth, TCI, PDC Bearclaw). SPX: PDC drag-type, arms dressed with tungsten carbide.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1200" y="3708400"/>
            <a:ext cx="3175000" cy="218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88200" y="3810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pic>
        <p:nvPicPr>
          <p:cNvPr id="23" name="Picture 22" descr="_c_pipecutter_150_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8200" y="4114800"/>
            <a:ext cx="1905000" cy="596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88200" y="4826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casing strings.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for well abandonment, when casings are cemented.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cutting 4-1/2" to 36".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Up to 400 L/min, 35 - 60 bar.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070600"/>
            <a:ext cx="9779000" cy="482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6070600"/>
            <a:ext cx="94488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SPECIAL INTERVENTIONS: </a:t>
            </a: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jars, stabilizers, tubulars, circulating subs, whipstocks and sidetracks, packers, bridge plugs, liner hangers, casing jack. Custom tools designed with an API 5 &amp; 7 certified machine shop. To request a quotation, specify tool type, size or series, connections and operation.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620000" cy="5461000"/>
          </a:xfrm>
          <a:custGeom>
            <a:avLst/>
            <a:gdLst/>
            <a:ahLst/>
            <a:cxnLst/>
            <a:rect l="l" t="t" r="r" b="b"/>
            <a:pathLst>
              <a:path w="600" h="430">
                <a:moveTo>
                  <a:pt x="0" y="0"/>
                </a:moveTo>
                <a:lnTo>
                  <a:pt x="600" y="0"/>
                </a:lnTo>
                <a:lnTo>
                  <a:pt x="520" y="330"/>
                </a:lnTo>
                <a:lnTo>
                  <a:pt x="0" y="43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604000" y="0"/>
            <a:ext cx="4089400" cy="5969000"/>
          </a:xfrm>
          <a:custGeom>
            <a:avLst/>
            <a:gdLst/>
            <a:ahLst/>
            <a:cxnLst/>
            <a:rect l="l" t="t" r="r" b="b"/>
            <a:pathLst>
              <a:path w="322" h="470">
                <a:moveTo>
                  <a:pt x="80" y="0"/>
                </a:moveTo>
                <a:lnTo>
                  <a:pt x="322" y="0"/>
                </a:lnTo>
                <a:lnTo>
                  <a:pt x="322" y="470"/>
                </a:lnTo>
                <a:lnTo>
                  <a:pt x="0" y="3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4191000"/>
            <a:ext cx="10693400" cy="3365500"/>
          </a:xfrm>
          <a:custGeom>
            <a:avLst/>
            <a:gdLst/>
            <a:ahLst/>
            <a:cxnLst/>
            <a:rect l="l" t="t" r="r" b="b"/>
            <a:pathLst>
              <a:path w="842" h="265">
                <a:moveTo>
                  <a:pt x="520" y="0"/>
                </a:moveTo>
                <a:lnTo>
                  <a:pt x="842" y="140"/>
                </a:lnTo>
                <a:lnTo>
                  <a:pt x="842" y="265"/>
                </a:lnTo>
                <a:lnTo>
                  <a:pt x="0" y="265"/>
                </a:lnTo>
                <a:lnTo>
                  <a:pt x="0" y="10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604000" y="0"/>
            <a:ext cx="1016000" cy="419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604000" y="4191000"/>
            <a:ext cx="4089400" cy="1778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4191000"/>
            <a:ext cx="6604000" cy="1270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9000"/>
            <a:ext cx="3810000" cy="8649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58674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