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96" r:id="rId48"/>
    <p:sldId id="297" r:id="rId49"/>
    <p:sldId id="256" r:id="rId6"/>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Lst>
  <p:sldSz cx="7556500" cy="10693400"/>
  <p:notesSz cx="6858000" cy="9144000"/>
  <p:embeddedFontLst>
    <p:embeddedFont>
      <p:font typeface="Ubuntu Mono" charset="1" panose="020B0509030602030204"/>
      <p:regular r:id="rId7"/>
    </p:embeddedFont>
    <p:embeddedFont>
      <p:font typeface="Ubuntu Mono Bold" charset="1" panose="020B0809030602030204"/>
      <p:regular r:id="rId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font" Target="fonts/font7.fntdata"/><Relationship Id="rId8" Type="http://schemas.openxmlformats.org/officeDocument/2006/relationships/font" Target="fonts/font8.fntdata"/><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 Id="rId7" Type="http://schemas.openxmlformats.org/officeDocument/2006/relationships/image" Target="../media/image18.png"/><Relationship Id="rId8"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2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8.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2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5.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40.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1.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2.png"/><Relationship Id="rId3" Type="http://schemas.openxmlformats.org/officeDocument/2006/relationships/slide" Target="slide1.xml"/><Relationship Id="rId4" Type="http://schemas.openxmlformats.org/officeDocument/2006/relationships/slide" Target="slide2.xml"/><Relationship Id="rId5" Type="http://schemas.openxmlformats.org/officeDocument/2006/relationships/slide" Target="slide3.xml"/><Relationship Id="rId6" Type="http://schemas.openxmlformats.org/officeDocument/2006/relationships/slide" Target="slide4.xml"/><Relationship Id="rId7" Type="http://schemas.openxmlformats.org/officeDocument/2006/relationships/slide" Target="slide5.xml"/><Relationship Id="rId8" Type="http://schemas.openxmlformats.org/officeDocument/2006/relationships/slide" Target="slide6.xml"/><Relationship Id="rId9" Type="http://schemas.openxmlformats.org/officeDocument/2006/relationships/slide" Target="slide7.xml"/><Relationship Id="rId10" Type="http://schemas.openxmlformats.org/officeDocument/2006/relationships/slide" Target="slide8.xml"/><Relationship Id="rId11" Type="http://schemas.openxmlformats.org/officeDocument/2006/relationships/slide" Target="slide9.xml"/><Relationship Id="rId12" Type="http://schemas.openxmlformats.org/officeDocument/2006/relationships/slide" Target="slide10.xml"/><Relationship Id="rId13" Type="http://schemas.openxmlformats.org/officeDocument/2006/relationships/slide" Target="slide11.xml"/><Relationship Id="rId14" Type="http://schemas.openxmlformats.org/officeDocument/2006/relationships/slide" Target="slide12.xml"/><Relationship Id="rId15" Type="http://schemas.openxmlformats.org/officeDocument/2006/relationships/slide" Target="slide13.xml"/><Relationship Id="rId16" Type="http://schemas.openxmlformats.org/officeDocument/2006/relationships/slide" Target="slide14.xml"/><Relationship Id="rId17" Type="http://schemas.openxmlformats.org/officeDocument/2006/relationships/slide" Target="slide15.xml"/><Relationship Id="rId18" Type="http://schemas.openxmlformats.org/officeDocument/2006/relationships/slide" Target="slide16.xml"/><Relationship Id="rId19" Type="http://schemas.openxmlformats.org/officeDocument/2006/relationships/slide" Target="slide17.xml"/><Relationship Id="rId20" Type="http://schemas.openxmlformats.org/officeDocument/2006/relationships/slide" Target="slide18.xml"/><Relationship Id="rId21" Type="http://schemas.openxmlformats.org/officeDocument/2006/relationships/slide" Target="slide19.xml"/><Relationship Id="rId22" Type="http://schemas.openxmlformats.org/officeDocument/2006/relationships/slide" Target="slide20.xml"/><Relationship Id="rId23" Type="http://schemas.openxmlformats.org/officeDocument/2006/relationships/slide" Target="slide21.xml"/><Relationship Id="rId24" Type="http://schemas.openxmlformats.org/officeDocument/2006/relationships/slide" Target="slide22.xml"/><Relationship Id="rId25" Type="http://schemas.openxmlformats.org/officeDocument/2006/relationships/slide" Target="slide23.xml"/><Relationship Id="rId26" Type="http://schemas.openxmlformats.org/officeDocument/2006/relationships/slide" Target="slide24.xml"/><Relationship Id="rId27" Type="http://schemas.openxmlformats.org/officeDocument/2006/relationships/slide" Target="slide25.xml"/><Relationship Id="rId28" Type="http://schemas.openxmlformats.org/officeDocument/2006/relationships/slide" Target="slide26.xml"/><Relationship Id="rId29" Type="http://schemas.openxmlformats.org/officeDocument/2006/relationships/slide" Target="slide27.xml"/><Relationship Id="rId30" Type="http://schemas.openxmlformats.org/officeDocument/2006/relationships/slide" Target="slide28.xml"/><Relationship Id="rId31" Type="http://schemas.openxmlformats.org/officeDocument/2006/relationships/slide" Target="slide29.xml"/><Relationship Id="rId32" Type="http://schemas.openxmlformats.org/officeDocument/2006/relationships/slide" Target="slide30.xml"/><Relationship Id="rId33" Type="http://schemas.openxmlformats.org/officeDocument/2006/relationships/slide" Target="slide31.xml"/><Relationship Id="rId34" Type="http://schemas.openxmlformats.org/officeDocument/2006/relationships/slide" Target="slide32.xml"/><Relationship Id="rId35" Type="http://schemas.openxmlformats.org/officeDocument/2006/relationships/slide" Target="slide33.xml"/><Relationship Id="rId36" Type="http://schemas.openxmlformats.org/officeDocument/2006/relationships/slide" Target="slide34.xml"/><Relationship Id="rId37" Type="http://schemas.openxmlformats.org/officeDocument/2006/relationships/slide" Target="slide35.xml"/><Relationship Id="rId38" Type="http://schemas.openxmlformats.org/officeDocument/2006/relationships/slide" Target="slide36.xml"/><Relationship Id="rId39" Type="http://schemas.openxmlformats.org/officeDocument/2006/relationships/slide" Target="slide37.xml"/><Relationship Id="rId40" Type="http://schemas.openxmlformats.org/officeDocument/2006/relationships/slide" Target="slide38.xml"/><Relationship Id="rId41" Type="http://schemas.openxmlformats.org/officeDocument/2006/relationships/slide" Target="slide39.xml"/><Relationship Id="rId42" Type="http://schemas.openxmlformats.org/officeDocument/2006/relationships/slide" Target="slide40.xml"/></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SCRAPER</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CLEANING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FULL-CIRCLE CASING SCRAPER</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CASING SCRAPER THAT REMOVES MUD, CEMENT, BULLETS, RUST, SCALE, PARAFFIN AND PERFORATION BURRS FROM THE INSIDE WALL OF CASING. THE BLADES ARE SPACED TO CONTACT 600 DEGREES OF THE CASING SURFACE AT ONCE, SO EVERY PART OF THE WALL IS SCRAPED WHETHER THE TOOL IS ROTATED OR SPUDDED. SHORT AND COMPACT, WITH A LONG TAPER ON THE BLADES, IT PASSES THROUGH CASING JOINTS WITHOUT HANGING. IT WORKS IN VERTICAL OR ROTARY OPERATIONS AND CAN BE RUN ON DRILL PIPE, PIN UP OR PIN DOWN.</a:t>
            </a:r>
          </a:p>
        </p:txBody>
      </p:sp>
      <p:sp>
        <p:nvSpPr>
          <p:cNvPr id="21" name="TextBox 20"/>
          <p:cNvSpPr txBox="1"/>
          <p:nvPr/>
        </p:nvSpPr>
        <p:spPr>
          <a:xfrm>
            <a:off x="711200" y="49784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181600"/>
          <a:ext cx="6134095" cy="1549400"/>
        </p:xfrm>
        <a:graphic>
          <a:graphicData uri="http://schemas.openxmlformats.org/drawingml/2006/table">
            <a:tbl>
              <a:tblPr/>
              <a:tblGrid>
                <a:gridCol w="1157377"/>
                <a:gridCol w="896967"/>
                <a:gridCol w="665491"/>
                <a:gridCol w="665491"/>
                <a:gridCol w="839098"/>
                <a:gridCol w="752295"/>
                <a:gridCol w="578688"/>
                <a:gridCol w="578688"/>
              </a:tblGrid>
              <a:tr h="330200">
                <a:tc>
                  <a:txBody>
                    <a:bodyPr wrap="square"/>
                    <a:lstStyle/>
                    <a:p>
                      <a:pPr algn="ctr">
                        <a:lnSpc>
                          <a:spcPts val="880"/>
                        </a:lnSpc>
                      </a:pPr>
                      <a:r>
                        <a:rPr sz="720" b="1">
                          <a:solidFill>
                            <a:srgbClr val="FEFEFF"/>
                          </a:solidFill>
                          <a:latin typeface="Ubuntu Mono"/>
                          <a:ea typeface="Ubuntu Mono"/>
                          <a:cs typeface="Ubuntu Mono"/>
                          <a:sym typeface="Ubuntu Mono"/>
                        </a:rPr>
                        <a:t>Scraper for casing 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Casing weight (lb/ft)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Casing ID min.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Casing ID max.</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Top connection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Fishing neck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Tool ID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Tool 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9.5 - 13.5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3.886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4.622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14.0 - 23.0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4.662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5.250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5-1/2, dressed for 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20.0 - 33.0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6.188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17.0 - 38.0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5.850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6.688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7, dressed for 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24.0 - 47.1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6.308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7.188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9-5/8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32.3 - 64.9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8.224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9.188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10-3/4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32.75 - 79.2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9.22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13-3/8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48.0 - 98.0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11.911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13.238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3" name="TextBox 22"/>
          <p:cNvSpPr txBox="1"/>
          <p:nvPr/>
        </p:nvSpPr>
        <p:spPr>
          <a:xfrm>
            <a:off x="711200" y="6769100"/>
            <a:ext cx="6134100" cy="114300"/>
          </a:xfrm>
          <a:prstGeom prst="rect">
            <a:avLst/>
          </a:prstGeom>
          <a:noFill/>
        </p:spPr>
        <p:txBody>
          <a:bodyPr wrap="square" lIns="0" rIns="0" tIns="0" bIns="0">
            <a:spAutoFit/>
          </a:bodyPr>
          <a:lstStyle/>
          <a:p>
            <a:pPr algn="l">
              <a:lnSpc>
                <a:spcPts val="740"/>
              </a:lnSpc>
              <a:spcAft>
                <a:spcPts val="0"/>
              </a:spcAft>
            </a:pPr>
            <a:r>
              <a:rPr sz="620" b="0">
                <a:solidFill>
                  <a:srgbClr val="444444"/>
                </a:solidFill>
                <a:latin typeface="Ubuntu Mono"/>
                <a:ea typeface="Ubuntu Mono"/>
                <a:cs typeface="Ubuntu Mono"/>
                <a:sym typeface="Ubuntu Mono"/>
              </a:rPr>
              <a:t>Dimensions in inches. One blade size covers a full range of casing weights for each casing OD. Casing ID range = recommended minimum and maximum.</a:t>
            </a:r>
          </a:p>
        </p:txBody>
      </p:sp>
      <p:pic>
        <p:nvPicPr>
          <p:cNvPr id="24" name="Picture 23" descr="scraper_tool_blue.png"/>
          <p:cNvPicPr>
            <a:picLocks noChangeAspect="1"/>
          </p:cNvPicPr>
          <p:nvPr/>
        </p:nvPicPr>
        <p:blipFill>
          <a:blip r:embed="rId7"/>
          <a:stretch>
            <a:fillRect/>
          </a:stretch>
        </p:blipFill>
        <p:spPr>
          <a:xfrm>
            <a:off x="711200" y="7073900"/>
            <a:ext cx="533894" cy="3327400"/>
          </a:xfrm>
          <a:prstGeom prst="rect">
            <a:avLst/>
          </a:prstGeom>
        </p:spPr>
      </p:pic>
      <p:sp>
        <p:nvSpPr>
          <p:cNvPr id="25" name="TextBox 24"/>
          <p:cNvSpPr txBox="1"/>
          <p:nvPr/>
        </p:nvSpPr>
        <p:spPr>
          <a:xfrm>
            <a:off x="1422400" y="7048500"/>
            <a:ext cx="2540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6" name="TextBox 25"/>
          <p:cNvSpPr txBox="1"/>
          <p:nvPr/>
        </p:nvSpPr>
        <p:spPr>
          <a:xfrm>
            <a:off x="1422400" y="7251700"/>
            <a:ext cx="2540000" cy="127000"/>
          </a:xfrm>
          <a:prstGeom prst="rect">
            <a:avLst/>
          </a:prstGeom>
          <a:noFill/>
        </p:spPr>
        <p:txBody>
          <a:bodyPr wrap="square" lIns="0" rIns="0" tIns="0" bIns="0">
            <a:spAutoFit/>
          </a:bodyPr>
          <a:lstStyle/>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Full-circle scraping: </a:t>
            </a:r>
            <a:r>
              <a:rPr sz="700" b="0">
                <a:solidFill>
                  <a:srgbClr val="000000"/>
                </a:solidFill>
                <a:latin typeface="Ubuntu Mono"/>
                <a:ea typeface="Ubuntu Mono"/>
                <a:cs typeface="Ubuntu Mono"/>
                <a:sym typeface="Ubuntu Mono"/>
              </a:rPr>
              <a:t>two rows of blades overlap, covering 600 degrees of casing wall.</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Spring-loaded blades: </a:t>
            </a:r>
            <a:r>
              <a:rPr sz="700" b="0">
                <a:solidFill>
                  <a:srgbClr val="000000"/>
                </a:solidFill>
                <a:latin typeface="Ubuntu Mono"/>
                <a:ea typeface="Ubuntu Mono"/>
                <a:cs typeface="Ubuntu Mono"/>
                <a:sym typeface="Ubuntu Mono"/>
              </a:rPr>
              <a:t>move in or out with gradual ID changes and stay on the clean wall without cutting the metal.</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Abrupt obstructions: </a:t>
            </a:r>
            <a:r>
              <a:rPr sz="700" b="0">
                <a:solidFill>
                  <a:srgbClr val="000000"/>
                </a:solidFill>
                <a:latin typeface="Ubuntu Mono"/>
                <a:ea typeface="Ubuntu Mono"/>
                <a:cs typeface="Ubuntu Mono"/>
                <a:sym typeface="Ubuntu Mono"/>
              </a:rPr>
              <a:t>a burr or cement fragment is held by the close-fitting blade slot, the mandrel and the split retainer ring.</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Wear-resistant blades: </a:t>
            </a:r>
            <a:r>
              <a:rPr sz="700" b="0">
                <a:solidFill>
                  <a:srgbClr val="000000"/>
                </a:solidFill>
                <a:latin typeface="Ubuntu Mono"/>
                <a:ea typeface="Ubuntu Mono"/>
                <a:cs typeface="Ubuntu Mono"/>
                <a:sym typeface="Ubuntu Mono"/>
              </a:rPr>
              <a:t>precision-cast tool steel, tough, slightly work-hardening in service.</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Secure construction: </a:t>
            </a:r>
            <a:r>
              <a:rPr sz="700" b="0">
                <a:solidFill>
                  <a:srgbClr val="000000"/>
                </a:solidFill>
                <a:latin typeface="Ubuntu Mono"/>
                <a:ea typeface="Ubuntu Mono"/>
                <a:cs typeface="Ubuntu Mono"/>
                <a:sym typeface="Ubuntu Mono"/>
              </a:rPr>
              <a:t>springs fully enclosed, blades fit closely over the spring housing, so loss downhole is virtually impossible.</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One-piece mandrel: </a:t>
            </a:r>
            <a:r>
              <a:rPr sz="700" b="0">
                <a:solidFill>
                  <a:srgbClr val="000000"/>
                </a:solidFill>
                <a:latin typeface="Ubuntu Mono"/>
                <a:ea typeface="Ubuntu Mono"/>
                <a:cs typeface="Ubuntu Mono"/>
                <a:sym typeface="Ubuntu Mono"/>
              </a:rPr>
              <a:t>heat-treated alloy steel, pin by box, with a fishing neck at both ends.</a:t>
            </a:r>
          </a:p>
        </p:txBody>
      </p:sp>
      <p:sp>
        <p:nvSpPr>
          <p:cNvPr id="27" name="TextBox 26"/>
          <p:cNvSpPr txBox="1"/>
          <p:nvPr/>
        </p:nvSpPr>
        <p:spPr>
          <a:xfrm>
            <a:off x="4089400" y="704850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APPLICATIONS</a:t>
            </a:r>
          </a:p>
        </p:txBody>
      </p:sp>
      <p:sp>
        <p:nvSpPr>
          <p:cNvPr id="28" name="TextBox 27"/>
          <p:cNvSpPr txBox="1"/>
          <p:nvPr/>
        </p:nvSpPr>
        <p:spPr>
          <a:xfrm>
            <a:off x="4089400" y="7251700"/>
            <a:ext cx="2755900" cy="127000"/>
          </a:xfrm>
          <a:prstGeom prst="rect">
            <a:avLst/>
          </a:prstGeom>
          <a:noFill/>
        </p:spPr>
        <p:txBody>
          <a:bodyPr wrap="square" lIns="0" rIns="0" tIns="0" bIns="0">
            <a:spAutoFit/>
          </a:bodyPr>
          <a:lstStyle/>
          <a:p>
            <a:pPr algn="l">
              <a:lnSpc>
                <a:spcPts val="880"/>
              </a:lnSpc>
              <a:spcAft>
                <a:spcPts val="200"/>
              </a:spcAft>
            </a:pPr>
            <a:r>
              <a:rPr sz="550" b="0">
                <a:solidFill>
                  <a:srgbClr val="01ADEE"/>
                </a:solidFill>
                <a:latin typeface="Ubuntu Mono"/>
                <a:ea typeface="Ubuntu Mono"/>
                <a:cs typeface="Ubuntu Mono"/>
                <a:sym typeface="Ubuntu Mono"/>
              </a:rPr>
              <a:t>■ </a:t>
            </a:r>
            <a:r>
              <a:rPr sz="700" b="0">
                <a:solidFill>
                  <a:srgbClr val="000000"/>
                </a:solidFill>
                <a:latin typeface="Ubuntu Mono"/>
                <a:ea typeface="Ubuntu Mono"/>
                <a:cs typeface="Ubuntu Mono"/>
                <a:sym typeface="Ubuntu Mono"/>
              </a:rPr>
              <a:t>Clean out cement, hardened mud and paraffin.</a:t>
            </a:r>
          </a:p>
          <a:p>
            <a:pPr algn="l">
              <a:lnSpc>
                <a:spcPts val="880"/>
              </a:lnSpc>
              <a:spcAft>
                <a:spcPts val="200"/>
              </a:spcAft>
            </a:pPr>
            <a:r>
              <a:rPr sz="550" b="0">
                <a:solidFill>
                  <a:srgbClr val="01ADEE"/>
                </a:solidFill>
                <a:latin typeface="Ubuntu Mono"/>
                <a:ea typeface="Ubuntu Mono"/>
                <a:cs typeface="Ubuntu Mono"/>
                <a:sym typeface="Ubuntu Mono"/>
              </a:rPr>
              <a:t>■ </a:t>
            </a:r>
            <a:r>
              <a:rPr sz="700" b="0">
                <a:solidFill>
                  <a:srgbClr val="000000"/>
                </a:solidFill>
                <a:latin typeface="Ubuntu Mono"/>
                <a:ea typeface="Ubuntu Mono"/>
                <a:cs typeface="Ubuntu Mono"/>
                <a:sym typeface="Ubuntu Mono"/>
              </a:rPr>
              <a:t>Remove perforation burrs and embedded bullets.</a:t>
            </a:r>
          </a:p>
          <a:p>
            <a:pPr algn="l">
              <a:lnSpc>
                <a:spcPts val="880"/>
              </a:lnSpc>
              <a:spcAft>
                <a:spcPts val="200"/>
              </a:spcAft>
            </a:pPr>
            <a:r>
              <a:rPr sz="550" b="0">
                <a:solidFill>
                  <a:srgbClr val="01ADEE"/>
                </a:solidFill>
                <a:latin typeface="Ubuntu Mono"/>
                <a:ea typeface="Ubuntu Mono"/>
                <a:cs typeface="Ubuntu Mono"/>
                <a:sym typeface="Ubuntu Mono"/>
              </a:rPr>
              <a:t>■ </a:t>
            </a:r>
            <a:r>
              <a:rPr sz="700" b="0">
                <a:solidFill>
                  <a:srgbClr val="000000"/>
                </a:solidFill>
                <a:latin typeface="Ubuntu Mono"/>
                <a:ea typeface="Ubuntu Mono"/>
                <a:cs typeface="Ubuntu Mono"/>
                <a:sym typeface="Ubuntu Mono"/>
              </a:rPr>
              <a:t>Dress burrs, nicks and tight spots left by bits, fishing tools or dents.</a:t>
            </a:r>
          </a:p>
          <a:p>
            <a:pPr algn="l">
              <a:lnSpc>
                <a:spcPts val="880"/>
              </a:lnSpc>
              <a:spcAft>
                <a:spcPts val="200"/>
              </a:spcAft>
            </a:pPr>
            <a:r>
              <a:rPr sz="550" b="0">
                <a:solidFill>
                  <a:srgbClr val="01ADEE"/>
                </a:solidFill>
                <a:latin typeface="Ubuntu Mono"/>
                <a:ea typeface="Ubuntu Mono"/>
                <a:cs typeface="Ubuntu Mono"/>
                <a:sym typeface="Ubuntu Mono"/>
              </a:rPr>
              <a:t>■ </a:t>
            </a:r>
            <a:r>
              <a:rPr sz="700" b="0">
                <a:solidFill>
                  <a:srgbClr val="000000"/>
                </a:solidFill>
                <a:latin typeface="Ubuntu Mono"/>
                <a:ea typeface="Ubuntu Mono"/>
                <a:cs typeface="Ubuntu Mono"/>
                <a:sym typeface="Ubuntu Mono"/>
              </a:rPr>
              <a:t>Prepare a clean casing ID before running packers, patches, spears, swabs and wireline tools.</a:t>
            </a:r>
          </a:p>
        </p:txBody>
      </p:sp>
      <p:sp>
        <p:nvSpPr>
          <p:cNvPr id="29" name="TextBox 28"/>
          <p:cNvSpPr txBox="1"/>
          <p:nvPr/>
        </p:nvSpPr>
        <p:spPr>
          <a:xfrm>
            <a:off x="4089400" y="838200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OPERATION AND MAINTENANCE</a:t>
            </a:r>
          </a:p>
        </p:txBody>
      </p:sp>
      <p:sp>
        <p:nvSpPr>
          <p:cNvPr id="30" name="TextBox 29"/>
          <p:cNvSpPr txBox="1"/>
          <p:nvPr/>
        </p:nvSpPr>
        <p:spPr>
          <a:xfrm>
            <a:off x="4089400" y="8585200"/>
            <a:ext cx="2755900" cy="127000"/>
          </a:xfrm>
          <a:prstGeom prst="rect">
            <a:avLst/>
          </a:prstGeom>
          <a:noFill/>
        </p:spPr>
        <p:txBody>
          <a:bodyPr wrap="square" lIns="0" rIns="0" tIns="0" bIns="0">
            <a:spAutoFit/>
          </a:bodyPr>
          <a:lstStyle/>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Run: </a:t>
            </a:r>
            <a:r>
              <a:rPr sz="700" b="0">
                <a:solidFill>
                  <a:srgbClr val="000000"/>
                </a:solidFill>
                <a:latin typeface="Ubuntu Mono"/>
                <a:ea typeface="Ubuntu Mono"/>
                <a:cs typeface="Ubuntu Mono"/>
                <a:sym typeface="Ubuntu Mono"/>
              </a:rPr>
              <a:t>usually pin up, with a bit installed below; scrape by rotating or spudding.</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After each run: </a:t>
            </a:r>
            <a:r>
              <a:rPr sz="700" b="0">
                <a:solidFill>
                  <a:srgbClr val="000000"/>
                </a:solidFill>
                <a:latin typeface="Ubuntu Mono"/>
                <a:ea typeface="Ubuntu Mono"/>
                <a:cs typeface="Ubuntu Mono"/>
                <a:sym typeface="Ubuntu Mono"/>
              </a:rPr>
              <a:t>disassemble, clean, inspect and replace worn parts; blades and springs are removed after taking out the four retainer-ring screws.</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Re-dressing: </a:t>
            </a:r>
            <a:r>
              <a:rPr sz="700" b="0">
                <a:solidFill>
                  <a:srgbClr val="000000"/>
                </a:solidFill>
                <a:latin typeface="Ubuntu Mono"/>
                <a:ea typeface="Ubuntu Mono"/>
                <a:cs typeface="Ubuntu Mono"/>
                <a:sym typeface="Ubuntu Mono"/>
              </a:rPr>
              <a:t>a blade installation tool (required accessory) compresses the blades during assembly.</a:t>
            </a:r>
          </a:p>
        </p:txBody>
      </p:sp>
      <p:sp>
        <p:nvSpPr>
          <p:cNvPr id="31" name="TextBox 30"/>
          <p:cNvSpPr txBox="1"/>
          <p:nvPr/>
        </p:nvSpPr>
        <p:spPr>
          <a:xfrm>
            <a:off x="4089400" y="971550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2" name="TextBox 31"/>
          <p:cNvSpPr txBox="1"/>
          <p:nvPr/>
        </p:nvSpPr>
        <p:spPr>
          <a:xfrm>
            <a:off x="4089400" y="9906000"/>
            <a:ext cx="2755900" cy="508000"/>
          </a:xfrm>
          <a:prstGeom prst="rect">
            <a:avLst/>
          </a:prstGeom>
          <a:noFill/>
        </p:spPr>
        <p:txBody>
          <a:bodyPr wrap="square" lIns="0" rIns="0" tIns="0" bIns="0">
            <a:spAutoFit/>
          </a:bodyPr>
          <a:lstStyle/>
          <a:p>
            <a:pPr algn="just">
              <a:lnSpc>
                <a:spcPts val="860"/>
              </a:lnSpc>
              <a:spcAft>
                <a:spcPts val="0"/>
              </a:spcAft>
            </a:pPr>
            <a:r>
              <a:rPr sz="680" b="0">
                <a:solidFill>
                  <a:srgbClr val="000000"/>
                </a:solidFill>
                <a:latin typeface="Ubuntu Mono"/>
                <a:ea typeface="Ubuntu Mono"/>
                <a:cs typeface="Ubuntu Mono"/>
                <a:sym typeface="Ubuntu Mono"/>
              </a:rPr>
              <a:t>Please specify: 1. tool or part name  2. size and weight of casing  3. tool joint connection  4. recommended spares: one set of blades and one set of springs.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IMPRESSION BLOCK</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CLEAN OUT</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
            </a:r>
          </a:p>
        </p:txBody>
      </p:sp>
      <p:pic>
        <p:nvPicPr>
          <p:cNvPr id="19" name="Picture 18" descr="ib_tool_rgba.png"/>
          <p:cNvPicPr>
            <a:picLocks noChangeAspect="1"/>
          </p:cNvPicPr>
          <p:nvPr/>
        </p:nvPicPr>
        <p:blipFill>
          <a:blip r:embed="rId4"/>
          <a:stretch>
            <a:fillRect/>
          </a:stretch>
        </p:blipFill>
        <p:spPr>
          <a:xfrm>
            <a:off x="889000" y="1221115"/>
            <a:ext cx="2667000" cy="1306184"/>
          </a:xfrm>
          <a:prstGeom prst="rect">
            <a:avLst/>
          </a:prstGeom>
        </p:spPr>
      </p:pic>
      <p:sp>
        <p:nvSpPr>
          <p:cNvPr id="20" name="TextBox 19"/>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1" name="TextBox 20"/>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IMPRESSION BLOCKS ARE MADE FROM A LOW ALLOY STEEL OUTER CASING, WITH EITHER A LEAD OR A TAR INNER FILLING, DEPENDING ON THE CONDITIONS IN WHICH THE IMPRESSION IS TAKEN. LEAD IS IDEAL FOR DEEPER, HIGHER TEMPERATURE CONDITIONS, WHILE TAR IS VERY GOOD FOR LARGE OD, SHALLOW APPLICATIONS. ANY SIZE OF IMPRESSION BLOCK CAN BE BUILT TO ORDER.</a:t>
            </a:r>
          </a:p>
        </p:txBody>
      </p:sp>
      <p:sp>
        <p:nvSpPr>
          <p:cNvPr id="22" name="TextBox 21"/>
          <p:cNvSpPr txBox="1"/>
          <p:nvPr/>
        </p:nvSpPr>
        <p:spPr>
          <a:xfrm>
            <a:off x="711200" y="49784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SPECIFICATIONS</a:t>
            </a:r>
          </a:p>
        </p:txBody>
      </p:sp>
      <p:graphicFrame>
        <p:nvGraphicFramePr>
          <p:cNvPr id="23" name="Table 22"/>
          <p:cNvGraphicFramePr>
            <a:graphicFrameLocks noGrp="1"/>
          </p:cNvGraphicFramePr>
          <p:nvPr/>
        </p:nvGraphicFramePr>
        <p:xfrm>
          <a:off x="711200" y="5232400"/>
          <a:ext cx="6134100" cy="685800"/>
        </p:xfrm>
        <a:graphic>
          <a:graphicData uri="http://schemas.openxmlformats.org/drawingml/2006/table">
            <a:tbl>
              <a:tblPr/>
              <a:tblGrid>
                <a:gridCol w="1397000"/>
                <a:gridCol w="1574800"/>
                <a:gridCol w="1574800"/>
                <a:gridCol w="1587500"/>
              </a:tblGrid>
              <a:tr h="228600">
                <a:tc>
                  <a:txBody>
                    <a:bodyPr wrap="square"/>
                    <a:lstStyle/>
                    <a:p>
                      <a:pPr algn="l">
                        <a:lnSpc>
                          <a:spcPts val="1000"/>
                        </a:lnSpc>
                      </a:pPr>
                      <a:r>
                        <a:rPr sz="840" b="0">
                          <a:solidFill>
                            <a:srgbClr val="FEFEFF"/>
                          </a:solidFill>
                          <a:latin typeface="Ubuntu Mono"/>
                          <a:ea typeface="Ubuntu Mono"/>
                          <a:cs typeface="Ubuntu Mono"/>
                          <a:sym typeface="Ubuntu Mono"/>
                        </a:rPr>
                        <a:t>Top connection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1000"/>
                        </a:lnSpc>
                      </a:pPr>
                      <a:r>
                        <a:rPr sz="840" b="0">
                          <a:solidFill>
                            <a:srgbClr val="000000"/>
                          </a:solidFill>
                          <a:latin typeface="Ubuntu Mono"/>
                          <a:ea typeface="Ubuntu Mono"/>
                          <a:cs typeface="Ubuntu Mono"/>
                          <a:sym typeface="Ubuntu Mono"/>
                        </a:rPr>
                        <a:t>2-3/8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1000"/>
                        </a:lnSpc>
                      </a:pPr>
                      <a:r>
                        <a:rPr sz="840" b="0">
                          <a:solidFill>
                            <a:srgbClr val="000000"/>
                          </a:solidFill>
                          <a:latin typeface="Ubuntu Mono"/>
                          <a:ea typeface="Ubuntu Mono"/>
                          <a:cs typeface="Ubuntu Mono"/>
                          <a:sym typeface="Ubuntu Mono"/>
                        </a:rPr>
                        <a:t>2-7/8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1000"/>
                        </a:lnSpc>
                      </a:pPr>
                      <a:r>
                        <a:rPr sz="840" b="0">
                          <a:solidFill>
                            <a:srgbClr val="000000"/>
                          </a:solidFill>
                          <a:latin typeface="Ubuntu Mono"/>
                          <a:ea typeface="Ubuntu Mono"/>
                          <a:cs typeface="Ubuntu Mono"/>
                          <a:sym typeface="Ubuntu Mono"/>
                        </a:rPr>
                        <a:t>3-1/2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228600">
                <a:tc>
                  <a:txBody>
                    <a:bodyPr wrap="square"/>
                    <a:lstStyle/>
                    <a:p>
                      <a:pPr algn="l">
                        <a:lnSpc>
                          <a:spcPts val="1000"/>
                        </a:lnSpc>
                      </a:pPr>
                      <a:r>
                        <a:rPr sz="840" b="0">
                          <a:solidFill>
                            <a:srgbClr val="FEFEFF"/>
                          </a:solidFill>
                          <a:latin typeface="Ubuntu Mono"/>
                          <a:ea typeface="Ubuntu Mono"/>
                          <a:cs typeface="Ubuntu Mono"/>
                          <a:sym typeface="Ubuntu Mono"/>
                        </a:rPr>
                        <a:t>Tool OD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1000"/>
                        </a:lnSpc>
                      </a:pPr>
                      <a:r>
                        <a:rPr sz="840" b="0">
                          <a:solidFill>
                            <a:srgbClr val="000000"/>
                          </a:solidFill>
                          <a:latin typeface="Ubuntu Mono"/>
                          <a:ea typeface="Ubuntu Mono"/>
                          <a:cs typeface="Ubuntu Mono"/>
                          <a:sym typeface="Ubuntu Mono"/>
                        </a:rPr>
                        <a:t>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1000"/>
                        </a:lnSpc>
                      </a:pPr>
                      <a:r>
                        <a:rPr sz="840" b="0">
                          <a:solidFill>
                            <a:srgbClr val="000000"/>
                          </a:solidFill>
                          <a:latin typeface="Ubuntu Mono"/>
                          <a:ea typeface="Ubuntu Mono"/>
                          <a:cs typeface="Ubuntu Mono"/>
                          <a:sym typeface="Ubuntu Mono"/>
                        </a:rPr>
                        <a:t>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1000"/>
                        </a:lnSpc>
                      </a:pPr>
                      <a:r>
                        <a:rPr sz="840" b="0">
                          <a:solidFill>
                            <a:srgbClr val="000000"/>
                          </a:solidFill>
                          <a:latin typeface="Ubuntu Mono"/>
                          <a:ea typeface="Ubuntu Mono"/>
                          <a:cs typeface="Ubuntu Mono"/>
                          <a:sym typeface="Ubuntu Mono"/>
                        </a:rPr>
                        <a:t>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228600">
                <a:tc>
                  <a:txBody>
                    <a:bodyPr wrap="square"/>
                    <a:lstStyle/>
                    <a:p>
                      <a:pPr algn="l">
                        <a:lnSpc>
                          <a:spcPts val="1000"/>
                        </a:lnSpc>
                      </a:pPr>
                      <a:r>
                        <a:rPr sz="840" b="0">
                          <a:solidFill>
                            <a:srgbClr val="FEFEFF"/>
                          </a:solidFill>
                          <a:latin typeface="Ubuntu Mono"/>
                          <a:ea typeface="Ubuntu Mono"/>
                          <a:cs typeface="Ubuntu Mono"/>
                          <a:sym typeface="Ubuntu Mono"/>
                        </a:rPr>
                        <a:t>Material used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1000"/>
                        </a:lnSpc>
                      </a:pPr>
                      <a:r>
                        <a:rPr sz="840" b="0">
                          <a:solidFill>
                            <a:srgbClr val="000000"/>
                          </a:solidFill>
                          <a:latin typeface="Ubuntu Mono"/>
                          <a:ea typeface="Ubuntu Mono"/>
                          <a:cs typeface="Ubuntu Mono"/>
                          <a:sym typeface="Ubuntu Mono"/>
                        </a:rPr>
                        <a:t>Lead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1000"/>
                        </a:lnSpc>
                      </a:pPr>
                      <a:r>
                        <a:rPr sz="840" b="0">
                          <a:solidFill>
                            <a:srgbClr val="000000"/>
                          </a:solidFill>
                          <a:latin typeface="Ubuntu Mono"/>
                          <a:ea typeface="Ubuntu Mono"/>
                          <a:cs typeface="Ubuntu Mono"/>
                          <a:sym typeface="Ubuntu Mono"/>
                        </a:rPr>
                        <a:t>Lead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1000"/>
                        </a:lnSpc>
                      </a:pPr>
                      <a:r>
                        <a:rPr sz="840" b="0">
                          <a:solidFill>
                            <a:srgbClr val="000000"/>
                          </a:solidFill>
                          <a:latin typeface="Ubuntu Mono"/>
                          <a:ea typeface="Ubuntu Mono"/>
                          <a:cs typeface="Ubuntu Mono"/>
                          <a:sym typeface="Ubuntu Mono"/>
                        </a:rPr>
                        <a:t>Lead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graphicFrame>
        <p:nvGraphicFramePr>
          <p:cNvPr id="24" name="Table 23"/>
          <p:cNvGraphicFramePr>
            <a:graphicFrameLocks noGrp="1"/>
          </p:cNvGraphicFramePr>
          <p:nvPr/>
        </p:nvGraphicFramePr>
        <p:xfrm>
          <a:off x="711200" y="6223000"/>
          <a:ext cx="6134100" cy="685800"/>
        </p:xfrm>
        <a:graphic>
          <a:graphicData uri="http://schemas.openxmlformats.org/drawingml/2006/table">
            <a:tbl>
              <a:tblPr/>
              <a:tblGrid>
                <a:gridCol w="1397000"/>
                <a:gridCol w="1574800"/>
                <a:gridCol w="1574800"/>
                <a:gridCol w="1587500"/>
              </a:tblGrid>
              <a:tr h="228600">
                <a:tc>
                  <a:txBody>
                    <a:bodyPr wrap="square"/>
                    <a:lstStyle/>
                    <a:p>
                      <a:pPr algn="l">
                        <a:lnSpc>
                          <a:spcPts val="1000"/>
                        </a:lnSpc>
                      </a:pPr>
                      <a:r>
                        <a:rPr sz="840" b="0">
                          <a:solidFill>
                            <a:srgbClr val="FEFEFF"/>
                          </a:solidFill>
                          <a:latin typeface="Ubuntu Mono"/>
                          <a:ea typeface="Ubuntu Mono"/>
                          <a:cs typeface="Ubuntu Mono"/>
                          <a:sym typeface="Ubuntu Mono"/>
                        </a:rPr>
                        <a:t>Top connection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1000"/>
                        </a:lnSpc>
                      </a:pPr>
                      <a:r>
                        <a:rPr sz="840" b="0">
                          <a:solidFill>
                            <a:srgbClr val="000000"/>
                          </a:solidFill>
                          <a:latin typeface="Ubuntu Mono"/>
                          <a:ea typeface="Ubuntu Mono"/>
                          <a:cs typeface="Ubuntu Mono"/>
                          <a:sym typeface="Ubuntu Mono"/>
                        </a:rPr>
                        <a:t>4-1/2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1000"/>
                        </a:lnSpc>
                      </a:pPr>
                      <a:r>
                        <a:rPr sz="840" b="0">
                          <a:solidFill>
                            <a:srgbClr val="000000"/>
                          </a:solidFill>
                          <a:latin typeface="Ubuntu Mono"/>
                          <a:ea typeface="Ubuntu Mono"/>
                          <a:cs typeface="Ubuntu Mono"/>
                          <a:sym typeface="Ubuntu Mono"/>
                        </a:rPr>
                        <a:t>6-5/8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1000"/>
                        </a:lnSpc>
                      </a:pPr>
                      <a:r>
                        <a:rPr sz="840" b="0">
                          <a:solidFill>
                            <a:srgbClr val="000000"/>
                          </a:solidFill>
                          <a:latin typeface="Ubuntu Mono"/>
                          <a:ea typeface="Ubuntu Mono"/>
                          <a:cs typeface="Ubuntu Mono"/>
                          <a:sym typeface="Ubuntu Mono"/>
                        </a:rPr>
                        <a:t>7-5/8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228600">
                <a:tc>
                  <a:txBody>
                    <a:bodyPr wrap="square"/>
                    <a:lstStyle/>
                    <a:p>
                      <a:pPr algn="l">
                        <a:lnSpc>
                          <a:spcPts val="1000"/>
                        </a:lnSpc>
                      </a:pPr>
                      <a:r>
                        <a:rPr sz="840" b="0">
                          <a:solidFill>
                            <a:srgbClr val="FEFEFF"/>
                          </a:solidFill>
                          <a:latin typeface="Ubuntu Mono"/>
                          <a:ea typeface="Ubuntu Mono"/>
                          <a:cs typeface="Ubuntu Mono"/>
                          <a:sym typeface="Ubuntu Mono"/>
                        </a:rPr>
                        <a:t>Tool OD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1000"/>
                        </a:lnSpc>
                      </a:pPr>
                      <a:r>
                        <a:rPr sz="840" b="0">
                          <a:solidFill>
                            <a:srgbClr val="000000"/>
                          </a:solidFill>
                          <a:latin typeface="Ubuntu Mono"/>
                          <a:ea typeface="Ubuntu Mono"/>
                          <a:cs typeface="Ubuntu Mono"/>
                          <a:sym typeface="Ubuntu Mono"/>
                        </a:rPr>
                        <a:t>8-1/2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1000"/>
                        </a:lnSpc>
                      </a:pPr>
                      <a:r>
                        <a:rPr sz="840" b="0">
                          <a:solidFill>
                            <a:srgbClr val="000000"/>
                          </a:solidFill>
                          <a:latin typeface="Ubuntu Mono"/>
                          <a:ea typeface="Ubuntu Mono"/>
                          <a:cs typeface="Ubuntu Mono"/>
                          <a:sym typeface="Ubuntu Mono"/>
                        </a:rPr>
                        <a:t>12-1/4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1000"/>
                        </a:lnSpc>
                      </a:pPr>
                      <a:r>
                        <a:rPr sz="840" b="0">
                          <a:solidFill>
                            <a:srgbClr val="000000"/>
                          </a:solidFill>
                          <a:latin typeface="Ubuntu Mono"/>
                          <a:ea typeface="Ubuntu Mono"/>
                          <a:cs typeface="Ubuntu Mono"/>
                          <a:sym typeface="Ubuntu Mono"/>
                        </a:rPr>
                        <a:t>17-1/2 - 26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228600">
                <a:tc>
                  <a:txBody>
                    <a:bodyPr wrap="square"/>
                    <a:lstStyle/>
                    <a:p>
                      <a:pPr algn="l">
                        <a:lnSpc>
                          <a:spcPts val="1000"/>
                        </a:lnSpc>
                      </a:pPr>
                      <a:r>
                        <a:rPr sz="840" b="0">
                          <a:solidFill>
                            <a:srgbClr val="FEFEFF"/>
                          </a:solidFill>
                          <a:latin typeface="Ubuntu Mono"/>
                          <a:ea typeface="Ubuntu Mono"/>
                          <a:cs typeface="Ubuntu Mono"/>
                          <a:sym typeface="Ubuntu Mono"/>
                        </a:rPr>
                        <a:t>Material used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1000"/>
                        </a:lnSpc>
                      </a:pPr>
                      <a:r>
                        <a:rPr sz="840" b="0">
                          <a:solidFill>
                            <a:srgbClr val="000000"/>
                          </a:solidFill>
                          <a:latin typeface="Ubuntu Mono"/>
                          <a:ea typeface="Ubuntu Mono"/>
                          <a:cs typeface="Ubuntu Mono"/>
                          <a:sym typeface="Ubuntu Mono"/>
                        </a:rPr>
                        <a:t>Lead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1000"/>
                        </a:lnSpc>
                      </a:pPr>
                      <a:r>
                        <a:rPr sz="840" b="0">
                          <a:solidFill>
                            <a:srgbClr val="000000"/>
                          </a:solidFill>
                          <a:latin typeface="Ubuntu Mono"/>
                          <a:ea typeface="Ubuntu Mono"/>
                          <a:cs typeface="Ubuntu Mono"/>
                          <a:sym typeface="Ubuntu Mono"/>
                        </a:rPr>
                        <a:t>Lead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1000"/>
                        </a:lnSpc>
                      </a:pPr>
                      <a:r>
                        <a:rPr sz="840" b="0">
                          <a:solidFill>
                            <a:srgbClr val="000000"/>
                          </a:solidFill>
                          <a:latin typeface="Ubuntu Mono"/>
                          <a:ea typeface="Ubuntu Mono"/>
                          <a:cs typeface="Ubuntu Mono"/>
                          <a:sym typeface="Ubuntu Mono"/>
                        </a:rPr>
                        <a:t>Tar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5" name="TextBox 24"/>
          <p:cNvSpPr txBox="1"/>
          <p:nvPr/>
        </p:nvSpPr>
        <p:spPr>
          <a:xfrm>
            <a:off x="711200" y="6959600"/>
            <a:ext cx="6134100" cy="114300"/>
          </a:xfrm>
          <a:prstGeom prst="rect">
            <a:avLst/>
          </a:prstGeom>
          <a:noFill/>
        </p:spPr>
        <p:txBody>
          <a:bodyPr wrap="square" lIns="0" rIns="0" tIns="0" bIns="0">
            <a:spAutoFit/>
          </a:bodyPr>
          <a:lstStyle/>
          <a:p>
            <a:pPr algn="l">
              <a:spcAft>
                <a:spcPts val="0"/>
              </a:spcAft>
            </a:pPr>
            <a:r>
              <a:rPr sz="640" b="0">
                <a:solidFill>
                  <a:srgbClr val="444444"/>
                </a:solidFill>
                <a:latin typeface="Ubuntu Mono"/>
                <a:ea typeface="Ubuntu Mono"/>
                <a:cs typeface="Ubuntu Mono"/>
                <a:sym typeface="Ubuntu Mono"/>
              </a:rPr>
              <a:t>Dimensions in inches. Other sizes on request.</a:t>
            </a:r>
          </a:p>
        </p:txBody>
      </p:sp>
      <p:sp>
        <p:nvSpPr>
          <p:cNvPr id="26" name="TextBox 25"/>
          <p:cNvSpPr txBox="1"/>
          <p:nvPr/>
        </p:nvSpPr>
        <p:spPr>
          <a:xfrm>
            <a:off x="711200" y="7366000"/>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7" name="TextBox 26"/>
          <p:cNvSpPr txBox="1"/>
          <p:nvPr/>
        </p:nvSpPr>
        <p:spPr>
          <a:xfrm>
            <a:off x="711200" y="7569200"/>
            <a:ext cx="3048000" cy="127000"/>
          </a:xfrm>
          <a:prstGeom prst="rect">
            <a:avLst/>
          </a:prstGeom>
          <a:noFill/>
        </p:spPr>
        <p:txBody>
          <a:bodyPr wrap="square" lIns="0" rIns="0" tIns="0" bIns="0">
            <a:spAutoFit/>
          </a:bodyPr>
          <a:lstStyle/>
          <a:p>
            <a:pPr algn="l">
              <a:lnSpc>
                <a:spcPts val="919"/>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Steel body: </a:t>
            </a:r>
            <a:r>
              <a:rPr sz="720" b="0">
                <a:solidFill>
                  <a:srgbClr val="000000"/>
                </a:solidFill>
                <a:latin typeface="Ubuntu Mono"/>
                <a:ea typeface="Ubuntu Mono"/>
                <a:cs typeface="Ubuntu Mono"/>
                <a:sym typeface="Ubuntu Mono"/>
              </a:rPr>
              <a:t>low alloy steel outer casing.</a:t>
            </a:r>
          </a:p>
          <a:p>
            <a:pPr algn="l">
              <a:lnSpc>
                <a:spcPts val="919"/>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Lead filling: </a:t>
            </a:r>
            <a:r>
              <a:rPr sz="720" b="0">
                <a:solidFill>
                  <a:srgbClr val="000000"/>
                </a:solidFill>
                <a:latin typeface="Ubuntu Mono"/>
                <a:ea typeface="Ubuntu Mono"/>
                <a:cs typeface="Ubuntu Mono"/>
                <a:sym typeface="Ubuntu Mono"/>
              </a:rPr>
              <a:t>deeper, higher temperature conditions.</a:t>
            </a:r>
          </a:p>
          <a:p>
            <a:pPr algn="l">
              <a:lnSpc>
                <a:spcPts val="919"/>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Tar filling: </a:t>
            </a:r>
            <a:r>
              <a:rPr sz="720" b="0">
                <a:solidFill>
                  <a:srgbClr val="000000"/>
                </a:solidFill>
                <a:latin typeface="Ubuntu Mono"/>
                <a:ea typeface="Ubuntu Mono"/>
                <a:cs typeface="Ubuntu Mono"/>
                <a:sym typeface="Ubuntu Mono"/>
              </a:rPr>
              <a:t>large OD, shallow applications.</a:t>
            </a:r>
          </a:p>
          <a:p>
            <a:pPr algn="l">
              <a:lnSpc>
                <a:spcPts val="919"/>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Made to order: </a:t>
            </a:r>
            <a:r>
              <a:rPr sz="720" b="0">
                <a:solidFill>
                  <a:srgbClr val="000000"/>
                </a:solidFill>
                <a:latin typeface="Ubuntu Mono"/>
                <a:ea typeface="Ubuntu Mono"/>
                <a:cs typeface="Ubuntu Mono"/>
                <a:sym typeface="Ubuntu Mono"/>
              </a:rPr>
              <a:t>any size can be built.</a:t>
            </a:r>
          </a:p>
        </p:txBody>
      </p:sp>
      <p:sp>
        <p:nvSpPr>
          <p:cNvPr id="28" name="TextBox 27"/>
          <p:cNvSpPr txBox="1"/>
          <p:nvPr/>
        </p:nvSpPr>
        <p:spPr>
          <a:xfrm>
            <a:off x="3810000" y="736600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29" name="TextBox 28"/>
          <p:cNvSpPr txBox="1"/>
          <p:nvPr/>
        </p:nvSpPr>
        <p:spPr>
          <a:xfrm>
            <a:off x="3810000" y="7569200"/>
            <a:ext cx="3035300" cy="635000"/>
          </a:xfrm>
          <a:prstGeom prst="rect">
            <a:avLst/>
          </a:prstGeom>
          <a:noFill/>
        </p:spPr>
        <p:txBody>
          <a:bodyPr wrap="square" lIns="0" rIns="0" tIns="0" bIns="0">
            <a:spAutoFit/>
          </a:bodyPr>
          <a:lstStyle/>
          <a:p>
            <a:pPr algn="just">
              <a:lnSpc>
                <a:spcPts val="900"/>
              </a:lnSpc>
              <a:spcAft>
                <a:spcPts val="0"/>
              </a:spcAft>
            </a:pPr>
            <a:r>
              <a:rPr sz="700" b="0">
                <a:solidFill>
                  <a:srgbClr val="000000"/>
                </a:solidFill>
                <a:latin typeface="Ubuntu Mono"/>
                <a:ea typeface="Ubuntu Mono"/>
                <a:cs typeface="Ubuntu Mono"/>
                <a:sym typeface="Ubuntu Mono"/>
              </a:rPr>
              <a:t>Please specify: 1. tool OD  2. top connection  3. filling (lead or tar)  4. casing or hole size.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CIRCULATING SUB</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DRILLING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BALL-DROP CIRCULATION SUB</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SIMPLE, RUGGED CONVENTIONAL BALL-DROP CIRCULATION SUB IN A SINGLE-COLLAR CONFIGURATION WITH NO MID-BODY CONNECTION. IT IS EASY TO USE AND OFFERS VARIABLE CYCLE CAPABILITY. A NOVEL BALL DISPOSAL SYSTEM LETS THE BALLS BE EMPTIED WITHOUT DISASSEMBLY, ALLOWING FIELD SERVICE AND MULTIPLE RUNS. STANDARD API CONNECTIONS AND HIGH-STRENGTH MATERIAL OPTIONS FOR DEEP GAS ARE AVAILABLE.</a:t>
            </a:r>
          </a:p>
        </p:txBody>
      </p:sp>
      <p:sp>
        <p:nvSpPr>
          <p:cNvPr id="21" name="TextBox 20"/>
          <p:cNvSpPr txBox="1"/>
          <p:nvPr/>
        </p:nvSpPr>
        <p:spPr>
          <a:xfrm>
            <a:off x="711200" y="5029200"/>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APPLICATIONS</a:t>
            </a:r>
          </a:p>
        </p:txBody>
      </p:sp>
      <p:sp>
        <p:nvSpPr>
          <p:cNvPr id="22" name="TextBox 21"/>
          <p:cNvSpPr txBox="1"/>
          <p:nvPr/>
        </p:nvSpPr>
        <p:spPr>
          <a:xfrm>
            <a:off x="711200" y="5245100"/>
            <a:ext cx="3022600" cy="127000"/>
          </a:xfrm>
          <a:prstGeom prst="rect">
            <a:avLst/>
          </a:prstGeom>
          <a:noFill/>
        </p:spPr>
        <p:txBody>
          <a:bodyPr wrap="square" lIns="0" rIns="0" tIns="0" bIns="0">
            <a:spAutoFit/>
          </a:bodyPr>
          <a:lstStyle/>
          <a:p>
            <a:pPr algn="l">
              <a:lnSpc>
                <a:spcPts val="1100"/>
              </a:lnSpc>
              <a:spcAft>
                <a:spcPts val="300"/>
              </a:spcAft>
            </a:pPr>
            <a:r>
              <a:rPr sz="700" b="0">
                <a:solidFill>
                  <a:srgbClr val="01ADEE"/>
                </a:solidFill>
                <a:latin typeface="Ubuntu Mono"/>
                <a:ea typeface="Ubuntu Mono"/>
                <a:cs typeface="Ubuntu Mono"/>
                <a:sym typeface="Ubuntu Mono"/>
              </a:rPr>
              <a:t>■ </a:t>
            </a:r>
            <a:r>
              <a:rPr sz="850" b="0">
                <a:solidFill>
                  <a:srgbClr val="000000"/>
                </a:solidFill>
                <a:latin typeface="Ubuntu Mono"/>
                <a:ea typeface="Ubuntu Mono"/>
                <a:cs typeface="Ubuntu Mono"/>
                <a:sym typeface="Ubuntu Mono"/>
              </a:rPr>
              <a:t>Wellbore cleanout</a:t>
            </a:r>
          </a:p>
          <a:p>
            <a:pPr algn="l">
              <a:lnSpc>
                <a:spcPts val="1100"/>
              </a:lnSpc>
              <a:spcAft>
                <a:spcPts val="300"/>
              </a:spcAft>
            </a:pPr>
            <a:r>
              <a:rPr sz="700" b="0">
                <a:solidFill>
                  <a:srgbClr val="01ADEE"/>
                </a:solidFill>
                <a:latin typeface="Ubuntu Mono"/>
                <a:ea typeface="Ubuntu Mono"/>
                <a:cs typeface="Ubuntu Mono"/>
                <a:sym typeface="Ubuntu Mono"/>
              </a:rPr>
              <a:t>■ </a:t>
            </a:r>
            <a:r>
              <a:rPr sz="850" b="0">
                <a:solidFill>
                  <a:srgbClr val="000000"/>
                </a:solidFill>
                <a:latin typeface="Ubuntu Mono"/>
                <a:ea typeface="Ubuntu Mono"/>
                <a:cs typeface="Ubuntu Mono"/>
                <a:sym typeface="Ubuntu Mono"/>
              </a:rPr>
              <a:t>Managed pressure drilling</a:t>
            </a:r>
          </a:p>
          <a:p>
            <a:pPr algn="l">
              <a:lnSpc>
                <a:spcPts val="1100"/>
              </a:lnSpc>
              <a:spcAft>
                <a:spcPts val="300"/>
              </a:spcAft>
            </a:pPr>
            <a:r>
              <a:rPr sz="700" b="0">
                <a:solidFill>
                  <a:srgbClr val="01ADEE"/>
                </a:solidFill>
                <a:latin typeface="Ubuntu Mono"/>
                <a:ea typeface="Ubuntu Mono"/>
                <a:cs typeface="Ubuntu Mono"/>
                <a:sym typeface="Ubuntu Mono"/>
              </a:rPr>
              <a:t>■ </a:t>
            </a:r>
            <a:r>
              <a:rPr sz="850" b="0">
                <a:solidFill>
                  <a:srgbClr val="000000"/>
                </a:solidFill>
                <a:latin typeface="Ubuntu Mono"/>
                <a:ea typeface="Ubuntu Mono"/>
                <a:cs typeface="Ubuntu Mono"/>
                <a:sym typeface="Ubuntu Mono"/>
              </a:rPr>
              <a:t>Underbalanced drilling</a:t>
            </a:r>
          </a:p>
          <a:p>
            <a:pPr algn="l">
              <a:lnSpc>
                <a:spcPts val="1100"/>
              </a:lnSpc>
              <a:spcAft>
                <a:spcPts val="300"/>
              </a:spcAft>
            </a:pPr>
            <a:r>
              <a:rPr sz="700" b="0">
                <a:solidFill>
                  <a:srgbClr val="01ADEE"/>
                </a:solidFill>
                <a:latin typeface="Ubuntu Mono"/>
                <a:ea typeface="Ubuntu Mono"/>
                <a:cs typeface="Ubuntu Mono"/>
                <a:sym typeface="Ubuntu Mono"/>
              </a:rPr>
              <a:t>■ </a:t>
            </a:r>
            <a:r>
              <a:rPr sz="850" b="0">
                <a:solidFill>
                  <a:srgbClr val="000000"/>
                </a:solidFill>
                <a:latin typeface="Ubuntu Mono"/>
                <a:ea typeface="Ubuntu Mono"/>
                <a:cs typeface="Ubuntu Mono"/>
                <a:sym typeface="Ubuntu Mono"/>
              </a:rPr>
              <a:t>Cementing operations</a:t>
            </a:r>
          </a:p>
          <a:p>
            <a:pPr algn="l">
              <a:lnSpc>
                <a:spcPts val="1100"/>
              </a:lnSpc>
              <a:spcAft>
                <a:spcPts val="300"/>
              </a:spcAft>
            </a:pPr>
            <a:r>
              <a:rPr sz="700" b="0">
                <a:solidFill>
                  <a:srgbClr val="01ADEE"/>
                </a:solidFill>
                <a:latin typeface="Ubuntu Mono"/>
                <a:ea typeface="Ubuntu Mono"/>
                <a:cs typeface="Ubuntu Mono"/>
                <a:sym typeface="Ubuntu Mono"/>
              </a:rPr>
              <a:t>■ </a:t>
            </a:r>
            <a:r>
              <a:rPr sz="850" b="0">
                <a:solidFill>
                  <a:srgbClr val="000000"/>
                </a:solidFill>
                <a:latin typeface="Ubuntu Mono"/>
                <a:ea typeface="Ubuntu Mono"/>
                <a:cs typeface="Ubuntu Mono"/>
                <a:sym typeface="Ubuntu Mono"/>
              </a:rPr>
              <a:t>Workover and completions</a:t>
            </a:r>
          </a:p>
          <a:p>
            <a:pPr algn="l">
              <a:lnSpc>
                <a:spcPts val="1100"/>
              </a:lnSpc>
              <a:spcAft>
                <a:spcPts val="300"/>
              </a:spcAft>
            </a:pPr>
            <a:r>
              <a:rPr sz="700" b="0">
                <a:solidFill>
                  <a:srgbClr val="01ADEE"/>
                </a:solidFill>
                <a:latin typeface="Ubuntu Mono"/>
                <a:ea typeface="Ubuntu Mono"/>
                <a:cs typeface="Ubuntu Mono"/>
                <a:sym typeface="Ubuntu Mono"/>
              </a:rPr>
              <a:t>■ </a:t>
            </a:r>
            <a:r>
              <a:rPr sz="850" b="0">
                <a:solidFill>
                  <a:srgbClr val="000000"/>
                </a:solidFill>
                <a:latin typeface="Ubuntu Mono"/>
                <a:ea typeface="Ubuntu Mono"/>
                <a:cs typeface="Ubuntu Mono"/>
                <a:sym typeface="Ubuntu Mono"/>
              </a:rPr>
              <a:t>Stuck pipe mitigation operations</a:t>
            </a:r>
          </a:p>
        </p:txBody>
      </p:sp>
      <p:sp>
        <p:nvSpPr>
          <p:cNvPr id="23" name="TextBox 22"/>
          <p:cNvSpPr txBox="1"/>
          <p:nvPr/>
        </p:nvSpPr>
        <p:spPr>
          <a:xfrm>
            <a:off x="3810000" y="502920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4" name="TextBox 23"/>
          <p:cNvSpPr txBox="1"/>
          <p:nvPr/>
        </p:nvSpPr>
        <p:spPr>
          <a:xfrm>
            <a:off x="3810000" y="5245100"/>
            <a:ext cx="3035300" cy="127000"/>
          </a:xfrm>
          <a:prstGeom prst="rect">
            <a:avLst/>
          </a:prstGeom>
          <a:noFill/>
        </p:spPr>
        <p:txBody>
          <a:bodyPr wrap="square" lIns="0" rIns="0" tIns="0" bIns="0">
            <a:spAutoFit/>
          </a:bodyPr>
          <a:lstStyle/>
          <a:p>
            <a:pPr algn="l">
              <a:lnSpc>
                <a:spcPts val="1100"/>
              </a:lnSpc>
              <a:spcAft>
                <a:spcPts val="300"/>
              </a:spcAft>
            </a:pPr>
            <a:r>
              <a:rPr sz="700" b="0">
                <a:solidFill>
                  <a:srgbClr val="01ADEE"/>
                </a:solidFill>
                <a:latin typeface="Ubuntu Mono"/>
                <a:ea typeface="Ubuntu Mono"/>
                <a:cs typeface="Ubuntu Mono"/>
                <a:sym typeface="Ubuntu Mono"/>
              </a:rPr>
              <a:t>■ </a:t>
            </a:r>
            <a:r>
              <a:rPr sz="850" b="1">
                <a:solidFill>
                  <a:srgbClr val="000000"/>
                </a:solidFill>
                <a:latin typeface="Ubuntu Mono"/>
                <a:ea typeface="Ubuntu Mono"/>
                <a:cs typeface="Ubuntu Mono"/>
                <a:sym typeface="Ubuntu Mono"/>
              </a:rPr>
              <a:t>Single collar design: </a:t>
            </a:r>
            <a:r>
              <a:rPr sz="850" b="0">
                <a:solidFill>
                  <a:srgbClr val="000000"/>
                </a:solidFill>
                <a:latin typeface="Ubuntu Mono"/>
                <a:ea typeface="Ubuntu Mono"/>
                <a:cs typeface="Ubuntu Mono"/>
                <a:sym typeface="Ubuntu Mono"/>
              </a:rPr>
              <a:t>no mid-body connections.</a:t>
            </a:r>
          </a:p>
          <a:p>
            <a:pPr algn="l">
              <a:lnSpc>
                <a:spcPts val="1100"/>
              </a:lnSpc>
              <a:spcAft>
                <a:spcPts val="300"/>
              </a:spcAft>
            </a:pPr>
            <a:r>
              <a:rPr sz="700" b="0">
                <a:solidFill>
                  <a:srgbClr val="01ADEE"/>
                </a:solidFill>
                <a:latin typeface="Ubuntu Mono"/>
                <a:ea typeface="Ubuntu Mono"/>
                <a:cs typeface="Ubuntu Mono"/>
                <a:sym typeface="Ubuntu Mono"/>
              </a:rPr>
              <a:t>■ </a:t>
            </a:r>
            <a:r>
              <a:rPr sz="850" b="1">
                <a:solidFill>
                  <a:srgbClr val="000000"/>
                </a:solidFill>
                <a:latin typeface="Ubuntu Mono"/>
                <a:ea typeface="Ubuntu Mono"/>
                <a:cs typeface="Ubuntu Mono"/>
                <a:sym typeface="Ubuntu Mono"/>
              </a:rPr>
              <a:t>Variable cycle capability.</a:t>
            </a:r>
          </a:p>
          <a:p>
            <a:pPr algn="l">
              <a:lnSpc>
                <a:spcPts val="1100"/>
              </a:lnSpc>
              <a:spcAft>
                <a:spcPts val="300"/>
              </a:spcAft>
            </a:pPr>
            <a:r>
              <a:rPr sz="700" b="0">
                <a:solidFill>
                  <a:srgbClr val="01ADEE"/>
                </a:solidFill>
                <a:latin typeface="Ubuntu Mono"/>
                <a:ea typeface="Ubuntu Mono"/>
                <a:cs typeface="Ubuntu Mono"/>
                <a:sym typeface="Ubuntu Mono"/>
              </a:rPr>
              <a:t>■ </a:t>
            </a:r>
            <a:r>
              <a:rPr sz="850" b="1">
                <a:solidFill>
                  <a:srgbClr val="000000"/>
                </a:solidFill>
                <a:latin typeface="Ubuntu Mono"/>
                <a:ea typeface="Ubuntu Mono"/>
                <a:cs typeface="Ubuntu Mono"/>
                <a:sym typeface="Ubuntu Mono"/>
              </a:rPr>
              <a:t>Standard API connections.</a:t>
            </a:r>
          </a:p>
          <a:p>
            <a:pPr algn="l">
              <a:lnSpc>
                <a:spcPts val="1100"/>
              </a:lnSpc>
              <a:spcAft>
                <a:spcPts val="300"/>
              </a:spcAft>
            </a:pPr>
            <a:r>
              <a:rPr sz="700" b="0">
                <a:solidFill>
                  <a:srgbClr val="01ADEE"/>
                </a:solidFill>
                <a:latin typeface="Ubuntu Mono"/>
                <a:ea typeface="Ubuntu Mono"/>
                <a:cs typeface="Ubuntu Mono"/>
                <a:sym typeface="Ubuntu Mono"/>
              </a:rPr>
              <a:t>■ </a:t>
            </a:r>
            <a:r>
              <a:rPr sz="850" b="1">
                <a:solidFill>
                  <a:srgbClr val="000000"/>
                </a:solidFill>
                <a:latin typeface="Ubuntu Mono"/>
                <a:ea typeface="Ubuntu Mono"/>
                <a:cs typeface="Ubuntu Mono"/>
                <a:sym typeface="Ubuntu Mono"/>
              </a:rPr>
              <a:t>Ball drop activation: </a:t>
            </a:r>
            <a:r>
              <a:rPr sz="850" b="0">
                <a:solidFill>
                  <a:srgbClr val="000000"/>
                </a:solidFill>
                <a:latin typeface="Ubuntu Mono"/>
                <a:ea typeface="Ubuntu Mono"/>
                <a:cs typeface="Ubuntu Mono"/>
                <a:sym typeface="Ubuntu Mono"/>
              </a:rPr>
              <a:t>rugged and proven.</a:t>
            </a:r>
          </a:p>
          <a:p>
            <a:pPr algn="l">
              <a:lnSpc>
                <a:spcPts val="1100"/>
              </a:lnSpc>
              <a:spcAft>
                <a:spcPts val="300"/>
              </a:spcAft>
            </a:pPr>
            <a:r>
              <a:rPr sz="700" b="0">
                <a:solidFill>
                  <a:srgbClr val="01ADEE"/>
                </a:solidFill>
                <a:latin typeface="Ubuntu Mono"/>
                <a:ea typeface="Ubuntu Mono"/>
                <a:cs typeface="Ubuntu Mono"/>
                <a:sym typeface="Ubuntu Mono"/>
              </a:rPr>
              <a:t>■ </a:t>
            </a:r>
            <a:r>
              <a:rPr sz="850" b="1">
                <a:solidFill>
                  <a:srgbClr val="000000"/>
                </a:solidFill>
                <a:latin typeface="Ubuntu Mono"/>
                <a:ea typeface="Ubuntu Mono"/>
                <a:cs typeface="Ubuntu Mono"/>
                <a:sym typeface="Ubuntu Mono"/>
              </a:rPr>
              <a:t>Ball disposal: </a:t>
            </a:r>
            <a:r>
              <a:rPr sz="850" b="0">
                <a:solidFill>
                  <a:srgbClr val="000000"/>
                </a:solidFill>
                <a:latin typeface="Ubuntu Mono"/>
                <a:ea typeface="Ubuntu Mono"/>
                <a:cs typeface="Ubuntu Mono"/>
                <a:sym typeface="Ubuntu Mono"/>
              </a:rPr>
              <a:t>balls emptied without disassembly; field serviceable, multi-run.</a:t>
            </a:r>
          </a:p>
          <a:p>
            <a:pPr algn="l">
              <a:lnSpc>
                <a:spcPts val="1100"/>
              </a:lnSpc>
              <a:spcAft>
                <a:spcPts val="300"/>
              </a:spcAft>
            </a:pPr>
            <a:r>
              <a:rPr sz="700" b="0">
                <a:solidFill>
                  <a:srgbClr val="01ADEE"/>
                </a:solidFill>
                <a:latin typeface="Ubuntu Mono"/>
                <a:ea typeface="Ubuntu Mono"/>
                <a:cs typeface="Ubuntu Mono"/>
                <a:sym typeface="Ubuntu Mono"/>
              </a:rPr>
              <a:t>■ </a:t>
            </a:r>
            <a:r>
              <a:rPr sz="850" b="1">
                <a:solidFill>
                  <a:srgbClr val="000000"/>
                </a:solidFill>
                <a:latin typeface="Ubuntu Mono"/>
                <a:ea typeface="Ubuntu Mono"/>
                <a:cs typeface="Ubuntu Mono"/>
                <a:sym typeface="Ubuntu Mono"/>
              </a:rPr>
              <a:t>High-strength material options </a:t>
            </a:r>
            <a:r>
              <a:rPr sz="850" b="0">
                <a:solidFill>
                  <a:srgbClr val="000000"/>
                </a:solidFill>
                <a:latin typeface="Ubuntu Mono"/>
                <a:ea typeface="Ubuntu Mono"/>
                <a:cs typeface="Ubuntu Mono"/>
                <a:sym typeface="Ubuntu Mono"/>
              </a:rPr>
              <a:t>for deep gas.</a:t>
            </a:r>
          </a:p>
        </p:txBody>
      </p:sp>
      <p:sp>
        <p:nvSpPr>
          <p:cNvPr id="25" name="TextBox 24"/>
          <p:cNvSpPr txBox="1"/>
          <p:nvPr/>
        </p:nvSpPr>
        <p:spPr>
          <a:xfrm>
            <a:off x="711200" y="6934200"/>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ITEMS TO DISCUSS</a:t>
            </a:r>
          </a:p>
        </p:txBody>
      </p:sp>
      <p:sp>
        <p:nvSpPr>
          <p:cNvPr id="26" name="TextBox 25"/>
          <p:cNvSpPr txBox="1"/>
          <p:nvPr/>
        </p:nvSpPr>
        <p:spPr>
          <a:xfrm>
            <a:off x="711200" y="7150100"/>
            <a:ext cx="3022600" cy="127000"/>
          </a:xfrm>
          <a:prstGeom prst="rect">
            <a:avLst/>
          </a:prstGeom>
          <a:noFill/>
        </p:spPr>
        <p:txBody>
          <a:bodyPr wrap="square" lIns="0" rIns="0" tIns="0" bIns="0">
            <a:spAutoFit/>
          </a:bodyPr>
          <a:lstStyle/>
          <a:p>
            <a:pPr algn="l">
              <a:lnSpc>
                <a:spcPts val="1100"/>
              </a:lnSpc>
              <a:spcAft>
                <a:spcPts val="300"/>
              </a:spcAft>
            </a:pPr>
            <a:r>
              <a:rPr sz="700" b="0">
                <a:solidFill>
                  <a:srgbClr val="01ADEE"/>
                </a:solidFill>
                <a:latin typeface="Ubuntu Mono"/>
                <a:ea typeface="Ubuntu Mono"/>
                <a:cs typeface="Ubuntu Mono"/>
                <a:sym typeface="Ubuntu Mono"/>
              </a:rPr>
              <a:t>■ </a:t>
            </a:r>
            <a:r>
              <a:rPr sz="850" b="0">
                <a:solidFill>
                  <a:srgbClr val="000000"/>
                </a:solidFill>
                <a:latin typeface="Ubuntu Mono"/>
                <a:ea typeface="Ubuntu Mono"/>
                <a:cs typeface="Ubuntu Mono"/>
                <a:sym typeface="Ubuntu Mono"/>
              </a:rPr>
              <a:t>Customizable housing for increased cycles</a:t>
            </a:r>
          </a:p>
          <a:p>
            <a:pPr algn="l">
              <a:lnSpc>
                <a:spcPts val="1100"/>
              </a:lnSpc>
              <a:spcAft>
                <a:spcPts val="300"/>
              </a:spcAft>
            </a:pPr>
            <a:r>
              <a:rPr sz="700" b="0">
                <a:solidFill>
                  <a:srgbClr val="01ADEE"/>
                </a:solidFill>
                <a:latin typeface="Ubuntu Mono"/>
                <a:ea typeface="Ubuntu Mono"/>
                <a:cs typeface="Ubuntu Mono"/>
                <a:sym typeface="Ubuntu Mono"/>
              </a:rPr>
              <a:t>■ </a:t>
            </a:r>
            <a:r>
              <a:rPr sz="850" b="0">
                <a:solidFill>
                  <a:srgbClr val="000000"/>
                </a:solidFill>
                <a:latin typeface="Ubuntu Mono"/>
                <a:ea typeface="Ubuntu Mono"/>
                <a:cs typeface="Ubuntu Mono"/>
                <a:sym typeface="Ubuntu Mono"/>
              </a:rPr>
              <a:t>Operating temperature range for the application</a:t>
            </a:r>
          </a:p>
          <a:p>
            <a:pPr algn="l">
              <a:lnSpc>
                <a:spcPts val="1100"/>
              </a:lnSpc>
              <a:spcAft>
                <a:spcPts val="300"/>
              </a:spcAft>
            </a:pPr>
            <a:r>
              <a:rPr sz="700" b="0">
                <a:solidFill>
                  <a:srgbClr val="01ADEE"/>
                </a:solidFill>
                <a:latin typeface="Ubuntu Mono"/>
                <a:ea typeface="Ubuntu Mono"/>
                <a:cs typeface="Ubuntu Mono"/>
                <a:sym typeface="Ubuntu Mono"/>
              </a:rPr>
              <a:t>■ </a:t>
            </a:r>
            <a:r>
              <a:rPr sz="850" b="0">
                <a:solidFill>
                  <a:srgbClr val="000000"/>
                </a:solidFill>
                <a:latin typeface="Ubuntu Mono"/>
                <a:ea typeface="Ubuntu Mono"/>
                <a:cs typeface="Ubuntu Mono"/>
                <a:sym typeface="Ubuntu Mono"/>
              </a:rPr>
              <a:t>Repair and maintenance options for staged repairs</a:t>
            </a:r>
          </a:p>
          <a:p>
            <a:pPr algn="l">
              <a:lnSpc>
                <a:spcPts val="1100"/>
              </a:lnSpc>
              <a:spcAft>
                <a:spcPts val="300"/>
              </a:spcAft>
            </a:pPr>
            <a:r>
              <a:rPr sz="700" b="0">
                <a:solidFill>
                  <a:srgbClr val="01ADEE"/>
                </a:solidFill>
                <a:latin typeface="Ubuntu Mono"/>
                <a:ea typeface="Ubuntu Mono"/>
                <a:cs typeface="Ubuntu Mono"/>
                <a:sym typeface="Ubuntu Mono"/>
              </a:rPr>
              <a:t>■ </a:t>
            </a:r>
            <a:r>
              <a:rPr sz="850" b="0">
                <a:solidFill>
                  <a:srgbClr val="000000"/>
                </a:solidFill>
                <a:latin typeface="Ubuntu Mono"/>
                <a:ea typeface="Ubuntu Mono"/>
                <a:cs typeface="Ubuntu Mono"/>
                <a:sym typeface="Ubuntu Mono"/>
              </a:rPr>
              <a:t>Chemical compatibility with specialist drilling fluids</a:t>
            </a:r>
          </a:p>
          <a:p>
            <a:pPr algn="l">
              <a:lnSpc>
                <a:spcPts val="1100"/>
              </a:lnSpc>
              <a:spcAft>
                <a:spcPts val="300"/>
              </a:spcAft>
            </a:pPr>
            <a:r>
              <a:rPr sz="700" b="0">
                <a:solidFill>
                  <a:srgbClr val="01ADEE"/>
                </a:solidFill>
                <a:latin typeface="Ubuntu Mono"/>
                <a:ea typeface="Ubuntu Mono"/>
                <a:cs typeface="Ubuntu Mono"/>
                <a:sym typeface="Ubuntu Mono"/>
              </a:rPr>
              <a:t>■ </a:t>
            </a:r>
            <a:r>
              <a:rPr sz="850" b="0">
                <a:solidFill>
                  <a:srgbClr val="000000"/>
                </a:solidFill>
                <a:latin typeface="Ubuntu Mono"/>
                <a:ea typeface="Ubuntu Mono"/>
                <a:cs typeface="Ubuntu Mono"/>
                <a:sym typeface="Ubuntu Mono"/>
              </a:rPr>
              <a:t>Compatibility and operation with third-party downhole tools</a:t>
            </a:r>
          </a:p>
          <a:p>
            <a:pPr algn="l">
              <a:lnSpc>
                <a:spcPts val="1100"/>
              </a:lnSpc>
              <a:spcAft>
                <a:spcPts val="300"/>
              </a:spcAft>
            </a:pPr>
            <a:r>
              <a:rPr sz="700" b="0">
                <a:solidFill>
                  <a:srgbClr val="01ADEE"/>
                </a:solidFill>
                <a:latin typeface="Ubuntu Mono"/>
                <a:ea typeface="Ubuntu Mono"/>
                <a:cs typeface="Ubuntu Mono"/>
                <a:sym typeface="Ubuntu Mono"/>
              </a:rPr>
              <a:t>■ </a:t>
            </a:r>
            <a:r>
              <a:rPr sz="850" b="0">
                <a:solidFill>
                  <a:srgbClr val="000000"/>
                </a:solidFill>
                <a:latin typeface="Ubuntu Mono"/>
                <a:ea typeface="Ubuntu Mono"/>
                <a:cs typeface="Ubuntu Mono"/>
                <a:sym typeface="Ubuntu Mono"/>
              </a:rPr>
              <a:t>Installation, handling and operating guidelines</a:t>
            </a:r>
          </a:p>
        </p:txBody>
      </p:sp>
      <p:sp>
        <p:nvSpPr>
          <p:cNvPr id="27" name="TextBox 26"/>
          <p:cNvSpPr txBox="1"/>
          <p:nvPr/>
        </p:nvSpPr>
        <p:spPr>
          <a:xfrm>
            <a:off x="3810000" y="693420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28" name="TextBox 27"/>
          <p:cNvSpPr txBox="1"/>
          <p:nvPr/>
        </p:nvSpPr>
        <p:spPr>
          <a:xfrm>
            <a:off x="3810000" y="7150100"/>
            <a:ext cx="3035300" cy="1016000"/>
          </a:xfrm>
          <a:prstGeom prst="rect">
            <a:avLst/>
          </a:prstGeom>
          <a:noFill/>
        </p:spPr>
        <p:txBody>
          <a:bodyPr wrap="square" lIns="0" rIns="0" tIns="0" bIns="0">
            <a:spAutoFit/>
          </a:bodyPr>
          <a:lstStyle/>
          <a:p>
            <a:pPr algn="just">
              <a:lnSpc>
                <a:spcPts val="1050"/>
              </a:lnSpc>
              <a:spcAft>
                <a:spcPts val="500"/>
              </a:spcAft>
            </a:pPr>
            <a:r>
              <a:rPr sz="800" b="0">
                <a:solidFill>
                  <a:srgbClr val="000000"/>
                </a:solidFill>
                <a:latin typeface="Ubuntu Mono"/>
                <a:ea typeface="Ubuntu Mono"/>
                <a:cs typeface="Ubuntu Mono"/>
                <a:sym typeface="Ubuntu Mono"/>
              </a:rPr>
              <a:t>Please specify: 1. tool size and top and bottom connections (standard API)  2. number of cycles required  3. material grade (high strength for deep gas, if needed)  4. operating temperature range  5. drilling fluid and chemical compatibility  6. third-party tools in the string.</a:t>
            </a:r>
          </a:p>
          <a:p>
            <a:pPr algn="just">
              <a:lnSpc>
                <a:spcPts val="1050"/>
              </a:lnSpc>
              <a:spcAft>
                <a:spcPts val="500"/>
              </a:spcAft>
            </a:pPr>
            <a:r>
              <a:rPr sz="800" b="0">
                <a:solidFill>
                  <a:srgbClr val="000000"/>
                </a:solidFill>
                <a:latin typeface="Ubuntu Mono"/>
                <a:ea typeface="Ubuntu Mono"/>
                <a:cs typeface="Ubuntu Mono"/>
                <a:sym typeface="Ubuntu Mono"/>
              </a:rPr>
              <a:t>A high-temperature / high-pressure version is available for demanding applications: ask for details.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RCJB</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FISHING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REVERSE CIRCULATION JUNK BASKET</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JUNK BASKET THAT USES REVERSE CIRCULATION TO RECOVER SMALL JUNK THAT OTHER BASKETS WOULD MISS. FLUID IS JETTED OUT AND DOWN AGAINST THE FULL CIRCUMFERENCE OF THE HOLE, SWEEPS LOOSE OBJECTS TOWARD THE CENTRE AND RETURNS UP THROUGH THE BARREL AND OUT OF PORTS AT ITS UPPER END. A DRAIN THROUGH THE TOOL PREVENTS PULLING A WET STRING EVEN IF THE INNER BARREL IS PLUGGED BY CORE. IT RECOVERS BIT CONES AND BEARINGS, BROKEN SLIPS, WIRELINE, HAND TOOLS, MILLING CUTTINGS AND DEBRIS, AND CAN BE CONVERTED INTO A FISHING MAGNET.</a:t>
            </a:r>
          </a:p>
        </p:txBody>
      </p:sp>
      <p:sp>
        <p:nvSpPr>
          <p:cNvPr id="21" name="TextBox 20"/>
          <p:cNvSpPr txBox="1"/>
          <p:nvPr/>
        </p:nvSpPr>
        <p:spPr>
          <a:xfrm>
            <a:off x="711200" y="49784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sp>
        <p:nvSpPr>
          <p:cNvPr id="22" name="TextBox 21"/>
          <p:cNvSpPr txBox="1"/>
          <p:nvPr/>
        </p:nvSpPr>
        <p:spPr>
          <a:xfrm>
            <a:off x="711200" y="5181600"/>
            <a:ext cx="2997200" cy="127000"/>
          </a:xfrm>
          <a:prstGeom prst="rect">
            <a:avLst/>
          </a:prstGeom>
          <a:noFill/>
        </p:spPr>
        <p:txBody>
          <a:bodyPr wrap="square" lIns="0" rIns="0" tIns="0" bIns="0">
            <a:spAutoFit/>
          </a:bodyPr>
          <a:lstStyle/>
          <a:p>
            <a:pPr algn="ctr">
              <a:spcAft>
                <a:spcPts val="0"/>
              </a:spcAft>
            </a:pPr>
            <a:r>
              <a:rPr sz="700" b="1">
                <a:solidFill>
                  <a:srgbClr val="194E9A"/>
                </a:solidFill>
                <a:latin typeface="Ubuntu Mono"/>
                <a:ea typeface="Ubuntu Mono"/>
                <a:cs typeface="Ubuntu Mono"/>
                <a:sym typeface="Ubuntu Mono"/>
              </a:rPr>
              <a:t>STANDARD TYPE (popular bit cone sizes)</a:t>
            </a:r>
          </a:p>
        </p:txBody>
      </p:sp>
      <p:sp>
        <p:nvSpPr>
          <p:cNvPr id="23" name="TextBox 22"/>
          <p:cNvSpPr txBox="1"/>
          <p:nvPr/>
        </p:nvSpPr>
        <p:spPr>
          <a:xfrm>
            <a:off x="3848100" y="5181600"/>
            <a:ext cx="2997200" cy="127000"/>
          </a:xfrm>
          <a:prstGeom prst="rect">
            <a:avLst/>
          </a:prstGeom>
          <a:noFill/>
        </p:spPr>
        <p:txBody>
          <a:bodyPr wrap="square" lIns="0" rIns="0" tIns="0" bIns="0">
            <a:spAutoFit/>
          </a:bodyPr>
          <a:lstStyle/>
          <a:p>
            <a:pPr algn="ctr">
              <a:spcAft>
                <a:spcPts val="0"/>
              </a:spcAft>
            </a:pPr>
            <a:r>
              <a:rPr sz="700" b="1">
                <a:solidFill>
                  <a:srgbClr val="194E9A"/>
                </a:solidFill>
                <a:latin typeface="Ubuntu Mono"/>
                <a:ea typeface="Ubuntu Mono"/>
                <a:cs typeface="Ubuntu Mono"/>
                <a:sym typeface="Ubuntu Mono"/>
              </a:rPr>
              <a:t>W7R TYPE (W7R and other oversize cones)</a:t>
            </a:r>
          </a:p>
        </p:txBody>
      </p:sp>
      <p:graphicFrame>
        <p:nvGraphicFramePr>
          <p:cNvPr id="24" name="Table 23"/>
          <p:cNvGraphicFramePr>
            <a:graphicFrameLocks noGrp="1"/>
          </p:cNvGraphicFramePr>
          <p:nvPr/>
        </p:nvGraphicFramePr>
        <p:xfrm>
          <a:off x="711200" y="5334000"/>
          <a:ext cx="2997197" cy="2209800"/>
        </p:xfrm>
        <a:graphic>
          <a:graphicData uri="http://schemas.openxmlformats.org/drawingml/2006/table">
            <a:tbl>
              <a:tblPr/>
              <a:tblGrid>
                <a:gridCol w="737016"/>
                <a:gridCol w="466777"/>
                <a:gridCol w="540478"/>
                <a:gridCol w="466777"/>
                <a:gridCol w="343940"/>
                <a:gridCol w="442209"/>
              </a:tblGrid>
              <a:tr h="228600">
                <a:tc>
                  <a:txBody>
                    <a:bodyPr wrap="square"/>
                    <a:lstStyle/>
                    <a:p>
                      <a:pPr algn="ctr">
                        <a:lnSpc>
                          <a:spcPts val="819"/>
                        </a:lnSpc>
                      </a:pPr>
                      <a:r>
                        <a:rPr sz="660" b="1">
                          <a:solidFill>
                            <a:srgbClr val="FEFEFF"/>
                          </a:solidFill>
                          <a:latin typeface="Ubuntu Mono"/>
                          <a:ea typeface="Ubuntu Mono"/>
                          <a:cs typeface="Ubuntu Mono"/>
                          <a:sym typeface="Ubuntu Mono"/>
                        </a:rPr>
                        <a:t>Hole size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Barrel 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Max. fish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Top conn.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Teeth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Wt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3-3/4 - 4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3-5/8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85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4-1/8 - 4-1/2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2-1/2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98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4-5/8 - 5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3-1/16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2-7/8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108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5-1/8 - 5-1/2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4-7/8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3-9/16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2-7/8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128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5-5/8 - 6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5-1/8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142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6-1/8 - 6-1/2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4-3/8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185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6-5/8 - 7-3/8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6-1/4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7-1/2 - 8-1/4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5-1/8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293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8-3/8 - 9-1/2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7-7/8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6-1/16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374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9-5/8 - 10-5/8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9-1/8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7-1/16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441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10-3/4 - 11-5/8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10-1/8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576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11-3/4 - 12-1/2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11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8-5/16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665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12-5/8 - 13-5/8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11-7/8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8-1/2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797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13-3/4 - 16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13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9-13/16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932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16 - 17-1/2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1,563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graphicFrame>
        <p:nvGraphicFramePr>
          <p:cNvPr id="25" name="Table 24"/>
          <p:cNvGraphicFramePr>
            <a:graphicFrameLocks noGrp="1"/>
          </p:cNvGraphicFramePr>
          <p:nvPr/>
        </p:nvGraphicFramePr>
        <p:xfrm>
          <a:off x="3848100" y="5334000"/>
          <a:ext cx="2997197" cy="1945640"/>
        </p:xfrm>
        <a:graphic>
          <a:graphicData uri="http://schemas.openxmlformats.org/drawingml/2006/table">
            <a:tbl>
              <a:tblPr/>
              <a:tblGrid>
                <a:gridCol w="737016"/>
                <a:gridCol w="466777"/>
                <a:gridCol w="540478"/>
                <a:gridCol w="466777"/>
                <a:gridCol w="343940"/>
                <a:gridCol w="442209"/>
              </a:tblGrid>
              <a:tr h="228600">
                <a:tc>
                  <a:txBody>
                    <a:bodyPr wrap="square"/>
                    <a:lstStyle/>
                    <a:p>
                      <a:pPr algn="ctr">
                        <a:lnSpc>
                          <a:spcPts val="819"/>
                        </a:lnSpc>
                      </a:pPr>
                      <a:r>
                        <a:rPr sz="660" b="1">
                          <a:solidFill>
                            <a:srgbClr val="FEFEFF"/>
                          </a:solidFill>
                          <a:latin typeface="Ubuntu Mono"/>
                          <a:ea typeface="Ubuntu Mono"/>
                          <a:cs typeface="Ubuntu Mono"/>
                          <a:sym typeface="Ubuntu Mono"/>
                        </a:rPr>
                        <a:t>Hole size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Barrel 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Max. fish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Top conn.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Teeth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Wt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3-3/4 - 4-1/8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3-5/8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2-3/4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4-1/4 - 4-1/2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4-1/8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85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4-5/8 - 5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3-3/8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95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5-1/8 - 5-1/2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4-7/8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3-5/8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2-7/8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108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5-5/8 - 6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5-3/8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4-1/16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2-7/8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141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6-1/8 - 7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5-7/8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4-5/8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173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7-1/8 - 7-1/2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6-3/4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5-1/4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223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7-5/8 - 8-1/2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7-5/16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5-5/8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280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8-5/8 - 9-1/2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8-3/16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6-1/2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380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9-5/8 - 10-3/8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9-1/8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7-1/8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407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10-1/2 - 11-5/8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9-7/8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7-3/4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484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11-3/4 - 13-3/8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11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597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2080">
                <a:tc>
                  <a:txBody>
                    <a:bodyPr wrap="square"/>
                    <a:lstStyle/>
                    <a:p>
                      <a:pPr algn="ctr">
                        <a:lnSpc>
                          <a:spcPts val="819"/>
                        </a:lnSpc>
                      </a:pPr>
                      <a:r>
                        <a:rPr sz="660" b="0">
                          <a:solidFill>
                            <a:srgbClr val="FEFEFF"/>
                          </a:solidFill>
                          <a:latin typeface="Ubuntu Mono"/>
                          <a:ea typeface="Ubuntu Mono"/>
                          <a:cs typeface="Ubuntu Mono"/>
                          <a:sym typeface="Ubuntu Mono"/>
                        </a:rPr>
                        <a:t>13-1/2 - 15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12-3/4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9-15/16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794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6" name="TextBox 25"/>
          <p:cNvSpPr txBox="1"/>
          <p:nvPr/>
        </p:nvSpPr>
        <p:spPr>
          <a:xfrm>
            <a:off x="711200" y="7581900"/>
            <a:ext cx="6134100" cy="114300"/>
          </a:xfrm>
          <a:prstGeom prst="rect">
            <a:avLst/>
          </a:prstGeom>
          <a:noFill/>
        </p:spPr>
        <p:txBody>
          <a:bodyPr wrap="square" lIns="0" rIns="0" tIns="0" bIns="0">
            <a:spAutoFit/>
          </a:bodyPr>
          <a:lstStyle/>
          <a:p>
            <a:pPr algn="l">
              <a:lnSpc>
                <a:spcPts val="740"/>
              </a:lnSpc>
              <a:spcAft>
                <a:spcPts val="0"/>
              </a:spcAft>
            </a:pPr>
            <a:r>
              <a:rPr sz="620" b="0">
                <a:solidFill>
                  <a:srgbClr val="444444"/>
                </a:solidFill>
                <a:latin typeface="Ubuntu Mono"/>
                <a:ea typeface="Ubuntu Mono"/>
                <a:cs typeface="Ubuntu Mono"/>
                <a:sym typeface="Ubuntu Mono"/>
              </a:rPr>
              <a:t>Dimensions in inches, weights in lb (approximate). Hole size is the range the tool is designed for; max. fish Ø applies to the mill shoe.</a:t>
            </a:r>
          </a:p>
        </p:txBody>
      </p:sp>
      <p:pic>
        <p:nvPicPr>
          <p:cNvPr id="27" name="Picture 26" descr="rcjb_tool_blue.png"/>
          <p:cNvPicPr>
            <a:picLocks noChangeAspect="1"/>
          </p:cNvPicPr>
          <p:nvPr/>
        </p:nvPicPr>
        <p:blipFill>
          <a:blip r:embed="rId4"/>
          <a:stretch>
            <a:fillRect/>
          </a:stretch>
        </p:blipFill>
        <p:spPr>
          <a:xfrm>
            <a:off x="711200" y="7785100"/>
            <a:ext cx="476661" cy="2730500"/>
          </a:xfrm>
          <a:prstGeom prst="rect">
            <a:avLst/>
          </a:prstGeom>
        </p:spPr>
      </p:pic>
      <p:sp>
        <p:nvSpPr>
          <p:cNvPr id="28" name="TextBox 27"/>
          <p:cNvSpPr txBox="1"/>
          <p:nvPr/>
        </p:nvSpPr>
        <p:spPr>
          <a:xfrm>
            <a:off x="1346200" y="7759700"/>
            <a:ext cx="2540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9" name="TextBox 28"/>
          <p:cNvSpPr txBox="1"/>
          <p:nvPr/>
        </p:nvSpPr>
        <p:spPr>
          <a:xfrm>
            <a:off x="1346200" y="7962900"/>
            <a:ext cx="2603500" cy="127000"/>
          </a:xfrm>
          <a:prstGeom prst="rect">
            <a:avLst/>
          </a:prstGeom>
          <a:noFill/>
        </p:spPr>
        <p:txBody>
          <a:bodyPr wrap="square" lIns="0" rIns="0" tIns="0" bIns="0">
            <a:spAutoFit/>
          </a:bodyPr>
          <a:lstStyle/>
          <a:p>
            <a:pPr algn="l">
              <a:lnSpc>
                <a:spcPts val="840"/>
              </a:lnSpc>
              <a:spcAft>
                <a:spcPts val="180"/>
              </a:spcAft>
            </a:pPr>
            <a:r>
              <a:rPr sz="530" b="0">
                <a:solidFill>
                  <a:srgbClr val="01ADEE"/>
                </a:solidFill>
                <a:latin typeface="Ubuntu Mono"/>
                <a:ea typeface="Ubuntu Mono"/>
                <a:cs typeface="Ubuntu Mono"/>
                <a:sym typeface="Ubuntu Mono"/>
              </a:rPr>
              <a:t>■ </a:t>
            </a:r>
            <a:r>
              <a:rPr sz="680" b="1">
                <a:solidFill>
                  <a:srgbClr val="000000"/>
                </a:solidFill>
                <a:latin typeface="Ubuntu Mono"/>
                <a:ea typeface="Ubuntu Mono"/>
                <a:cs typeface="Ubuntu Mono"/>
                <a:sym typeface="Ubuntu Mono"/>
              </a:rPr>
              <a:t>Reverse circulation: </a:t>
            </a:r>
            <a:r>
              <a:rPr sz="680" b="0">
                <a:solidFill>
                  <a:srgbClr val="000000"/>
                </a:solidFill>
                <a:latin typeface="Ubuntu Mono"/>
                <a:ea typeface="Ubuntu Mono"/>
                <a:cs typeface="Ubuntu Mono"/>
                <a:sym typeface="Ubuntu Mono"/>
              </a:rPr>
              <a:t>a steel ball dropped down the string seats in the valve and sends flow through the barrel passages, out against the hole wall and back up the barrel.</a:t>
            </a:r>
          </a:p>
          <a:p>
            <a:pPr algn="l">
              <a:lnSpc>
                <a:spcPts val="840"/>
              </a:lnSpc>
              <a:spcAft>
                <a:spcPts val="180"/>
              </a:spcAft>
            </a:pPr>
            <a:r>
              <a:rPr sz="530" b="0">
                <a:solidFill>
                  <a:srgbClr val="01ADEE"/>
                </a:solidFill>
                <a:latin typeface="Ubuntu Mono"/>
                <a:ea typeface="Ubuntu Mono"/>
                <a:cs typeface="Ubuntu Mono"/>
                <a:sym typeface="Ubuntu Mono"/>
              </a:rPr>
              <a:t>■ </a:t>
            </a:r>
            <a:r>
              <a:rPr sz="680" b="1">
                <a:solidFill>
                  <a:srgbClr val="000000"/>
                </a:solidFill>
                <a:latin typeface="Ubuntu Mono"/>
                <a:ea typeface="Ubuntu Mono"/>
                <a:cs typeface="Ubuntu Mono"/>
                <a:sym typeface="Ubuntu Mono"/>
              </a:rPr>
              <a:t>Junk catcher: </a:t>
            </a:r>
            <a:r>
              <a:rPr sz="680" b="0">
                <a:solidFill>
                  <a:srgbClr val="000000"/>
                </a:solidFill>
                <a:latin typeface="Ubuntu Mono"/>
                <a:ea typeface="Ubuntu Mono"/>
                <a:cs typeface="Ubuntu Mono"/>
                <a:sym typeface="Ubuntu Mono"/>
              </a:rPr>
              <a:t>spring-loaded fingers fold back to admit core and fish, then dig in on pulling to cut off the core.</a:t>
            </a:r>
          </a:p>
          <a:p>
            <a:pPr algn="l">
              <a:lnSpc>
                <a:spcPts val="840"/>
              </a:lnSpc>
              <a:spcAft>
                <a:spcPts val="180"/>
              </a:spcAft>
            </a:pPr>
            <a:r>
              <a:rPr sz="530" b="0">
                <a:solidFill>
                  <a:srgbClr val="01ADEE"/>
                </a:solidFill>
                <a:latin typeface="Ubuntu Mono"/>
                <a:ea typeface="Ubuntu Mono"/>
                <a:cs typeface="Ubuntu Mono"/>
                <a:sym typeface="Ubuntu Mono"/>
              </a:rPr>
              <a:t>■ </a:t>
            </a:r>
            <a:r>
              <a:rPr sz="680" b="1">
                <a:solidFill>
                  <a:srgbClr val="000000"/>
                </a:solidFill>
                <a:latin typeface="Ubuntu Mono"/>
                <a:ea typeface="Ubuntu Mono"/>
                <a:cs typeface="Ubuntu Mono"/>
                <a:sym typeface="Ubuntu Mono"/>
              </a:rPr>
              <a:t>Mill shoes: </a:t>
            </a:r>
            <a:r>
              <a:rPr sz="680" b="0">
                <a:solidFill>
                  <a:srgbClr val="000000"/>
                </a:solidFill>
                <a:latin typeface="Ubuntu Mono"/>
                <a:ea typeface="Ubuntu Mono"/>
                <a:cs typeface="Ubuntu Mono"/>
                <a:sym typeface="Ubuntu Mono"/>
              </a:rPr>
              <a:t>type A with side wings (standard); type B hard-faced with sintered tungsten carbide; type C flat-bottomed, hard-faced, for cutting cores.</a:t>
            </a:r>
          </a:p>
          <a:p>
            <a:pPr algn="l">
              <a:lnSpc>
                <a:spcPts val="840"/>
              </a:lnSpc>
              <a:spcAft>
                <a:spcPts val="180"/>
              </a:spcAft>
            </a:pPr>
            <a:r>
              <a:rPr sz="530" b="0">
                <a:solidFill>
                  <a:srgbClr val="01ADEE"/>
                </a:solidFill>
                <a:latin typeface="Ubuntu Mono"/>
                <a:ea typeface="Ubuntu Mono"/>
                <a:cs typeface="Ubuntu Mono"/>
                <a:sym typeface="Ubuntu Mono"/>
              </a:rPr>
              <a:t>■ </a:t>
            </a:r>
            <a:r>
              <a:rPr sz="680" b="1">
                <a:solidFill>
                  <a:srgbClr val="000000"/>
                </a:solidFill>
                <a:latin typeface="Ubuntu Mono"/>
                <a:ea typeface="Ubuntu Mono"/>
                <a:cs typeface="Ubuntu Mono"/>
                <a:sym typeface="Ubuntu Mono"/>
              </a:rPr>
              <a:t>Finger shoe: </a:t>
            </a:r>
            <a:r>
              <a:rPr sz="680" b="0">
                <a:solidFill>
                  <a:srgbClr val="000000"/>
                </a:solidFill>
                <a:latin typeface="Ubuntu Mono"/>
                <a:ea typeface="Ubuntu Mono"/>
                <a:cs typeface="Ubuntu Mono"/>
                <a:sym typeface="Ubuntu Mono"/>
              </a:rPr>
              <a:t>for loose or larger junk; fingers close beneath the fish; replaceable fingers.</a:t>
            </a:r>
          </a:p>
          <a:p>
            <a:pPr algn="l">
              <a:lnSpc>
                <a:spcPts val="840"/>
              </a:lnSpc>
              <a:spcAft>
                <a:spcPts val="180"/>
              </a:spcAft>
            </a:pPr>
            <a:r>
              <a:rPr sz="530" b="0">
                <a:solidFill>
                  <a:srgbClr val="01ADEE"/>
                </a:solidFill>
                <a:latin typeface="Ubuntu Mono"/>
                <a:ea typeface="Ubuntu Mono"/>
                <a:cs typeface="Ubuntu Mono"/>
                <a:sym typeface="Ubuntu Mono"/>
              </a:rPr>
              <a:t>■ </a:t>
            </a:r>
            <a:r>
              <a:rPr sz="680" b="1">
                <a:solidFill>
                  <a:srgbClr val="000000"/>
                </a:solidFill>
                <a:latin typeface="Ubuntu Mono"/>
                <a:ea typeface="Ubuntu Mono"/>
                <a:cs typeface="Ubuntu Mono"/>
                <a:sym typeface="Ubuntu Mono"/>
              </a:rPr>
              <a:t>Magnet insert: </a:t>
            </a:r>
            <a:r>
              <a:rPr sz="680" b="0">
                <a:solidFill>
                  <a:srgbClr val="000000"/>
                </a:solidFill>
                <a:latin typeface="Ubuntu Mono"/>
                <a:ea typeface="Ubuntu Mono"/>
                <a:cs typeface="Ubuntu Mono"/>
                <a:sym typeface="Ubuntu Mono"/>
              </a:rPr>
              <a:t>fits the catcher recess, converts to a fishing magnet and keeps reverse circulation.</a:t>
            </a:r>
          </a:p>
        </p:txBody>
      </p:sp>
      <p:sp>
        <p:nvSpPr>
          <p:cNvPr id="30" name="TextBox 29"/>
          <p:cNvSpPr txBox="1"/>
          <p:nvPr/>
        </p:nvSpPr>
        <p:spPr>
          <a:xfrm>
            <a:off x="4089400" y="775970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OPERATING PARAMETERS</a:t>
            </a:r>
          </a:p>
        </p:txBody>
      </p:sp>
      <p:graphicFrame>
        <p:nvGraphicFramePr>
          <p:cNvPr id="31" name="Table 30"/>
          <p:cNvGraphicFramePr>
            <a:graphicFrameLocks noGrp="1"/>
          </p:cNvGraphicFramePr>
          <p:nvPr/>
        </p:nvGraphicFramePr>
        <p:xfrm>
          <a:off x="4089400" y="7962900"/>
          <a:ext cx="2755900" cy="863600"/>
        </p:xfrm>
        <a:graphic>
          <a:graphicData uri="http://schemas.openxmlformats.org/drawingml/2006/table">
            <a:tbl>
              <a:tblPr/>
              <a:tblGrid>
                <a:gridCol w="787400"/>
                <a:gridCol w="1968500"/>
              </a:tblGrid>
              <a:tr h="215900">
                <a:tc>
                  <a:txBody>
                    <a:bodyPr wrap="square"/>
                    <a:lstStyle/>
                    <a:p>
                      <a:pPr algn="l">
                        <a:lnSpc>
                          <a:spcPts val="800"/>
                        </a:lnSpc>
                      </a:pPr>
                      <a:r>
                        <a:rPr sz="640" b="0">
                          <a:solidFill>
                            <a:srgbClr val="FEFEFF"/>
                          </a:solidFill>
                          <a:latin typeface="Ubuntu Mono"/>
                          <a:ea typeface="Ubuntu Mono"/>
                          <a:cs typeface="Ubuntu Mono"/>
                          <a:sym typeface="Ubuntu Mono"/>
                        </a:rPr>
                        <a:t>Before dropping ball</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00"/>
                        </a:lnSpc>
                      </a:pPr>
                      <a:r>
                        <a:rPr sz="640" b="0">
                          <a:solidFill>
                            <a:srgbClr val="000000"/>
                          </a:solidFill>
                          <a:latin typeface="Ubuntu Mono"/>
                          <a:ea typeface="Ubuntu Mono"/>
                          <a:cs typeface="Ubuntu Mono"/>
                          <a:sym typeface="Ubuntu Mono"/>
                        </a:rPr>
                        <a:t>Circulate a few minutes about 10 ft off bottom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215900">
                <a:tc>
                  <a:txBody>
                    <a:bodyPr wrap="square"/>
                    <a:lstStyle/>
                    <a:p>
                      <a:pPr algn="l">
                        <a:lnSpc>
                          <a:spcPts val="800"/>
                        </a:lnSpc>
                      </a:pPr>
                      <a:r>
                        <a:rPr sz="640" b="0">
                          <a:solidFill>
                            <a:srgbClr val="FEFEFF"/>
                          </a:solidFill>
                          <a:latin typeface="Ubuntu Mono"/>
                          <a:ea typeface="Ubuntu Mono"/>
                          <a:cs typeface="Ubuntu Mono"/>
                          <a:sym typeface="Ubuntu Mono"/>
                        </a:rPr>
                        <a:t>Mill shoe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00"/>
                        </a:lnSpc>
                      </a:pPr>
                      <a:r>
                        <a:rPr sz="640" b="0">
                          <a:solidFill>
                            <a:srgbClr val="000000"/>
                          </a:solidFill>
                          <a:latin typeface="Ubuntu Mono"/>
                          <a:ea typeface="Ubuntu Mono"/>
                          <a:cs typeface="Ubuntu Mono"/>
                          <a:sym typeface="Ubuntu Mono"/>
                        </a:rPr>
                        <a:t>Cut a core of at least 10 in.; 1 ton on hard-faced shoes, 50 - 150 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215900">
                <a:tc>
                  <a:txBody>
                    <a:bodyPr wrap="square"/>
                    <a:lstStyle/>
                    <a:p>
                      <a:pPr algn="l">
                        <a:lnSpc>
                          <a:spcPts val="800"/>
                        </a:lnSpc>
                      </a:pPr>
                      <a:r>
                        <a:rPr sz="640" b="0">
                          <a:solidFill>
                            <a:srgbClr val="FEFEFF"/>
                          </a:solidFill>
                          <a:latin typeface="Ubuntu Mono"/>
                          <a:ea typeface="Ubuntu Mono"/>
                          <a:cs typeface="Ubuntu Mono"/>
                          <a:sym typeface="Ubuntu Mono"/>
                        </a:rPr>
                        <a:t>Finger shoe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00"/>
                        </a:lnSpc>
                      </a:pPr>
                      <a:r>
                        <a:rPr sz="640" b="0">
                          <a:solidFill>
                            <a:srgbClr val="000000"/>
                          </a:solidFill>
                          <a:latin typeface="Ubuntu Mono"/>
                          <a:ea typeface="Ubuntu Mono"/>
                          <a:cs typeface="Ubuntu Mono"/>
                          <a:sym typeface="Ubuntu Mono"/>
                        </a:rPr>
                        <a:t>Rotate slowly, lower to about 2 tons on bottom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215900">
                <a:tc>
                  <a:txBody>
                    <a:bodyPr wrap="square"/>
                    <a:lstStyle/>
                    <a:p>
                      <a:pPr algn="l">
                        <a:lnSpc>
                          <a:spcPts val="800"/>
                        </a:lnSpc>
                      </a:pPr>
                      <a:r>
                        <a:rPr sz="640" b="0">
                          <a:solidFill>
                            <a:srgbClr val="FEFEFF"/>
                          </a:solidFill>
                          <a:latin typeface="Ubuntu Mono"/>
                          <a:ea typeface="Ubuntu Mono"/>
                          <a:cs typeface="Ubuntu Mono"/>
                          <a:sym typeface="Ubuntu Mono"/>
                        </a:rPr>
                        <a:t>Precaution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00"/>
                        </a:lnSpc>
                      </a:pPr>
                      <a:r>
                        <a:rPr sz="640" b="0">
                          <a:solidFill>
                            <a:srgbClr val="000000"/>
                          </a:solidFill>
                          <a:latin typeface="Ubuntu Mono"/>
                          <a:ea typeface="Ubuntu Mono"/>
                          <a:cs typeface="Ubuntu Mono"/>
                          <a:sym typeface="Ubuntu Mono"/>
                        </a:rPr>
                        <a:t>String tool-joint IDs must pass the steel ball; keep the ball at surface while running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32" name="TextBox 31"/>
          <p:cNvSpPr txBox="1"/>
          <p:nvPr/>
        </p:nvSpPr>
        <p:spPr>
          <a:xfrm>
            <a:off x="4089400" y="8928100"/>
            <a:ext cx="2755900" cy="381000"/>
          </a:xfrm>
          <a:prstGeom prst="rect">
            <a:avLst/>
          </a:prstGeom>
          <a:noFill/>
        </p:spPr>
        <p:txBody>
          <a:bodyPr wrap="square" lIns="0" rIns="0" tIns="0" bIns="0">
            <a:spAutoFit/>
          </a:bodyPr>
          <a:lstStyle/>
          <a:p>
            <a:pPr algn="just">
              <a:lnSpc>
                <a:spcPts val="819"/>
              </a:lnSpc>
              <a:spcAft>
                <a:spcPts val="0"/>
              </a:spcAft>
            </a:pPr>
            <a:r>
              <a:rPr sz="660" b="0">
                <a:solidFill>
                  <a:srgbClr val="000000"/>
                </a:solidFill>
                <a:latin typeface="Ubuntu Mono"/>
                <a:ea typeface="Ubuntu Mono"/>
                <a:cs typeface="Ubuntu Mono"/>
                <a:sym typeface="Ubuntu Mono"/>
              </a:rPr>
              <a:t>Add a junk sub above the top sub if small junk is prevalent. Wash the tool after each job, paying attention to the space between inner and outer barrels.</a:t>
            </a:r>
          </a:p>
        </p:txBody>
      </p:sp>
      <p:sp>
        <p:nvSpPr>
          <p:cNvPr id="33" name="TextBox 32"/>
          <p:cNvSpPr txBox="1"/>
          <p:nvPr/>
        </p:nvSpPr>
        <p:spPr>
          <a:xfrm>
            <a:off x="4089400" y="935990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4" name="TextBox 33"/>
          <p:cNvSpPr txBox="1"/>
          <p:nvPr/>
        </p:nvSpPr>
        <p:spPr>
          <a:xfrm>
            <a:off x="4089400" y="9550400"/>
            <a:ext cx="2755900" cy="508000"/>
          </a:xfrm>
          <a:prstGeom prst="rect">
            <a:avLst/>
          </a:prstGeom>
          <a:noFill/>
        </p:spPr>
        <p:txBody>
          <a:bodyPr wrap="square" lIns="0" rIns="0" tIns="0" bIns="0">
            <a:spAutoFit/>
          </a:bodyPr>
          <a:lstStyle/>
          <a:p>
            <a:pPr algn="just">
              <a:lnSpc>
                <a:spcPts val="819"/>
              </a:lnSpc>
              <a:spcAft>
                <a:spcPts val="0"/>
              </a:spcAft>
            </a:pPr>
            <a:r>
              <a:rPr sz="660" b="0">
                <a:solidFill>
                  <a:srgbClr val="000000"/>
                </a:solidFill>
                <a:latin typeface="Ubuntu Mono"/>
                <a:ea typeface="Ubuntu Mono"/>
                <a:cs typeface="Ubuntu Mono"/>
                <a:sym typeface="Ubuntu Mono"/>
              </a:rPr>
              <a:t>Please specify: 1. tool name and type (standard or W7R)  2. OD and type of shoe  3. top connection  4. recommended spares: 2 junk catchers, 2 mill shoes, 1 valve cup, 1 valve seat, 1 steel ball  5. accessories: 2 finger shoes, 4 finger shoe replacements, 1 magnet insert.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JUNK BASKET</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FISHING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JUNK BASKET WITH DOUBLE CATCHERS</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SIMPLE, DEPENDABLE FISHING TOOL FOR RETRIEVING LOOSE JUNK FROM THE BOTTOM OF THE HOLE: BIT CONES, BEARINGS, BROKEN SLIPS, WIRELINE, HAND TOOLS, DEBRIS FROM TWISTED-OFF STRINGS AND MILLING CUTTINGS. TWO FREE-REVOLVING CATCHERS SIT INSIDE A MILL SHOE, SO THE BASKET CUTS A SHORT CORE THAT LOCKS THE JUNK IN THE BARREL. IT CAN ALSO TAKE A CORE SAMPLE, DRILL A FULL-GAUGE HOLE OR REAM. MAGNET INSERTS AND ACCESSORY SHOES ADAPT IT TO THE JOB.</a:t>
            </a:r>
          </a:p>
        </p:txBody>
      </p:sp>
      <p:sp>
        <p:nvSpPr>
          <p:cNvPr id="21" name="TextBox 20"/>
          <p:cNvSpPr txBox="1"/>
          <p:nvPr/>
        </p:nvSpPr>
        <p:spPr>
          <a:xfrm>
            <a:off x="711200" y="49784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181600"/>
          <a:ext cx="2997196" cy="1508760"/>
        </p:xfrm>
        <a:graphic>
          <a:graphicData uri="http://schemas.openxmlformats.org/drawingml/2006/table">
            <a:tbl>
              <a:tblPr/>
              <a:tblGrid>
                <a:gridCol w="761583"/>
                <a:gridCol w="466777"/>
                <a:gridCol w="442209"/>
                <a:gridCol w="565045"/>
                <a:gridCol w="343940"/>
                <a:gridCol w="417642"/>
              </a:tblGrid>
              <a:tr h="228600">
                <a:tc>
                  <a:txBody>
                    <a:bodyPr wrap="square"/>
                    <a:lstStyle/>
                    <a:p>
                      <a:pPr algn="ctr">
                        <a:lnSpc>
                          <a:spcPts val="840"/>
                        </a:lnSpc>
                      </a:pPr>
                      <a:r>
                        <a:rPr sz="680" b="1">
                          <a:solidFill>
                            <a:srgbClr val="FEFEFF"/>
                          </a:solidFill>
                          <a:latin typeface="Ubuntu Mono"/>
                          <a:ea typeface="Ubuntu Mono"/>
                          <a:cs typeface="Ubuntu Mono"/>
                          <a:sym typeface="Ubuntu Mono"/>
                        </a:rPr>
                        <a:t>Hole size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Barrel 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Shoe 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Max. fish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Teeth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Wt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42240">
                <a:tc>
                  <a:txBody>
                    <a:bodyPr wrap="square"/>
                    <a:lstStyle/>
                    <a:p>
                      <a:pPr algn="ctr">
                        <a:lnSpc>
                          <a:spcPts val="840"/>
                        </a:lnSpc>
                      </a:pPr>
                      <a:r>
                        <a:rPr sz="680" b="0">
                          <a:solidFill>
                            <a:srgbClr val="FEFEFF"/>
                          </a:solidFill>
                          <a:latin typeface="Ubuntu Mono"/>
                          <a:ea typeface="Ubuntu Mono"/>
                          <a:cs typeface="Ubuntu Mono"/>
                          <a:sym typeface="Ubuntu Mono"/>
                        </a:rPr>
                        <a:t>3-3/4 - 4-1/8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3-5/8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3-5/8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2-11/16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55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40"/>
                        </a:lnSpc>
                      </a:pPr>
                      <a:r>
                        <a:rPr sz="680" b="0">
                          <a:solidFill>
                            <a:srgbClr val="FEFEFF"/>
                          </a:solidFill>
                          <a:latin typeface="Ubuntu Mono"/>
                          <a:ea typeface="Ubuntu Mono"/>
                          <a:cs typeface="Ubuntu Mono"/>
                          <a:sym typeface="Ubuntu Mono"/>
                        </a:rPr>
                        <a:t>4-1/4 - 4-1/2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4-1/16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2-15/16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40"/>
                        </a:lnSpc>
                      </a:pPr>
                      <a:r>
                        <a:rPr sz="680" b="0">
                          <a:solidFill>
                            <a:srgbClr val="FEFEFF"/>
                          </a:solidFill>
                          <a:latin typeface="Ubuntu Mono"/>
                          <a:ea typeface="Ubuntu Mono"/>
                          <a:cs typeface="Ubuntu Mono"/>
                          <a:sym typeface="Ubuntu Mono"/>
                        </a:rPr>
                        <a:t>4-5/8 - 5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3-7/8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3-9/32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65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40"/>
                        </a:lnSpc>
                      </a:pPr>
                      <a:r>
                        <a:rPr sz="680" b="0">
                          <a:solidFill>
                            <a:srgbClr val="FEFEFF"/>
                          </a:solidFill>
                          <a:latin typeface="Ubuntu Mono"/>
                          <a:ea typeface="Ubuntu Mono"/>
                          <a:cs typeface="Ubuntu Mono"/>
                          <a:sym typeface="Ubuntu Mono"/>
                        </a:rPr>
                        <a:t>4-5/8 - 5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3-7/8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3-3/8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65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40"/>
                        </a:lnSpc>
                      </a:pPr>
                      <a:r>
                        <a:rPr sz="680" b="0">
                          <a:solidFill>
                            <a:srgbClr val="FEFEFF"/>
                          </a:solidFill>
                          <a:latin typeface="Ubuntu Mono"/>
                          <a:ea typeface="Ubuntu Mono"/>
                          <a:cs typeface="Ubuntu Mono"/>
                          <a:sym typeface="Ubuntu Mono"/>
                        </a:rPr>
                        <a:t>5-1/8 - 5-1/2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4-1/4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4-7/8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3-23/32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40"/>
                        </a:lnSpc>
                      </a:pPr>
                      <a:r>
                        <a:rPr sz="680" b="0">
                          <a:solidFill>
                            <a:srgbClr val="FEFEFF"/>
                          </a:solidFill>
                          <a:latin typeface="Ubuntu Mono"/>
                          <a:ea typeface="Ubuntu Mono"/>
                          <a:cs typeface="Ubuntu Mono"/>
                          <a:sym typeface="Ubuntu Mono"/>
                        </a:rPr>
                        <a:t>5-3/8 - 6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5-1/8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5-1/8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3-25/32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40"/>
                        </a:lnSpc>
                      </a:pPr>
                      <a:r>
                        <a:rPr sz="680" b="0">
                          <a:solidFill>
                            <a:srgbClr val="FEFEFF"/>
                          </a:solidFill>
                          <a:latin typeface="Ubuntu Mono"/>
                          <a:ea typeface="Ubuntu Mono"/>
                          <a:cs typeface="Ubuntu Mono"/>
                          <a:sym typeface="Ubuntu Mono"/>
                        </a:rPr>
                        <a:t>5-5/8 - 6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5-3/8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4-1/16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40"/>
                        </a:lnSpc>
                      </a:pPr>
                      <a:r>
                        <a:rPr sz="680" b="0">
                          <a:solidFill>
                            <a:srgbClr val="FEFEFF"/>
                          </a:solidFill>
                          <a:latin typeface="Ubuntu Mono"/>
                          <a:ea typeface="Ubuntu Mono"/>
                          <a:cs typeface="Ubuntu Mono"/>
                          <a:sym typeface="Ubuntu Mono"/>
                        </a:rPr>
                        <a:t>6-1/8 - 6-1/2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4-13/32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40"/>
                        </a:lnSpc>
                      </a:pPr>
                      <a:r>
                        <a:rPr sz="680" b="0">
                          <a:solidFill>
                            <a:srgbClr val="FEFEFF"/>
                          </a:solidFill>
                          <a:latin typeface="Ubuntu Mono"/>
                          <a:ea typeface="Ubuntu Mono"/>
                          <a:cs typeface="Ubuntu Mono"/>
                          <a:sym typeface="Ubuntu Mono"/>
                        </a:rPr>
                        <a:t>6-1/8 - 6-1/2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5-1/8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5-7/8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4-5/16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graphicFrame>
        <p:nvGraphicFramePr>
          <p:cNvPr id="23" name="Table 22"/>
          <p:cNvGraphicFramePr>
            <a:graphicFrameLocks noGrp="1"/>
          </p:cNvGraphicFramePr>
          <p:nvPr/>
        </p:nvGraphicFramePr>
        <p:xfrm>
          <a:off x="3848100" y="5181600"/>
          <a:ext cx="2997196" cy="1508760"/>
        </p:xfrm>
        <a:graphic>
          <a:graphicData uri="http://schemas.openxmlformats.org/drawingml/2006/table">
            <a:tbl>
              <a:tblPr/>
              <a:tblGrid>
                <a:gridCol w="761583"/>
                <a:gridCol w="466777"/>
                <a:gridCol w="442209"/>
                <a:gridCol w="565045"/>
                <a:gridCol w="343940"/>
                <a:gridCol w="417642"/>
              </a:tblGrid>
              <a:tr h="228600">
                <a:tc>
                  <a:txBody>
                    <a:bodyPr wrap="square"/>
                    <a:lstStyle/>
                    <a:p>
                      <a:pPr algn="ctr">
                        <a:lnSpc>
                          <a:spcPts val="840"/>
                        </a:lnSpc>
                      </a:pPr>
                      <a:r>
                        <a:rPr sz="680" b="1">
                          <a:solidFill>
                            <a:srgbClr val="FEFEFF"/>
                          </a:solidFill>
                          <a:latin typeface="Ubuntu Mono"/>
                          <a:ea typeface="Ubuntu Mono"/>
                          <a:cs typeface="Ubuntu Mono"/>
                          <a:sym typeface="Ubuntu Mono"/>
                        </a:rPr>
                        <a:t>Hole size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Barrel 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Shoe 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Max. fish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Teeth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Wt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42240">
                <a:tc>
                  <a:txBody>
                    <a:bodyPr wrap="square"/>
                    <a:lstStyle/>
                    <a:p>
                      <a:pPr algn="ctr">
                        <a:lnSpc>
                          <a:spcPts val="840"/>
                        </a:lnSpc>
                      </a:pPr>
                      <a:r>
                        <a:rPr sz="680" b="0">
                          <a:solidFill>
                            <a:srgbClr val="FEFEFF"/>
                          </a:solidFill>
                          <a:latin typeface="Ubuntu Mono"/>
                          <a:ea typeface="Ubuntu Mono"/>
                          <a:cs typeface="Ubuntu Mono"/>
                          <a:sym typeface="Ubuntu Mono"/>
                        </a:rPr>
                        <a:t>6-1/8 - 6-1/2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5-1/4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5-7/8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40"/>
                        </a:lnSpc>
                      </a:pPr>
                      <a:r>
                        <a:rPr sz="680" b="0">
                          <a:solidFill>
                            <a:srgbClr val="FEFEFF"/>
                          </a:solidFill>
                          <a:latin typeface="Ubuntu Mono"/>
                          <a:ea typeface="Ubuntu Mono"/>
                          <a:cs typeface="Ubuntu Mono"/>
                          <a:sym typeface="Ubuntu Mono"/>
                        </a:rPr>
                        <a:t>6-5/8 - 7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6-1/4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4-13/16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40"/>
                        </a:lnSpc>
                      </a:pPr>
                      <a:r>
                        <a:rPr sz="680" b="0">
                          <a:solidFill>
                            <a:srgbClr val="FEFEFF"/>
                          </a:solidFill>
                          <a:latin typeface="Ubuntu Mono"/>
                          <a:ea typeface="Ubuntu Mono"/>
                          <a:cs typeface="Ubuntu Mono"/>
                          <a:sym typeface="Ubuntu Mono"/>
                        </a:rPr>
                        <a:t>7-1/4 - 8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6-1/2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7-1/8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5-7/16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40"/>
                        </a:lnSpc>
                      </a:pPr>
                      <a:r>
                        <a:rPr sz="680" b="0">
                          <a:solidFill>
                            <a:srgbClr val="FEFEFF"/>
                          </a:solidFill>
                          <a:latin typeface="Ubuntu Mono"/>
                          <a:ea typeface="Ubuntu Mono"/>
                          <a:cs typeface="Ubuntu Mono"/>
                          <a:sym typeface="Ubuntu Mono"/>
                        </a:rPr>
                        <a:t>8-1/4 - 9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7-1/2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8-1/8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6-3/16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205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40"/>
                        </a:lnSpc>
                      </a:pPr>
                      <a:r>
                        <a:rPr sz="680" b="0">
                          <a:solidFill>
                            <a:srgbClr val="FEFEFF"/>
                          </a:solidFill>
                          <a:latin typeface="Ubuntu Mono"/>
                          <a:ea typeface="Ubuntu Mono"/>
                          <a:cs typeface="Ubuntu Mono"/>
                          <a:sym typeface="Ubuntu Mono"/>
                        </a:rPr>
                        <a:t>9-1/4 - 10-1/8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8-1/2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9-1/8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7-3/16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255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40"/>
                        </a:lnSpc>
                      </a:pPr>
                      <a:r>
                        <a:rPr sz="680" b="0">
                          <a:solidFill>
                            <a:srgbClr val="FEFEFF"/>
                          </a:solidFill>
                          <a:latin typeface="Ubuntu Mono"/>
                          <a:ea typeface="Ubuntu Mono"/>
                          <a:cs typeface="Ubuntu Mono"/>
                          <a:sym typeface="Ubuntu Mono"/>
                        </a:rPr>
                        <a:t>10-1/4 - 11-5/8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9-3/8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10-1/8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8-1/16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290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40"/>
                        </a:lnSpc>
                      </a:pPr>
                      <a:r>
                        <a:rPr sz="680" b="0">
                          <a:solidFill>
                            <a:srgbClr val="FEFEFF"/>
                          </a:solidFill>
                          <a:latin typeface="Ubuntu Mono"/>
                          <a:ea typeface="Ubuntu Mono"/>
                          <a:cs typeface="Ubuntu Mono"/>
                          <a:sym typeface="Ubuntu Mono"/>
                        </a:rPr>
                        <a:t>11-3/4 - 12-1/2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10-3/8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9-1/16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360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40"/>
                        </a:lnSpc>
                      </a:pPr>
                      <a:r>
                        <a:rPr sz="680" b="0">
                          <a:solidFill>
                            <a:srgbClr val="FEFEFF"/>
                          </a:solidFill>
                          <a:latin typeface="Ubuntu Mono"/>
                          <a:ea typeface="Ubuntu Mono"/>
                          <a:cs typeface="Ubuntu Mono"/>
                          <a:sym typeface="Ubuntu Mono"/>
                        </a:rPr>
                        <a:t>12-5/8 - 15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10-1/16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450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40"/>
                        </a:lnSpc>
                      </a:pPr>
                      <a:r>
                        <a:rPr sz="680" b="0">
                          <a:solidFill>
                            <a:srgbClr val="FEFEFF"/>
                          </a:solidFill>
                          <a:latin typeface="Ubuntu Mono"/>
                          <a:ea typeface="Ubuntu Mono"/>
                          <a:cs typeface="Ubuntu Mono"/>
                          <a:sym typeface="Ubuntu Mono"/>
                        </a:rPr>
                        <a:t>15 - 20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13-3/4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12-1/16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655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4" name="TextBox 23"/>
          <p:cNvSpPr txBox="1"/>
          <p:nvPr/>
        </p:nvSpPr>
        <p:spPr>
          <a:xfrm>
            <a:off x="711200" y="6728459"/>
            <a:ext cx="6134100" cy="114300"/>
          </a:xfrm>
          <a:prstGeom prst="rect">
            <a:avLst/>
          </a:prstGeom>
          <a:noFill/>
        </p:spPr>
        <p:txBody>
          <a:bodyPr wrap="square" lIns="0" rIns="0" tIns="0" bIns="0">
            <a:spAutoFit/>
          </a:bodyPr>
          <a:lstStyle/>
          <a:p>
            <a:pPr algn="l">
              <a:lnSpc>
                <a:spcPts val="740"/>
              </a:lnSpc>
              <a:spcAft>
                <a:spcPts val="0"/>
              </a:spcAft>
            </a:pPr>
            <a:r>
              <a:rPr sz="620" b="0">
                <a:solidFill>
                  <a:srgbClr val="444444"/>
                </a:solidFill>
                <a:latin typeface="Ubuntu Mono"/>
                <a:ea typeface="Ubuntu Mono"/>
                <a:cs typeface="Ubuntu Mono"/>
                <a:sym typeface="Ubuntu Mono"/>
              </a:rPr>
              <a:t>Dimensions in inches, weights in lb (approximate). Shoes should be at least 1/8 in. over the barrel size.</a:t>
            </a:r>
          </a:p>
        </p:txBody>
      </p:sp>
      <p:pic>
        <p:nvPicPr>
          <p:cNvPr id="25" name="Picture 24" descr="junk_tool_blue.png"/>
          <p:cNvPicPr>
            <a:picLocks noChangeAspect="1"/>
          </p:cNvPicPr>
          <p:nvPr/>
        </p:nvPicPr>
        <p:blipFill>
          <a:blip r:embed="rId4"/>
          <a:stretch>
            <a:fillRect/>
          </a:stretch>
        </p:blipFill>
        <p:spPr>
          <a:xfrm>
            <a:off x="711200" y="6944359"/>
            <a:ext cx="584188" cy="3048000"/>
          </a:xfrm>
          <a:prstGeom prst="rect">
            <a:avLst/>
          </a:prstGeom>
        </p:spPr>
      </p:pic>
      <p:sp>
        <p:nvSpPr>
          <p:cNvPr id="26" name="TextBox 25"/>
          <p:cNvSpPr txBox="1"/>
          <p:nvPr/>
        </p:nvSpPr>
        <p:spPr>
          <a:xfrm>
            <a:off x="1346200" y="6918959"/>
            <a:ext cx="2603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7" name="TextBox 26"/>
          <p:cNvSpPr txBox="1"/>
          <p:nvPr/>
        </p:nvSpPr>
        <p:spPr>
          <a:xfrm>
            <a:off x="1346200" y="7122159"/>
            <a:ext cx="2641600" cy="127000"/>
          </a:xfrm>
          <a:prstGeom prst="rect">
            <a:avLst/>
          </a:prstGeom>
          <a:noFill/>
        </p:spPr>
        <p:txBody>
          <a:bodyPr wrap="square" lIns="0" rIns="0" tIns="0" bIns="0">
            <a:spAutoFit/>
          </a:bodyPr>
          <a:lstStyle/>
          <a:p>
            <a:pPr algn="l">
              <a:lnSpc>
                <a:spcPts val="850"/>
              </a:lnSpc>
              <a:spcAft>
                <a:spcPts val="200"/>
              </a:spcAft>
            </a:pPr>
            <a:r>
              <a:rPr sz="540" b="0">
                <a:solidFill>
                  <a:srgbClr val="01ADEE"/>
                </a:solidFill>
                <a:latin typeface="Ubuntu Mono"/>
                <a:ea typeface="Ubuntu Mono"/>
                <a:cs typeface="Ubuntu Mono"/>
                <a:sym typeface="Ubuntu Mono"/>
              </a:rPr>
              <a:t>■ </a:t>
            </a:r>
            <a:r>
              <a:rPr sz="690" b="1">
                <a:solidFill>
                  <a:srgbClr val="000000"/>
                </a:solidFill>
                <a:latin typeface="Ubuntu Mono"/>
                <a:ea typeface="Ubuntu Mono"/>
                <a:cs typeface="Ubuntu Mono"/>
                <a:sym typeface="Ubuntu Mono"/>
              </a:rPr>
              <a:t>Double catchers: </a:t>
            </a:r>
            <a:r>
              <a:rPr sz="690" b="0">
                <a:solidFill>
                  <a:srgbClr val="000000"/>
                </a:solidFill>
                <a:latin typeface="Ubuntu Mono"/>
                <a:ea typeface="Ubuntu Mono"/>
                <a:cs typeface="Ubuntu Mono"/>
                <a:sym typeface="Ubuntu Mono"/>
              </a:rPr>
              <a:t>the upper fingers reach half way to the centre and break the core on pull; the lower catcher has alternating long and short fingers forming a close-fitting basket.</a:t>
            </a:r>
          </a:p>
          <a:p>
            <a:pPr algn="l">
              <a:lnSpc>
                <a:spcPts val="850"/>
              </a:lnSpc>
              <a:spcAft>
                <a:spcPts val="200"/>
              </a:spcAft>
            </a:pPr>
            <a:r>
              <a:rPr sz="540" b="0">
                <a:solidFill>
                  <a:srgbClr val="01ADEE"/>
                </a:solidFill>
                <a:latin typeface="Ubuntu Mono"/>
                <a:ea typeface="Ubuntu Mono"/>
                <a:cs typeface="Ubuntu Mono"/>
                <a:sym typeface="Ubuntu Mono"/>
              </a:rPr>
              <a:t>■ </a:t>
            </a:r>
            <a:r>
              <a:rPr sz="690" b="1">
                <a:solidFill>
                  <a:srgbClr val="000000"/>
                </a:solidFill>
                <a:latin typeface="Ubuntu Mono"/>
                <a:ea typeface="Ubuntu Mono"/>
                <a:cs typeface="Ubuntu Mono"/>
                <a:sym typeface="Ubuntu Mono"/>
              </a:rPr>
              <a:t>Free-revolving catchers: </a:t>
            </a:r>
            <a:r>
              <a:rPr sz="690" b="0">
                <a:solidFill>
                  <a:srgbClr val="000000"/>
                </a:solidFill>
                <a:latin typeface="Ubuntu Mono"/>
                <a:ea typeface="Ubuntu Mono"/>
                <a:cs typeface="Ubuntu Mono"/>
                <a:sym typeface="Ubuntu Mono"/>
              </a:rPr>
              <a:t>spin inside the shoe, which prevents finger breakage.</a:t>
            </a:r>
          </a:p>
          <a:p>
            <a:pPr algn="l">
              <a:lnSpc>
                <a:spcPts val="850"/>
              </a:lnSpc>
              <a:spcAft>
                <a:spcPts val="200"/>
              </a:spcAft>
            </a:pPr>
            <a:r>
              <a:rPr sz="540" b="0">
                <a:solidFill>
                  <a:srgbClr val="01ADEE"/>
                </a:solidFill>
                <a:latin typeface="Ubuntu Mono"/>
                <a:ea typeface="Ubuntu Mono"/>
                <a:cs typeface="Ubuntu Mono"/>
                <a:sym typeface="Ubuntu Mono"/>
              </a:rPr>
              <a:t>■ </a:t>
            </a:r>
            <a:r>
              <a:rPr sz="690" b="1">
                <a:solidFill>
                  <a:srgbClr val="000000"/>
                </a:solidFill>
                <a:latin typeface="Ubuntu Mono"/>
                <a:ea typeface="Ubuntu Mono"/>
                <a:cs typeface="Ubuntu Mono"/>
                <a:sym typeface="Ubuntu Mono"/>
              </a:rPr>
              <a:t>Rivet-free catchers: </a:t>
            </a:r>
            <a:r>
              <a:rPr sz="690" b="0">
                <a:solidFill>
                  <a:srgbClr val="000000"/>
                </a:solidFill>
                <a:latin typeface="Ubuntu Mono"/>
                <a:ea typeface="Ubuntu Mono"/>
                <a:cs typeface="Ubuntu Mono"/>
                <a:sym typeface="Ubuntu Mono"/>
              </a:rPr>
              <a:t>manganese bronze or steel fingers, redressed easily on location.</a:t>
            </a:r>
          </a:p>
          <a:p>
            <a:pPr algn="l">
              <a:lnSpc>
                <a:spcPts val="850"/>
              </a:lnSpc>
              <a:spcAft>
                <a:spcPts val="200"/>
              </a:spcAft>
            </a:pPr>
            <a:r>
              <a:rPr sz="540" b="0">
                <a:solidFill>
                  <a:srgbClr val="01ADEE"/>
                </a:solidFill>
                <a:latin typeface="Ubuntu Mono"/>
                <a:ea typeface="Ubuntu Mono"/>
                <a:cs typeface="Ubuntu Mono"/>
                <a:sym typeface="Ubuntu Mono"/>
              </a:rPr>
              <a:t>■ </a:t>
            </a:r>
            <a:r>
              <a:rPr sz="690" b="1">
                <a:solidFill>
                  <a:srgbClr val="000000"/>
                </a:solidFill>
                <a:latin typeface="Ubuntu Mono"/>
                <a:ea typeface="Ubuntu Mono"/>
                <a:cs typeface="Ubuntu Mono"/>
                <a:sym typeface="Ubuntu Mono"/>
              </a:rPr>
              <a:t>Magnet insert: </a:t>
            </a:r>
            <a:r>
              <a:rPr sz="690" b="0">
                <a:solidFill>
                  <a:srgbClr val="000000"/>
                </a:solidFill>
                <a:latin typeface="Ubuntu Mono"/>
                <a:ea typeface="Ubuntu Mono"/>
                <a:cs typeface="Ubuntu Mono"/>
                <a:sym typeface="Ubuntu Mono"/>
              </a:rPr>
              <a:t>replaces the two catchers and turns the basket into a fishing magnet, useful in hard formations or to clean the hole before diamond drilling.</a:t>
            </a:r>
          </a:p>
        </p:txBody>
      </p:sp>
      <p:sp>
        <p:nvSpPr>
          <p:cNvPr id="28" name="TextBox 27"/>
          <p:cNvSpPr txBox="1"/>
          <p:nvPr/>
        </p:nvSpPr>
        <p:spPr>
          <a:xfrm>
            <a:off x="1346200" y="8722360"/>
            <a:ext cx="2603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SHOE SELECTION</a:t>
            </a:r>
          </a:p>
        </p:txBody>
      </p:sp>
      <p:sp>
        <p:nvSpPr>
          <p:cNvPr id="29" name="TextBox 28"/>
          <p:cNvSpPr txBox="1"/>
          <p:nvPr/>
        </p:nvSpPr>
        <p:spPr>
          <a:xfrm>
            <a:off x="1346200" y="8925560"/>
            <a:ext cx="2641600" cy="127000"/>
          </a:xfrm>
          <a:prstGeom prst="rect">
            <a:avLst/>
          </a:prstGeom>
          <a:noFill/>
        </p:spPr>
        <p:txBody>
          <a:bodyPr wrap="square" lIns="0" rIns="0" tIns="0" bIns="0">
            <a:spAutoFit/>
          </a:bodyPr>
          <a:lstStyle/>
          <a:p>
            <a:pPr algn="l">
              <a:lnSpc>
                <a:spcPts val="850"/>
              </a:lnSpc>
              <a:spcAft>
                <a:spcPts val="200"/>
              </a:spcAft>
            </a:pPr>
            <a:r>
              <a:rPr sz="540" b="0">
                <a:solidFill>
                  <a:srgbClr val="01ADEE"/>
                </a:solidFill>
                <a:latin typeface="Ubuntu Mono"/>
                <a:ea typeface="Ubuntu Mono"/>
                <a:cs typeface="Ubuntu Mono"/>
                <a:sym typeface="Ubuntu Mono"/>
              </a:rPr>
              <a:t>■ </a:t>
            </a:r>
            <a:r>
              <a:rPr sz="690" b="1">
                <a:solidFill>
                  <a:srgbClr val="000000"/>
                </a:solidFill>
                <a:latin typeface="Ubuntu Mono"/>
                <a:ea typeface="Ubuntu Mono"/>
                <a:cs typeface="Ubuntu Mono"/>
                <a:sym typeface="Ubuntu Mono"/>
              </a:rPr>
              <a:t>Type A mill shoe: </a:t>
            </a:r>
            <a:r>
              <a:rPr sz="690" b="0">
                <a:solidFill>
                  <a:srgbClr val="000000"/>
                </a:solidFill>
                <a:latin typeface="Ubuntu Mono"/>
                <a:ea typeface="Ubuntu Mono"/>
                <a:cs typeface="Ubuntu Mono"/>
                <a:sym typeface="Ubuntu Mono"/>
              </a:rPr>
              <a:t>side wings, hard metal facing; standard, for soft formations and loose fish.</a:t>
            </a:r>
          </a:p>
          <a:p>
            <a:pPr algn="l">
              <a:lnSpc>
                <a:spcPts val="850"/>
              </a:lnSpc>
              <a:spcAft>
                <a:spcPts val="200"/>
              </a:spcAft>
            </a:pPr>
            <a:r>
              <a:rPr sz="540" b="0">
                <a:solidFill>
                  <a:srgbClr val="01ADEE"/>
                </a:solidFill>
                <a:latin typeface="Ubuntu Mono"/>
                <a:ea typeface="Ubuntu Mono"/>
                <a:cs typeface="Ubuntu Mono"/>
                <a:sym typeface="Ubuntu Mono"/>
              </a:rPr>
              <a:t>■ </a:t>
            </a:r>
            <a:r>
              <a:rPr sz="690" b="1">
                <a:solidFill>
                  <a:srgbClr val="000000"/>
                </a:solidFill>
                <a:latin typeface="Ubuntu Mono"/>
                <a:ea typeface="Ubuntu Mono"/>
                <a:cs typeface="Ubuntu Mono"/>
                <a:sym typeface="Ubuntu Mono"/>
              </a:rPr>
              <a:t>Type B mill shoe: </a:t>
            </a:r>
            <a:r>
              <a:rPr sz="690" b="0">
                <a:solidFill>
                  <a:srgbClr val="000000"/>
                </a:solidFill>
                <a:latin typeface="Ubuntu Mono"/>
                <a:ea typeface="Ubuntu Mono"/>
                <a:cs typeface="Ubuntu Mono"/>
                <a:sym typeface="Ubuntu Mono"/>
              </a:rPr>
              <a:t>hard-faced with sintered tungsten carbide, for hard formations.</a:t>
            </a:r>
          </a:p>
          <a:p>
            <a:pPr algn="l">
              <a:lnSpc>
                <a:spcPts val="850"/>
              </a:lnSpc>
              <a:spcAft>
                <a:spcPts val="200"/>
              </a:spcAft>
            </a:pPr>
            <a:r>
              <a:rPr sz="540" b="0">
                <a:solidFill>
                  <a:srgbClr val="01ADEE"/>
                </a:solidFill>
                <a:latin typeface="Ubuntu Mono"/>
                <a:ea typeface="Ubuntu Mono"/>
                <a:cs typeface="Ubuntu Mono"/>
                <a:sym typeface="Ubuntu Mono"/>
              </a:rPr>
              <a:t>■ </a:t>
            </a:r>
            <a:r>
              <a:rPr sz="690" b="1">
                <a:solidFill>
                  <a:srgbClr val="000000"/>
                </a:solidFill>
                <a:latin typeface="Ubuntu Mono"/>
                <a:ea typeface="Ubuntu Mono"/>
                <a:cs typeface="Ubuntu Mono"/>
                <a:sym typeface="Ubuntu Mono"/>
              </a:rPr>
              <a:t>Type C mill shoe: </a:t>
            </a:r>
            <a:r>
              <a:rPr sz="690" b="0">
                <a:solidFill>
                  <a:srgbClr val="000000"/>
                </a:solidFill>
                <a:latin typeface="Ubuntu Mono"/>
                <a:ea typeface="Ubuntu Mono"/>
                <a:cs typeface="Ubuntu Mono"/>
                <a:sym typeface="Ubuntu Mono"/>
              </a:rPr>
              <a:t>flat bottom, hard-faced on bottom, inner and outer faces; cuts cores and burns metal.</a:t>
            </a:r>
          </a:p>
          <a:p>
            <a:pPr algn="l">
              <a:lnSpc>
                <a:spcPts val="850"/>
              </a:lnSpc>
              <a:spcAft>
                <a:spcPts val="200"/>
              </a:spcAft>
            </a:pPr>
            <a:r>
              <a:rPr sz="540" b="0">
                <a:solidFill>
                  <a:srgbClr val="01ADEE"/>
                </a:solidFill>
                <a:latin typeface="Ubuntu Mono"/>
                <a:ea typeface="Ubuntu Mono"/>
                <a:cs typeface="Ubuntu Mono"/>
                <a:sym typeface="Ubuntu Mono"/>
              </a:rPr>
              <a:t>■ </a:t>
            </a:r>
            <a:r>
              <a:rPr sz="690" b="1">
                <a:solidFill>
                  <a:srgbClr val="000000"/>
                </a:solidFill>
                <a:latin typeface="Ubuntu Mono"/>
                <a:ea typeface="Ubuntu Mono"/>
                <a:cs typeface="Ubuntu Mono"/>
                <a:sym typeface="Ubuntu Mono"/>
              </a:rPr>
              <a:t>Finger shoe: </a:t>
            </a:r>
            <a:r>
              <a:rPr sz="690" b="0">
                <a:solidFill>
                  <a:srgbClr val="000000"/>
                </a:solidFill>
                <a:latin typeface="Ubuntu Mono"/>
                <a:ea typeface="Ubuntu Mono"/>
                <a:cs typeface="Ubuntu Mono"/>
                <a:sym typeface="Ubuntu Mono"/>
              </a:rPr>
              <a:t>for large, loose junk or junk too big for the catchers.</a:t>
            </a:r>
          </a:p>
        </p:txBody>
      </p:sp>
      <p:sp>
        <p:nvSpPr>
          <p:cNvPr id="30" name="TextBox 29"/>
          <p:cNvSpPr txBox="1"/>
          <p:nvPr/>
        </p:nvSpPr>
        <p:spPr>
          <a:xfrm>
            <a:off x="4089400" y="6918959"/>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OPERATING PARAMETERS</a:t>
            </a:r>
          </a:p>
        </p:txBody>
      </p:sp>
      <p:graphicFrame>
        <p:nvGraphicFramePr>
          <p:cNvPr id="31" name="Table 30"/>
          <p:cNvGraphicFramePr>
            <a:graphicFrameLocks noGrp="1"/>
          </p:cNvGraphicFramePr>
          <p:nvPr/>
        </p:nvGraphicFramePr>
        <p:xfrm>
          <a:off x="4089400" y="7122159"/>
          <a:ext cx="2755900" cy="1117600"/>
        </p:xfrm>
        <a:graphic>
          <a:graphicData uri="http://schemas.openxmlformats.org/drawingml/2006/table">
            <a:tbl>
              <a:tblPr/>
              <a:tblGrid>
                <a:gridCol w="787400"/>
                <a:gridCol w="1968500"/>
              </a:tblGrid>
              <a:tr h="279400">
                <a:tc>
                  <a:txBody>
                    <a:bodyPr wrap="square"/>
                    <a:lstStyle/>
                    <a:p>
                      <a:pPr algn="l">
                        <a:lnSpc>
                          <a:spcPts val="800"/>
                        </a:lnSpc>
                      </a:pPr>
                      <a:r>
                        <a:rPr sz="640" b="0">
                          <a:solidFill>
                            <a:srgbClr val="FEFEFF"/>
                          </a:solidFill>
                          <a:latin typeface="Ubuntu Mono"/>
                          <a:ea typeface="Ubuntu Mono"/>
                          <a:cs typeface="Ubuntu Mono"/>
                          <a:sym typeface="Ubuntu Mono"/>
                        </a:rPr>
                        <a:t>Approach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00"/>
                        </a:lnSpc>
                      </a:pPr>
                      <a:r>
                        <a:rPr sz="640" b="0">
                          <a:solidFill>
                            <a:srgbClr val="000000"/>
                          </a:solidFill>
                          <a:latin typeface="Ubuntu Mono"/>
                          <a:ea typeface="Ubuntu Mono"/>
                          <a:cs typeface="Ubuntu Mono"/>
                          <a:sym typeface="Ubuntu Mono"/>
                        </a:rPr>
                        <a:t>Start circulation at reduced pressure just before bottom, rotate and lower slowly onto the fish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279400">
                <a:tc>
                  <a:txBody>
                    <a:bodyPr wrap="square"/>
                    <a:lstStyle/>
                    <a:p>
                      <a:pPr algn="l">
                        <a:lnSpc>
                          <a:spcPts val="800"/>
                        </a:lnSpc>
                      </a:pPr>
                      <a:r>
                        <a:rPr sz="640" b="0">
                          <a:solidFill>
                            <a:srgbClr val="FEFEFF"/>
                          </a:solidFill>
                          <a:latin typeface="Ubuntu Mono"/>
                          <a:ea typeface="Ubuntu Mono"/>
                          <a:cs typeface="Ubuntu Mono"/>
                          <a:sym typeface="Ubuntu Mono"/>
                        </a:rPr>
                        <a:t>Mill shoes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00"/>
                        </a:lnSpc>
                      </a:pPr>
                      <a:r>
                        <a:rPr sz="640" b="0">
                          <a:solidFill>
                            <a:srgbClr val="000000"/>
                          </a:solidFill>
                          <a:latin typeface="Ubuntu Mono"/>
                          <a:ea typeface="Ubuntu Mono"/>
                          <a:cs typeface="Ubuntu Mono"/>
                          <a:sym typeface="Ubuntu Mono"/>
                        </a:rPr>
                        <a:t>1 ton on bottom, 50 - 150 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279400">
                <a:tc>
                  <a:txBody>
                    <a:bodyPr wrap="square"/>
                    <a:lstStyle/>
                    <a:p>
                      <a:pPr algn="l">
                        <a:lnSpc>
                          <a:spcPts val="800"/>
                        </a:lnSpc>
                      </a:pPr>
                      <a:r>
                        <a:rPr sz="640" b="0">
                          <a:solidFill>
                            <a:srgbClr val="FEFEFF"/>
                          </a:solidFill>
                          <a:latin typeface="Ubuntu Mono"/>
                          <a:ea typeface="Ubuntu Mono"/>
                          <a:cs typeface="Ubuntu Mono"/>
                          <a:sym typeface="Ubuntu Mono"/>
                        </a:rPr>
                        <a:t>Finger shoes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00"/>
                        </a:lnSpc>
                      </a:pPr>
                      <a:r>
                        <a:rPr sz="640" b="0">
                          <a:solidFill>
                            <a:srgbClr val="000000"/>
                          </a:solidFill>
                          <a:latin typeface="Ubuntu Mono"/>
                          <a:ea typeface="Ubuntu Mono"/>
                          <a:cs typeface="Ubuntu Mono"/>
                          <a:sym typeface="Ubuntu Mono"/>
                        </a:rPr>
                        <a:t>Rotate and lower slowly to about 2 tons on bottom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279400">
                <a:tc>
                  <a:txBody>
                    <a:bodyPr wrap="square"/>
                    <a:lstStyle/>
                    <a:p>
                      <a:pPr algn="l">
                        <a:lnSpc>
                          <a:spcPts val="800"/>
                        </a:lnSpc>
                      </a:pPr>
                      <a:r>
                        <a:rPr sz="640" b="0">
                          <a:solidFill>
                            <a:srgbClr val="FEFEFF"/>
                          </a:solidFill>
                          <a:latin typeface="Ubuntu Mono"/>
                          <a:ea typeface="Ubuntu Mono"/>
                          <a:cs typeface="Ubuntu Mono"/>
                          <a:sym typeface="Ubuntu Mono"/>
                        </a:rPr>
                        <a:t>Breaking the core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00"/>
                        </a:lnSpc>
                      </a:pPr>
                      <a:r>
                        <a:rPr sz="640" b="0">
                          <a:solidFill>
                            <a:srgbClr val="000000"/>
                          </a:solidFill>
                          <a:latin typeface="Ubuntu Mono"/>
                          <a:ea typeface="Ubuntu Mono"/>
                          <a:cs typeface="Ubuntu Mono"/>
                          <a:sym typeface="Ubuntu Mono"/>
                        </a:rPr>
                        <a:t>Stop rotation and circulation, release torque, take an upward pull; a hydraulic jar above helps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32" name="TextBox 31"/>
          <p:cNvSpPr txBox="1"/>
          <p:nvPr/>
        </p:nvSpPr>
        <p:spPr>
          <a:xfrm>
            <a:off x="4089400" y="8519160"/>
            <a:ext cx="2755900" cy="381000"/>
          </a:xfrm>
          <a:prstGeom prst="rect">
            <a:avLst/>
          </a:prstGeom>
          <a:noFill/>
        </p:spPr>
        <p:txBody>
          <a:bodyPr wrap="square" lIns="0" rIns="0" tIns="0" bIns="0">
            <a:spAutoFit/>
          </a:bodyPr>
          <a:lstStyle/>
          <a:p>
            <a:pPr algn="just">
              <a:lnSpc>
                <a:spcPts val="819"/>
              </a:lnSpc>
              <a:spcAft>
                <a:spcPts val="0"/>
              </a:spcAft>
            </a:pPr>
            <a:r>
              <a:rPr sz="660" b="0">
                <a:solidFill>
                  <a:srgbClr val="000000"/>
                </a:solidFill>
                <a:latin typeface="Ubuntu Mono"/>
                <a:ea typeface="Ubuntu Mono"/>
                <a:cs typeface="Ubuntu Mono"/>
                <a:sym typeface="Ubuntu Mono"/>
              </a:rPr>
              <a:t>After use, disassemble, clean and lubricate all internal parts, inspect catcher fingers and springs, and paint or grease the outside.</a:t>
            </a:r>
          </a:p>
        </p:txBody>
      </p:sp>
      <p:sp>
        <p:nvSpPr>
          <p:cNvPr id="33" name="TextBox 32"/>
          <p:cNvSpPr txBox="1"/>
          <p:nvPr/>
        </p:nvSpPr>
        <p:spPr>
          <a:xfrm>
            <a:off x="4089400" y="890016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4" name="TextBox 33"/>
          <p:cNvSpPr txBox="1"/>
          <p:nvPr/>
        </p:nvSpPr>
        <p:spPr>
          <a:xfrm>
            <a:off x="4089400" y="9090660"/>
            <a:ext cx="2755900" cy="635000"/>
          </a:xfrm>
          <a:prstGeom prst="rect">
            <a:avLst/>
          </a:prstGeom>
          <a:noFill/>
        </p:spPr>
        <p:txBody>
          <a:bodyPr wrap="square" lIns="0" rIns="0" tIns="0" bIns="0">
            <a:spAutoFit/>
          </a:bodyPr>
          <a:lstStyle/>
          <a:p>
            <a:pPr algn="just">
              <a:lnSpc>
                <a:spcPts val="819"/>
              </a:lnSpc>
              <a:spcAft>
                <a:spcPts val="0"/>
              </a:spcAft>
            </a:pPr>
            <a:r>
              <a:rPr sz="660" b="0">
                <a:solidFill>
                  <a:srgbClr val="000000"/>
                </a:solidFill>
                <a:latin typeface="Ubuntu Mono"/>
                <a:ea typeface="Ubuntu Mono"/>
                <a:cs typeface="Ubuntu Mono"/>
                <a:sym typeface="Ubuntu Mono"/>
              </a:rPr>
              <a:t>Please specify: 1. tool name and size  2. OD and type of shoe  3. top connection, if other than standard  4. recommended spares: 2 upper catchers, 2 lower catchers, 3 mill shoes, 2 finger shoes, 4 finger shoe replacements.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VENTURI BASKET</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FISHING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VENTURI JUNK BASKET</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JUNK RETRIEVAL TOOL FOR COILED TUBING. FLUID PUMPED THROUGH THE STRING AND OUT OF NOZZLES IN THE VENTURI CHAMBER CREATES A VACUUM THAT DRAWS FLUID AND DEBRIS IN AT THE BOTTOM OF THE TOOL AND BACK UP THROUGH THE VENTURI TUBES; MOST OF IT MIXES WITH THE PRESSURIZED FLOW AND RECIRCULATES AROUND THE BOTTOM. IN EFFECT A HIGH-POWERED VACUUM CLEANER, IT WORKS WITH FLUID, MULTIPHASE FLUID, FOAM OR GAS. A HOLLOW MAGNETIC SECTION WITH A FINGER-TYPE TRAP HOLDS THE JUNK INSIDE THE TOOL, AND IT DOES NOT DEPEND ON HOLE SIZE: A 3-1/8 IN. OD TOOL CAN CLEAN UP 7 IN. CASING.</a:t>
            </a:r>
          </a:p>
        </p:txBody>
      </p:sp>
      <p:sp>
        <p:nvSpPr>
          <p:cNvPr id="21" name="TextBox 20"/>
          <p:cNvSpPr txBox="1"/>
          <p:nvPr/>
        </p:nvSpPr>
        <p:spPr>
          <a:xfrm>
            <a:off x="711200" y="49784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181600"/>
          <a:ext cx="6134100" cy="1132840"/>
        </p:xfrm>
        <a:graphic>
          <a:graphicData uri="http://schemas.openxmlformats.org/drawingml/2006/table">
            <a:tbl>
              <a:tblPr/>
              <a:tblGrid>
                <a:gridCol w="1051560"/>
                <a:gridCol w="876300"/>
                <a:gridCol w="1752600"/>
                <a:gridCol w="1051560"/>
                <a:gridCol w="1402080"/>
              </a:tblGrid>
              <a:tr h="203200">
                <a:tc>
                  <a:txBody>
                    <a:bodyPr wrap="square"/>
                    <a:lstStyle/>
                    <a:p>
                      <a:pPr algn="ctr">
                        <a:lnSpc>
                          <a:spcPts val="880"/>
                        </a:lnSpc>
                      </a:pPr>
                      <a:r>
                        <a:rPr sz="720" b="1">
                          <a:solidFill>
                            <a:srgbClr val="FEFEFF"/>
                          </a:solidFill>
                          <a:latin typeface="Ubuntu Mono"/>
                          <a:ea typeface="Ubuntu Mono"/>
                          <a:cs typeface="Ubuntu Mono"/>
                          <a:sym typeface="Ubuntu Mono"/>
                        </a:rPr>
                        <a:t>Size (OD)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ID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Top connection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Tensile strength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54940">
                <a:tc>
                  <a:txBody>
                    <a:bodyPr wrap="square"/>
                    <a:lstStyle/>
                    <a:p>
                      <a:pPr algn="ctr">
                        <a:lnSpc>
                          <a:spcPts val="880"/>
                        </a:lnSpc>
                      </a:pPr>
                      <a:r>
                        <a:rPr sz="720" b="0">
                          <a:solidFill>
                            <a:srgbClr val="FEFEFF"/>
                          </a:solidFill>
                          <a:latin typeface="Ubuntu Mono"/>
                          <a:ea typeface="Ubuntu Mono"/>
                          <a:cs typeface="Ubuntu Mono"/>
                          <a:sym typeface="Ubuntu Mono"/>
                        </a:rPr>
                        <a:t>1-3/4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0.469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 AMMT box</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36,000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4940">
                <a:tc>
                  <a:txBody>
                    <a:bodyPr wrap="square"/>
                    <a:lstStyle/>
                    <a:p>
                      <a:pPr algn="ctr">
                        <a:lnSpc>
                          <a:spcPts val="880"/>
                        </a:lnSpc>
                      </a:pPr>
                      <a:r>
                        <a:rPr sz="720" b="0">
                          <a:solidFill>
                            <a:srgbClr val="FEFEFF"/>
                          </a:solidFill>
                          <a:latin typeface="Ubuntu Mono"/>
                          <a:ea typeface="Ubuntu Mono"/>
                          <a:cs typeface="Ubuntu Mono"/>
                          <a:sym typeface="Ubuntu Mono"/>
                        </a:rPr>
                        <a:t>2-1/16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1-1/2 AMMT box</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45,840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4940">
                <a:tc>
                  <a:txBody>
                    <a:bodyPr wrap="square"/>
                    <a:lstStyle/>
                    <a:p>
                      <a:pPr algn="ctr">
                        <a:lnSpc>
                          <a:spcPts val="880"/>
                        </a:lnSpc>
                      </a:pPr>
                      <a:r>
                        <a:rPr sz="720" b="0">
                          <a:solidFill>
                            <a:srgbClr val="FEFEFF"/>
                          </a:solidFill>
                          <a:latin typeface="Ubuntu Mono"/>
                          <a:ea typeface="Ubuntu Mono"/>
                          <a:cs typeface="Ubuntu Mono"/>
                          <a:sym typeface="Ubuntu Mono"/>
                        </a:rPr>
                        <a:t>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1-1/2 AMMT box</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45,840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4940">
                <a:tc>
                  <a:txBody>
                    <a:bodyPr wrap="square"/>
                    <a:lstStyle/>
                    <a:p>
                      <a:pPr algn="ctr">
                        <a:lnSpc>
                          <a:spcPts val="880"/>
                        </a:lnSpc>
                      </a:pPr>
                      <a:r>
                        <a:rPr sz="720" b="0">
                          <a:solidFill>
                            <a:srgbClr val="FEFEFF"/>
                          </a:solidFill>
                          <a:latin typeface="Ubuntu Mono"/>
                          <a:ea typeface="Ubuntu Mono"/>
                          <a:cs typeface="Ubuntu Mono"/>
                          <a:sym typeface="Ubuntu Mono"/>
                        </a:rPr>
                        <a:t>2-5/8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1-1/2 AMMT box</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45,840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4940">
                <a:tc>
                  <a:txBody>
                    <a:bodyPr wrap="square"/>
                    <a:lstStyle/>
                    <a:p>
                      <a:pPr algn="ctr">
                        <a:lnSpc>
                          <a:spcPts val="880"/>
                        </a:lnSpc>
                      </a:pPr>
                      <a:r>
                        <a:rPr sz="720" b="0">
                          <a:solidFill>
                            <a:srgbClr val="FEFEFF"/>
                          </a:solidFill>
                          <a:latin typeface="Ubuntu Mono"/>
                          <a:ea typeface="Ubuntu Mono"/>
                          <a:cs typeface="Ubuntu Mono"/>
                          <a:sym typeface="Ubuntu Mono"/>
                        </a:rPr>
                        <a:t>3-1/8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2-3/8 PAC pin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109,600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4940">
                <a:tc>
                  <a:txBody>
                    <a:bodyPr wrap="square"/>
                    <a:lstStyle/>
                    <a:p>
                      <a:pPr algn="ctr">
                        <a:lnSpc>
                          <a:spcPts val="880"/>
                        </a:lnSpc>
                      </a:pPr>
                      <a:r>
                        <a:rPr sz="720" b="0">
                          <a:solidFill>
                            <a:srgbClr val="FEFEFF"/>
                          </a:solidFill>
                          <a:latin typeface="Ubuntu Mono"/>
                          <a:ea typeface="Ubuntu Mono"/>
                          <a:cs typeface="Ubuntu Mono"/>
                          <a:sym typeface="Ubuntu Mono"/>
                        </a:rPr>
                        <a:t>3-1/8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2-3/8 REG box</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109,600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3" name="TextBox 22"/>
          <p:cNvSpPr txBox="1"/>
          <p:nvPr/>
        </p:nvSpPr>
        <p:spPr>
          <a:xfrm>
            <a:off x="711200" y="6352540"/>
            <a:ext cx="6134100" cy="114300"/>
          </a:xfrm>
          <a:prstGeom prst="rect">
            <a:avLst/>
          </a:prstGeom>
          <a:noFill/>
        </p:spPr>
        <p:txBody>
          <a:bodyPr wrap="square" lIns="0" rIns="0" tIns="0" bIns="0">
            <a:spAutoFit/>
          </a:bodyPr>
          <a:lstStyle/>
          <a:p>
            <a:pPr algn="l">
              <a:lnSpc>
                <a:spcPts val="740"/>
              </a:lnSpc>
              <a:spcAft>
                <a:spcPts val="0"/>
              </a:spcAft>
            </a:pPr>
            <a:r>
              <a:rPr sz="620" b="0">
                <a:solidFill>
                  <a:srgbClr val="444444"/>
                </a:solidFill>
                <a:latin typeface="Ubuntu Mono"/>
                <a:ea typeface="Ubuntu Mono"/>
                <a:cs typeface="Ubuntu Mono"/>
                <a:sym typeface="Ubuntu Mono"/>
              </a:rPr>
              <a:t>Dimensions in inches. All sizes: operating pressure 5,000 psi, temperature rating 0 to 350 F, standard nozzle 0.062 in.</a:t>
            </a:r>
          </a:p>
        </p:txBody>
      </p:sp>
      <p:pic>
        <p:nvPicPr>
          <p:cNvPr id="24" name="Picture 23" descr="venturi_tool_blue.png"/>
          <p:cNvPicPr>
            <a:picLocks noChangeAspect="1"/>
          </p:cNvPicPr>
          <p:nvPr/>
        </p:nvPicPr>
        <p:blipFill>
          <a:blip r:embed="rId4"/>
          <a:stretch>
            <a:fillRect/>
          </a:stretch>
        </p:blipFill>
        <p:spPr>
          <a:xfrm>
            <a:off x="711200" y="6756400"/>
            <a:ext cx="313191" cy="3683000"/>
          </a:xfrm>
          <a:prstGeom prst="rect">
            <a:avLst/>
          </a:prstGeom>
        </p:spPr>
      </p:pic>
      <p:sp>
        <p:nvSpPr>
          <p:cNvPr id="25" name="TextBox 24"/>
          <p:cNvSpPr txBox="1"/>
          <p:nvPr/>
        </p:nvSpPr>
        <p:spPr>
          <a:xfrm>
            <a:off x="1219200" y="6731000"/>
            <a:ext cx="2730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6" name="TextBox 25"/>
          <p:cNvSpPr txBox="1"/>
          <p:nvPr/>
        </p:nvSpPr>
        <p:spPr>
          <a:xfrm>
            <a:off x="1219200" y="6934200"/>
            <a:ext cx="2730500" cy="127000"/>
          </a:xfrm>
          <a:prstGeom prst="rect">
            <a:avLst/>
          </a:prstGeom>
          <a:noFill/>
        </p:spPr>
        <p:txBody>
          <a:bodyPr wrap="square" lIns="0" rIns="0" tIns="0" bIns="0">
            <a:spAutoFit/>
          </a:bodyPr>
          <a:lstStyle/>
          <a:p>
            <a:pPr algn="l">
              <a:lnSpc>
                <a:spcPts val="880"/>
              </a:lnSpc>
              <a:spcAft>
                <a:spcPts val="22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Venturi suction: </a:t>
            </a:r>
            <a:r>
              <a:rPr sz="700" b="0">
                <a:solidFill>
                  <a:srgbClr val="000000"/>
                </a:solidFill>
                <a:latin typeface="Ubuntu Mono"/>
                <a:ea typeface="Ubuntu Mono"/>
                <a:cs typeface="Ubuntu Mono"/>
                <a:sym typeface="Ubuntu Mono"/>
              </a:rPr>
              <a:t>nozzles create a vacuum that pulls fluid and debris into the tool from the bottom.</a:t>
            </a:r>
          </a:p>
          <a:p>
            <a:pPr algn="l">
              <a:lnSpc>
                <a:spcPts val="880"/>
              </a:lnSpc>
              <a:spcAft>
                <a:spcPts val="22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Interchangeable nozzles: </a:t>
            </a:r>
            <a:r>
              <a:rPr sz="700" b="0">
                <a:solidFill>
                  <a:srgbClr val="000000"/>
                </a:solidFill>
                <a:latin typeface="Ubuntu Mono"/>
                <a:ea typeface="Ubuntu Mono"/>
                <a:cs typeface="Ubuntu Mono"/>
                <a:sym typeface="Ubuntu Mono"/>
              </a:rPr>
              <a:t>changed out to suit the available pump rate, fluid or gas.</a:t>
            </a:r>
          </a:p>
          <a:p>
            <a:pPr algn="l">
              <a:lnSpc>
                <a:spcPts val="880"/>
              </a:lnSpc>
              <a:spcAft>
                <a:spcPts val="22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Debris filter screen: </a:t>
            </a:r>
            <a:r>
              <a:rPr sz="700" b="0">
                <a:solidFill>
                  <a:srgbClr val="000000"/>
                </a:solidFill>
                <a:latin typeface="Ubuntu Mono"/>
                <a:ea typeface="Ubuntu Mono"/>
                <a:cs typeface="Ubuntu Mono"/>
                <a:sym typeface="Ubuntu Mono"/>
              </a:rPr>
              <a:t>placed before the venturi chamber to keep debris out of the venturi tubes.</a:t>
            </a:r>
          </a:p>
          <a:p>
            <a:pPr algn="l">
              <a:lnSpc>
                <a:spcPts val="880"/>
              </a:lnSpc>
              <a:spcAft>
                <a:spcPts val="22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Magnetic trap: </a:t>
            </a:r>
            <a:r>
              <a:rPr sz="700" b="0">
                <a:solidFill>
                  <a:srgbClr val="000000"/>
                </a:solidFill>
                <a:latin typeface="Ubuntu Mono"/>
                <a:ea typeface="Ubuntu Mono"/>
                <a:cs typeface="Ubuntu Mono"/>
                <a:sym typeface="Ubuntu Mono"/>
              </a:rPr>
              <a:t>hollow magnetic section with a finger-type trap retains junk; debris is carried out of the well inside the tool.</a:t>
            </a:r>
          </a:p>
          <a:p>
            <a:pPr algn="l">
              <a:lnSpc>
                <a:spcPts val="880"/>
              </a:lnSpc>
              <a:spcAft>
                <a:spcPts val="22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Barrel extensions: </a:t>
            </a:r>
            <a:r>
              <a:rPr sz="700" b="0">
                <a:solidFill>
                  <a:srgbClr val="000000"/>
                </a:solidFill>
                <a:latin typeface="Ubuntu Mono"/>
                <a:ea typeface="Ubuntu Mono"/>
                <a:cs typeface="Ubuntu Mono"/>
                <a:sym typeface="Ubuntu Mono"/>
              </a:rPr>
              <a:t>extension tubes increase the volume of junk the tool can carry.</a:t>
            </a:r>
          </a:p>
          <a:p>
            <a:pPr algn="l">
              <a:lnSpc>
                <a:spcPts val="880"/>
              </a:lnSpc>
              <a:spcAft>
                <a:spcPts val="22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Hole size independent: </a:t>
            </a:r>
            <a:r>
              <a:rPr sz="700" b="0">
                <a:solidFill>
                  <a:srgbClr val="000000"/>
                </a:solidFill>
                <a:latin typeface="Ubuntu Mono"/>
                <a:ea typeface="Ubuntu Mono"/>
                <a:cs typeface="Ubuntu Mono"/>
                <a:sym typeface="Ubuntu Mono"/>
              </a:rPr>
              <a:t>works in holes much larger than the tool OD.</a:t>
            </a:r>
          </a:p>
        </p:txBody>
      </p:sp>
      <p:sp>
        <p:nvSpPr>
          <p:cNvPr id="27" name="TextBox 26"/>
          <p:cNvSpPr txBox="1"/>
          <p:nvPr/>
        </p:nvSpPr>
        <p:spPr>
          <a:xfrm>
            <a:off x="1219200" y="8763000"/>
            <a:ext cx="2730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28" name="TextBox 27"/>
          <p:cNvSpPr txBox="1"/>
          <p:nvPr/>
        </p:nvSpPr>
        <p:spPr>
          <a:xfrm>
            <a:off x="1219200" y="8953500"/>
            <a:ext cx="2730500" cy="762000"/>
          </a:xfrm>
          <a:prstGeom prst="rect">
            <a:avLst/>
          </a:prstGeom>
          <a:noFill/>
        </p:spPr>
        <p:txBody>
          <a:bodyPr wrap="square" lIns="0" rIns="0" tIns="0" bIns="0">
            <a:spAutoFit/>
          </a:bodyPr>
          <a:lstStyle/>
          <a:p>
            <a:pPr algn="just">
              <a:lnSpc>
                <a:spcPts val="860"/>
              </a:lnSpc>
              <a:spcAft>
                <a:spcPts val="0"/>
              </a:spcAft>
            </a:pPr>
            <a:r>
              <a:rPr sz="680" b="0">
                <a:solidFill>
                  <a:srgbClr val="000000"/>
                </a:solidFill>
                <a:latin typeface="Ubuntu Mono"/>
                <a:ea typeface="Ubuntu Mono"/>
                <a:cs typeface="Ubuntu Mono"/>
                <a:sym typeface="Ubuntu Mono"/>
              </a:rPr>
              <a:t>Please specify: 1. tool size and top connection  2. nozzle size for the pump rate and fluid  3. extension tube length(s) for the junk volume to be carried  4. service kit.</a:t>
            </a:r>
          </a:p>
        </p:txBody>
      </p:sp>
      <p:sp>
        <p:nvSpPr>
          <p:cNvPr id="29" name="TextBox 28"/>
          <p:cNvSpPr txBox="1"/>
          <p:nvPr/>
        </p:nvSpPr>
        <p:spPr>
          <a:xfrm>
            <a:off x="4089400" y="673100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OPTIONAL NOZZLES</a:t>
            </a:r>
          </a:p>
        </p:txBody>
      </p:sp>
      <p:graphicFrame>
        <p:nvGraphicFramePr>
          <p:cNvPr id="30" name="Table 29"/>
          <p:cNvGraphicFramePr>
            <a:graphicFrameLocks noGrp="1"/>
          </p:cNvGraphicFramePr>
          <p:nvPr/>
        </p:nvGraphicFramePr>
        <p:xfrm>
          <a:off x="4089400" y="6934200"/>
          <a:ext cx="2755900" cy="660400"/>
        </p:xfrm>
        <a:graphic>
          <a:graphicData uri="http://schemas.openxmlformats.org/drawingml/2006/table">
            <a:tbl>
              <a:tblPr/>
              <a:tblGrid>
                <a:gridCol w="787400"/>
                <a:gridCol w="1968500"/>
              </a:tblGrid>
              <a:tr h="330200">
                <a:tc>
                  <a:txBody>
                    <a:bodyPr wrap="square"/>
                    <a:lstStyle/>
                    <a:p>
                      <a:pPr algn="l">
                        <a:lnSpc>
                          <a:spcPts val="819"/>
                        </a:lnSpc>
                      </a:pPr>
                      <a:r>
                        <a:rPr sz="660" b="0">
                          <a:solidFill>
                            <a:srgbClr val="FEFEFF"/>
                          </a:solidFill>
                          <a:latin typeface="Ubuntu Mono"/>
                          <a:ea typeface="Ubuntu Mono"/>
                          <a:cs typeface="Ubuntu Mono"/>
                          <a:sym typeface="Ubuntu Mono"/>
                        </a:rPr>
                        <a:t>Nozzle sizes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9"/>
                        </a:lnSpc>
                      </a:pPr>
                      <a:r>
                        <a:rPr sz="660" b="0">
                          <a:solidFill>
                            <a:srgbClr val="000000"/>
                          </a:solidFill>
                          <a:latin typeface="Ubuntu Mono"/>
                          <a:ea typeface="Ubuntu Mono"/>
                          <a:cs typeface="Ubuntu Mono"/>
                          <a:sym typeface="Ubuntu Mono"/>
                        </a:rPr>
                        <a:t>0.062 (std), 0.078, 0.094, 0.109, 0.125, 0.140, 0.156, 0.171, 0.187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330200">
                <a:tc>
                  <a:txBody>
                    <a:bodyPr wrap="square"/>
                    <a:lstStyle/>
                    <a:p>
                      <a:pPr algn="l">
                        <a:lnSpc>
                          <a:spcPts val="819"/>
                        </a:lnSpc>
                      </a:pPr>
                      <a:r>
                        <a:rPr sz="660" b="0">
                          <a:solidFill>
                            <a:srgbClr val="FEFEFF"/>
                          </a:solidFill>
                          <a:latin typeface="Ubuntu Mono"/>
                          <a:ea typeface="Ubuntu Mono"/>
                          <a:cs typeface="Ubuntu Mono"/>
                          <a:sym typeface="Ubuntu Mono"/>
                        </a:rPr>
                        <a:t>Applies to</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9"/>
                        </a:lnSpc>
                      </a:pPr>
                      <a:r>
                        <a:rPr sz="660" b="0">
                          <a:solidFill>
                            <a:srgbClr val="000000"/>
                          </a:solidFill>
                          <a:latin typeface="Ubuntu Mono"/>
                          <a:ea typeface="Ubuntu Mono"/>
                          <a:cs typeface="Ubuntu Mono"/>
                          <a:sym typeface="Ubuntu Mono"/>
                        </a:rPr>
                        <a:t>All sizes, 1-3/4 to 3-1/8 (two nozzle series: 1-3/4 to 2-1/4 and 2-5/8 to 3-1/8)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31" name="TextBox 30"/>
          <p:cNvSpPr txBox="1"/>
          <p:nvPr/>
        </p:nvSpPr>
        <p:spPr>
          <a:xfrm>
            <a:off x="4089400" y="772160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EXTENSION TUBES</a:t>
            </a:r>
          </a:p>
        </p:txBody>
      </p:sp>
      <p:graphicFrame>
        <p:nvGraphicFramePr>
          <p:cNvPr id="32" name="Table 31"/>
          <p:cNvGraphicFramePr>
            <a:graphicFrameLocks noGrp="1"/>
          </p:cNvGraphicFramePr>
          <p:nvPr/>
        </p:nvGraphicFramePr>
        <p:xfrm>
          <a:off x="4089400" y="7924800"/>
          <a:ext cx="2755900" cy="939800"/>
        </p:xfrm>
        <a:graphic>
          <a:graphicData uri="http://schemas.openxmlformats.org/drawingml/2006/table">
            <a:tbl>
              <a:tblPr/>
              <a:tblGrid>
                <a:gridCol w="889000"/>
                <a:gridCol w="1866900"/>
              </a:tblGrid>
              <a:tr h="177800">
                <a:tc>
                  <a:txBody>
                    <a:bodyPr wrap="square"/>
                    <a:lstStyle/>
                    <a:p>
                      <a:pPr algn="ctr">
                        <a:lnSpc>
                          <a:spcPts val="840"/>
                        </a:lnSpc>
                      </a:pPr>
                      <a:r>
                        <a:rPr sz="680" b="1">
                          <a:solidFill>
                            <a:srgbClr val="FEFEFF"/>
                          </a:solidFill>
                          <a:latin typeface="Ubuntu Mono"/>
                          <a:ea typeface="Ubuntu Mono"/>
                          <a:cs typeface="Ubuntu Mono"/>
                          <a:sym typeface="Ubuntu Mono"/>
                        </a:rPr>
                        <a:t>Tool size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Extension tube lengths (ft)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52400">
                <a:tc>
                  <a:txBody>
                    <a:bodyPr wrap="square"/>
                    <a:lstStyle/>
                    <a:p>
                      <a:pPr algn="ctr">
                        <a:lnSpc>
                          <a:spcPts val="840"/>
                        </a:lnSpc>
                      </a:pPr>
                      <a:r>
                        <a:rPr sz="680" b="0">
                          <a:solidFill>
                            <a:srgbClr val="FEFEFF"/>
                          </a:solidFill>
                          <a:latin typeface="Ubuntu Mono"/>
                          <a:ea typeface="Ubuntu Mono"/>
                          <a:cs typeface="Ubuntu Mono"/>
                          <a:sym typeface="Ubuntu Mono"/>
                        </a:rPr>
                        <a:t>1-3/4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4, 6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40"/>
                        </a:lnSpc>
                      </a:pPr>
                      <a:r>
                        <a:rPr sz="680" b="0">
                          <a:solidFill>
                            <a:srgbClr val="FEFEFF"/>
                          </a:solidFill>
                          <a:latin typeface="Ubuntu Mono"/>
                          <a:ea typeface="Ubuntu Mono"/>
                          <a:cs typeface="Ubuntu Mono"/>
                          <a:sym typeface="Ubuntu Mono"/>
                        </a:rPr>
                        <a:t>2-1/16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4, 6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40"/>
                        </a:lnSpc>
                      </a:pPr>
                      <a:r>
                        <a:rPr sz="680" b="0">
                          <a:solidFill>
                            <a:srgbClr val="FEFEFF"/>
                          </a:solidFill>
                          <a:latin typeface="Ubuntu Mono"/>
                          <a:ea typeface="Ubuntu Mono"/>
                          <a:cs typeface="Ubuntu Mono"/>
                          <a:sym typeface="Ubuntu Mono"/>
                        </a:rPr>
                        <a:t>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40"/>
                        </a:lnSpc>
                      </a:pPr>
                      <a:r>
                        <a:rPr sz="680" b="0">
                          <a:solidFill>
                            <a:srgbClr val="FEFEFF"/>
                          </a:solidFill>
                          <a:latin typeface="Ubuntu Mono"/>
                          <a:ea typeface="Ubuntu Mono"/>
                          <a:cs typeface="Ubuntu Mono"/>
                          <a:sym typeface="Ubuntu Mono"/>
                        </a:rPr>
                        <a:t>2-5/8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2, 4, 5, 5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40"/>
                        </a:lnSpc>
                      </a:pPr>
                      <a:r>
                        <a:rPr sz="680" b="0">
                          <a:solidFill>
                            <a:srgbClr val="FEFEFF"/>
                          </a:solidFill>
                          <a:latin typeface="Ubuntu Mono"/>
                          <a:ea typeface="Ubuntu Mono"/>
                          <a:cs typeface="Ubuntu Mono"/>
                          <a:sym typeface="Ubuntu Mono"/>
                        </a:rPr>
                        <a:t>3-1/8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4, 10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33" name="TextBox 32"/>
          <p:cNvSpPr txBox="1"/>
          <p:nvPr/>
        </p:nvSpPr>
        <p:spPr>
          <a:xfrm>
            <a:off x="4089400" y="899160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OPERATING PARAMETERS</a:t>
            </a:r>
          </a:p>
        </p:txBody>
      </p:sp>
      <p:graphicFrame>
        <p:nvGraphicFramePr>
          <p:cNvPr id="34" name="Table 33"/>
          <p:cNvGraphicFramePr>
            <a:graphicFrameLocks noGrp="1"/>
          </p:cNvGraphicFramePr>
          <p:nvPr/>
        </p:nvGraphicFramePr>
        <p:xfrm>
          <a:off x="4089400" y="9194800"/>
          <a:ext cx="2755900" cy="472440"/>
        </p:xfrm>
        <a:graphic>
          <a:graphicData uri="http://schemas.openxmlformats.org/drawingml/2006/table">
            <a:tbl>
              <a:tblPr/>
              <a:tblGrid>
                <a:gridCol w="787400"/>
                <a:gridCol w="1968500"/>
              </a:tblGrid>
              <a:tr h="157480">
                <a:tc>
                  <a:txBody>
                    <a:bodyPr wrap="square"/>
                    <a:lstStyle/>
                    <a:p>
                      <a:pPr algn="l">
                        <a:lnSpc>
                          <a:spcPts val="819"/>
                        </a:lnSpc>
                      </a:pPr>
                      <a:r>
                        <a:rPr sz="660" b="0">
                          <a:solidFill>
                            <a:srgbClr val="FEFEFF"/>
                          </a:solidFill>
                          <a:latin typeface="Ubuntu Mono"/>
                          <a:ea typeface="Ubuntu Mono"/>
                          <a:cs typeface="Ubuntu Mono"/>
                          <a:sym typeface="Ubuntu Mono"/>
                        </a:rPr>
                        <a:t>Fluids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9"/>
                        </a:lnSpc>
                      </a:pPr>
                      <a:r>
                        <a:rPr sz="660" b="0">
                          <a:solidFill>
                            <a:srgbClr val="000000"/>
                          </a:solidFill>
                          <a:latin typeface="Ubuntu Mono"/>
                          <a:ea typeface="Ubuntu Mono"/>
                          <a:cs typeface="Ubuntu Mono"/>
                          <a:sym typeface="Ubuntu Mono"/>
                        </a:rPr>
                        <a:t>Fluid, multiphase fluid, foam, gas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19"/>
                        </a:lnSpc>
                      </a:pPr>
                      <a:r>
                        <a:rPr sz="660" b="0">
                          <a:solidFill>
                            <a:srgbClr val="FEFEFF"/>
                          </a:solidFill>
                          <a:latin typeface="Ubuntu Mono"/>
                          <a:ea typeface="Ubuntu Mono"/>
                          <a:cs typeface="Ubuntu Mono"/>
                          <a:sym typeface="Ubuntu Mono"/>
                        </a:rPr>
                        <a:t>Pressure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9"/>
                        </a:lnSpc>
                      </a:pPr>
                      <a:r>
                        <a:rPr sz="660" b="0">
                          <a:solidFill>
                            <a:srgbClr val="000000"/>
                          </a:solidFill>
                          <a:latin typeface="Ubuntu Mono"/>
                          <a:ea typeface="Ubuntu Mono"/>
                          <a:cs typeface="Ubuntu Mono"/>
                          <a:sym typeface="Ubuntu Mono"/>
                        </a:rPr>
                        <a:t>5,000 psi</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7480">
                <a:tc>
                  <a:txBody>
                    <a:bodyPr wrap="square"/>
                    <a:lstStyle/>
                    <a:p>
                      <a:pPr algn="l">
                        <a:lnSpc>
                          <a:spcPts val="819"/>
                        </a:lnSpc>
                      </a:pPr>
                      <a:r>
                        <a:rPr sz="660" b="0">
                          <a:solidFill>
                            <a:srgbClr val="FEFEFF"/>
                          </a:solidFill>
                          <a:latin typeface="Ubuntu Mono"/>
                          <a:ea typeface="Ubuntu Mono"/>
                          <a:cs typeface="Ubuntu Mono"/>
                          <a:sym typeface="Ubuntu Mono"/>
                        </a:rPr>
                        <a:t>Temperature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9"/>
                        </a:lnSpc>
                      </a:pPr>
                      <a:r>
                        <a:rPr sz="660" b="0">
                          <a:solidFill>
                            <a:srgbClr val="000000"/>
                          </a:solidFill>
                          <a:latin typeface="Ubuntu Mono"/>
                          <a:ea typeface="Ubuntu Mono"/>
                          <a:cs typeface="Ubuntu Mono"/>
                          <a:sym typeface="Ubuntu Mono"/>
                        </a:rPr>
                        <a:t>0 to 350 F</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Fishing Magnet</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FISHING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PERMANENT MAGNET FOR JUNK RETRIEVAL</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PERMANENT-MAGNET TOOL THAT RETRIEVES UNDRILLABLE OBJECTS WITH MAGNETIC ATTRACTION: BIT CONES, BEARINGS, SLIPS, MILL CUTTINGS, TONG PINS AND HAMMERS. IT PICKS UP SMALL, ODD-SHAPED ITEMS THAT INSIDE OR OUTSIDE CATCH TOOLS CANNOT HOLD. AVAILABLE FROM 1 IN. TO 20 IN. O.D., ON PIPE OR WIRELINE, WITH PULLS FROM 5 LB TO 5,000 LB DEPENDING ON SIZE. IT IS ALSO USED TO CLEAR THE HOLE BEFORE DIAMOND CORING.</a:t>
            </a:r>
          </a:p>
        </p:txBody>
      </p:sp>
      <p:sp>
        <p:nvSpPr>
          <p:cNvPr id="21" name="TextBox 20"/>
          <p:cNvSpPr txBox="1"/>
          <p:nvPr/>
        </p:nvSpPr>
        <p:spPr>
          <a:xfrm>
            <a:off x="711200" y="48514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041900"/>
          <a:ext cx="3047998" cy="1894840"/>
        </p:xfrm>
        <a:graphic>
          <a:graphicData uri="http://schemas.openxmlformats.org/drawingml/2006/table">
            <a:tbl>
              <a:tblPr/>
              <a:tblGrid>
                <a:gridCol w="374754"/>
                <a:gridCol w="799475"/>
                <a:gridCol w="799475"/>
                <a:gridCol w="699540"/>
                <a:gridCol w="374754"/>
              </a:tblGrid>
              <a:tr h="279400">
                <a:tc>
                  <a:txBody>
                    <a:bodyPr wrap="square"/>
                    <a:lstStyle/>
                    <a:p>
                      <a:pPr algn="ctr">
                        <a:lnSpc>
                          <a:spcPts val="800"/>
                        </a:lnSpc>
                      </a:pPr>
                      <a:r>
                        <a:rPr sz="640" b="1">
                          <a:solidFill>
                            <a:srgbClr val="FEFEFF"/>
                          </a:solidFill>
                          <a:latin typeface="Ubuntu Mono"/>
                          <a:ea typeface="Ubuntu Mono"/>
                          <a:cs typeface="Ubuntu Mono"/>
                          <a:sym typeface="Ubuntu Mono"/>
                        </a:rPr>
                        <a:t>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Hole size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Top pin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Approx. pull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Wt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34620">
                <a:tc>
                  <a:txBody>
                    <a:bodyPr wrap="square"/>
                    <a:lstStyle/>
                    <a:p>
                      <a:pPr algn="ctr">
                        <a:lnSpc>
                          <a:spcPts val="800"/>
                        </a:lnSpc>
                      </a:pPr>
                      <a:r>
                        <a:rPr sz="640" b="0">
                          <a:solidFill>
                            <a:srgbClr val="FEFEFF"/>
                          </a:solidFill>
                          <a:latin typeface="Ubuntu Mono"/>
                          <a:ea typeface="Ubuntu Mono"/>
                          <a:cs typeface="Ubuntu Mono"/>
                          <a:sym typeface="Ubuntu Mono"/>
                        </a:rPr>
                        <a:t>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1-1/4 to 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5/8 11-N.C.</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5 - 7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ctr">
                        <a:lnSpc>
                          <a:spcPts val="800"/>
                        </a:lnSpc>
                      </a:pPr>
                      <a:r>
                        <a:rPr sz="640" b="0">
                          <a:solidFill>
                            <a:srgbClr val="FEFEFF"/>
                          </a:solidFill>
                          <a:latin typeface="Ubuntu Mono"/>
                          <a:ea typeface="Ubuntu Mono"/>
                          <a:cs typeface="Ubuntu Mono"/>
                          <a:sym typeface="Ubuntu Mono"/>
                        </a:rPr>
                        <a:t>1-1/4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1-5/8 to 2-1/2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5/8 S.R.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8 - 10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ctr">
                        <a:lnSpc>
                          <a:spcPts val="800"/>
                        </a:lnSpc>
                      </a:pPr>
                      <a:r>
                        <a:rPr sz="640" b="0">
                          <a:solidFill>
                            <a:srgbClr val="FEFEFF"/>
                          </a:solidFill>
                          <a:latin typeface="Ubuntu Mono"/>
                          <a:ea typeface="Ubuntu Mono"/>
                          <a:cs typeface="Ubuntu Mono"/>
                          <a:sym typeface="Ubuntu Mono"/>
                        </a:rPr>
                        <a:t>1-1/2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2 to 2-3/4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5/8 S.R.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11 - 14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3-1/4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ctr">
                        <a:lnSpc>
                          <a:spcPts val="800"/>
                        </a:lnSpc>
                      </a:pPr>
                      <a:r>
                        <a:rPr sz="640" b="0">
                          <a:solidFill>
                            <a:srgbClr val="FEFEFF"/>
                          </a:solidFill>
                          <a:latin typeface="Ubuntu Mono"/>
                          <a:ea typeface="Ubuntu Mono"/>
                          <a:cs typeface="Ubuntu Mono"/>
                          <a:sym typeface="Ubuntu Mono"/>
                        </a:rPr>
                        <a:t>1-3/4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2-3/8 to 3-1/4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3/4 S.R.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15 - 20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ctr">
                        <a:lnSpc>
                          <a:spcPts val="800"/>
                        </a:lnSpc>
                      </a:pPr>
                      <a:r>
                        <a:rPr sz="640" b="0">
                          <a:solidFill>
                            <a:srgbClr val="FEFEFF"/>
                          </a:solidFill>
                          <a:latin typeface="Ubuntu Mono"/>
                          <a:ea typeface="Ubuntu Mono"/>
                          <a:cs typeface="Ubuntu Mono"/>
                          <a:sym typeface="Ubuntu Mono"/>
                        </a:rPr>
                        <a:t>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2-3/4 to 3-5/8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3/4 S.R.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25 - 50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ctr">
                        <a:lnSpc>
                          <a:spcPts val="800"/>
                        </a:lnSpc>
                      </a:pPr>
                      <a:r>
                        <a:rPr sz="640" b="0">
                          <a:solidFill>
                            <a:srgbClr val="FEFEFF"/>
                          </a:solidFill>
                          <a:latin typeface="Ubuntu Mono"/>
                          <a:ea typeface="Ubuntu Mono"/>
                          <a:cs typeface="Ubuntu Mono"/>
                          <a:sym typeface="Ubuntu Mono"/>
                        </a:rPr>
                        <a:t>2-1/2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3 to 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3/4 S.R.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50 - 85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ctr">
                        <a:lnSpc>
                          <a:spcPts val="800"/>
                        </a:lnSpc>
                      </a:pPr>
                      <a:r>
                        <a:rPr sz="640" b="0">
                          <a:solidFill>
                            <a:srgbClr val="FEFEFF"/>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3-1/4 to 4-1/8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2-3/8 Tbg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85 - 190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ctr">
                        <a:lnSpc>
                          <a:spcPts val="800"/>
                        </a:lnSpc>
                      </a:pPr>
                      <a:r>
                        <a:rPr sz="640" b="0">
                          <a:solidFill>
                            <a:srgbClr val="FEFEFF"/>
                          </a:solidFill>
                          <a:latin typeface="Ubuntu Mono"/>
                          <a:ea typeface="Ubuntu Mono"/>
                          <a:cs typeface="Ubuntu Mono"/>
                          <a:sym typeface="Ubuntu Mono"/>
                        </a:rPr>
                        <a:t>3-1/4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4 to 4-1/4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2-3/8 Tbg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85 - 190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ctr">
                        <a:lnSpc>
                          <a:spcPts val="800"/>
                        </a:lnSpc>
                      </a:pPr>
                      <a:r>
                        <a:rPr sz="640" b="0">
                          <a:solidFill>
                            <a:srgbClr val="FEFEFF"/>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4-1/4 to 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2-3/8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150 - 250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27-1/2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ctr">
                        <a:lnSpc>
                          <a:spcPts val="800"/>
                        </a:lnSpc>
                      </a:pPr>
                      <a:r>
                        <a:rPr sz="640" b="0">
                          <a:solidFill>
                            <a:srgbClr val="FEFEFF"/>
                          </a:solidFill>
                          <a:latin typeface="Ubuntu Mono"/>
                          <a:ea typeface="Ubuntu Mono"/>
                          <a:cs typeface="Ubuntu Mono"/>
                          <a:sym typeface="Ubuntu Mono"/>
                        </a:rPr>
                        <a:t>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4-1/2 to 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2-3/8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175 - 250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43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ctr">
                        <a:lnSpc>
                          <a:spcPts val="800"/>
                        </a:lnSpc>
                      </a:pPr>
                      <a:r>
                        <a:rPr sz="640" b="0">
                          <a:solidFill>
                            <a:srgbClr val="FEFEFF"/>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5-1/8 to 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2-7/8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250 - 320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67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ctr">
                        <a:lnSpc>
                          <a:spcPts val="800"/>
                        </a:lnSpc>
                      </a:pPr>
                      <a:r>
                        <a:rPr sz="640" b="0">
                          <a:solidFill>
                            <a:srgbClr val="FEFEFF"/>
                          </a:solidFill>
                          <a:latin typeface="Ubuntu Mono"/>
                          <a:ea typeface="Ubuntu Mono"/>
                          <a:cs typeface="Ubuntu Mono"/>
                          <a:sym typeface="Ubuntu Mono"/>
                        </a:rPr>
                        <a:t>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5-5/8 to 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2-7/8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320 - 385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graphicFrame>
        <p:nvGraphicFramePr>
          <p:cNvPr id="23" name="Table 22"/>
          <p:cNvGraphicFramePr>
            <a:graphicFrameLocks noGrp="1"/>
          </p:cNvGraphicFramePr>
          <p:nvPr/>
        </p:nvGraphicFramePr>
        <p:xfrm>
          <a:off x="3797300" y="5041900"/>
          <a:ext cx="3047998" cy="1894840"/>
        </p:xfrm>
        <a:graphic>
          <a:graphicData uri="http://schemas.openxmlformats.org/drawingml/2006/table">
            <a:tbl>
              <a:tblPr/>
              <a:tblGrid>
                <a:gridCol w="374754"/>
                <a:gridCol w="799475"/>
                <a:gridCol w="799475"/>
                <a:gridCol w="699540"/>
                <a:gridCol w="374754"/>
              </a:tblGrid>
              <a:tr h="279400">
                <a:tc>
                  <a:txBody>
                    <a:bodyPr wrap="square"/>
                    <a:lstStyle/>
                    <a:p>
                      <a:pPr algn="ctr">
                        <a:lnSpc>
                          <a:spcPts val="800"/>
                        </a:lnSpc>
                      </a:pPr>
                      <a:r>
                        <a:rPr sz="640" b="1">
                          <a:solidFill>
                            <a:srgbClr val="FEFEFF"/>
                          </a:solidFill>
                          <a:latin typeface="Ubuntu Mono"/>
                          <a:ea typeface="Ubuntu Mono"/>
                          <a:cs typeface="Ubuntu Mono"/>
                          <a:sym typeface="Ubuntu Mono"/>
                        </a:rPr>
                        <a:t>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Hole size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Top pin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Approx. pull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Wt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34620">
                <a:tc>
                  <a:txBody>
                    <a:bodyPr wrap="square"/>
                    <a:lstStyle/>
                    <a:p>
                      <a:pPr algn="ctr">
                        <a:lnSpc>
                          <a:spcPts val="800"/>
                        </a:lnSpc>
                      </a:pPr>
                      <a:r>
                        <a:rPr sz="640" b="0">
                          <a:solidFill>
                            <a:srgbClr val="FEFEFF"/>
                          </a:solidFill>
                          <a:latin typeface="Ubuntu Mono"/>
                          <a:ea typeface="Ubuntu Mono"/>
                          <a:cs typeface="Ubuntu Mono"/>
                          <a:sym typeface="Ubuntu Mono"/>
                        </a:rPr>
                        <a:t>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6-1/8 to 6-1/2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3-1/2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385 - 425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95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ctr">
                        <a:lnSpc>
                          <a:spcPts val="800"/>
                        </a:lnSpc>
                      </a:pPr>
                      <a:r>
                        <a:rPr sz="640" b="0">
                          <a:solidFill>
                            <a:srgbClr val="FEFEFF"/>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6-1/8 to 6-1/2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3-1/2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385 - 425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106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ctr">
                        <a:lnSpc>
                          <a:spcPts val="800"/>
                        </a:lnSpc>
                      </a:pPr>
                      <a:r>
                        <a:rPr sz="640" b="0">
                          <a:solidFill>
                            <a:srgbClr val="FEFEFF"/>
                          </a:solidFill>
                          <a:latin typeface="Ubuntu Mono"/>
                          <a:ea typeface="Ubuntu Mono"/>
                          <a:cs typeface="Ubuntu Mono"/>
                          <a:sym typeface="Ubuntu Mono"/>
                        </a:rPr>
                        <a:t>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6-5/8 to 7-1/2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3-1/2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425 - 500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ctr">
                        <a:lnSpc>
                          <a:spcPts val="800"/>
                        </a:lnSpc>
                      </a:pPr>
                      <a:r>
                        <a:rPr sz="640" b="0">
                          <a:solidFill>
                            <a:srgbClr val="FEFEFF"/>
                          </a:solidFill>
                          <a:latin typeface="Ubuntu Mono"/>
                          <a:ea typeface="Ubuntu Mono"/>
                          <a:cs typeface="Ubuntu Mono"/>
                          <a:sym typeface="Ubuntu Mono"/>
                        </a:rPr>
                        <a:t>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7-5/8 to 8-1/2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4-1/2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550 - 700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162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ctr">
                        <a:lnSpc>
                          <a:spcPts val="800"/>
                        </a:lnSpc>
                      </a:pPr>
                      <a:r>
                        <a:rPr sz="640" b="0">
                          <a:solidFill>
                            <a:srgbClr val="FEFEFF"/>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8-5/8 to 9-3/4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4-1/2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700 - 850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205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ctr">
                        <a:lnSpc>
                          <a:spcPts val="800"/>
                        </a:lnSpc>
                      </a:pPr>
                      <a:r>
                        <a:rPr sz="640" b="0">
                          <a:solidFill>
                            <a:srgbClr val="FEFEFF"/>
                          </a:solidFill>
                          <a:latin typeface="Ubuntu Mono"/>
                          <a:ea typeface="Ubuntu Mono"/>
                          <a:cs typeface="Ubuntu Mono"/>
                          <a:sym typeface="Ubuntu Mono"/>
                        </a:rPr>
                        <a:t>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9-7/8 to 11-5/8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4-1/2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850 - 1,000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335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ctr">
                        <a:lnSpc>
                          <a:spcPts val="800"/>
                        </a:lnSpc>
                      </a:pPr>
                      <a:r>
                        <a:rPr sz="640" b="0">
                          <a:solidFill>
                            <a:srgbClr val="FEFEFF"/>
                          </a:solidFill>
                          <a:latin typeface="Ubuntu Mono"/>
                          <a:ea typeface="Ubuntu Mono"/>
                          <a:cs typeface="Ubuntu Mono"/>
                          <a:sym typeface="Ubuntu Mono"/>
                        </a:rPr>
                        <a:t>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10-1/2 to 11-7/8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6-5/8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1,000 - 1,125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390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ctr">
                        <a:lnSpc>
                          <a:spcPts val="800"/>
                        </a:lnSpc>
                      </a:pPr>
                      <a:r>
                        <a:rPr sz="640" b="0">
                          <a:solidFill>
                            <a:srgbClr val="FEFEFF"/>
                          </a:solidFill>
                          <a:latin typeface="Ubuntu Mono"/>
                          <a:ea typeface="Ubuntu Mono"/>
                          <a:cs typeface="Ubuntu Mono"/>
                          <a:sym typeface="Ubuntu Mono"/>
                        </a:rPr>
                        <a:t>10-1/2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11-3/4 to 13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6-5/8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1,125 - 1,260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431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ctr">
                        <a:lnSpc>
                          <a:spcPts val="800"/>
                        </a:lnSpc>
                      </a:pPr>
                      <a:r>
                        <a:rPr sz="640" b="0">
                          <a:solidFill>
                            <a:srgbClr val="FEFEFF"/>
                          </a:solidFill>
                          <a:latin typeface="Ubuntu Mono"/>
                          <a:ea typeface="Ubuntu Mono"/>
                          <a:cs typeface="Ubuntu Mono"/>
                          <a:sym typeface="Ubuntu Mono"/>
                        </a:rPr>
                        <a:t>11-1/2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12-1/4 to 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6-5/8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1,260 - 1,550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ctr">
                        <a:lnSpc>
                          <a:spcPts val="800"/>
                        </a:lnSpc>
                      </a:pPr>
                      <a:r>
                        <a:rPr sz="640" b="0">
                          <a:solidFill>
                            <a:srgbClr val="FEFEFF"/>
                          </a:solidFill>
                          <a:latin typeface="Ubuntu Mono"/>
                          <a:ea typeface="Ubuntu Mono"/>
                          <a:cs typeface="Ubuntu Mono"/>
                          <a:sym typeface="Ubuntu Mono"/>
                        </a:rPr>
                        <a:t>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6-5/8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1,700 - 2,100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770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ctr">
                        <a:lnSpc>
                          <a:spcPts val="800"/>
                        </a:lnSpc>
                      </a:pPr>
                      <a:r>
                        <a:rPr sz="640" b="0">
                          <a:solidFill>
                            <a:srgbClr val="FEFEFF"/>
                          </a:solidFill>
                          <a:latin typeface="Ubuntu Mono"/>
                          <a:ea typeface="Ubuntu Mono"/>
                          <a:cs typeface="Ubuntu Mono"/>
                          <a:sym typeface="Ubuntu Mono"/>
                        </a:rPr>
                        <a:t>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17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6-5/8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3,200 - 4,000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ctr">
                        <a:lnSpc>
                          <a:spcPts val="800"/>
                        </a:lnSpc>
                      </a:pPr>
                      <a:r>
                        <a:rPr sz="640" b="0">
                          <a:solidFill>
                            <a:srgbClr val="FEFEFF"/>
                          </a:solidFill>
                          <a:latin typeface="Ubuntu Mono"/>
                          <a:ea typeface="Ubuntu Mono"/>
                          <a:cs typeface="Ubuntu Mono"/>
                          <a:sym typeface="Ubuntu Mono"/>
                        </a:rPr>
                        <a:t>19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13-3/8 V-4 thd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4,200 - 5,000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4" name="TextBox 23"/>
          <p:cNvSpPr txBox="1"/>
          <p:nvPr/>
        </p:nvSpPr>
        <p:spPr>
          <a:xfrm>
            <a:off x="711200" y="6974840"/>
            <a:ext cx="6134100" cy="203200"/>
          </a:xfrm>
          <a:prstGeom prst="rect">
            <a:avLst/>
          </a:prstGeom>
          <a:noFill/>
        </p:spPr>
        <p:txBody>
          <a:bodyPr wrap="square" lIns="0" rIns="0" tIns="0" bIns="0">
            <a:spAutoFit/>
          </a:bodyPr>
          <a:lstStyle/>
          <a:p>
            <a:pPr algn="l">
              <a:lnSpc>
                <a:spcPts val="740"/>
              </a:lnSpc>
              <a:spcAft>
                <a:spcPts val="0"/>
              </a:spcAft>
            </a:pPr>
            <a:r>
              <a:rPr sz="620" b="0">
                <a:solidFill>
                  <a:srgbClr val="444444"/>
                </a:solidFill>
                <a:latin typeface="Ubuntu Mono"/>
                <a:ea typeface="Ubuntu Mono"/>
                <a:cs typeface="Ubuntu Mono"/>
                <a:sym typeface="Ubuntu Mono"/>
              </a:rPr>
              <a:t>Dimensions in inches, weights in lb (complete assembly, approximate). S.R.: sucker rod pin; Tbg: tubing pin. Pulls assume the magnet face fully covers a flat surface; pick-up capacity drops considerably on smaller contact areas.</a:t>
            </a:r>
          </a:p>
        </p:txBody>
      </p:sp>
      <p:pic>
        <p:nvPicPr>
          <p:cNvPr id="25" name="Picture 24" descr="agentC_mag.png"/>
          <p:cNvPicPr>
            <a:picLocks noChangeAspect="1"/>
          </p:cNvPicPr>
          <p:nvPr/>
        </p:nvPicPr>
        <p:blipFill>
          <a:blip r:embed="rId4"/>
          <a:stretch>
            <a:fillRect/>
          </a:stretch>
        </p:blipFill>
        <p:spPr>
          <a:xfrm>
            <a:off x="711200" y="7305040"/>
            <a:ext cx="647648" cy="2603500"/>
          </a:xfrm>
          <a:prstGeom prst="rect">
            <a:avLst/>
          </a:prstGeom>
        </p:spPr>
      </p:pic>
      <p:sp>
        <p:nvSpPr>
          <p:cNvPr id="26" name="TextBox 25"/>
          <p:cNvSpPr txBox="1"/>
          <p:nvPr/>
        </p:nvSpPr>
        <p:spPr>
          <a:xfrm>
            <a:off x="1473200" y="7279640"/>
            <a:ext cx="22606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7" name="TextBox 26"/>
          <p:cNvSpPr txBox="1"/>
          <p:nvPr/>
        </p:nvSpPr>
        <p:spPr>
          <a:xfrm>
            <a:off x="1473200" y="7482840"/>
            <a:ext cx="2260600" cy="127000"/>
          </a:xfrm>
          <a:prstGeom prst="rect">
            <a:avLst/>
          </a:prstGeom>
          <a:noFill/>
        </p:spPr>
        <p:txBody>
          <a:bodyPr wrap="square" lIns="0" rIns="0" tIns="0" bIns="0">
            <a:spAutoFit/>
          </a:bodyPr>
          <a:lstStyle/>
          <a:p>
            <a:pPr algn="l">
              <a:lnSpc>
                <a:spcPts val="860"/>
              </a:lnSpc>
              <a:spcAft>
                <a:spcPts val="200"/>
              </a:spcAft>
            </a:pPr>
            <a:r>
              <a:rPr sz="540" b="0">
                <a:solidFill>
                  <a:srgbClr val="01ADEE"/>
                </a:solidFill>
                <a:latin typeface="Ubuntu Mono"/>
                <a:ea typeface="Ubuntu Mono"/>
                <a:cs typeface="Ubuntu Mono"/>
                <a:sym typeface="Ubuntu Mono"/>
              </a:rPr>
              <a:t>■ </a:t>
            </a:r>
            <a:r>
              <a:rPr sz="690" b="1">
                <a:solidFill>
                  <a:srgbClr val="000000"/>
                </a:solidFill>
                <a:latin typeface="Ubuntu Mono"/>
                <a:ea typeface="Ubuntu Mono"/>
                <a:cs typeface="Ubuntu Mono"/>
                <a:sym typeface="Ubuntu Mono"/>
              </a:rPr>
              <a:t>Focused field: </a:t>
            </a:r>
            <a:r>
              <a:rPr sz="690" b="0">
                <a:solidFill>
                  <a:srgbClr val="000000"/>
                </a:solidFill>
                <a:latin typeface="Ubuntu Mono"/>
                <a:ea typeface="Ubuntu Mono"/>
                <a:cs typeface="Ubuntu Mono"/>
                <a:sym typeface="Ubuntu Mono"/>
              </a:rPr>
              <a:t>flux is concentrated at the bottom pole plate; the outer case is not magnetised, so the tool works inside cased hole.</a:t>
            </a:r>
          </a:p>
          <a:p>
            <a:pPr algn="l">
              <a:lnSpc>
                <a:spcPts val="860"/>
              </a:lnSpc>
              <a:spcAft>
                <a:spcPts val="200"/>
              </a:spcAft>
            </a:pPr>
            <a:r>
              <a:rPr sz="540" b="0">
                <a:solidFill>
                  <a:srgbClr val="01ADEE"/>
                </a:solidFill>
                <a:latin typeface="Ubuntu Mono"/>
                <a:ea typeface="Ubuntu Mono"/>
                <a:cs typeface="Ubuntu Mono"/>
                <a:sym typeface="Ubuntu Mono"/>
              </a:rPr>
              <a:t>■ </a:t>
            </a:r>
            <a:r>
              <a:rPr sz="690" b="1">
                <a:solidFill>
                  <a:srgbClr val="000000"/>
                </a:solidFill>
                <a:latin typeface="Ubuntu Mono"/>
                <a:ea typeface="Ubuntu Mono"/>
                <a:cs typeface="Ubuntu Mono"/>
                <a:sym typeface="Ubuntu Mono"/>
              </a:rPr>
              <a:t>Circulation: </a:t>
            </a:r>
            <a:r>
              <a:rPr sz="690" b="0">
                <a:solidFill>
                  <a:srgbClr val="000000"/>
                </a:solidFill>
                <a:latin typeface="Ubuntu Mono"/>
                <a:ea typeface="Ubuntu Mono"/>
                <a:cs typeface="Ubuntu Mono"/>
                <a:sym typeface="Ubuntu Mono"/>
              </a:rPr>
              <a:t>ports through the body exit inside the guide and keep the pole plate clean.</a:t>
            </a:r>
          </a:p>
          <a:p>
            <a:pPr algn="l">
              <a:lnSpc>
                <a:spcPts val="860"/>
              </a:lnSpc>
              <a:spcAft>
                <a:spcPts val="200"/>
              </a:spcAft>
            </a:pPr>
            <a:r>
              <a:rPr sz="540" b="0">
                <a:solidFill>
                  <a:srgbClr val="01ADEE"/>
                </a:solidFill>
                <a:latin typeface="Ubuntu Mono"/>
                <a:ea typeface="Ubuntu Mono"/>
                <a:cs typeface="Ubuntu Mono"/>
                <a:sym typeface="Ubuntu Mono"/>
              </a:rPr>
              <a:t>■ </a:t>
            </a:r>
            <a:r>
              <a:rPr sz="690" b="1">
                <a:solidFill>
                  <a:srgbClr val="000000"/>
                </a:solidFill>
                <a:latin typeface="Ubuntu Mono"/>
                <a:ea typeface="Ubuntu Mono"/>
                <a:cs typeface="Ubuntu Mono"/>
                <a:sym typeface="Ubuntu Mono"/>
              </a:rPr>
              <a:t>Guides: </a:t>
            </a:r>
            <a:r>
              <a:rPr sz="690" b="0">
                <a:solidFill>
                  <a:srgbClr val="000000"/>
                </a:solidFill>
                <a:latin typeface="Ubuntu Mono"/>
                <a:ea typeface="Ubuntu Mono"/>
                <a:cs typeface="Ubuntu Mono"/>
                <a:sym typeface="Ubuntu Mono"/>
              </a:rPr>
              <a:t>flush (standard) for large or flat objects; lipped for 3 or more cones or leaning objects; mill guide for tong dies, 1 - 2 cones and safety runs before diamond coring.</a:t>
            </a:r>
          </a:p>
          <a:p>
            <a:pPr algn="l">
              <a:lnSpc>
                <a:spcPts val="860"/>
              </a:lnSpc>
              <a:spcAft>
                <a:spcPts val="200"/>
              </a:spcAft>
            </a:pPr>
            <a:r>
              <a:rPr sz="540" b="0">
                <a:solidFill>
                  <a:srgbClr val="01ADEE"/>
                </a:solidFill>
                <a:latin typeface="Ubuntu Mono"/>
                <a:ea typeface="Ubuntu Mono"/>
                <a:cs typeface="Ubuntu Mono"/>
                <a:sym typeface="Ubuntu Mono"/>
              </a:rPr>
              <a:t>■ </a:t>
            </a:r>
            <a:r>
              <a:rPr sz="690" b="1">
                <a:solidFill>
                  <a:srgbClr val="000000"/>
                </a:solidFill>
                <a:latin typeface="Ubuntu Mono"/>
                <a:ea typeface="Ubuntu Mono"/>
                <a:cs typeface="Ubuntu Mono"/>
                <a:sym typeface="Ubuntu Mono"/>
              </a:rPr>
              <a:t>Run on pipe or wireline: </a:t>
            </a:r>
            <a:r>
              <a:rPr sz="690" b="0">
                <a:solidFill>
                  <a:srgbClr val="000000"/>
                </a:solidFill>
                <a:latin typeface="Ubuntu Mono"/>
                <a:ea typeface="Ubuntu Mono"/>
                <a:cs typeface="Ubuntu Mono"/>
                <a:sym typeface="Ubuntu Mono"/>
              </a:rPr>
              <a:t>wireline needs adaptors and gives no circulation.</a:t>
            </a:r>
          </a:p>
        </p:txBody>
      </p:sp>
      <p:sp>
        <p:nvSpPr>
          <p:cNvPr id="28" name="TextBox 27"/>
          <p:cNvSpPr txBox="1"/>
          <p:nvPr/>
        </p:nvSpPr>
        <p:spPr>
          <a:xfrm>
            <a:off x="3848100" y="7279640"/>
            <a:ext cx="29972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OPERATING PARAMETERS</a:t>
            </a:r>
          </a:p>
        </p:txBody>
      </p:sp>
      <p:graphicFrame>
        <p:nvGraphicFramePr>
          <p:cNvPr id="29" name="Table 28"/>
          <p:cNvGraphicFramePr>
            <a:graphicFrameLocks noGrp="1"/>
          </p:cNvGraphicFramePr>
          <p:nvPr/>
        </p:nvGraphicFramePr>
        <p:xfrm>
          <a:off x="3848100" y="7470140"/>
          <a:ext cx="2997200" cy="1143000"/>
        </p:xfrm>
        <a:graphic>
          <a:graphicData uri="http://schemas.openxmlformats.org/drawingml/2006/table">
            <a:tbl>
              <a:tblPr/>
              <a:tblGrid>
                <a:gridCol w="1016000"/>
                <a:gridCol w="1981200"/>
              </a:tblGrid>
              <a:tr h="228600">
                <a:tc>
                  <a:txBody>
                    <a:bodyPr wrap="square"/>
                    <a:lstStyle/>
                    <a:p>
                      <a:pPr algn="l">
                        <a:lnSpc>
                          <a:spcPts val="800"/>
                        </a:lnSpc>
                      </a:pPr>
                      <a:r>
                        <a:rPr sz="640" b="0">
                          <a:solidFill>
                            <a:srgbClr val="FEFEFF"/>
                          </a:solidFill>
                          <a:latin typeface="Ubuntu Mono"/>
                          <a:ea typeface="Ubuntu Mono"/>
                          <a:cs typeface="Ubuntu Mono"/>
                          <a:sym typeface="Ubuntu Mono"/>
                        </a:rPr>
                        <a:t>Approach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00"/>
                        </a:lnSpc>
                      </a:pPr>
                      <a:r>
                        <a:rPr sz="640" b="0">
                          <a:solidFill>
                            <a:srgbClr val="000000"/>
                          </a:solidFill>
                          <a:latin typeface="Ubuntu Mono"/>
                          <a:ea typeface="Ubuntu Mono"/>
                          <a:cs typeface="Ubuntu Mono"/>
                          <a:sym typeface="Ubuntu Mono"/>
                        </a:rPr>
                        <a:t>Stop 6 in. to 1 ft above the fish; circulate to wash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228600">
                <a:tc>
                  <a:txBody>
                    <a:bodyPr wrap="square"/>
                    <a:lstStyle/>
                    <a:p>
                      <a:pPr algn="l">
                        <a:lnSpc>
                          <a:spcPts val="800"/>
                        </a:lnSpc>
                      </a:pPr>
                      <a:r>
                        <a:rPr sz="640" b="0">
                          <a:solidFill>
                            <a:srgbClr val="FEFEFF"/>
                          </a:solidFill>
                          <a:latin typeface="Ubuntu Mono"/>
                          <a:ea typeface="Ubuntu Mono"/>
                          <a:cs typeface="Ubuntu Mono"/>
                          <a:sym typeface="Ubuntu Mono"/>
                        </a:rPr>
                        <a:t>Contact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00"/>
                        </a:lnSpc>
                      </a:pPr>
                      <a:r>
                        <a:rPr sz="640" b="0">
                          <a:solidFill>
                            <a:srgbClr val="000000"/>
                          </a:solidFill>
                          <a:latin typeface="Ubuntu Mono"/>
                          <a:ea typeface="Ubuntu Mono"/>
                          <a:cs typeface="Ubuntu Mono"/>
                          <a:sym typeface="Ubuntu Mono"/>
                        </a:rPr>
                        <a:t>Reduce flow, lower onto fish, rotate lightly, stop pumps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228600">
                <a:tc>
                  <a:txBody>
                    <a:bodyPr wrap="square"/>
                    <a:lstStyle/>
                    <a:p>
                      <a:pPr algn="l">
                        <a:lnSpc>
                          <a:spcPts val="800"/>
                        </a:lnSpc>
                      </a:pPr>
                      <a:r>
                        <a:rPr sz="640" b="0">
                          <a:solidFill>
                            <a:srgbClr val="FEFEFF"/>
                          </a:solidFill>
                          <a:latin typeface="Ubuntu Mono"/>
                          <a:ea typeface="Ubuntu Mono"/>
                          <a:cs typeface="Ubuntu Mono"/>
                          <a:sym typeface="Ubuntu Mono"/>
                        </a:rPr>
                        <a:t>Max. weight, rotating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00"/>
                        </a:lnSpc>
                      </a:pPr>
                      <a:r>
                        <a:rPr sz="640" b="0">
                          <a:solidFill>
                            <a:srgbClr val="000000"/>
                          </a:solidFill>
                          <a:latin typeface="Ubuntu Mono"/>
                          <a:ea typeface="Ubuntu Mono"/>
                          <a:cs typeface="Ubuntu Mono"/>
                          <a:sym typeface="Ubuntu Mono"/>
                        </a:rPr>
                        <a:t>5,000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228600">
                <a:tc>
                  <a:txBody>
                    <a:bodyPr wrap="square"/>
                    <a:lstStyle/>
                    <a:p>
                      <a:pPr algn="l">
                        <a:lnSpc>
                          <a:spcPts val="800"/>
                        </a:lnSpc>
                      </a:pPr>
                      <a:r>
                        <a:rPr sz="640" b="0">
                          <a:solidFill>
                            <a:srgbClr val="FEFEFF"/>
                          </a:solidFill>
                          <a:latin typeface="Ubuntu Mono"/>
                          <a:ea typeface="Ubuntu Mono"/>
                          <a:cs typeface="Ubuntu Mono"/>
                          <a:sym typeface="Ubuntu Mono"/>
                        </a:rPr>
                        <a:t>Max. weight, no rotation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00"/>
                        </a:lnSpc>
                      </a:pPr>
                      <a:r>
                        <a:rPr sz="640" b="0">
                          <a:solidFill>
                            <a:srgbClr val="000000"/>
                          </a:solidFill>
                          <a:latin typeface="Ubuntu Mono"/>
                          <a:ea typeface="Ubuntu Mono"/>
                          <a:cs typeface="Ubuntu Mono"/>
                          <a:sym typeface="Ubuntu Mono"/>
                        </a:rPr>
                        <a:t>10,000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228600">
                <a:tc>
                  <a:txBody>
                    <a:bodyPr wrap="square"/>
                    <a:lstStyle/>
                    <a:p>
                      <a:pPr algn="l">
                        <a:lnSpc>
                          <a:spcPts val="800"/>
                        </a:lnSpc>
                      </a:pPr>
                      <a:r>
                        <a:rPr sz="640" b="0">
                          <a:solidFill>
                            <a:srgbClr val="FEFEFF"/>
                          </a:solidFill>
                          <a:latin typeface="Ubuntu Mono"/>
                          <a:ea typeface="Ubuntu Mono"/>
                          <a:cs typeface="Ubuntu Mono"/>
                          <a:sym typeface="Ubuntu Mono"/>
                        </a:rPr>
                        <a:t>Proper charge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00"/>
                        </a:lnSpc>
                      </a:pPr>
                      <a:r>
                        <a:rPr sz="640" b="0">
                          <a:solidFill>
                            <a:srgbClr val="000000"/>
                          </a:solidFill>
                          <a:latin typeface="Ubuntu Mono"/>
                          <a:ea typeface="Ubuntu Mono"/>
                          <a:cs typeface="Ubuntu Mono"/>
                          <a:sym typeface="Ubuntu Mono"/>
                        </a:rPr>
                        <a:t>2,500 gauss or more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30" name="TextBox 29"/>
          <p:cNvSpPr txBox="1"/>
          <p:nvPr/>
        </p:nvSpPr>
        <p:spPr>
          <a:xfrm>
            <a:off x="3848100" y="8714740"/>
            <a:ext cx="2997200" cy="304800"/>
          </a:xfrm>
          <a:prstGeom prst="rect">
            <a:avLst/>
          </a:prstGeom>
          <a:noFill/>
        </p:spPr>
        <p:txBody>
          <a:bodyPr wrap="square" lIns="0" rIns="0" tIns="0" bIns="0">
            <a:spAutoFit/>
          </a:bodyPr>
          <a:lstStyle/>
          <a:p>
            <a:pPr algn="l">
              <a:lnSpc>
                <a:spcPts val="740"/>
              </a:lnSpc>
              <a:spcAft>
                <a:spcPts val="0"/>
              </a:spcAft>
            </a:pPr>
            <a:r>
              <a:rPr sz="620" b="0">
                <a:solidFill>
                  <a:srgbClr val="444444"/>
                </a:solidFill>
                <a:latin typeface="Ubuntu Mono"/>
                <a:ea typeface="Ubuntu Mono"/>
                <a:cs typeface="Ubuntu Mono"/>
                <a:sym typeface="Ubuntu Mono"/>
              </a:rPr>
              <a:t>Excess weight or rotation can damage the pole plate and magnetic element. Never store two magnets face to face: the smaller loses charge. Clean ports after each run.</a:t>
            </a:r>
          </a:p>
        </p:txBody>
      </p:sp>
      <p:sp>
        <p:nvSpPr>
          <p:cNvPr id="31" name="TextBox 30"/>
          <p:cNvSpPr txBox="1"/>
          <p:nvPr/>
        </p:nvSpPr>
        <p:spPr>
          <a:xfrm>
            <a:off x="3848100" y="9146540"/>
            <a:ext cx="29972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2" name="TextBox 31"/>
          <p:cNvSpPr txBox="1"/>
          <p:nvPr/>
        </p:nvSpPr>
        <p:spPr>
          <a:xfrm>
            <a:off x="3848100" y="9337040"/>
            <a:ext cx="2997200" cy="508000"/>
          </a:xfrm>
          <a:prstGeom prst="rect">
            <a:avLst/>
          </a:prstGeom>
          <a:noFill/>
        </p:spPr>
        <p:txBody>
          <a:bodyPr wrap="square" lIns="0" rIns="0" tIns="0" bIns="0">
            <a:spAutoFit/>
          </a:bodyPr>
          <a:lstStyle/>
          <a:p>
            <a:pPr algn="just">
              <a:lnSpc>
                <a:spcPts val="850"/>
              </a:lnSpc>
              <a:spcAft>
                <a:spcPts val="0"/>
              </a:spcAft>
            </a:pPr>
            <a:r>
              <a:rPr sz="670" b="0">
                <a:solidFill>
                  <a:srgbClr val="000000"/>
                </a:solidFill>
                <a:latin typeface="Ubuntu Mono"/>
                <a:ea typeface="Ubuntu Mono"/>
                <a:cs typeface="Ubuntu Mono"/>
                <a:sym typeface="Ubuntu Mono"/>
              </a:rPr>
              <a:t>Please specify: 1. tool name and assembly number  2. O.D.  3. top connection if other than standard. Recommended accessories: 1 lipped guide and 1 mill guide.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STRING MAGNET</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CLEANING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IN-LINE STRING MAGNET</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IN-LINE MAGNET RUN IN THE WORK STRING TO COLLECT FERROUS DEBRIS DURING CASING CUTTING, MILLING, PLUG AND ABANDONMENT AND CASING EXIT OPERATIONS, ESPECIALLY WHERE THE AVAILABLE CIRCULATION IS NOT ENOUGH TO CARRY THE SWARF OUT OF THE HOLE. LARGE MAGNETIC SLEEVES WITH RARE EARTH MAGNETS GIVE A HIGH PICK-UP CAPACITY. THE BODY IS A SINGLE PIECE WITH NO INTERNAL CONNECTION AND IS RATED FOR HIGH TORQUE. AVAILABLE FOR CASING FROM 4-1/2 TO 14 IN., IN STANDARD OR HIGH TEMPERATURE VERSIONS.</a:t>
            </a:r>
          </a:p>
        </p:txBody>
      </p:sp>
      <p:sp>
        <p:nvSpPr>
          <p:cNvPr id="21" name="TextBox 20"/>
          <p:cNvSpPr txBox="1"/>
          <p:nvPr/>
        </p:nvSpPr>
        <p:spPr>
          <a:xfrm>
            <a:off x="711200" y="49784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181600"/>
          <a:ext cx="6134098" cy="1492250"/>
        </p:xfrm>
        <a:graphic>
          <a:graphicData uri="http://schemas.openxmlformats.org/drawingml/2006/table">
            <a:tbl>
              <a:tblPr/>
              <a:tblGrid>
                <a:gridCol w="1063244"/>
                <a:gridCol w="599778"/>
                <a:gridCol w="872405"/>
                <a:gridCol w="872405"/>
                <a:gridCol w="872405"/>
                <a:gridCol w="981456"/>
                <a:gridCol w="872405"/>
              </a:tblGrid>
              <a:tr h="381000">
                <a:tc>
                  <a:txBody>
                    <a:bodyPr wrap="square"/>
                    <a:lstStyle/>
                    <a:p>
                      <a:pPr algn="ctr">
                        <a:lnSpc>
                          <a:spcPts val="860"/>
                        </a:lnSpc>
                      </a:pPr>
                      <a:r>
                        <a:rPr sz="700" b="1">
                          <a:solidFill>
                            <a:srgbClr val="FEFEFF"/>
                          </a:solidFill>
                          <a:latin typeface="Ubuntu Mono"/>
                          <a:ea typeface="Ubuntu Mono"/>
                          <a:cs typeface="Ubuntu Mono"/>
                          <a:sym typeface="Ubuntu Mono"/>
                        </a:rPr>
                        <a:t>Casing size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Tool OD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Connection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Tool yield torque (ft-lb)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Tool tensile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Connection yield torque (ft-lb)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Connection tensile*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58750">
                <a:tc>
                  <a:txBody>
                    <a:bodyPr wrap="square"/>
                    <a:lstStyle/>
                    <a:p>
                      <a:pPr algn="ctr">
                        <a:lnSpc>
                          <a:spcPts val="860"/>
                        </a:lnSpc>
                      </a:pPr>
                      <a:r>
                        <a:rPr sz="700" b="0">
                          <a:solidFill>
                            <a:srgbClr val="FEFEFF"/>
                          </a:solidFill>
                          <a:latin typeface="Ubuntu Mono"/>
                          <a:ea typeface="Ubuntu Mono"/>
                          <a:cs typeface="Ubuntu Mono"/>
                          <a:sym typeface="Ubuntu Mono"/>
                        </a:rPr>
                        <a:t>4-1/2, 4-3/4, 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3-1/8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2-3/8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457,940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5,810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362,660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8750">
                <a:tc>
                  <a:txBody>
                    <a:bodyPr wrap="square"/>
                    <a:lstStyle/>
                    <a:p>
                      <a:pPr algn="ctr">
                        <a:lnSpc>
                          <a:spcPts val="860"/>
                        </a:lnSpc>
                      </a:pPr>
                      <a:r>
                        <a:rPr sz="700" b="0">
                          <a:solidFill>
                            <a:srgbClr val="FEFEFF"/>
                          </a:solidFill>
                          <a:latin typeface="Ubuntu Mono"/>
                          <a:ea typeface="Ubuntu Mono"/>
                          <a:cs typeface="Ubuntu Mono"/>
                          <a:sym typeface="Ubuntu Mono"/>
                        </a:rPr>
                        <a:t>5-1/2, 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60"/>
                        </a:lnSpc>
                      </a:pPr>
                      <a:r>
                        <a:rPr sz="700" b="0">
                          <a:solidFill>
                            <a:srgbClr val="000000"/>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2-7/8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20,000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698,880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11,080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478,540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8750">
                <a:tc>
                  <a:txBody>
                    <a:bodyPr wrap="square"/>
                    <a:lstStyle/>
                    <a:p>
                      <a:pPr algn="ctr">
                        <a:lnSpc>
                          <a:spcPts val="860"/>
                        </a:lnSpc>
                      </a:pPr>
                      <a:r>
                        <a:rPr sz="700" b="0">
                          <a:solidFill>
                            <a:srgbClr val="FEFEFF"/>
                          </a:solidFill>
                          <a:latin typeface="Ubuntu Mono"/>
                          <a:ea typeface="Ubuntu Mono"/>
                          <a:cs typeface="Ubuntu Mono"/>
                          <a:sym typeface="Ubuntu Mono"/>
                        </a:rPr>
                        <a:t>6-5/8, 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3-1/2 API IF</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25,000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1,032,640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18,090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572,690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8750">
                <a:tc>
                  <a:txBody>
                    <a:bodyPr wrap="square"/>
                    <a:lstStyle/>
                    <a:p>
                      <a:pPr algn="ctr">
                        <a:lnSpc>
                          <a:spcPts val="860"/>
                        </a:lnSpc>
                      </a:pPr>
                      <a:r>
                        <a:rPr sz="700" b="0">
                          <a:solidFill>
                            <a:srgbClr val="FEFEFF"/>
                          </a:solidFill>
                          <a:latin typeface="Ubuntu Mono"/>
                          <a:ea typeface="Ubuntu Mono"/>
                          <a:cs typeface="Ubuntu Mono"/>
                          <a:sym typeface="Ubuntu Mono"/>
                        </a:rPr>
                        <a:t>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60"/>
                        </a:lnSpc>
                      </a:pPr>
                      <a:r>
                        <a:rPr sz="700" b="0">
                          <a:solidFill>
                            <a:srgbClr val="000000"/>
                          </a:solidFill>
                          <a:latin typeface="Ubuntu Mono"/>
                          <a:ea typeface="Ubuntu Mono"/>
                          <a:cs typeface="Ubuntu Mono"/>
                          <a:sym typeface="Ubuntu Mono"/>
                        </a:rPr>
                        <a:t>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3-1/2 API IF</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42,500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2,467,780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18,090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572,690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8750">
                <a:tc>
                  <a:txBody>
                    <a:bodyPr wrap="square"/>
                    <a:lstStyle/>
                    <a:p>
                      <a:pPr algn="ctr">
                        <a:lnSpc>
                          <a:spcPts val="860"/>
                        </a:lnSpc>
                      </a:pPr>
                      <a:r>
                        <a:rPr sz="700" b="0">
                          <a:solidFill>
                            <a:srgbClr val="FEFEFF"/>
                          </a:solidFill>
                          <a:latin typeface="Ubuntu Mono"/>
                          <a:ea typeface="Ubuntu Mono"/>
                          <a:cs typeface="Ubuntu Mono"/>
                          <a:sym typeface="Ubuntu Mono"/>
                        </a:rPr>
                        <a:t>9-5/8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6-1/2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4-1/2 API IF</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80,000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2,126,520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38,060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919,880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8750">
                <a:tc>
                  <a:txBody>
                    <a:bodyPr wrap="square"/>
                    <a:lstStyle/>
                    <a:p>
                      <a:pPr algn="ctr">
                        <a:lnSpc>
                          <a:spcPts val="860"/>
                        </a:lnSpc>
                      </a:pPr>
                      <a:r>
                        <a:rPr sz="700" b="0">
                          <a:solidFill>
                            <a:srgbClr val="FEFEFF"/>
                          </a:solidFill>
                          <a:latin typeface="Ubuntu Mono"/>
                          <a:ea typeface="Ubuntu Mono"/>
                          <a:cs typeface="Ubuntu Mono"/>
                          <a:sym typeface="Ubuntu Mono"/>
                        </a:rPr>
                        <a:t>10-3/4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60"/>
                        </a:lnSpc>
                      </a:pPr>
                      <a:r>
                        <a:rPr sz="70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6-5/8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105,000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3,759,840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83,380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1,770,500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8750">
                <a:tc>
                  <a:txBody>
                    <a:bodyPr wrap="square"/>
                    <a:lstStyle/>
                    <a:p>
                      <a:pPr algn="ctr">
                        <a:lnSpc>
                          <a:spcPts val="860"/>
                        </a:lnSpc>
                      </a:pPr>
                      <a:r>
                        <a:rPr sz="700" b="0">
                          <a:solidFill>
                            <a:srgbClr val="FEFEFF"/>
                          </a:solidFill>
                          <a:latin typeface="Ubuntu Mono"/>
                          <a:ea typeface="Ubuntu Mono"/>
                          <a:cs typeface="Ubuntu Mono"/>
                          <a:sym typeface="Ubuntu Mono"/>
                        </a:rPr>
                        <a:t>13-3/8, 13-5/8, 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10-1/8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6-5/8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250,000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4,879,680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83,380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1,770,500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3" name="TextBox 22"/>
          <p:cNvSpPr txBox="1"/>
          <p:nvPr/>
        </p:nvSpPr>
        <p:spPr>
          <a:xfrm>
            <a:off x="711200" y="6711950"/>
            <a:ext cx="6134100" cy="114300"/>
          </a:xfrm>
          <a:prstGeom prst="rect">
            <a:avLst/>
          </a:prstGeom>
          <a:noFill/>
        </p:spPr>
        <p:txBody>
          <a:bodyPr wrap="square" lIns="0" rIns="0" tIns="0" bIns="0">
            <a:spAutoFit/>
          </a:bodyPr>
          <a:lstStyle/>
          <a:p>
            <a:pPr algn="l">
              <a:spcAft>
                <a:spcPts val="0"/>
              </a:spcAft>
            </a:pPr>
            <a:r>
              <a:rPr sz="640" b="0">
                <a:solidFill>
                  <a:srgbClr val="444444"/>
                </a:solidFill>
                <a:latin typeface="Ubuntu Mono"/>
                <a:ea typeface="Ubuntu Mono"/>
                <a:cs typeface="Ubuntu Mono"/>
                <a:sym typeface="Ubuntu Mono"/>
              </a:rPr>
              <a:t>* Tensile load at zero make-up torque. Dimensions in inches, loads in lb and ft-lb.</a:t>
            </a:r>
          </a:p>
        </p:txBody>
      </p:sp>
      <p:pic>
        <p:nvPicPr>
          <p:cNvPr id="24" name="Picture 23" descr="stringmagnet_tool_blue.png"/>
          <p:cNvPicPr>
            <a:picLocks noChangeAspect="1"/>
          </p:cNvPicPr>
          <p:nvPr/>
        </p:nvPicPr>
        <p:blipFill>
          <a:blip r:embed="rId4"/>
          <a:stretch>
            <a:fillRect/>
          </a:stretch>
        </p:blipFill>
        <p:spPr>
          <a:xfrm>
            <a:off x="762000" y="7061200"/>
            <a:ext cx="2730500" cy="1355722"/>
          </a:xfrm>
          <a:prstGeom prst="rect">
            <a:avLst/>
          </a:prstGeom>
        </p:spPr>
      </p:pic>
      <p:sp>
        <p:nvSpPr>
          <p:cNvPr id="25" name="TextBox 24"/>
          <p:cNvSpPr txBox="1"/>
          <p:nvPr/>
        </p:nvSpPr>
        <p:spPr>
          <a:xfrm>
            <a:off x="3810000" y="695960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6" name="TextBox 25"/>
          <p:cNvSpPr txBox="1"/>
          <p:nvPr/>
        </p:nvSpPr>
        <p:spPr>
          <a:xfrm>
            <a:off x="3810000" y="7162800"/>
            <a:ext cx="3035300" cy="127000"/>
          </a:xfrm>
          <a:prstGeom prst="rect">
            <a:avLst/>
          </a:prstGeom>
          <a:noFill/>
        </p:spPr>
        <p:txBody>
          <a:bodyPr wrap="square" lIns="0" rIns="0" tIns="0" bIns="0">
            <a:spAutoFit/>
          </a:bodyPr>
          <a:lstStyle/>
          <a:p>
            <a:pPr algn="l">
              <a:lnSpc>
                <a:spcPts val="900"/>
              </a:lnSpc>
              <a:spcAft>
                <a:spcPts val="20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Large magnetic area: </a:t>
            </a:r>
            <a:r>
              <a:rPr sz="710" b="0">
                <a:solidFill>
                  <a:srgbClr val="000000"/>
                </a:solidFill>
                <a:latin typeface="Ubuntu Mono"/>
                <a:ea typeface="Ubuntu Mono"/>
                <a:cs typeface="Ubuntu Mono"/>
                <a:sym typeface="Ubuntu Mono"/>
              </a:rPr>
              <a:t>high pick-up capacity for ferrous debris.</a:t>
            </a:r>
          </a:p>
          <a:p>
            <a:pPr algn="l">
              <a:lnSpc>
                <a:spcPts val="900"/>
              </a:lnSpc>
              <a:spcAft>
                <a:spcPts val="20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Rare earth magnets: </a:t>
            </a:r>
            <a:r>
              <a:rPr sz="710" b="0">
                <a:solidFill>
                  <a:srgbClr val="000000"/>
                </a:solidFill>
                <a:latin typeface="Ubuntu Mono"/>
                <a:ea typeface="Ubuntu Mono"/>
                <a:cs typeface="Ubuntu Mono"/>
                <a:sym typeface="Ubuntu Mono"/>
              </a:rPr>
              <a:t>powerful field, standard and high temperature options.</a:t>
            </a:r>
          </a:p>
          <a:p>
            <a:pPr algn="l">
              <a:lnSpc>
                <a:spcPts val="900"/>
              </a:lnSpc>
              <a:spcAft>
                <a:spcPts val="20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Replaceable sleeves: </a:t>
            </a:r>
            <a:r>
              <a:rPr sz="710" b="0">
                <a:solidFill>
                  <a:srgbClr val="000000"/>
                </a:solidFill>
                <a:latin typeface="Ubuntu Mono"/>
                <a:ea typeface="Ubuntu Mono"/>
                <a:cs typeface="Ubuntu Mono"/>
                <a:sym typeface="Ubuntu Mono"/>
              </a:rPr>
              <a:t>magnetic sleeves are easily removed and replaced.</a:t>
            </a:r>
          </a:p>
          <a:p>
            <a:pPr algn="l">
              <a:lnSpc>
                <a:spcPts val="900"/>
              </a:lnSpc>
              <a:spcAft>
                <a:spcPts val="20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One-piece body: </a:t>
            </a:r>
            <a:r>
              <a:rPr sz="710" b="0">
                <a:solidFill>
                  <a:srgbClr val="000000"/>
                </a:solidFill>
                <a:latin typeface="Ubuntu Mono"/>
                <a:ea typeface="Ubuntu Mono"/>
                <a:cs typeface="Ubuntu Mono"/>
                <a:sym typeface="Ubuntu Mono"/>
              </a:rPr>
              <a:t>solid mandrel with no internal connection.</a:t>
            </a:r>
          </a:p>
          <a:p>
            <a:pPr algn="l">
              <a:lnSpc>
                <a:spcPts val="900"/>
              </a:lnSpc>
              <a:spcAft>
                <a:spcPts val="20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High torque rating: </a:t>
            </a:r>
            <a:r>
              <a:rPr sz="710" b="0">
                <a:solidFill>
                  <a:srgbClr val="000000"/>
                </a:solidFill>
                <a:latin typeface="Ubuntu Mono"/>
                <a:ea typeface="Ubuntu Mono"/>
                <a:cs typeface="Ubuntu Mono"/>
                <a:sym typeface="Ubuntu Mono"/>
              </a:rPr>
              <a:t>suited to milling and cutting strings.</a:t>
            </a:r>
          </a:p>
          <a:p>
            <a:pPr algn="l">
              <a:lnSpc>
                <a:spcPts val="900"/>
              </a:lnSpc>
              <a:spcAft>
                <a:spcPts val="20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Fishable through the ID.</a:t>
            </a:r>
          </a:p>
        </p:txBody>
      </p:sp>
      <p:sp>
        <p:nvSpPr>
          <p:cNvPr id="27" name="TextBox 26"/>
          <p:cNvSpPr txBox="1"/>
          <p:nvPr/>
        </p:nvSpPr>
        <p:spPr>
          <a:xfrm>
            <a:off x="711200" y="8712200"/>
            <a:ext cx="2921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APPLICATIONS</a:t>
            </a:r>
          </a:p>
        </p:txBody>
      </p:sp>
      <p:sp>
        <p:nvSpPr>
          <p:cNvPr id="28" name="TextBox 27"/>
          <p:cNvSpPr txBox="1"/>
          <p:nvPr/>
        </p:nvSpPr>
        <p:spPr>
          <a:xfrm>
            <a:off x="711200" y="8915400"/>
            <a:ext cx="2984500" cy="127000"/>
          </a:xfrm>
          <a:prstGeom prst="rect">
            <a:avLst/>
          </a:prstGeom>
          <a:noFill/>
        </p:spPr>
        <p:txBody>
          <a:bodyPr wrap="square" lIns="0" rIns="0" tIns="0" bIns="0">
            <a:spAutoFit/>
          </a:bodyPr>
          <a:lstStyle/>
          <a:p>
            <a:pPr algn="l">
              <a:lnSpc>
                <a:spcPts val="900"/>
              </a:lnSpc>
              <a:spcAft>
                <a:spcPts val="200"/>
              </a:spcAft>
            </a:pPr>
            <a:r>
              <a:rPr sz="560" b="0">
                <a:solidFill>
                  <a:srgbClr val="01ADEE"/>
                </a:solidFill>
                <a:latin typeface="Ubuntu Mono"/>
                <a:ea typeface="Ubuntu Mono"/>
                <a:cs typeface="Ubuntu Mono"/>
                <a:sym typeface="Ubuntu Mono"/>
              </a:rPr>
              <a:t>■ </a:t>
            </a:r>
            <a:r>
              <a:rPr sz="710" b="0">
                <a:solidFill>
                  <a:srgbClr val="000000"/>
                </a:solidFill>
                <a:latin typeface="Ubuntu Mono"/>
                <a:ea typeface="Ubuntu Mono"/>
                <a:cs typeface="Ubuntu Mono"/>
                <a:sym typeface="Ubuntu Mono"/>
              </a:rPr>
              <a:t>Casing cutting and milling</a:t>
            </a:r>
          </a:p>
          <a:p>
            <a:pPr algn="l">
              <a:lnSpc>
                <a:spcPts val="900"/>
              </a:lnSpc>
              <a:spcAft>
                <a:spcPts val="200"/>
              </a:spcAft>
            </a:pPr>
            <a:r>
              <a:rPr sz="560" b="0">
                <a:solidFill>
                  <a:srgbClr val="01ADEE"/>
                </a:solidFill>
                <a:latin typeface="Ubuntu Mono"/>
                <a:ea typeface="Ubuntu Mono"/>
                <a:cs typeface="Ubuntu Mono"/>
                <a:sym typeface="Ubuntu Mono"/>
              </a:rPr>
              <a:t>■ </a:t>
            </a:r>
            <a:r>
              <a:rPr sz="710" b="0">
                <a:solidFill>
                  <a:srgbClr val="000000"/>
                </a:solidFill>
                <a:latin typeface="Ubuntu Mono"/>
                <a:ea typeface="Ubuntu Mono"/>
                <a:cs typeface="Ubuntu Mono"/>
                <a:sym typeface="Ubuntu Mono"/>
              </a:rPr>
              <a:t>Plug and abandonment</a:t>
            </a:r>
          </a:p>
          <a:p>
            <a:pPr algn="l">
              <a:lnSpc>
                <a:spcPts val="900"/>
              </a:lnSpc>
              <a:spcAft>
                <a:spcPts val="200"/>
              </a:spcAft>
            </a:pPr>
            <a:r>
              <a:rPr sz="560" b="0">
                <a:solidFill>
                  <a:srgbClr val="01ADEE"/>
                </a:solidFill>
                <a:latin typeface="Ubuntu Mono"/>
                <a:ea typeface="Ubuntu Mono"/>
                <a:cs typeface="Ubuntu Mono"/>
                <a:sym typeface="Ubuntu Mono"/>
              </a:rPr>
              <a:t>■ </a:t>
            </a:r>
            <a:r>
              <a:rPr sz="710" b="0">
                <a:solidFill>
                  <a:srgbClr val="000000"/>
                </a:solidFill>
                <a:latin typeface="Ubuntu Mono"/>
                <a:ea typeface="Ubuntu Mono"/>
                <a:cs typeface="Ubuntu Mono"/>
                <a:sym typeface="Ubuntu Mono"/>
              </a:rPr>
              <a:t>Casing exit (window milling)</a:t>
            </a:r>
          </a:p>
          <a:p>
            <a:pPr algn="l">
              <a:lnSpc>
                <a:spcPts val="900"/>
              </a:lnSpc>
              <a:spcAft>
                <a:spcPts val="200"/>
              </a:spcAft>
            </a:pPr>
            <a:r>
              <a:rPr sz="560" b="0">
                <a:solidFill>
                  <a:srgbClr val="01ADEE"/>
                </a:solidFill>
                <a:latin typeface="Ubuntu Mono"/>
                <a:ea typeface="Ubuntu Mono"/>
                <a:cs typeface="Ubuntu Mono"/>
                <a:sym typeface="Ubuntu Mono"/>
              </a:rPr>
              <a:t>■ </a:t>
            </a:r>
            <a:r>
              <a:rPr sz="710" b="0">
                <a:solidFill>
                  <a:srgbClr val="000000"/>
                </a:solidFill>
                <a:latin typeface="Ubuntu Mono"/>
                <a:ea typeface="Ubuntu Mono"/>
                <a:cs typeface="Ubuntu Mono"/>
                <a:sym typeface="Ubuntu Mono"/>
              </a:rPr>
              <a:t>Wellbore cleanout where circulation is limited</a:t>
            </a:r>
          </a:p>
        </p:txBody>
      </p:sp>
      <p:sp>
        <p:nvSpPr>
          <p:cNvPr id="29" name="TextBox 28"/>
          <p:cNvSpPr txBox="1"/>
          <p:nvPr/>
        </p:nvSpPr>
        <p:spPr>
          <a:xfrm>
            <a:off x="3810000" y="871220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BENEFITS</a:t>
            </a:r>
          </a:p>
        </p:txBody>
      </p:sp>
      <p:sp>
        <p:nvSpPr>
          <p:cNvPr id="30" name="TextBox 29"/>
          <p:cNvSpPr txBox="1"/>
          <p:nvPr/>
        </p:nvSpPr>
        <p:spPr>
          <a:xfrm>
            <a:off x="3810000" y="8915400"/>
            <a:ext cx="3035300" cy="127000"/>
          </a:xfrm>
          <a:prstGeom prst="rect">
            <a:avLst/>
          </a:prstGeom>
          <a:noFill/>
        </p:spPr>
        <p:txBody>
          <a:bodyPr wrap="square" lIns="0" rIns="0" tIns="0" bIns="0">
            <a:spAutoFit/>
          </a:bodyPr>
          <a:lstStyle/>
          <a:p>
            <a:pPr algn="l">
              <a:lnSpc>
                <a:spcPts val="900"/>
              </a:lnSpc>
              <a:spcAft>
                <a:spcPts val="200"/>
              </a:spcAft>
            </a:pPr>
            <a:r>
              <a:rPr sz="560" b="0">
                <a:solidFill>
                  <a:srgbClr val="01ADEE"/>
                </a:solidFill>
                <a:latin typeface="Ubuntu Mono"/>
                <a:ea typeface="Ubuntu Mono"/>
                <a:cs typeface="Ubuntu Mono"/>
                <a:sym typeface="Ubuntu Mono"/>
              </a:rPr>
              <a:t>■ </a:t>
            </a:r>
            <a:r>
              <a:rPr sz="710" b="0">
                <a:solidFill>
                  <a:srgbClr val="000000"/>
                </a:solidFill>
                <a:latin typeface="Ubuntu Mono"/>
                <a:ea typeface="Ubuntu Mono"/>
                <a:cs typeface="Ubuntu Mono"/>
                <a:sym typeface="Ubuntu Mono"/>
              </a:rPr>
              <a:t>Better ferrous debris removal when circulation is inadequate</a:t>
            </a:r>
          </a:p>
          <a:p>
            <a:pPr algn="l">
              <a:lnSpc>
                <a:spcPts val="900"/>
              </a:lnSpc>
              <a:spcAft>
                <a:spcPts val="200"/>
              </a:spcAft>
            </a:pPr>
            <a:r>
              <a:rPr sz="560" b="0">
                <a:solidFill>
                  <a:srgbClr val="01ADEE"/>
                </a:solidFill>
                <a:latin typeface="Ubuntu Mono"/>
                <a:ea typeface="Ubuntu Mono"/>
                <a:cs typeface="Ubuntu Mono"/>
                <a:sym typeface="Ubuntu Mono"/>
              </a:rPr>
              <a:t>■ </a:t>
            </a:r>
            <a:r>
              <a:rPr sz="710" b="0">
                <a:solidFill>
                  <a:srgbClr val="000000"/>
                </a:solidFill>
                <a:latin typeface="Ubuntu Mono"/>
                <a:ea typeface="Ubuntu Mono"/>
                <a:cs typeface="Ubuntu Mono"/>
                <a:sym typeface="Ubuntu Mono"/>
              </a:rPr>
              <a:t>Cleaner wellbore, less non-productive time</a:t>
            </a:r>
          </a:p>
          <a:p>
            <a:pPr algn="l">
              <a:lnSpc>
                <a:spcPts val="900"/>
              </a:lnSpc>
              <a:spcAft>
                <a:spcPts val="200"/>
              </a:spcAft>
            </a:pPr>
            <a:r>
              <a:rPr sz="560" b="0">
                <a:solidFill>
                  <a:srgbClr val="01ADEE"/>
                </a:solidFill>
                <a:latin typeface="Ubuntu Mono"/>
                <a:ea typeface="Ubuntu Mono"/>
                <a:cs typeface="Ubuntu Mono"/>
                <a:sym typeface="Ubuntu Mono"/>
              </a:rPr>
              <a:t>■ </a:t>
            </a:r>
            <a:r>
              <a:rPr sz="710" b="0">
                <a:solidFill>
                  <a:srgbClr val="000000"/>
                </a:solidFill>
                <a:latin typeface="Ubuntu Mono"/>
                <a:ea typeface="Ubuntu Mono"/>
                <a:cs typeface="Ubuntu Mono"/>
                <a:sym typeface="Ubuntu Mono"/>
              </a:rPr>
              <a:t>Lower overall cost of the operation</a:t>
            </a:r>
          </a:p>
        </p:txBody>
      </p:sp>
      <p:sp>
        <p:nvSpPr>
          <p:cNvPr id="31" name="TextBox 30"/>
          <p:cNvSpPr txBox="1"/>
          <p:nvPr/>
        </p:nvSpPr>
        <p:spPr>
          <a:xfrm>
            <a:off x="711200" y="97028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2" name="TextBox 31"/>
          <p:cNvSpPr txBox="1"/>
          <p:nvPr/>
        </p:nvSpPr>
        <p:spPr>
          <a:xfrm>
            <a:off x="711200" y="9893300"/>
            <a:ext cx="6134100" cy="381000"/>
          </a:xfrm>
          <a:prstGeom prst="rect">
            <a:avLst/>
          </a:prstGeom>
          <a:noFill/>
        </p:spPr>
        <p:txBody>
          <a:bodyPr wrap="square" lIns="0" rIns="0" tIns="0" bIns="0">
            <a:spAutoFit/>
          </a:bodyPr>
          <a:lstStyle/>
          <a:p>
            <a:pPr algn="just">
              <a:lnSpc>
                <a:spcPts val="880"/>
              </a:lnSpc>
              <a:spcAft>
                <a:spcPts val="0"/>
              </a:spcAft>
            </a:pPr>
            <a:r>
              <a:rPr sz="690" b="0">
                <a:solidFill>
                  <a:srgbClr val="000000"/>
                </a:solidFill>
                <a:latin typeface="Ubuntu Mono"/>
                <a:ea typeface="Ubuntu Mono"/>
                <a:cs typeface="Ubuntu Mono"/>
                <a:sym typeface="Ubuntu Mono"/>
              </a:rPr>
              <a:t>Please specify: 1. casing size and weight  2. tool OD and top / bottom connections  3. standard or high temperature magnets  4. number of magnetic sleeves and spare sleeves.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HEC</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FISHING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HYDRAULIC EXTERNAL CUTTER</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HYDRAULICALLY ACTUATED EXTERNAL CUTTER THAT CUTS AND RECOVERS TUBING OR DRILL PIPE IN A SINGLE TRIP. RUN ON A WASHOVER STRING, IT CUTS STUCK PIPE FROM THE OUTSIDE: THE KNIVES ARE FED BY PUMP PRESSURE, GIVING FAST, SMOOTH AND CLEAN CUTS UNDER SENSITIVE OPERATOR CONTROL. IT CUTS ALL TYPES OF DRILL PIPE AND TUBING, REGARDLESS OF TOOL-JOINT STYLE.</a:t>
            </a:r>
          </a:p>
        </p:txBody>
      </p:sp>
      <p:sp>
        <p:nvSpPr>
          <p:cNvPr id="21" name="TextBox 20"/>
          <p:cNvSpPr txBox="1"/>
          <p:nvPr/>
        </p:nvSpPr>
        <p:spPr>
          <a:xfrm>
            <a:off x="711200" y="49784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181600"/>
          <a:ext cx="6134096" cy="1397000"/>
        </p:xfrm>
        <a:graphic>
          <a:graphicData uri="http://schemas.openxmlformats.org/drawingml/2006/table">
            <a:tbl>
              <a:tblPr/>
              <a:tblGrid>
                <a:gridCol w="630608"/>
                <a:gridCol w="1089232"/>
                <a:gridCol w="802592"/>
                <a:gridCol w="802592"/>
                <a:gridCol w="1232552"/>
                <a:gridCol w="1003240"/>
                <a:gridCol w="573280"/>
              </a:tblGrid>
              <a:tr h="330200">
                <a:tc>
                  <a:txBody>
                    <a:bodyPr wrap="square"/>
                    <a:lstStyle/>
                    <a:p>
                      <a:pPr algn="ctr">
                        <a:lnSpc>
                          <a:spcPts val="880"/>
                        </a:lnSpc>
                      </a:pPr>
                      <a:r>
                        <a:rPr sz="720" b="1">
                          <a:solidFill>
                            <a:srgbClr val="FEFEFF"/>
                          </a:solidFill>
                          <a:latin typeface="Ubuntu Mono"/>
                          <a:ea typeface="Ubuntu Mono"/>
                          <a:cs typeface="Ubuntu Mono"/>
                          <a:sym typeface="Ubuntu Mono"/>
                        </a:rPr>
                        <a:t>Cutter ref.</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Pipe to cut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Cutter 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Cutter I.D.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Max. size passed over*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Min. hole to run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Wt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70086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1.315 - 2-1/16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34415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1.315 - 2-3/8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4-5/16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70209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1.900 - 2-7/8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4-7/16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3-7/16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41727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1.900 - 2-7/8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4-15/16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34551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2-1/16 - 4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4-5/16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51148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2-3/8 - 4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35957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3-1/2 - 5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3" name="TextBox 22"/>
          <p:cNvSpPr txBox="1"/>
          <p:nvPr/>
        </p:nvSpPr>
        <p:spPr>
          <a:xfrm>
            <a:off x="711200" y="6616700"/>
            <a:ext cx="6134100" cy="114300"/>
          </a:xfrm>
          <a:prstGeom prst="rect">
            <a:avLst/>
          </a:prstGeom>
          <a:noFill/>
        </p:spPr>
        <p:txBody>
          <a:bodyPr wrap="square" lIns="0" rIns="0" tIns="0" bIns="0">
            <a:spAutoFit/>
          </a:bodyPr>
          <a:lstStyle/>
          <a:p>
            <a:pPr algn="l">
              <a:spcAft>
                <a:spcPts val="0"/>
              </a:spcAft>
            </a:pPr>
            <a:r>
              <a:rPr sz="620" b="0">
                <a:solidFill>
                  <a:srgbClr val="444444"/>
                </a:solidFill>
                <a:latin typeface="Ubuntu Mono"/>
                <a:ea typeface="Ubuntu Mono"/>
                <a:cs typeface="Ubuntu Mono"/>
                <a:sym typeface="Ubuntu Mono"/>
              </a:rPr>
              <a:t>* Maximum pipe O.D. the cutter will pass over, dressed with the largest piston segment. Dimensions in inches, weights in lb (approximate).</a:t>
            </a:r>
          </a:p>
        </p:txBody>
      </p:sp>
      <p:pic>
        <p:nvPicPr>
          <p:cNvPr id="24" name="Picture 23" descr="hec_tool_blue.png"/>
          <p:cNvPicPr>
            <a:picLocks noChangeAspect="1"/>
          </p:cNvPicPr>
          <p:nvPr/>
        </p:nvPicPr>
        <p:blipFill>
          <a:blip r:embed="rId4"/>
          <a:stretch>
            <a:fillRect/>
          </a:stretch>
        </p:blipFill>
        <p:spPr>
          <a:xfrm>
            <a:off x="711200" y="6946900"/>
            <a:ext cx="514024" cy="3251200"/>
          </a:xfrm>
          <a:prstGeom prst="rect">
            <a:avLst/>
          </a:prstGeom>
        </p:spPr>
      </p:pic>
      <p:sp>
        <p:nvSpPr>
          <p:cNvPr id="25" name="TextBox 24"/>
          <p:cNvSpPr txBox="1"/>
          <p:nvPr/>
        </p:nvSpPr>
        <p:spPr>
          <a:xfrm>
            <a:off x="1397000" y="6921500"/>
            <a:ext cx="2540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6" name="TextBox 25"/>
          <p:cNvSpPr txBox="1"/>
          <p:nvPr/>
        </p:nvSpPr>
        <p:spPr>
          <a:xfrm>
            <a:off x="1397000" y="7124700"/>
            <a:ext cx="2540000" cy="127000"/>
          </a:xfrm>
          <a:prstGeom prst="rect">
            <a:avLst/>
          </a:prstGeom>
          <a:noFill/>
        </p:spPr>
        <p:txBody>
          <a:bodyPr wrap="square" lIns="0" rIns="0" tIns="0" bIns="0">
            <a:spAutoFit/>
          </a:bodyPr>
          <a:lstStyle/>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Cuts and recovers: </a:t>
            </a:r>
            <a:r>
              <a:rPr sz="700" b="0">
                <a:solidFill>
                  <a:srgbClr val="000000"/>
                </a:solidFill>
                <a:latin typeface="Ubuntu Mono"/>
                <a:ea typeface="Ubuntu Mono"/>
                <a:cs typeface="Ubuntu Mono"/>
                <a:sym typeface="Ubuntu Mono"/>
              </a:rPr>
              <a:t>tubing or drill pipe in one trip, inside a washover string.</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Hydraulic feed: </a:t>
            </a:r>
            <a:r>
              <a:rPr sz="700" b="0">
                <a:solidFill>
                  <a:srgbClr val="000000"/>
                </a:solidFill>
                <a:latin typeface="Ubuntu Mono"/>
                <a:ea typeface="Ubuntu Mono"/>
                <a:cs typeface="Ubuntu Mono"/>
                <a:sym typeface="Ubuntu Mono"/>
              </a:rPr>
              <a:t>pump pressure drives the knives; sensitive control of the cut.</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Run-in protection: </a:t>
            </a:r>
            <a:r>
              <a:rPr sz="700" b="0">
                <a:solidFill>
                  <a:srgbClr val="000000"/>
                </a:solidFill>
                <a:latin typeface="Ubuntu Mono"/>
                <a:ea typeface="Ubuntu Mono"/>
                <a:cs typeface="Ubuntu Mono"/>
                <a:sym typeface="Ubuntu Mono"/>
              </a:rPr>
              <a:t>shear pins hold the piston until the cut starts (about 145 psi).</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Interchangeable piston segments: </a:t>
            </a:r>
            <a:r>
              <a:rPr sz="700" b="0">
                <a:solidFill>
                  <a:srgbClr val="000000"/>
                </a:solidFill>
                <a:latin typeface="Ubuntu Mono"/>
                <a:ea typeface="Ubuntu Mono"/>
                <a:cs typeface="Ubuntu Mono"/>
                <a:sym typeface="Ubuntu Mono"/>
              </a:rPr>
              <a:t>one cutter covers several pipe sizes; threaded-edge segments pass collars.</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Cool, flushed cut: </a:t>
            </a:r>
            <a:r>
              <a:rPr sz="700" b="0">
                <a:solidFill>
                  <a:srgbClr val="000000"/>
                </a:solidFill>
                <a:latin typeface="Ubuntu Mono"/>
                <a:ea typeface="Ubuntu Mono"/>
                <a:cs typeface="Ubuntu Mono"/>
                <a:sym typeface="Ubuntu Mono"/>
              </a:rPr>
              <a:t>each segment has a fluid passage for flushing and cooling.</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Hardened knives: </a:t>
            </a:r>
            <a:r>
              <a:rPr sz="700" b="0">
                <a:solidFill>
                  <a:srgbClr val="000000"/>
                </a:solidFill>
                <a:latin typeface="Ubuntu Mono"/>
                <a:ea typeface="Ubuntu Mono"/>
                <a:cs typeface="Ubuntu Mono"/>
                <a:sym typeface="Ubuntu Mono"/>
              </a:rPr>
              <a:t>tempered tool steel, replaceable in the field.</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Guide options: </a:t>
            </a:r>
            <a:r>
              <a:rPr sz="700" b="0">
                <a:solidFill>
                  <a:srgbClr val="000000"/>
                </a:solidFill>
                <a:latin typeface="Ubuntu Mono"/>
                <a:ea typeface="Ubuntu Mono"/>
                <a:cs typeface="Ubuntu Mono"/>
                <a:sym typeface="Ubuntu Mono"/>
              </a:rPr>
              <a:t>standard cut-lip, extra long wall hook or mill-toothed.</a:t>
            </a:r>
          </a:p>
        </p:txBody>
      </p:sp>
      <p:sp>
        <p:nvSpPr>
          <p:cNvPr id="27" name="TextBox 26"/>
          <p:cNvSpPr txBox="1"/>
          <p:nvPr/>
        </p:nvSpPr>
        <p:spPr>
          <a:xfrm>
            <a:off x="1397000" y="8953500"/>
            <a:ext cx="2540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OPERATING NOTES</a:t>
            </a:r>
          </a:p>
        </p:txBody>
      </p:sp>
      <p:sp>
        <p:nvSpPr>
          <p:cNvPr id="28" name="TextBox 27"/>
          <p:cNvSpPr txBox="1"/>
          <p:nvPr/>
        </p:nvSpPr>
        <p:spPr>
          <a:xfrm>
            <a:off x="1397000" y="9156700"/>
            <a:ext cx="2540000" cy="127000"/>
          </a:xfrm>
          <a:prstGeom prst="rect">
            <a:avLst/>
          </a:prstGeom>
          <a:noFill/>
        </p:spPr>
        <p:txBody>
          <a:bodyPr wrap="square" lIns="0" rIns="0" tIns="0" bIns="0">
            <a:spAutoFit/>
          </a:bodyPr>
          <a:lstStyle/>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Before the run: </a:t>
            </a:r>
            <a:r>
              <a:rPr sz="700" b="0">
                <a:solidFill>
                  <a:srgbClr val="000000"/>
                </a:solidFill>
                <a:latin typeface="Ubuntu Mono"/>
                <a:ea typeface="Ubuntu Mono"/>
                <a:cs typeface="Ubuntu Mono"/>
                <a:sym typeface="Ubuntu Mono"/>
              </a:rPr>
              <a:t>wash over the stuck pipe to centralise it at the cut point.</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Avoid surging: </a:t>
            </a:r>
            <a:r>
              <a:rPr sz="700" b="0">
                <a:solidFill>
                  <a:srgbClr val="000000"/>
                </a:solidFill>
                <a:latin typeface="Ubuntu Mono"/>
                <a:ea typeface="Ubuntu Mono"/>
                <a:cs typeface="Ubuntu Mono"/>
                <a:sym typeface="Ubuntu Mono"/>
              </a:rPr>
              <a:t>pressure surges can break a knife tip.</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After the cut: </a:t>
            </a:r>
            <a:r>
              <a:rPr sz="700" b="0">
                <a:solidFill>
                  <a:srgbClr val="000000"/>
                </a:solidFill>
                <a:latin typeface="Ubuntu Mono"/>
                <a:ea typeface="Ubuntu Mono"/>
                <a:cs typeface="Ubuntu Mono"/>
                <a:sym typeface="Ubuntu Mono"/>
              </a:rPr>
              <a:t>torque drops and the weight indicator rises; raise the string slowly to confirm.</a:t>
            </a:r>
          </a:p>
        </p:txBody>
      </p:sp>
      <p:sp>
        <p:nvSpPr>
          <p:cNvPr id="29" name="TextBox 28"/>
          <p:cNvSpPr txBox="1"/>
          <p:nvPr/>
        </p:nvSpPr>
        <p:spPr>
          <a:xfrm>
            <a:off x="4089400" y="692150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PERFORMANCE PARAMETERS</a:t>
            </a:r>
          </a:p>
        </p:txBody>
      </p:sp>
      <p:graphicFrame>
        <p:nvGraphicFramePr>
          <p:cNvPr id="30" name="Table 29"/>
          <p:cNvGraphicFramePr>
            <a:graphicFrameLocks noGrp="1"/>
          </p:cNvGraphicFramePr>
          <p:nvPr/>
        </p:nvGraphicFramePr>
        <p:xfrm>
          <a:off x="4089400" y="7112000"/>
          <a:ext cx="2755900" cy="629920"/>
        </p:xfrm>
        <a:graphic>
          <a:graphicData uri="http://schemas.openxmlformats.org/drawingml/2006/table">
            <a:tbl>
              <a:tblPr/>
              <a:tblGrid>
                <a:gridCol w="1117600"/>
                <a:gridCol w="1638300"/>
              </a:tblGrid>
              <a:tr h="157480">
                <a:tc>
                  <a:txBody>
                    <a:bodyPr wrap="square"/>
                    <a:lstStyle/>
                    <a:p>
                      <a:pPr algn="l">
                        <a:lnSpc>
                          <a:spcPts val="810"/>
                        </a:lnSpc>
                      </a:pPr>
                      <a:r>
                        <a:rPr sz="650" b="0">
                          <a:solidFill>
                            <a:srgbClr val="FEFEFF"/>
                          </a:solidFill>
                          <a:latin typeface="Ubuntu Mono"/>
                          <a:ea typeface="Ubuntu Mono"/>
                          <a:cs typeface="Ubuntu Mono"/>
                          <a:sym typeface="Ubuntu Mono"/>
                        </a:rPr>
                        <a:t>Rotary speed while cutting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0"/>
                        </a:lnSpc>
                      </a:pPr>
                      <a:r>
                        <a:rPr sz="650" b="0">
                          <a:solidFill>
                            <a:srgbClr val="000000"/>
                          </a:solidFill>
                          <a:latin typeface="Ubuntu Mono"/>
                          <a:ea typeface="Ubuntu Mono"/>
                          <a:cs typeface="Ubuntu Mono"/>
                          <a:sym typeface="Ubuntu Mono"/>
                        </a:rPr>
                        <a:t>15 - 25 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10"/>
                        </a:lnSpc>
                      </a:pPr>
                      <a:r>
                        <a:rPr sz="650" b="0">
                          <a:solidFill>
                            <a:srgbClr val="FEFEFF"/>
                          </a:solidFill>
                          <a:latin typeface="Ubuntu Mono"/>
                          <a:ea typeface="Ubuntu Mono"/>
                          <a:cs typeface="Ubuntu Mono"/>
                          <a:sym typeface="Ubuntu Mono"/>
                        </a:rPr>
                        <a:t>Shear pins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0"/>
                        </a:lnSpc>
                      </a:pPr>
                      <a:r>
                        <a:rPr sz="650" b="0">
                          <a:solidFill>
                            <a:srgbClr val="000000"/>
                          </a:solidFill>
                          <a:latin typeface="Ubuntu Mono"/>
                          <a:ea typeface="Ubuntu Mono"/>
                          <a:cs typeface="Ubuntu Mono"/>
                          <a:sym typeface="Ubuntu Mono"/>
                        </a:rPr>
                        <a:t>1 pin: about 377 lb; 2 pins: 754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7480">
                <a:tc>
                  <a:txBody>
                    <a:bodyPr wrap="square"/>
                    <a:lstStyle/>
                    <a:p>
                      <a:pPr algn="l">
                        <a:lnSpc>
                          <a:spcPts val="810"/>
                        </a:lnSpc>
                      </a:pPr>
                      <a:r>
                        <a:rPr sz="650" b="0">
                          <a:solidFill>
                            <a:srgbClr val="FEFEFF"/>
                          </a:solidFill>
                          <a:latin typeface="Ubuntu Mono"/>
                          <a:ea typeface="Ubuntu Mono"/>
                          <a:cs typeface="Ubuntu Mono"/>
                          <a:sym typeface="Ubuntu Mono"/>
                        </a:rPr>
                        <a:t>Proving the cut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0"/>
                        </a:lnSpc>
                      </a:pPr>
                      <a:r>
                        <a:rPr sz="650" b="0">
                          <a:solidFill>
                            <a:srgbClr val="000000"/>
                          </a:solidFill>
                          <a:latin typeface="Ubuntu Mono"/>
                          <a:ea typeface="Ubuntu Mono"/>
                          <a:cs typeface="Ubuntu Mono"/>
                          <a:sym typeface="Ubuntu Mono"/>
                        </a:rPr>
                        <a:t>Torque drop, weight rise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10"/>
                        </a:lnSpc>
                      </a:pPr>
                      <a:r>
                        <a:rPr sz="650" b="0">
                          <a:solidFill>
                            <a:srgbClr val="FEFEFF"/>
                          </a:solidFill>
                          <a:latin typeface="Ubuntu Mono"/>
                          <a:ea typeface="Ubuntu Mono"/>
                          <a:cs typeface="Ubuntu Mono"/>
                          <a:sym typeface="Ubuntu Mono"/>
                        </a:rPr>
                        <a:t>Cut position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0"/>
                        </a:lnSpc>
                      </a:pPr>
                      <a:r>
                        <a:rPr sz="650" b="0">
                          <a:solidFill>
                            <a:srgbClr val="000000"/>
                          </a:solidFill>
                          <a:latin typeface="Ubuntu Mono"/>
                          <a:ea typeface="Ubuntu Mono"/>
                          <a:cs typeface="Ubuntu Mono"/>
                          <a:sym typeface="Ubuntu Mono"/>
                        </a:rPr>
                        <a:t>1 joint above washover shoe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31" name="TextBox 30"/>
          <p:cNvSpPr txBox="1"/>
          <p:nvPr/>
        </p:nvSpPr>
        <p:spPr>
          <a:xfrm>
            <a:off x="4089400" y="786892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PULL CAPACITY AND HYDRAULICS</a:t>
            </a:r>
          </a:p>
        </p:txBody>
      </p:sp>
      <p:graphicFrame>
        <p:nvGraphicFramePr>
          <p:cNvPr id="32" name="Table 31"/>
          <p:cNvGraphicFramePr>
            <a:graphicFrameLocks noGrp="1"/>
          </p:cNvGraphicFramePr>
          <p:nvPr/>
        </p:nvGraphicFramePr>
        <p:xfrm>
          <a:off x="4089400" y="8059420"/>
          <a:ext cx="2755900" cy="1130300"/>
        </p:xfrm>
        <a:graphic>
          <a:graphicData uri="http://schemas.openxmlformats.org/drawingml/2006/table">
            <a:tbl>
              <a:tblPr/>
              <a:tblGrid>
                <a:gridCol w="558800"/>
                <a:gridCol w="889000"/>
                <a:gridCol w="571500"/>
                <a:gridCol w="736600"/>
              </a:tblGrid>
              <a:tr h="152400">
                <a:tc>
                  <a:txBody>
                    <a:bodyPr wrap="square"/>
                    <a:lstStyle/>
                    <a:p>
                      <a:pPr algn="ctr">
                        <a:lnSpc>
                          <a:spcPts val="800"/>
                        </a:lnSpc>
                      </a:pPr>
                      <a:r>
                        <a:rPr sz="640" b="1">
                          <a:solidFill>
                            <a:srgbClr val="FEFEFF"/>
                          </a:solidFill>
                          <a:latin typeface="Ubuntu Mono"/>
                          <a:ea typeface="Ubuntu Mono"/>
                          <a:cs typeface="Ubuntu Mono"/>
                          <a:sym typeface="Ubuntu Mono"/>
                        </a:rPr>
                        <a:t>Cutter ref.</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Max. load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psi</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gpm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39700">
                <a:tc>
                  <a:txBody>
                    <a:bodyPr wrap="square"/>
                    <a:lstStyle/>
                    <a:p>
                      <a:pPr algn="ctr">
                        <a:lnSpc>
                          <a:spcPts val="800"/>
                        </a:lnSpc>
                      </a:pPr>
                      <a:r>
                        <a:rPr sz="640" b="0">
                          <a:solidFill>
                            <a:srgbClr val="FEFEFF"/>
                          </a:solidFill>
                          <a:latin typeface="Ubuntu Mono"/>
                          <a:ea typeface="Ubuntu Mono"/>
                          <a:cs typeface="Ubuntu Mono"/>
                          <a:sym typeface="Ubuntu Mono"/>
                        </a:rPr>
                        <a:t>70086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2,530 - 7,910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20 - 40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120 - 220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00"/>
                        </a:lnSpc>
                      </a:pPr>
                      <a:r>
                        <a:rPr sz="640" b="0">
                          <a:solidFill>
                            <a:srgbClr val="FEFEFF"/>
                          </a:solidFill>
                          <a:latin typeface="Ubuntu Mono"/>
                          <a:ea typeface="Ubuntu Mono"/>
                          <a:cs typeface="Ubuntu Mono"/>
                          <a:sym typeface="Ubuntu Mono"/>
                        </a:rPr>
                        <a:t>34415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1,860 - 3,340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20 - 45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120 - 220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00"/>
                        </a:lnSpc>
                      </a:pPr>
                      <a:r>
                        <a:rPr sz="640" b="0">
                          <a:solidFill>
                            <a:srgbClr val="FEFEFF"/>
                          </a:solidFill>
                          <a:latin typeface="Ubuntu Mono"/>
                          <a:ea typeface="Ubuntu Mono"/>
                          <a:cs typeface="Ubuntu Mono"/>
                          <a:sym typeface="Ubuntu Mono"/>
                        </a:rPr>
                        <a:t>70209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1,550 - 3,570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10 - 25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120 - 145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00"/>
                        </a:lnSpc>
                      </a:pPr>
                      <a:r>
                        <a:rPr sz="640" b="0">
                          <a:solidFill>
                            <a:srgbClr val="FEFEFF"/>
                          </a:solidFill>
                          <a:latin typeface="Ubuntu Mono"/>
                          <a:ea typeface="Ubuntu Mono"/>
                          <a:cs typeface="Ubuntu Mono"/>
                          <a:sym typeface="Ubuntu Mono"/>
                        </a:rPr>
                        <a:t>41727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1,128 - 1,780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10 - 30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100 - 200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00"/>
                        </a:lnSpc>
                      </a:pPr>
                      <a:r>
                        <a:rPr sz="640" b="0">
                          <a:solidFill>
                            <a:srgbClr val="FEFEFF"/>
                          </a:solidFill>
                          <a:latin typeface="Ubuntu Mono"/>
                          <a:ea typeface="Ubuntu Mono"/>
                          <a:cs typeface="Ubuntu Mono"/>
                          <a:sym typeface="Ubuntu Mono"/>
                        </a:rPr>
                        <a:t>34551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6,100 - 16,800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15 - 55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180 - 230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00"/>
                        </a:lnSpc>
                      </a:pPr>
                      <a:r>
                        <a:rPr sz="640" b="0">
                          <a:solidFill>
                            <a:srgbClr val="FEFEFF"/>
                          </a:solidFill>
                          <a:latin typeface="Ubuntu Mono"/>
                          <a:ea typeface="Ubuntu Mono"/>
                          <a:cs typeface="Ubuntu Mono"/>
                          <a:sym typeface="Ubuntu Mono"/>
                        </a:rPr>
                        <a:t>51148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2,350 - 4,800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15 - 40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125 - 200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00"/>
                        </a:lnSpc>
                      </a:pPr>
                      <a:r>
                        <a:rPr sz="640" b="0">
                          <a:solidFill>
                            <a:srgbClr val="FEFEFF"/>
                          </a:solidFill>
                          <a:latin typeface="Ubuntu Mono"/>
                          <a:ea typeface="Ubuntu Mono"/>
                          <a:cs typeface="Ubuntu Mono"/>
                          <a:sym typeface="Ubuntu Mono"/>
                        </a:rPr>
                        <a:t>35957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5,160 - 9,040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10 - 20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140 - 180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33" name="TextBox 32"/>
          <p:cNvSpPr txBox="1"/>
          <p:nvPr/>
        </p:nvSpPr>
        <p:spPr>
          <a:xfrm>
            <a:off x="4089400" y="9227820"/>
            <a:ext cx="2755900" cy="330200"/>
          </a:xfrm>
          <a:prstGeom prst="rect">
            <a:avLst/>
          </a:prstGeom>
          <a:noFill/>
        </p:spPr>
        <p:txBody>
          <a:bodyPr wrap="square" lIns="0" rIns="0" tIns="0" bIns="0">
            <a:spAutoFit/>
          </a:bodyPr>
          <a:lstStyle/>
          <a:p>
            <a:pPr algn="l">
              <a:lnSpc>
                <a:spcPts val="740"/>
              </a:lnSpc>
              <a:spcAft>
                <a:spcPts val="0"/>
              </a:spcAft>
            </a:pPr>
            <a:r>
              <a:rPr sz="620" b="0">
                <a:solidFill>
                  <a:srgbClr val="444444"/>
                </a:solidFill>
                <a:latin typeface="Ubuntu Mono"/>
                <a:ea typeface="Ubuntu Mono"/>
                <a:cs typeface="Ubuntu Mono"/>
                <a:sym typeface="Ubuntu Mono"/>
              </a:rPr>
              <a:t>Approximate values, depending on pipe size. Static loads: if shock loaded, reduce by 50%.</a:t>
            </a:r>
          </a:p>
        </p:txBody>
      </p:sp>
      <p:sp>
        <p:nvSpPr>
          <p:cNvPr id="34" name="TextBox 33"/>
          <p:cNvSpPr txBox="1"/>
          <p:nvPr/>
        </p:nvSpPr>
        <p:spPr>
          <a:xfrm>
            <a:off x="4089400" y="951992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5" name="TextBox 34"/>
          <p:cNvSpPr txBox="1"/>
          <p:nvPr/>
        </p:nvSpPr>
        <p:spPr>
          <a:xfrm>
            <a:off x="4089400" y="9710420"/>
            <a:ext cx="2755900" cy="508000"/>
          </a:xfrm>
          <a:prstGeom prst="rect">
            <a:avLst/>
          </a:prstGeom>
          <a:noFill/>
        </p:spPr>
        <p:txBody>
          <a:bodyPr wrap="square" lIns="0" rIns="0" tIns="0" bIns="0">
            <a:spAutoFit/>
          </a:bodyPr>
          <a:lstStyle/>
          <a:p>
            <a:pPr algn="just">
              <a:lnSpc>
                <a:spcPts val="840"/>
              </a:lnSpc>
              <a:spcAft>
                <a:spcPts val="0"/>
              </a:spcAft>
            </a:pPr>
            <a:r>
              <a:rPr sz="660" b="0">
                <a:solidFill>
                  <a:srgbClr val="000000"/>
                </a:solidFill>
                <a:latin typeface="Ubuntu Mono"/>
                <a:ea typeface="Ubuntu Mono"/>
                <a:cs typeface="Ubuntu Mono"/>
                <a:sym typeface="Ubuntu Mono"/>
              </a:rPr>
              <a:t>Please specify: 1. cutter ref. and size of pipe to cut  2. piston segment size  3. connection (top and bottom)  4. guide type (standard, wall hook or mill-toothed)  5. recommended spares: knives, knife pins, shear pins, piston and rubber rings.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PIPE CUTTER</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CUTTING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INTERNAL HYDRAULIC CASING CUTTER</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INTERNAL HYDRAULIC CUTTER THAT CUTS SINGLE OR MULTIPLE STRINGS OF CONCENTRIC OR ECCENTRIC CASING. IT CAN BE USED IN ANY CUTTING APPLICATION WHERE ROTATION AND PRESSURE CAN BE APPLIED TO THE TOOL. IT IS MAINLY RUN IN WELL ABANDONMENT OPERATIONS, WHEN CASINGS HAVE BEEN CEMENTED AND CANNOT BE CUT AND PULLED INDIVIDUALLY.</a:t>
            </a:r>
          </a:p>
        </p:txBody>
      </p:sp>
      <p:sp>
        <p:nvSpPr>
          <p:cNvPr id="21" name="TextBox 20"/>
          <p:cNvSpPr txBox="1"/>
          <p:nvPr/>
        </p:nvSpPr>
        <p:spPr>
          <a:xfrm>
            <a:off x="711200" y="48260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054600"/>
          <a:ext cx="6134100" cy="635000"/>
        </p:xfrm>
        <a:graphic>
          <a:graphicData uri="http://schemas.openxmlformats.org/drawingml/2006/table">
            <a:tbl>
              <a:tblPr/>
              <a:tblGrid>
                <a:gridCol w="1397000"/>
                <a:gridCol w="1016000"/>
                <a:gridCol w="1143000"/>
                <a:gridCol w="1016000"/>
                <a:gridCol w="1562100"/>
              </a:tblGrid>
              <a:tr h="228600">
                <a:tc>
                  <a:txBody>
                    <a:bodyPr wrap="square"/>
                    <a:lstStyle/>
                    <a:p>
                      <a:pPr algn="ctr">
                        <a:lnSpc>
                          <a:spcPts val="919"/>
                        </a:lnSpc>
                      </a:pPr>
                      <a:r>
                        <a:rPr sz="760" b="1">
                          <a:solidFill>
                            <a:srgbClr val="FEFEFF"/>
                          </a:solidFill>
                          <a:latin typeface="Ubuntu Mono"/>
                          <a:ea typeface="Ubuntu Mono"/>
                          <a:cs typeface="Ubuntu Mono"/>
                          <a:sym typeface="Ubuntu Mono"/>
                        </a:rPr>
                        <a:t>Designed to cut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1">
                          <a:solidFill>
                            <a:srgbClr val="FEFEFF"/>
                          </a:solidFill>
                          <a:latin typeface="Ubuntu Mono"/>
                          <a:ea typeface="Ubuntu Mono"/>
                          <a:cs typeface="Ubuntu Mono"/>
                          <a:sym typeface="Ubuntu Mono"/>
                        </a:rPr>
                        <a:t>4-1/2 - 5-1/2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1">
                          <a:solidFill>
                            <a:srgbClr val="FEFEFF"/>
                          </a:solidFill>
                          <a:latin typeface="Ubuntu Mono"/>
                          <a:ea typeface="Ubuntu Mono"/>
                          <a:cs typeface="Ubuntu Mono"/>
                          <a:sym typeface="Ubuntu Mono"/>
                        </a:rPr>
                        <a:t>6-5/8 - 13-3/8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1">
                          <a:solidFill>
                            <a:srgbClr val="FEFEFF"/>
                          </a:solidFill>
                          <a:latin typeface="Ubuntu Mono"/>
                          <a:ea typeface="Ubuntu Mono"/>
                          <a:cs typeface="Ubuntu Mono"/>
                          <a:sym typeface="Ubuntu Mono"/>
                        </a:rPr>
                        <a:t>9-5/8 - 16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1">
                          <a:solidFill>
                            <a:srgbClr val="FEFEFF"/>
                          </a:solidFill>
                          <a:latin typeface="Ubuntu Mono"/>
                          <a:ea typeface="Ubuntu Mono"/>
                          <a:cs typeface="Ubuntu Mono"/>
                          <a:sym typeface="Ubuntu Mono"/>
                        </a:rPr>
                        <a:t>13-3/8 - 36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203200">
                <a:tc>
                  <a:txBody>
                    <a:bodyPr wrap="square"/>
                    <a:lstStyle/>
                    <a:p>
                      <a:pPr algn="ctr">
                        <a:lnSpc>
                          <a:spcPts val="919"/>
                        </a:lnSpc>
                      </a:pPr>
                      <a:r>
                        <a:rPr sz="760" b="0">
                          <a:solidFill>
                            <a:srgbClr val="FEFEFF"/>
                          </a:solidFill>
                          <a:latin typeface="Ubuntu Mono"/>
                          <a:ea typeface="Ubuntu Mono"/>
                          <a:cs typeface="Ubuntu Mono"/>
                          <a:sym typeface="Ubuntu Mono"/>
                        </a:rPr>
                        <a:t>Top connection (API)</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0">
                          <a:solidFill>
                            <a:srgbClr val="000000"/>
                          </a:solidFill>
                          <a:latin typeface="Ubuntu Mono"/>
                          <a:ea typeface="Ubuntu Mono"/>
                          <a:cs typeface="Ubuntu Mono"/>
                          <a:sym typeface="Ubuntu Mono"/>
                        </a:rPr>
                        <a:t>2-3/8 IF</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919"/>
                        </a:lnSpc>
                      </a:pPr>
                      <a:r>
                        <a:rPr sz="760" b="0">
                          <a:solidFill>
                            <a:srgbClr val="000000"/>
                          </a:solidFill>
                          <a:latin typeface="Ubuntu Mono"/>
                          <a:ea typeface="Ubuntu Mono"/>
                          <a:cs typeface="Ubuntu Mono"/>
                          <a:sym typeface="Ubuntu Mono"/>
                        </a:rPr>
                        <a:t>3-1/2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919"/>
                        </a:lnSpc>
                      </a:pPr>
                      <a:r>
                        <a:rPr sz="760" b="0">
                          <a:solidFill>
                            <a:srgbClr val="000000"/>
                          </a:solidFill>
                          <a:latin typeface="Ubuntu Mono"/>
                          <a:ea typeface="Ubuntu Mono"/>
                          <a:cs typeface="Ubuntu Mono"/>
                          <a:sym typeface="Ubuntu Mono"/>
                        </a:rPr>
                        <a:t>6-5/8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919"/>
                        </a:lnSpc>
                      </a:pPr>
                      <a:r>
                        <a:rPr sz="760" b="0">
                          <a:solidFill>
                            <a:srgbClr val="000000"/>
                          </a:solidFill>
                          <a:latin typeface="Ubuntu Mono"/>
                          <a:ea typeface="Ubuntu Mono"/>
                          <a:cs typeface="Ubuntu Mono"/>
                          <a:sym typeface="Ubuntu Mono"/>
                        </a:rPr>
                        <a:t>6-5/8 REG or 7-5/8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203200">
                <a:tc>
                  <a:txBody>
                    <a:bodyPr wrap="square"/>
                    <a:lstStyle/>
                    <a:p>
                      <a:pPr algn="ctr">
                        <a:lnSpc>
                          <a:spcPts val="919"/>
                        </a:lnSpc>
                      </a:pPr>
                      <a:r>
                        <a:rPr sz="760" b="0">
                          <a:solidFill>
                            <a:srgbClr val="FEFEFF"/>
                          </a:solidFill>
                          <a:latin typeface="Ubuntu Mono"/>
                          <a:ea typeface="Ubuntu Mono"/>
                          <a:cs typeface="Ubuntu Mono"/>
                          <a:sym typeface="Ubuntu Mono"/>
                        </a:rPr>
                        <a:t>Tool diameter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919"/>
                        </a:lnSpc>
                      </a:pPr>
                      <a:r>
                        <a:rPr sz="760" b="0">
                          <a:solidFill>
                            <a:srgbClr val="000000"/>
                          </a:solidFill>
                          <a:latin typeface="Ubuntu Mono"/>
                          <a:ea typeface="Ubuntu Mono"/>
                          <a:cs typeface="Ubuntu Mono"/>
                          <a:sym typeface="Ubuntu Mono"/>
                        </a:rPr>
                        <a:t>3-5/8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919"/>
                        </a:lnSpc>
                      </a:pPr>
                      <a:r>
                        <a:rPr sz="760" b="0">
                          <a:solidFill>
                            <a:srgbClr val="000000"/>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919"/>
                        </a:lnSpc>
                      </a:pPr>
                      <a:r>
                        <a:rPr sz="760" b="0">
                          <a:solidFill>
                            <a:srgbClr val="000000"/>
                          </a:solidFill>
                          <a:latin typeface="Ubuntu Mono"/>
                          <a:ea typeface="Ubuntu Mono"/>
                          <a:cs typeface="Ubuntu Mono"/>
                          <a:sym typeface="Ubuntu Mono"/>
                        </a:rPr>
                        <a:t>8-1/4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919"/>
                        </a:lnSpc>
                      </a:pPr>
                      <a:r>
                        <a:rPr sz="760" b="0">
                          <a:solidFill>
                            <a:srgbClr val="000000"/>
                          </a:solidFill>
                          <a:latin typeface="Ubuntu Mono"/>
                          <a:ea typeface="Ubuntu Mono"/>
                          <a:cs typeface="Ubuntu Mono"/>
                          <a:sym typeface="Ubuntu Mono"/>
                        </a:rPr>
                        <a:t>11-3/4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3" name="TextBox 22"/>
          <p:cNvSpPr txBox="1"/>
          <p:nvPr/>
        </p:nvSpPr>
        <p:spPr>
          <a:xfrm>
            <a:off x="711200" y="5740400"/>
            <a:ext cx="6134100" cy="114300"/>
          </a:xfrm>
          <a:prstGeom prst="rect">
            <a:avLst/>
          </a:prstGeom>
          <a:noFill/>
        </p:spPr>
        <p:txBody>
          <a:bodyPr wrap="square" lIns="0" rIns="0" tIns="0" bIns="0">
            <a:spAutoFit/>
          </a:bodyPr>
          <a:lstStyle/>
          <a:p>
            <a:pPr algn="l">
              <a:spcAft>
                <a:spcPts val="0"/>
              </a:spcAft>
            </a:pPr>
            <a:r>
              <a:rPr sz="640" b="0">
                <a:solidFill>
                  <a:srgbClr val="444444"/>
                </a:solidFill>
                <a:latin typeface="Ubuntu Mono"/>
                <a:ea typeface="Ubuntu Mono"/>
                <a:cs typeface="Ubuntu Mono"/>
                <a:sym typeface="Ubuntu Mono"/>
              </a:rPr>
              <a:t>Dimensions in inches. Cutter arms are available in various sizes to cut single or multiple strings.</a:t>
            </a:r>
          </a:p>
        </p:txBody>
      </p:sp>
      <p:pic>
        <p:nvPicPr>
          <p:cNvPr id="24" name="Picture 23" descr="pc_tool_blue.png"/>
          <p:cNvPicPr>
            <a:picLocks noChangeAspect="1"/>
          </p:cNvPicPr>
          <p:nvPr/>
        </p:nvPicPr>
        <p:blipFill>
          <a:blip r:embed="rId4"/>
          <a:stretch>
            <a:fillRect/>
          </a:stretch>
        </p:blipFill>
        <p:spPr>
          <a:xfrm>
            <a:off x="762000" y="6223000"/>
            <a:ext cx="3175000" cy="997717"/>
          </a:xfrm>
          <a:prstGeom prst="rect">
            <a:avLst/>
          </a:prstGeom>
        </p:spPr>
      </p:pic>
      <p:sp>
        <p:nvSpPr>
          <p:cNvPr id="25" name="TextBox 24"/>
          <p:cNvSpPr txBox="1"/>
          <p:nvPr/>
        </p:nvSpPr>
        <p:spPr>
          <a:xfrm>
            <a:off x="711200" y="7289800"/>
            <a:ext cx="3048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6" name="TextBox 25"/>
          <p:cNvSpPr txBox="1"/>
          <p:nvPr/>
        </p:nvSpPr>
        <p:spPr>
          <a:xfrm>
            <a:off x="711200" y="7493000"/>
            <a:ext cx="3048000" cy="127000"/>
          </a:xfrm>
          <a:prstGeom prst="rect">
            <a:avLst/>
          </a:prstGeom>
          <a:noFill/>
        </p:spPr>
        <p:txBody>
          <a:bodyPr wrap="square" lIns="0" rIns="0" tIns="0" bIns="0">
            <a:spAutoFit/>
          </a:bodyPr>
          <a:lstStyle/>
          <a:p>
            <a:pPr algn="l">
              <a:lnSpc>
                <a:spcPts val="900"/>
              </a:lnSpc>
              <a:spcAft>
                <a:spcPts val="22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Casing cutting: </a:t>
            </a:r>
            <a:r>
              <a:rPr sz="710" b="0">
                <a:solidFill>
                  <a:srgbClr val="000000"/>
                </a:solidFill>
                <a:latin typeface="Ubuntu Mono"/>
                <a:ea typeface="Ubuntu Mono"/>
                <a:cs typeface="Ubuntu Mono"/>
                <a:sym typeface="Ubuntu Mono"/>
              </a:rPr>
              <a:t>single or multiple strings, concentric or eccentric.</a:t>
            </a:r>
          </a:p>
          <a:p>
            <a:pPr algn="l">
              <a:lnSpc>
                <a:spcPts val="900"/>
              </a:lnSpc>
              <a:spcAft>
                <a:spcPts val="22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Hydraulic and rotary: </a:t>
            </a:r>
            <a:r>
              <a:rPr sz="710" b="0">
                <a:solidFill>
                  <a:srgbClr val="000000"/>
                </a:solidFill>
                <a:latin typeface="Ubuntu Mono"/>
                <a:ea typeface="Ubuntu Mono"/>
                <a:cs typeface="Ubuntu Mono"/>
                <a:sym typeface="Ubuntu Mono"/>
              </a:rPr>
              <a:t>works wherever rotation and pressure can be applied to the tool.</a:t>
            </a:r>
          </a:p>
          <a:p>
            <a:pPr algn="l">
              <a:lnSpc>
                <a:spcPts val="900"/>
              </a:lnSpc>
              <a:spcAft>
                <a:spcPts val="22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Abandonment duty: </a:t>
            </a:r>
            <a:r>
              <a:rPr sz="710" b="0">
                <a:solidFill>
                  <a:srgbClr val="000000"/>
                </a:solidFill>
                <a:latin typeface="Ubuntu Mono"/>
                <a:ea typeface="Ubuntu Mono"/>
                <a:cs typeface="Ubuntu Mono"/>
                <a:sym typeface="Ubuntu Mono"/>
              </a:rPr>
              <a:t>cuts cemented casings that cannot be cut and pulled one by one.</a:t>
            </a:r>
          </a:p>
          <a:p>
            <a:pPr algn="l">
              <a:lnSpc>
                <a:spcPts val="900"/>
              </a:lnSpc>
              <a:spcAft>
                <a:spcPts val="22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Carbide-dressed arms: </a:t>
            </a:r>
            <a:r>
              <a:rPr sz="710" b="0">
                <a:solidFill>
                  <a:srgbClr val="000000"/>
                </a:solidFill>
                <a:latin typeface="Ubuntu Mono"/>
                <a:ea typeface="Ubuntu Mono"/>
                <a:cs typeface="Ubuntu Mono"/>
                <a:sym typeface="Ubuntu Mono"/>
              </a:rPr>
              <a:t>crushed carbide on the cutter arms, in several sizes for single or multiple strings.</a:t>
            </a:r>
          </a:p>
          <a:p>
            <a:pPr algn="l">
              <a:lnSpc>
                <a:spcPts val="900"/>
              </a:lnSpc>
              <a:spcAft>
                <a:spcPts val="22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Three knife reloading types: </a:t>
            </a:r>
            <a:r>
              <a:rPr sz="710" b="0">
                <a:solidFill>
                  <a:srgbClr val="000000"/>
                </a:solidFill>
                <a:latin typeface="Ubuntu Mono"/>
                <a:ea typeface="Ubuntu Mono"/>
                <a:cs typeface="Ubuntu Mono"/>
                <a:sym typeface="Ubuntu Mono"/>
              </a:rPr>
              <a:t>standard (general use), hardfacing (reinforced, high-strength steels) and carbide (high wear resistance, abrasive environments).</a:t>
            </a:r>
          </a:p>
        </p:txBody>
      </p:sp>
      <p:sp>
        <p:nvSpPr>
          <p:cNvPr id="27" name="TextBox 26"/>
          <p:cNvSpPr txBox="1"/>
          <p:nvPr/>
        </p:nvSpPr>
        <p:spPr>
          <a:xfrm>
            <a:off x="4089400" y="612140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OPERATING PARAMETERS</a:t>
            </a:r>
          </a:p>
        </p:txBody>
      </p:sp>
      <p:graphicFrame>
        <p:nvGraphicFramePr>
          <p:cNvPr id="28" name="Table 27"/>
          <p:cNvGraphicFramePr>
            <a:graphicFrameLocks noGrp="1"/>
          </p:cNvGraphicFramePr>
          <p:nvPr/>
        </p:nvGraphicFramePr>
        <p:xfrm>
          <a:off x="4089400" y="6311900"/>
          <a:ext cx="2755900" cy="960120"/>
        </p:xfrm>
        <a:graphic>
          <a:graphicData uri="http://schemas.openxmlformats.org/drawingml/2006/table">
            <a:tbl>
              <a:tblPr/>
              <a:tblGrid>
                <a:gridCol w="1117600"/>
                <a:gridCol w="1638300"/>
              </a:tblGrid>
              <a:tr h="160020">
                <a:tc>
                  <a:txBody>
                    <a:bodyPr wrap="square"/>
                    <a:lstStyle/>
                    <a:p>
                      <a:pPr algn="l">
                        <a:lnSpc>
                          <a:spcPts val="840"/>
                        </a:lnSpc>
                      </a:pPr>
                      <a:r>
                        <a:rPr sz="680" b="0">
                          <a:solidFill>
                            <a:srgbClr val="FEFEFF"/>
                          </a:solidFill>
                          <a:latin typeface="Ubuntu Mono"/>
                          <a:ea typeface="Ubuntu Mono"/>
                          <a:cs typeface="Ubuntu Mono"/>
                          <a:sym typeface="Ubuntu Mono"/>
                        </a:rPr>
                        <a:t>Flow rate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40"/>
                        </a:lnSpc>
                      </a:pPr>
                      <a:r>
                        <a:rPr sz="680" b="0">
                          <a:solidFill>
                            <a:srgbClr val="000000"/>
                          </a:solidFill>
                          <a:latin typeface="Ubuntu Mono"/>
                          <a:ea typeface="Ubuntu Mono"/>
                          <a:cs typeface="Ubuntu Mono"/>
                          <a:sym typeface="Ubuntu Mono"/>
                        </a:rPr>
                        <a:t>Up to 400 L/min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0020">
                <a:tc>
                  <a:txBody>
                    <a:bodyPr wrap="square"/>
                    <a:lstStyle/>
                    <a:p>
                      <a:pPr algn="l">
                        <a:lnSpc>
                          <a:spcPts val="840"/>
                        </a:lnSpc>
                      </a:pPr>
                      <a:r>
                        <a:rPr sz="680" b="0">
                          <a:solidFill>
                            <a:srgbClr val="FEFEFF"/>
                          </a:solidFill>
                          <a:latin typeface="Ubuntu Mono"/>
                          <a:ea typeface="Ubuntu Mono"/>
                          <a:cs typeface="Ubuntu Mono"/>
                          <a:sym typeface="Ubuntu Mono"/>
                        </a:rPr>
                        <a:t>Head pressure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40"/>
                        </a:lnSpc>
                      </a:pPr>
                      <a:r>
                        <a:rPr sz="680" b="0">
                          <a:solidFill>
                            <a:srgbClr val="000000"/>
                          </a:solidFill>
                          <a:latin typeface="Ubuntu Mono"/>
                          <a:ea typeface="Ubuntu Mono"/>
                          <a:cs typeface="Ubuntu Mono"/>
                          <a:sym typeface="Ubuntu Mono"/>
                        </a:rPr>
                        <a:t>35 to 60 bar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60020">
                <a:tc>
                  <a:txBody>
                    <a:bodyPr wrap="square"/>
                    <a:lstStyle/>
                    <a:p>
                      <a:pPr algn="l">
                        <a:lnSpc>
                          <a:spcPts val="840"/>
                        </a:lnSpc>
                      </a:pPr>
                      <a:r>
                        <a:rPr sz="680" b="0">
                          <a:solidFill>
                            <a:srgbClr val="FEFEFF"/>
                          </a:solidFill>
                          <a:latin typeface="Ubuntu Mono"/>
                          <a:ea typeface="Ubuntu Mono"/>
                          <a:cs typeface="Ubuntu Mono"/>
                          <a:sym typeface="Ubuntu Mono"/>
                        </a:rPr>
                        <a:t>Maximum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40"/>
                        </a:lnSpc>
                      </a:pPr>
                      <a:r>
                        <a:rPr sz="680" b="0">
                          <a:solidFill>
                            <a:srgbClr val="000000"/>
                          </a:solidFill>
                          <a:latin typeface="Ubuntu Mono"/>
                          <a:ea typeface="Ubuntu Mono"/>
                          <a:cs typeface="Ubuntu Mono"/>
                          <a:sym typeface="Ubuntu Mono"/>
                        </a:rPr>
                        <a:t>80 bar / 90 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0020">
                <a:tc>
                  <a:txBody>
                    <a:bodyPr wrap="square"/>
                    <a:lstStyle/>
                    <a:p>
                      <a:pPr algn="l">
                        <a:lnSpc>
                          <a:spcPts val="840"/>
                        </a:lnSpc>
                      </a:pPr>
                      <a:r>
                        <a:rPr sz="680" b="0">
                          <a:solidFill>
                            <a:srgbClr val="FEFEFF"/>
                          </a:solidFill>
                          <a:latin typeface="Ubuntu Mono"/>
                          <a:ea typeface="Ubuntu Mono"/>
                          <a:cs typeface="Ubuntu Mono"/>
                          <a:sym typeface="Ubuntu Mono"/>
                        </a:rPr>
                        <a:t>Surface test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40"/>
                        </a:lnSpc>
                      </a:pPr>
                      <a:r>
                        <a:rPr sz="680" b="0">
                          <a:solidFill>
                            <a:srgbClr val="000000"/>
                          </a:solidFill>
                          <a:latin typeface="Ubuntu Mono"/>
                          <a:ea typeface="Ubuntu Mono"/>
                          <a:cs typeface="Ubuntu Mono"/>
                          <a:sym typeface="Ubuntu Mono"/>
                        </a:rPr>
                        <a:t>300 L/min at 5 bar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60020">
                <a:tc>
                  <a:txBody>
                    <a:bodyPr wrap="square"/>
                    <a:lstStyle/>
                    <a:p>
                      <a:pPr algn="l">
                        <a:lnSpc>
                          <a:spcPts val="840"/>
                        </a:lnSpc>
                      </a:pPr>
                      <a:r>
                        <a:rPr sz="680" b="0">
                          <a:solidFill>
                            <a:srgbClr val="FEFEFF"/>
                          </a:solidFill>
                          <a:latin typeface="Ubuntu Mono"/>
                          <a:ea typeface="Ubuntu Mono"/>
                          <a:cs typeface="Ubuntu Mono"/>
                          <a:sym typeface="Ubuntu Mono"/>
                        </a:rPr>
                        <a:t>Start of rotation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40"/>
                        </a:lnSpc>
                      </a:pPr>
                      <a:r>
                        <a:rPr sz="680" b="0">
                          <a:solidFill>
                            <a:srgbClr val="000000"/>
                          </a:solidFill>
                          <a:latin typeface="Ubuntu Mono"/>
                          <a:ea typeface="Ubuntu Mono"/>
                          <a:cs typeface="Ubuntu Mono"/>
                          <a:sym typeface="Ubuntu Mono"/>
                        </a:rPr>
                        <a:t>70 rpm (max. 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0020">
                <a:tc>
                  <a:txBody>
                    <a:bodyPr wrap="square"/>
                    <a:lstStyle/>
                    <a:p>
                      <a:pPr algn="l">
                        <a:lnSpc>
                          <a:spcPts val="840"/>
                        </a:lnSpc>
                      </a:pPr>
                      <a:r>
                        <a:rPr sz="680" b="0">
                          <a:solidFill>
                            <a:srgbClr val="FEFEFF"/>
                          </a:solidFill>
                          <a:latin typeface="Ubuntu Mono"/>
                          <a:ea typeface="Ubuntu Mono"/>
                          <a:cs typeface="Ubuntu Mono"/>
                          <a:sym typeface="Ubuntu Mono"/>
                        </a:rPr>
                        <a:t>Start of pumping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40"/>
                        </a:lnSpc>
                      </a:pPr>
                      <a:r>
                        <a:rPr sz="680" b="0">
                          <a:solidFill>
                            <a:srgbClr val="000000"/>
                          </a:solidFill>
                          <a:latin typeface="Ubuntu Mono"/>
                          <a:ea typeface="Ubuntu Mono"/>
                          <a:cs typeface="Ubuntu Mono"/>
                          <a:sym typeface="Ubuntu Mono"/>
                        </a:rPr>
                        <a:t>150 L/min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9" name="TextBox 28"/>
          <p:cNvSpPr txBox="1"/>
          <p:nvPr/>
        </p:nvSpPr>
        <p:spPr>
          <a:xfrm>
            <a:off x="4089400" y="7310120"/>
            <a:ext cx="2755900" cy="228600"/>
          </a:xfrm>
          <a:prstGeom prst="rect">
            <a:avLst/>
          </a:prstGeom>
          <a:noFill/>
        </p:spPr>
        <p:txBody>
          <a:bodyPr wrap="square" lIns="0" rIns="0" tIns="0" bIns="0">
            <a:spAutoFit/>
          </a:bodyPr>
          <a:lstStyle/>
          <a:p>
            <a:pPr algn="l">
              <a:lnSpc>
                <a:spcPts val="740"/>
              </a:lnSpc>
              <a:spcAft>
                <a:spcPts val="0"/>
              </a:spcAft>
            </a:pPr>
            <a:r>
              <a:rPr sz="620" b="0">
                <a:solidFill>
                  <a:srgbClr val="444444"/>
                </a:solidFill>
                <a:latin typeface="Ubuntu Mono"/>
                <a:ea typeface="Ubuntu Mono"/>
                <a:cs typeface="Ubuntu Mono"/>
                <a:sym typeface="Ubuntu Mono"/>
              </a:rPr>
              <a:t>If pressure rises too quickly in the surface test, the piston may be blocked.</a:t>
            </a:r>
          </a:p>
        </p:txBody>
      </p:sp>
      <p:sp>
        <p:nvSpPr>
          <p:cNvPr id="30" name="TextBox 29"/>
          <p:cNvSpPr txBox="1"/>
          <p:nvPr/>
        </p:nvSpPr>
        <p:spPr>
          <a:xfrm>
            <a:off x="4089400" y="765302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CUTTING PROCEDURE</a:t>
            </a:r>
          </a:p>
        </p:txBody>
      </p:sp>
      <p:sp>
        <p:nvSpPr>
          <p:cNvPr id="31" name="TextBox 30"/>
          <p:cNvSpPr txBox="1"/>
          <p:nvPr/>
        </p:nvSpPr>
        <p:spPr>
          <a:xfrm>
            <a:off x="4089400" y="7856220"/>
            <a:ext cx="2755900" cy="127000"/>
          </a:xfrm>
          <a:prstGeom prst="rect">
            <a:avLst/>
          </a:prstGeom>
          <a:noFill/>
        </p:spPr>
        <p:txBody>
          <a:bodyPr wrap="square" lIns="0" rIns="0" tIns="0" bIns="0">
            <a:spAutoFit/>
          </a:bodyPr>
          <a:lstStyle/>
          <a:p>
            <a:pPr algn="l">
              <a:lnSpc>
                <a:spcPts val="900"/>
              </a:lnSpc>
              <a:spcAft>
                <a:spcPts val="22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Record parameters: </a:t>
            </a:r>
            <a:r>
              <a:rPr sz="710" b="0">
                <a:solidFill>
                  <a:srgbClr val="000000"/>
                </a:solidFill>
                <a:latin typeface="Ubuntu Mono"/>
                <a:ea typeface="Ubuntu Mono"/>
                <a:cs typeface="Ubuntu Mono"/>
                <a:sym typeface="Ubuntu Mono"/>
              </a:rPr>
              <a:t>PUW, SOW and free torque.</a:t>
            </a:r>
          </a:p>
          <a:p>
            <a:pPr algn="l">
              <a:lnSpc>
                <a:spcPts val="900"/>
              </a:lnSpc>
              <a:spcAft>
                <a:spcPts val="22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Prepare: </a:t>
            </a:r>
            <a:r>
              <a:rPr sz="710" b="0">
                <a:solidFill>
                  <a:srgbClr val="000000"/>
                </a:solidFill>
                <a:latin typeface="Ubuntu Mono"/>
                <a:ea typeface="Ubuntu Mono"/>
                <a:cs typeface="Ubuntu Mono"/>
                <a:sym typeface="Ubuntu Mono"/>
              </a:rPr>
              <a:t>close the purge line and reset the WOB.</a:t>
            </a:r>
          </a:p>
          <a:p>
            <a:pPr algn="l">
              <a:lnSpc>
                <a:spcPts val="900"/>
              </a:lnSpc>
              <a:spcAft>
                <a:spcPts val="22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Start: </a:t>
            </a:r>
            <a:r>
              <a:rPr sz="710" b="0">
                <a:solidFill>
                  <a:srgbClr val="000000"/>
                </a:solidFill>
                <a:latin typeface="Ubuntu Mono"/>
                <a:ea typeface="Ubuntu Mono"/>
                <a:cs typeface="Ubuntu Mono"/>
                <a:sym typeface="Ubuntu Mono"/>
              </a:rPr>
              <a:t>begin rotation, then pump at 150 L/min while monitoring return flow and torque.</a:t>
            </a:r>
          </a:p>
          <a:p>
            <a:pPr algn="l">
              <a:lnSpc>
                <a:spcPts val="900"/>
              </a:lnSpc>
              <a:spcAft>
                <a:spcPts val="22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Cut: </a:t>
            </a:r>
            <a:r>
              <a:rPr sz="710" b="0">
                <a:solidFill>
                  <a:srgbClr val="000000"/>
                </a:solidFill>
                <a:latin typeface="Ubuntu Mono"/>
                <a:ea typeface="Ubuntu Mono"/>
                <a:cs typeface="Ubuntu Mono"/>
                <a:sym typeface="Ubuntu Mono"/>
              </a:rPr>
              <a:t>once return is confirmed, increase gradually to 50 - 60 bar, then stabilise the flow without further pump adjustment.</a:t>
            </a:r>
          </a:p>
        </p:txBody>
      </p:sp>
      <p:sp>
        <p:nvSpPr>
          <p:cNvPr id="32" name="TextBox 31"/>
          <p:cNvSpPr txBox="1"/>
          <p:nvPr/>
        </p:nvSpPr>
        <p:spPr>
          <a:xfrm>
            <a:off x="4089400" y="918972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3" name="TextBox 32"/>
          <p:cNvSpPr txBox="1"/>
          <p:nvPr/>
        </p:nvSpPr>
        <p:spPr>
          <a:xfrm>
            <a:off x="4089400" y="9380220"/>
            <a:ext cx="2755900" cy="508000"/>
          </a:xfrm>
          <a:prstGeom prst="rect">
            <a:avLst/>
          </a:prstGeom>
          <a:noFill/>
        </p:spPr>
        <p:txBody>
          <a:bodyPr wrap="square" lIns="0" rIns="0" tIns="0" bIns="0">
            <a:spAutoFit/>
          </a:bodyPr>
          <a:lstStyle/>
          <a:p>
            <a:pPr algn="just">
              <a:lnSpc>
                <a:spcPts val="840"/>
              </a:lnSpc>
              <a:spcAft>
                <a:spcPts val="0"/>
              </a:spcAft>
            </a:pPr>
            <a:r>
              <a:rPr sz="660" b="0">
                <a:solidFill>
                  <a:srgbClr val="000000"/>
                </a:solidFill>
                <a:latin typeface="Ubuntu Mono"/>
                <a:ea typeface="Ubuntu Mono"/>
                <a:cs typeface="Ubuntu Mono"/>
                <a:sym typeface="Ubuntu Mono"/>
              </a:rPr>
              <a:t>Please specify: 1. casing size range to cut  2. top connection  3. knife reloading type (standard, hardfacing or carbide)  4. single or multiple strings to cut.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SECTION MILL</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MILLING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HYDRAULICALLY ACTUATED CASING SECTION MILL</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HYDRAULICALLY ACTUATED TOOL THAT MILLS A SECTION OUT OF CASING OR TUBING, AND CAN ALSO BE USED TO CUT A SINGLE STRING OF CASING. PUMP PRESSURE ACROSS THE PISTON PUSHES A CAM DOWN AND EXPANDS THE KNIVES AGAINST THE CASING: THE CUT-OUT KNIVES PART THE PIPE FIRST, THEN ALL THE KNIVES TAKE PART IN MILLING. WHEN CIRCULATION STOPS, THE PISTON SPRING RETRACTS THE CAM AND THE KNIVES FOLD BACK INTO THE BODY FOR RETRIEVAL. KNIVES ARE DRESSED WITH TUNGSTEN CARBIDE INSERTS, SUITED TO POORLY CEMENTED, SPLIT OR CORRODED CASING; A SECTION OF UP TO 60 FT IS TYPICALLY MILLED WITH ONE SET OF KNIVES.</a:t>
            </a:r>
          </a:p>
        </p:txBody>
      </p:sp>
      <p:sp>
        <p:nvSpPr>
          <p:cNvPr id="21" name="TextBox 20"/>
          <p:cNvSpPr txBox="1"/>
          <p:nvPr/>
        </p:nvSpPr>
        <p:spPr>
          <a:xfrm>
            <a:off x="711200" y="52578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461000"/>
          <a:ext cx="6134098" cy="1701800"/>
        </p:xfrm>
        <a:graphic>
          <a:graphicData uri="http://schemas.openxmlformats.org/drawingml/2006/table">
            <a:tbl>
              <a:tblPr/>
              <a:tblGrid>
                <a:gridCol w="613410"/>
                <a:gridCol w="920114"/>
                <a:gridCol w="613410"/>
                <a:gridCol w="836468"/>
                <a:gridCol w="836468"/>
                <a:gridCol w="724939"/>
                <a:gridCol w="975879"/>
                <a:gridCol w="613410"/>
              </a:tblGrid>
              <a:tr h="330200">
                <a:tc>
                  <a:txBody>
                    <a:bodyPr wrap="square"/>
                    <a:lstStyle/>
                    <a:p>
                      <a:pPr algn="ctr">
                        <a:lnSpc>
                          <a:spcPts val="880"/>
                        </a:lnSpc>
                      </a:pPr>
                      <a:r>
                        <a:rPr sz="720" b="1">
                          <a:solidFill>
                            <a:srgbClr val="FEFEFF"/>
                          </a:solidFill>
                          <a:latin typeface="Ubuntu Mono"/>
                          <a:ea typeface="Ubuntu Mono"/>
                          <a:cs typeface="Ubuntu Mono"/>
                          <a:sym typeface="Ubuntu Mono"/>
                        </a:rPr>
                        <a:t>Tool series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Casing size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Body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Fishing neck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Fishing neck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Overall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Top pin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Wt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3600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135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4100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175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4500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5-1/2, 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5500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 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6100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368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7200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8-5/8, 9-5/8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554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8200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9-5/8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5-3/4 or 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 or 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9200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10-3/4, 11-3/4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5-3/4 or 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 or 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11700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13-3/8, 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 or 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 or 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1,725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3" name="TextBox 22"/>
          <p:cNvSpPr txBox="1"/>
          <p:nvPr/>
        </p:nvSpPr>
        <p:spPr>
          <a:xfrm>
            <a:off x="711200" y="7200900"/>
            <a:ext cx="6134100" cy="114300"/>
          </a:xfrm>
          <a:prstGeom prst="rect">
            <a:avLst/>
          </a:prstGeom>
          <a:noFill/>
        </p:spPr>
        <p:txBody>
          <a:bodyPr wrap="square" lIns="0" rIns="0" tIns="0" bIns="0">
            <a:spAutoFit/>
          </a:bodyPr>
          <a:lstStyle/>
          <a:p>
            <a:pPr algn="l">
              <a:spcAft>
                <a:spcPts val="0"/>
              </a:spcAft>
            </a:pPr>
            <a:r>
              <a:rPr sz="620" b="0">
                <a:solidFill>
                  <a:srgbClr val="444444"/>
                </a:solidFill>
                <a:latin typeface="Ubuntu Mono"/>
                <a:ea typeface="Ubuntu Mono"/>
                <a:cs typeface="Ubuntu Mono"/>
                <a:sym typeface="Ubuntu Mono"/>
              </a:rPr>
              <a:t>Dimensions in inches, weights in lb (approximate). Standard API regular pin connections; others on request.</a:t>
            </a:r>
          </a:p>
        </p:txBody>
      </p:sp>
      <p:sp>
        <p:nvSpPr>
          <p:cNvPr id="24" name="TextBox 23"/>
          <p:cNvSpPr txBox="1"/>
          <p:nvPr/>
        </p:nvSpPr>
        <p:spPr>
          <a:xfrm>
            <a:off x="711200" y="7467600"/>
            <a:ext cx="2921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5" name="TextBox 24"/>
          <p:cNvSpPr txBox="1"/>
          <p:nvPr/>
        </p:nvSpPr>
        <p:spPr>
          <a:xfrm>
            <a:off x="711200" y="7670800"/>
            <a:ext cx="2921000" cy="127000"/>
          </a:xfrm>
          <a:prstGeom prst="rect">
            <a:avLst/>
          </a:prstGeom>
          <a:noFill/>
        </p:spPr>
        <p:txBody>
          <a:bodyPr wrap="square" lIns="0" rIns="0" tIns="0" bIns="0">
            <a:spAutoFit/>
          </a:bodyPr>
          <a:lstStyle/>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Staged knife opening: </a:t>
            </a:r>
            <a:r>
              <a:rPr sz="700" b="0">
                <a:solidFill>
                  <a:srgbClr val="000000"/>
                </a:solidFill>
                <a:latin typeface="Ubuntu Mono"/>
                <a:ea typeface="Ubuntu Mono"/>
                <a:cs typeface="Ubuntu Mono"/>
                <a:sym typeface="Ubuntu Mono"/>
              </a:rPr>
              <a:t>three knives cut out, then all six mill.</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Carbide cutting structure: </a:t>
            </a:r>
            <a:r>
              <a:rPr sz="700" b="0">
                <a:solidFill>
                  <a:srgbClr val="000000"/>
                </a:solidFill>
                <a:latin typeface="Ubuntu Mono"/>
                <a:ea typeface="Ubuntu Mono"/>
                <a:cs typeface="Ubuntu Mono"/>
                <a:sym typeface="Ubuntu Mono"/>
              </a:rPr>
              <a:t>inserts laid in a brick-work pattern for footage and penetration.</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Positive cut-out signal: </a:t>
            </a:r>
            <a:r>
              <a:rPr sz="700" b="0">
                <a:solidFill>
                  <a:srgbClr val="000000"/>
                </a:solidFill>
                <a:latin typeface="Ubuntu Mono"/>
                <a:ea typeface="Ubuntu Mono"/>
                <a:cs typeface="Ubuntu Mono"/>
                <a:sym typeface="Ubuntu Mono"/>
              </a:rPr>
              <a:t>the Flo-Tel option doubles the flow area once the casing is parted, giving a 200 - 250 psi pressure drop at surface. Standard on series 4100 to 11700; not available on 3600.</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Self-retracting: </a:t>
            </a:r>
            <a:r>
              <a:rPr sz="700" b="0">
                <a:solidFill>
                  <a:srgbClr val="000000"/>
                </a:solidFill>
                <a:latin typeface="Ubuntu Mono"/>
                <a:ea typeface="Ubuntu Mono"/>
                <a:cs typeface="Ubuntu Mono"/>
                <a:sym typeface="Ubuntu Mono"/>
              </a:rPr>
              <a:t>piston spring closes the knives when pumps stop.</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Jetted top sub: </a:t>
            </a:r>
            <a:r>
              <a:rPr sz="700" b="0">
                <a:solidFill>
                  <a:srgbClr val="000000"/>
                </a:solidFill>
                <a:latin typeface="Ubuntu Mono"/>
                <a:ea typeface="Ubuntu Mono"/>
                <a:cs typeface="Ubuntu Mono"/>
                <a:sym typeface="Ubuntu Mono"/>
              </a:rPr>
              <a:t>limits velocity through the piston above 300 gpm.</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Simple servicing: </a:t>
            </a:r>
            <a:r>
              <a:rPr sz="700" b="0">
                <a:solidFill>
                  <a:srgbClr val="000000"/>
                </a:solidFill>
                <a:latin typeface="Ubuntu Mono"/>
                <a:ea typeface="Ubuntu Mono"/>
                <a:cs typeface="Ubuntu Mono"/>
                <a:sym typeface="Ubuntu Mono"/>
              </a:rPr>
              <a:t>replaceable knives, arm-stop stabilizers and Flo-Tel unit.</a:t>
            </a:r>
          </a:p>
        </p:txBody>
      </p:sp>
      <p:sp>
        <p:nvSpPr>
          <p:cNvPr id="26" name="TextBox 25"/>
          <p:cNvSpPr txBox="1"/>
          <p:nvPr/>
        </p:nvSpPr>
        <p:spPr>
          <a:xfrm>
            <a:off x="3810000" y="746760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FLOW RATES (GPM)</a:t>
            </a:r>
          </a:p>
        </p:txBody>
      </p:sp>
      <p:graphicFrame>
        <p:nvGraphicFramePr>
          <p:cNvPr id="27" name="Table 26"/>
          <p:cNvGraphicFramePr>
            <a:graphicFrameLocks noGrp="1"/>
          </p:cNvGraphicFramePr>
          <p:nvPr/>
        </p:nvGraphicFramePr>
        <p:xfrm>
          <a:off x="3810000" y="7658100"/>
          <a:ext cx="3035300" cy="1318251"/>
        </p:xfrm>
        <a:graphic>
          <a:graphicData uri="http://schemas.openxmlformats.org/drawingml/2006/table">
            <a:tbl>
              <a:tblPr/>
              <a:tblGrid>
                <a:gridCol w="762000"/>
                <a:gridCol w="1143000"/>
                <a:gridCol w="1130300"/>
              </a:tblGrid>
              <a:tr h="152400">
                <a:tc>
                  <a:txBody>
                    <a:bodyPr wrap="square"/>
                    <a:lstStyle/>
                    <a:p>
                      <a:pPr algn="ctr">
                        <a:lnSpc>
                          <a:spcPts val="800"/>
                        </a:lnSpc>
                      </a:pPr>
                      <a:r>
                        <a:rPr sz="640" b="1">
                          <a:solidFill>
                            <a:srgbClr val="FEFEFF"/>
                          </a:solidFill>
                          <a:latin typeface="Ubuntu Mono"/>
                          <a:ea typeface="Ubuntu Mono"/>
                          <a:cs typeface="Ubuntu Mono"/>
                          <a:sym typeface="Ubuntu Mono"/>
                        </a:rPr>
                        <a:t>Tool series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During cut-out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During milling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29539">
                <a:tc>
                  <a:txBody>
                    <a:bodyPr wrap="square"/>
                    <a:lstStyle/>
                    <a:p>
                      <a:pPr algn="ctr">
                        <a:lnSpc>
                          <a:spcPts val="800"/>
                        </a:lnSpc>
                      </a:pPr>
                      <a:r>
                        <a:rPr sz="640" b="0">
                          <a:solidFill>
                            <a:srgbClr val="FEFEFF"/>
                          </a:solidFill>
                          <a:latin typeface="Ubuntu Mono"/>
                          <a:ea typeface="Ubuntu Mono"/>
                          <a:cs typeface="Ubuntu Mono"/>
                          <a:sym typeface="Ubuntu Mono"/>
                        </a:rPr>
                        <a:t>3600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110 - 160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110 - 160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29539">
                <a:tc>
                  <a:txBody>
                    <a:bodyPr wrap="square"/>
                    <a:lstStyle/>
                    <a:p>
                      <a:pPr algn="ctr">
                        <a:lnSpc>
                          <a:spcPts val="800"/>
                        </a:lnSpc>
                      </a:pPr>
                      <a:r>
                        <a:rPr sz="640" b="0">
                          <a:solidFill>
                            <a:srgbClr val="FEFEFF"/>
                          </a:solidFill>
                          <a:latin typeface="Ubuntu Mono"/>
                          <a:ea typeface="Ubuntu Mono"/>
                          <a:cs typeface="Ubuntu Mono"/>
                          <a:sym typeface="Ubuntu Mono"/>
                        </a:rPr>
                        <a:t>4100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80 - 125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110 - 160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29539">
                <a:tc>
                  <a:txBody>
                    <a:bodyPr wrap="square"/>
                    <a:lstStyle/>
                    <a:p>
                      <a:pPr algn="ctr">
                        <a:lnSpc>
                          <a:spcPts val="800"/>
                        </a:lnSpc>
                      </a:pPr>
                      <a:r>
                        <a:rPr sz="640" b="0">
                          <a:solidFill>
                            <a:srgbClr val="FEFEFF"/>
                          </a:solidFill>
                          <a:latin typeface="Ubuntu Mono"/>
                          <a:ea typeface="Ubuntu Mono"/>
                          <a:cs typeface="Ubuntu Mono"/>
                          <a:sym typeface="Ubuntu Mono"/>
                        </a:rPr>
                        <a:t>4500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80 - 125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150 - 200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29539">
                <a:tc>
                  <a:txBody>
                    <a:bodyPr wrap="square"/>
                    <a:lstStyle/>
                    <a:p>
                      <a:pPr algn="ctr">
                        <a:lnSpc>
                          <a:spcPts val="800"/>
                        </a:lnSpc>
                      </a:pPr>
                      <a:r>
                        <a:rPr sz="640" b="0">
                          <a:solidFill>
                            <a:srgbClr val="FEFEFF"/>
                          </a:solidFill>
                          <a:latin typeface="Ubuntu Mono"/>
                          <a:ea typeface="Ubuntu Mono"/>
                          <a:cs typeface="Ubuntu Mono"/>
                          <a:sym typeface="Ubuntu Mono"/>
                        </a:rPr>
                        <a:t>5500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80 - 125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200 - 250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29539">
                <a:tc>
                  <a:txBody>
                    <a:bodyPr wrap="square"/>
                    <a:lstStyle/>
                    <a:p>
                      <a:pPr algn="ctr">
                        <a:lnSpc>
                          <a:spcPts val="800"/>
                        </a:lnSpc>
                      </a:pPr>
                      <a:r>
                        <a:rPr sz="640" b="0">
                          <a:solidFill>
                            <a:srgbClr val="FEFEFF"/>
                          </a:solidFill>
                          <a:latin typeface="Ubuntu Mono"/>
                          <a:ea typeface="Ubuntu Mono"/>
                          <a:cs typeface="Ubuntu Mono"/>
                          <a:sym typeface="Ubuntu Mono"/>
                        </a:rPr>
                        <a:t>6100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80 - 125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200 - 250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29539">
                <a:tc>
                  <a:txBody>
                    <a:bodyPr wrap="square"/>
                    <a:lstStyle/>
                    <a:p>
                      <a:pPr algn="ctr">
                        <a:lnSpc>
                          <a:spcPts val="800"/>
                        </a:lnSpc>
                      </a:pPr>
                      <a:r>
                        <a:rPr sz="640" b="0">
                          <a:solidFill>
                            <a:srgbClr val="FEFEFF"/>
                          </a:solidFill>
                          <a:latin typeface="Ubuntu Mono"/>
                          <a:ea typeface="Ubuntu Mono"/>
                          <a:cs typeface="Ubuntu Mono"/>
                          <a:sym typeface="Ubuntu Mono"/>
                        </a:rPr>
                        <a:t>7200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80 - 125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200 - 300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29539">
                <a:tc>
                  <a:txBody>
                    <a:bodyPr wrap="square"/>
                    <a:lstStyle/>
                    <a:p>
                      <a:pPr algn="ctr">
                        <a:lnSpc>
                          <a:spcPts val="800"/>
                        </a:lnSpc>
                      </a:pPr>
                      <a:r>
                        <a:rPr sz="640" b="0">
                          <a:solidFill>
                            <a:srgbClr val="FEFEFF"/>
                          </a:solidFill>
                          <a:latin typeface="Ubuntu Mono"/>
                          <a:ea typeface="Ubuntu Mono"/>
                          <a:cs typeface="Ubuntu Mono"/>
                          <a:sym typeface="Ubuntu Mono"/>
                        </a:rPr>
                        <a:t>8200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80 - 125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300 - 400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29539">
                <a:tc>
                  <a:txBody>
                    <a:bodyPr wrap="square"/>
                    <a:lstStyle/>
                    <a:p>
                      <a:pPr algn="ctr">
                        <a:lnSpc>
                          <a:spcPts val="800"/>
                        </a:lnSpc>
                      </a:pPr>
                      <a:r>
                        <a:rPr sz="640" b="0">
                          <a:solidFill>
                            <a:srgbClr val="FEFEFF"/>
                          </a:solidFill>
                          <a:latin typeface="Ubuntu Mono"/>
                          <a:ea typeface="Ubuntu Mono"/>
                          <a:cs typeface="Ubuntu Mono"/>
                          <a:sym typeface="Ubuntu Mono"/>
                        </a:rPr>
                        <a:t>9200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80 - 125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350 - 450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29539">
                <a:tc>
                  <a:txBody>
                    <a:bodyPr wrap="square"/>
                    <a:lstStyle/>
                    <a:p>
                      <a:pPr algn="ctr">
                        <a:lnSpc>
                          <a:spcPts val="800"/>
                        </a:lnSpc>
                      </a:pPr>
                      <a:r>
                        <a:rPr sz="640" b="0">
                          <a:solidFill>
                            <a:srgbClr val="FEFEFF"/>
                          </a:solidFill>
                          <a:latin typeface="Ubuntu Mono"/>
                          <a:ea typeface="Ubuntu Mono"/>
                          <a:cs typeface="Ubuntu Mono"/>
                          <a:sym typeface="Ubuntu Mono"/>
                        </a:rPr>
                        <a:t>11700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350 - 450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350 - 600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8" name="TextBox 27"/>
          <p:cNvSpPr txBox="1"/>
          <p:nvPr/>
        </p:nvSpPr>
        <p:spPr>
          <a:xfrm>
            <a:off x="3810000" y="907796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OPERATING PARAMETERS</a:t>
            </a:r>
          </a:p>
        </p:txBody>
      </p:sp>
      <p:graphicFrame>
        <p:nvGraphicFramePr>
          <p:cNvPr id="29" name="Table 28"/>
          <p:cNvGraphicFramePr>
            <a:graphicFrameLocks noGrp="1"/>
          </p:cNvGraphicFramePr>
          <p:nvPr/>
        </p:nvGraphicFramePr>
        <p:xfrm>
          <a:off x="3810000" y="9255760"/>
          <a:ext cx="3035300" cy="673100"/>
        </p:xfrm>
        <a:graphic>
          <a:graphicData uri="http://schemas.openxmlformats.org/drawingml/2006/table">
            <a:tbl>
              <a:tblPr/>
              <a:tblGrid>
                <a:gridCol w="1206500"/>
                <a:gridCol w="1828800"/>
              </a:tblGrid>
              <a:tr h="134620">
                <a:tc>
                  <a:txBody>
                    <a:bodyPr wrap="square"/>
                    <a:lstStyle/>
                    <a:p>
                      <a:pPr algn="l">
                        <a:lnSpc>
                          <a:spcPts val="800"/>
                        </a:lnSpc>
                      </a:pPr>
                      <a:r>
                        <a:rPr sz="640" b="0">
                          <a:solidFill>
                            <a:srgbClr val="FEFEFF"/>
                          </a:solidFill>
                          <a:latin typeface="Ubuntu Mono"/>
                          <a:ea typeface="Ubuntu Mono"/>
                          <a:cs typeface="Ubuntu Mono"/>
                          <a:sym typeface="Ubuntu Mono"/>
                        </a:rPr>
                        <a:t>Rotary speed, cut-out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00"/>
                        </a:lnSpc>
                      </a:pPr>
                      <a:r>
                        <a:rPr sz="640" b="0">
                          <a:solidFill>
                            <a:srgbClr val="000000"/>
                          </a:solidFill>
                          <a:latin typeface="Ubuntu Mono"/>
                          <a:ea typeface="Ubuntu Mono"/>
                          <a:cs typeface="Ubuntu Mono"/>
                          <a:sym typeface="Ubuntu Mono"/>
                        </a:rPr>
                        <a:t>60 rpm to start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Rotary speed, milling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00"/>
                        </a:lnSpc>
                      </a:pPr>
                      <a:r>
                        <a:rPr sz="640" b="0">
                          <a:solidFill>
                            <a:srgbClr val="000000"/>
                          </a:solidFill>
                          <a:latin typeface="Ubuntu Mono"/>
                          <a:ea typeface="Ubuntu Mono"/>
                          <a:cs typeface="Ubuntu Mono"/>
                          <a:sym typeface="Ubuntu Mono"/>
                        </a:rPr>
                        <a:t>80 - 120 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Weight on mill</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00"/>
                        </a:lnSpc>
                      </a:pPr>
                      <a:r>
                        <a:rPr sz="640" b="0">
                          <a:solidFill>
                            <a:srgbClr val="000000"/>
                          </a:solidFill>
                          <a:latin typeface="Ubuntu Mono"/>
                          <a:ea typeface="Ubuntu Mono"/>
                          <a:cs typeface="Ubuntu Mono"/>
                          <a:sym typeface="Ubuntu Mono"/>
                        </a:rPr>
                        <a:t>4,000 - 8,000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Min. pressure at tool</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00"/>
                        </a:lnSpc>
                      </a:pPr>
                      <a:r>
                        <a:rPr sz="640" b="0">
                          <a:solidFill>
                            <a:srgbClr val="000000"/>
                          </a:solidFill>
                          <a:latin typeface="Ubuntu Mono"/>
                          <a:ea typeface="Ubuntu Mono"/>
                          <a:cs typeface="Ubuntu Mono"/>
                          <a:sym typeface="Ubuntu Mono"/>
                        </a:rPr>
                        <a:t>about 300 psi to cut out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Pipe cutter use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00"/>
                        </a:lnSpc>
                      </a:pPr>
                      <a:r>
                        <a:rPr sz="640" b="0">
                          <a:solidFill>
                            <a:srgbClr val="000000"/>
                          </a:solidFill>
                          <a:latin typeface="Ubuntu Mono"/>
                          <a:ea typeface="Ubuntu Mono"/>
                          <a:cs typeface="Ubuntu Mono"/>
                          <a:sym typeface="Ubuntu Mono"/>
                        </a:rPr>
                        <a:t>80 - 100 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30" name="TextBox 29"/>
          <p:cNvSpPr txBox="1"/>
          <p:nvPr/>
        </p:nvSpPr>
        <p:spPr>
          <a:xfrm>
            <a:off x="3810000" y="1003046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1" name="TextBox 30"/>
          <p:cNvSpPr txBox="1"/>
          <p:nvPr/>
        </p:nvSpPr>
        <p:spPr>
          <a:xfrm>
            <a:off x="3810000" y="10208260"/>
            <a:ext cx="3035300" cy="381000"/>
          </a:xfrm>
          <a:prstGeom prst="rect">
            <a:avLst/>
          </a:prstGeom>
          <a:noFill/>
        </p:spPr>
        <p:txBody>
          <a:bodyPr wrap="square" lIns="0" rIns="0" tIns="0" bIns="0">
            <a:spAutoFit/>
          </a:bodyPr>
          <a:lstStyle/>
          <a:p>
            <a:pPr algn="just">
              <a:lnSpc>
                <a:spcPts val="840"/>
              </a:lnSpc>
              <a:spcAft>
                <a:spcPts val="0"/>
              </a:spcAft>
            </a:pPr>
            <a:r>
              <a:rPr sz="660" b="0">
                <a:solidFill>
                  <a:srgbClr val="000000"/>
                </a:solidFill>
                <a:latin typeface="Ubuntu Mono"/>
                <a:ea typeface="Ubuntu Mono"/>
                <a:cs typeface="Ubuntu Mono"/>
                <a:sym typeface="Ubuntu Mono"/>
              </a:rPr>
              <a:t>Please specify: 1. tool series  2. size and weight of casing to be milled  3. top pin connection.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ECONOMILL</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MILLING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LOW-COST LIGHT-DUTY MILL</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LOW-COST MILLING TOOL FOR LIGHT-DUTY JOBS, DRESSED WITH TUNGSTEN CARBIDE. IT IS EFFECTIVE FOR MILLING PACKERS, RETAINERS, BRIDGE PLUGS AND CEMENT. IT HAS STANDARD API CONNECTIONS, SO IT IS MADE UP AND BROKEN OUT WITH A STANDARD BIT BREAKER AND NEEDS NO ADDITIONAL SUB. FLUID IS DIRECTED ALONG EACH CUTTING BLADE AND THROUGH THE CENTRE OF THE HEAD FOR CUTTINGS REMOVAL AND COOLING.</a:t>
            </a:r>
          </a:p>
        </p:txBody>
      </p:sp>
      <p:sp>
        <p:nvSpPr>
          <p:cNvPr id="21" name="TextBox 20"/>
          <p:cNvSpPr txBox="1"/>
          <p:nvPr/>
        </p:nvSpPr>
        <p:spPr>
          <a:xfrm>
            <a:off x="711200" y="51816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384800"/>
          <a:ext cx="6134096" cy="1155700"/>
        </p:xfrm>
        <a:graphic>
          <a:graphicData uri="http://schemas.openxmlformats.org/drawingml/2006/table">
            <a:tbl>
              <a:tblPr/>
              <a:tblGrid>
                <a:gridCol w="652563"/>
                <a:gridCol w="1174614"/>
                <a:gridCol w="1174614"/>
                <a:gridCol w="1435640"/>
                <a:gridCol w="1044102"/>
                <a:gridCol w="652563"/>
              </a:tblGrid>
              <a:tr h="330200">
                <a:tc>
                  <a:txBody>
                    <a:bodyPr wrap="square"/>
                    <a:lstStyle/>
                    <a:p>
                      <a:pPr algn="ctr">
                        <a:lnSpc>
                          <a:spcPts val="880"/>
                        </a:lnSpc>
                      </a:pPr>
                      <a:r>
                        <a:rPr sz="720" b="1">
                          <a:solidFill>
                            <a:srgbClr val="FEFEFF"/>
                          </a:solidFill>
                          <a:latin typeface="Ubuntu Mono"/>
                          <a:ea typeface="Ubuntu Mono"/>
                          <a:cs typeface="Ubuntu Mono"/>
                          <a:sym typeface="Ubuntu Mono"/>
                        </a:rPr>
                        <a:t>Tool series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Dressed diameter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Top pin conn.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Recommended make-up torque (ft-lb)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Overall length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Wt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65100">
                <a:tc>
                  <a:txBody>
                    <a:bodyPr wrap="square"/>
                    <a:lstStyle/>
                    <a:p>
                      <a:pPr algn="ctr">
                        <a:lnSpc>
                          <a:spcPts val="880"/>
                        </a:lnSpc>
                      </a:pPr>
                      <a:r>
                        <a:rPr sz="720" b="0">
                          <a:solidFill>
                            <a:srgbClr val="FEFEFF"/>
                          </a:solidFill>
                          <a:latin typeface="Ubuntu Mono"/>
                          <a:ea typeface="Ubuntu Mono"/>
                          <a:cs typeface="Ubuntu Mono"/>
                          <a:sym typeface="Ubuntu Mono"/>
                        </a:rPr>
                        <a:t>3000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3-1/4 - 4-3/8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3,000 - 3,500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5100">
                <a:tc>
                  <a:txBody>
                    <a:bodyPr wrap="square"/>
                    <a:lstStyle/>
                    <a:p>
                      <a:pPr algn="ctr">
                        <a:lnSpc>
                          <a:spcPts val="880"/>
                        </a:lnSpc>
                      </a:pPr>
                      <a:r>
                        <a:rPr sz="720" b="0">
                          <a:solidFill>
                            <a:srgbClr val="FEFEFF"/>
                          </a:solidFill>
                          <a:latin typeface="Ubuntu Mono"/>
                          <a:ea typeface="Ubuntu Mono"/>
                          <a:cs typeface="Ubuntu Mono"/>
                          <a:sym typeface="Ubuntu Mono"/>
                        </a:rPr>
                        <a:t>4000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4-1/2 - 5-3/8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6,000 - 7,000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65100">
                <a:tc>
                  <a:txBody>
                    <a:bodyPr wrap="square"/>
                    <a:lstStyle/>
                    <a:p>
                      <a:pPr algn="ctr">
                        <a:lnSpc>
                          <a:spcPts val="880"/>
                        </a:lnSpc>
                      </a:pPr>
                      <a:r>
                        <a:rPr sz="720" b="0">
                          <a:solidFill>
                            <a:srgbClr val="FEFEFF"/>
                          </a:solidFill>
                          <a:latin typeface="Ubuntu Mono"/>
                          <a:ea typeface="Ubuntu Mono"/>
                          <a:cs typeface="Ubuntu Mono"/>
                          <a:sym typeface="Ubuntu Mono"/>
                        </a:rPr>
                        <a:t>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5-1/2 - 7-3/8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7,000 - 9,000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5100">
                <a:tc>
                  <a:txBody>
                    <a:bodyPr wrap="square"/>
                    <a:lstStyle/>
                    <a:p>
                      <a:pPr algn="ctr">
                        <a:lnSpc>
                          <a:spcPts val="880"/>
                        </a:lnSpc>
                      </a:pPr>
                      <a:r>
                        <a:rPr sz="720" b="0">
                          <a:solidFill>
                            <a:srgbClr val="FEFEFF"/>
                          </a:solidFill>
                          <a:latin typeface="Ubuntu Mono"/>
                          <a:ea typeface="Ubuntu Mono"/>
                          <a:cs typeface="Ubuntu Mono"/>
                          <a:sym typeface="Ubuntu Mono"/>
                        </a:rPr>
                        <a:t>7000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7-1/2 - 8-3/4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12,000 - 16,000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65100">
                <a:tc>
                  <a:txBody>
                    <a:bodyPr wrap="square"/>
                    <a:lstStyle/>
                    <a:p>
                      <a:pPr algn="ctr">
                        <a:lnSpc>
                          <a:spcPts val="880"/>
                        </a:lnSpc>
                      </a:pPr>
                      <a:r>
                        <a:rPr sz="720" b="0">
                          <a:solidFill>
                            <a:srgbClr val="FEFEFF"/>
                          </a:solidFill>
                          <a:latin typeface="Ubuntu Mono"/>
                          <a:ea typeface="Ubuntu Mono"/>
                          <a:cs typeface="Ubuntu Mono"/>
                          <a:sym typeface="Ubuntu Mono"/>
                        </a:rPr>
                        <a:t>10000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10-1/4 - 12-1/4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28,000 - 32,000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16-1/2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3" name="TextBox 22"/>
          <p:cNvSpPr txBox="1"/>
          <p:nvPr/>
        </p:nvSpPr>
        <p:spPr>
          <a:xfrm>
            <a:off x="711200" y="6578600"/>
            <a:ext cx="6134100" cy="114300"/>
          </a:xfrm>
          <a:prstGeom prst="rect">
            <a:avLst/>
          </a:prstGeom>
          <a:noFill/>
        </p:spPr>
        <p:txBody>
          <a:bodyPr wrap="square" lIns="0" rIns="0" tIns="0" bIns="0">
            <a:spAutoFit/>
          </a:bodyPr>
          <a:lstStyle/>
          <a:p>
            <a:pPr algn="l">
              <a:spcAft>
                <a:spcPts val="0"/>
              </a:spcAft>
            </a:pPr>
            <a:r>
              <a:rPr sz="620" b="0">
                <a:solidFill>
                  <a:srgbClr val="444444"/>
                </a:solidFill>
                <a:latin typeface="Ubuntu Mono"/>
                <a:ea typeface="Ubuntu Mono"/>
                <a:cs typeface="Ubuntu Mono"/>
                <a:sym typeface="Ubuntu Mono"/>
              </a:rPr>
              <a:t>Dimensions in inches, weights in lb (approximate). Column order follows the source layout.</a:t>
            </a:r>
          </a:p>
        </p:txBody>
      </p:sp>
      <p:sp>
        <p:nvSpPr>
          <p:cNvPr id="24" name="TextBox 23"/>
          <p:cNvSpPr txBox="1"/>
          <p:nvPr/>
        </p:nvSpPr>
        <p:spPr>
          <a:xfrm>
            <a:off x="711200" y="6921500"/>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5" name="TextBox 24"/>
          <p:cNvSpPr txBox="1"/>
          <p:nvPr/>
        </p:nvSpPr>
        <p:spPr>
          <a:xfrm>
            <a:off x="711200" y="7124700"/>
            <a:ext cx="2984500" cy="127000"/>
          </a:xfrm>
          <a:prstGeom prst="rect">
            <a:avLst/>
          </a:prstGeom>
          <a:noFill/>
        </p:spPr>
        <p:txBody>
          <a:bodyPr wrap="square" lIns="0" rIns="0" tIns="0" bIns="0">
            <a:spAutoFit/>
          </a:bodyPr>
          <a:lstStyle/>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Tungsten carbide dressing: </a:t>
            </a:r>
            <a:r>
              <a:rPr sz="720" b="0">
                <a:solidFill>
                  <a:srgbClr val="000000"/>
                </a:solidFill>
                <a:latin typeface="Ubuntu Mono"/>
                <a:ea typeface="Ubuntu Mono"/>
                <a:cs typeface="Ubuntu Mono"/>
                <a:sym typeface="Ubuntu Mono"/>
              </a:rPr>
              <a:t>for packers, retainers, bridge plugs and cement.</a:t>
            </a:r>
          </a:p>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Standard API pin connection: </a:t>
            </a:r>
            <a:r>
              <a:rPr sz="720" b="0">
                <a:solidFill>
                  <a:srgbClr val="000000"/>
                </a:solidFill>
                <a:latin typeface="Ubuntu Mono"/>
                <a:ea typeface="Ubuntu Mono"/>
                <a:cs typeface="Ubuntu Mono"/>
                <a:sym typeface="Ubuntu Mono"/>
              </a:rPr>
              <a:t>made up with a standard bit breaker; no extra sub needed.</a:t>
            </a:r>
          </a:p>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Circulation: </a:t>
            </a:r>
            <a:r>
              <a:rPr sz="720" b="0">
                <a:solidFill>
                  <a:srgbClr val="000000"/>
                </a:solidFill>
                <a:latin typeface="Ubuntu Mono"/>
                <a:ea typeface="Ubuntu Mono"/>
                <a:cs typeface="Ubuntu Mono"/>
                <a:sym typeface="Ubuntu Mono"/>
              </a:rPr>
              <a:t>flow along each blade and through the head centre for cooling and cuttings removal.</a:t>
            </a:r>
          </a:p>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Stabilizing ribs: </a:t>
            </a:r>
            <a:r>
              <a:rPr sz="720" b="0">
                <a:solidFill>
                  <a:srgbClr val="000000"/>
                </a:solidFill>
                <a:latin typeface="Ubuntu Mono"/>
                <a:ea typeface="Ubuntu Mono"/>
                <a:cs typeface="Ubuntu Mono"/>
                <a:sym typeface="Ubuntu Mono"/>
              </a:rPr>
              <a:t>above the blades, to protect the casing.</a:t>
            </a:r>
          </a:p>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Cast construction: </a:t>
            </a:r>
            <a:r>
              <a:rPr sz="720" b="0">
                <a:solidFill>
                  <a:srgbClr val="000000"/>
                </a:solidFill>
                <a:latin typeface="Ubuntu Mono"/>
                <a:ea typeface="Ubuntu Mono"/>
                <a:cs typeface="Ubuntu Mono"/>
                <a:sym typeface="Ubuntu Mono"/>
              </a:rPr>
              <a:t>not to be used as a junk mill; cast material has lower strength.</a:t>
            </a:r>
          </a:p>
        </p:txBody>
      </p:sp>
      <p:sp>
        <p:nvSpPr>
          <p:cNvPr id="26" name="TextBox 25"/>
          <p:cNvSpPr txBox="1"/>
          <p:nvPr/>
        </p:nvSpPr>
        <p:spPr>
          <a:xfrm>
            <a:off x="3810000" y="692150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PERFORMANCE PARAMETERS</a:t>
            </a:r>
          </a:p>
        </p:txBody>
      </p:sp>
      <p:graphicFrame>
        <p:nvGraphicFramePr>
          <p:cNvPr id="27" name="Table 26"/>
          <p:cNvGraphicFramePr>
            <a:graphicFrameLocks noGrp="1"/>
          </p:cNvGraphicFramePr>
          <p:nvPr/>
        </p:nvGraphicFramePr>
        <p:xfrm>
          <a:off x="3810000" y="7112000"/>
          <a:ext cx="3035300" cy="1066800"/>
        </p:xfrm>
        <a:graphic>
          <a:graphicData uri="http://schemas.openxmlformats.org/drawingml/2006/table">
            <a:tbl>
              <a:tblPr/>
              <a:tblGrid>
                <a:gridCol w="1333500"/>
                <a:gridCol w="1701800"/>
              </a:tblGrid>
              <a:tr h="177800">
                <a:tc>
                  <a:txBody>
                    <a:bodyPr wrap="square"/>
                    <a:lstStyle/>
                    <a:p>
                      <a:pPr algn="l">
                        <a:lnSpc>
                          <a:spcPts val="819"/>
                        </a:lnSpc>
                      </a:pPr>
                      <a:r>
                        <a:rPr sz="660" b="0">
                          <a:solidFill>
                            <a:srgbClr val="FEFEFF"/>
                          </a:solidFill>
                          <a:latin typeface="Ubuntu Mono"/>
                          <a:ea typeface="Ubuntu Mono"/>
                          <a:cs typeface="Ubuntu Mono"/>
                          <a:sym typeface="Ubuntu Mono"/>
                        </a:rPr>
                        <a:t>Weight on mill</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9"/>
                        </a:lnSpc>
                      </a:pPr>
                      <a:r>
                        <a:rPr sz="660" b="0">
                          <a:solidFill>
                            <a:srgbClr val="000000"/>
                          </a:solidFill>
                          <a:latin typeface="Ubuntu Mono"/>
                          <a:ea typeface="Ubuntu Mono"/>
                          <a:cs typeface="Ubuntu Mono"/>
                          <a:sym typeface="Ubuntu Mono"/>
                        </a:rPr>
                        <a:t>2,000 - 8,000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77800">
                <a:tc>
                  <a:txBody>
                    <a:bodyPr wrap="square"/>
                    <a:lstStyle/>
                    <a:p>
                      <a:pPr algn="l">
                        <a:lnSpc>
                          <a:spcPts val="819"/>
                        </a:lnSpc>
                      </a:pPr>
                      <a:r>
                        <a:rPr sz="660" b="0">
                          <a:solidFill>
                            <a:srgbClr val="FEFEFF"/>
                          </a:solidFill>
                          <a:latin typeface="Ubuntu Mono"/>
                          <a:ea typeface="Ubuntu Mono"/>
                          <a:cs typeface="Ubuntu Mono"/>
                          <a:sym typeface="Ubuntu Mono"/>
                        </a:rPr>
                        <a:t>Practice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9"/>
                        </a:lnSpc>
                      </a:pPr>
                      <a:r>
                        <a:rPr sz="660" b="0">
                          <a:solidFill>
                            <a:srgbClr val="000000"/>
                          </a:solidFill>
                          <a:latin typeface="Ubuntu Mono"/>
                          <a:ea typeface="Ubuntu Mono"/>
                          <a:cs typeface="Ubuntu Mono"/>
                          <a:sym typeface="Ubuntu Mono"/>
                        </a:rPr>
                        <a:t>Light weight, low speed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77800">
                <a:tc>
                  <a:txBody>
                    <a:bodyPr wrap="square"/>
                    <a:lstStyle/>
                    <a:p>
                      <a:pPr algn="l">
                        <a:lnSpc>
                          <a:spcPts val="819"/>
                        </a:lnSpc>
                      </a:pPr>
                      <a:r>
                        <a:rPr sz="660" b="0">
                          <a:solidFill>
                            <a:srgbClr val="FEFEFF"/>
                          </a:solidFill>
                          <a:latin typeface="Ubuntu Mono"/>
                          <a:ea typeface="Ubuntu Mono"/>
                          <a:cs typeface="Ubuntu Mono"/>
                          <a:sym typeface="Ubuntu Mono"/>
                        </a:rPr>
                        <a:t>Surface speed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9"/>
                        </a:lnSpc>
                      </a:pPr>
                      <a:r>
                        <a:rPr sz="660" b="0">
                          <a:solidFill>
                            <a:srgbClr val="000000"/>
                          </a:solidFill>
                          <a:latin typeface="Ubuntu Mono"/>
                          <a:ea typeface="Ubuntu Mono"/>
                          <a:cs typeface="Ubuntu Mono"/>
                          <a:sym typeface="Ubuntu Mono"/>
                        </a:rPr>
                        <a:t>250 - 340 ft/min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77800">
                <a:tc>
                  <a:txBody>
                    <a:bodyPr wrap="square"/>
                    <a:lstStyle/>
                    <a:p>
                      <a:pPr algn="l">
                        <a:lnSpc>
                          <a:spcPts val="819"/>
                        </a:lnSpc>
                      </a:pPr>
                      <a:r>
                        <a:rPr sz="660" b="0">
                          <a:solidFill>
                            <a:srgbClr val="FEFEFF"/>
                          </a:solidFill>
                          <a:latin typeface="Ubuntu Mono"/>
                          <a:ea typeface="Ubuntu Mono"/>
                          <a:cs typeface="Ubuntu Mono"/>
                          <a:sym typeface="Ubuntu Mono"/>
                        </a:rPr>
                        <a:t>Rotary speed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9"/>
                        </a:lnSpc>
                      </a:pPr>
                      <a:r>
                        <a:rPr sz="660" b="0">
                          <a:solidFill>
                            <a:srgbClr val="000000"/>
                          </a:solidFill>
                          <a:latin typeface="Ubuntu Mono"/>
                          <a:ea typeface="Ubuntu Mono"/>
                          <a:cs typeface="Ubuntu Mono"/>
                          <a:sym typeface="Ubuntu Mono"/>
                        </a:rPr>
                        <a:t>Surf. speed / (O.D. x 3.14)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77800">
                <a:tc>
                  <a:txBody>
                    <a:bodyPr wrap="square"/>
                    <a:lstStyle/>
                    <a:p>
                      <a:pPr algn="l">
                        <a:lnSpc>
                          <a:spcPts val="819"/>
                        </a:lnSpc>
                      </a:pPr>
                      <a:r>
                        <a:rPr sz="660" b="0">
                          <a:solidFill>
                            <a:srgbClr val="FEFEFF"/>
                          </a:solidFill>
                          <a:latin typeface="Ubuntu Mono"/>
                          <a:ea typeface="Ubuntu Mono"/>
                          <a:cs typeface="Ubuntu Mono"/>
                          <a:sym typeface="Ubuntu Mono"/>
                        </a:rPr>
                        <a:t>If bouncing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9"/>
                        </a:lnSpc>
                      </a:pPr>
                      <a:r>
                        <a:rPr sz="660" b="0">
                          <a:solidFill>
                            <a:srgbClr val="000000"/>
                          </a:solidFill>
                          <a:latin typeface="Ubuntu Mono"/>
                          <a:ea typeface="Ubuntu Mono"/>
                          <a:cs typeface="Ubuntu Mono"/>
                          <a:sym typeface="Ubuntu Mono"/>
                        </a:rPr>
                        <a:t>Cut speed, then raise slowly</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77800">
                <a:tc>
                  <a:txBody>
                    <a:bodyPr wrap="square"/>
                    <a:lstStyle/>
                    <a:p>
                      <a:pPr algn="l">
                        <a:lnSpc>
                          <a:spcPts val="819"/>
                        </a:lnSpc>
                      </a:pPr>
                      <a:r>
                        <a:rPr sz="660" b="0">
                          <a:solidFill>
                            <a:srgbClr val="FEFEFF"/>
                          </a:solidFill>
                          <a:latin typeface="Ubuntu Mono"/>
                          <a:ea typeface="Ubuntu Mono"/>
                          <a:cs typeface="Ubuntu Mono"/>
                          <a:sym typeface="Ubuntu Mono"/>
                        </a:rPr>
                        <a:t>Stabilizer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9"/>
                        </a:lnSpc>
                      </a:pPr>
                      <a:r>
                        <a:rPr sz="660" b="0">
                          <a:solidFill>
                            <a:srgbClr val="000000"/>
                          </a:solidFill>
                          <a:latin typeface="Ubuntu Mono"/>
                          <a:ea typeface="Ubuntu Mono"/>
                          <a:cs typeface="Ubuntu Mono"/>
                          <a:sym typeface="Ubuntu Mono"/>
                        </a:rPr>
                        <a:t>Above mill, O.D. not larger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8" name="TextBox 27"/>
          <p:cNvSpPr txBox="1"/>
          <p:nvPr/>
        </p:nvSpPr>
        <p:spPr>
          <a:xfrm>
            <a:off x="3810000" y="845820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29" name="TextBox 28"/>
          <p:cNvSpPr txBox="1"/>
          <p:nvPr/>
        </p:nvSpPr>
        <p:spPr>
          <a:xfrm>
            <a:off x="3810000" y="8648700"/>
            <a:ext cx="3035300" cy="508000"/>
          </a:xfrm>
          <a:prstGeom prst="rect">
            <a:avLst/>
          </a:prstGeom>
          <a:noFill/>
        </p:spPr>
        <p:txBody>
          <a:bodyPr wrap="square" lIns="0" rIns="0" tIns="0" bIns="0">
            <a:spAutoFit/>
          </a:bodyPr>
          <a:lstStyle/>
          <a:p>
            <a:pPr algn="just">
              <a:lnSpc>
                <a:spcPts val="880"/>
              </a:lnSpc>
              <a:spcAft>
                <a:spcPts val="0"/>
              </a:spcAft>
            </a:pPr>
            <a:r>
              <a:rPr sz="690" b="0">
                <a:solidFill>
                  <a:srgbClr val="000000"/>
                </a:solidFill>
                <a:latin typeface="Ubuntu Mono"/>
                <a:ea typeface="Ubuntu Mono"/>
                <a:cs typeface="Ubuntu Mono"/>
                <a:sym typeface="Ubuntu Mono"/>
              </a:rPr>
              <a:t>Please specify: 1. mill dressed diameter  2. size and weight of the casing to run through, if known  3. protective subs, available on request.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JUNK MILL</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MILLING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CONVENTIONAL JUNK MILL</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THE WORKHORSE OF DOWNHOLE MILLING, USED TO MILL ALMOST ANYTHING IN THE HOLE INCLUDING CEMENT AND RUBBER PRODUCTS. IT IS THE ONLY TOOL ABLE TO MILL DRILL PIPE CEMENTED INSIDE AND OUT. IT IS ALSO USED TO MILL CAST-IRON BRIDGE PLUGS, AND TO MILL CASING THAT HAS BEEN MILLED TO THE POINT OF ROTATING, RUN ON A JOINT OF SLIGHTLY BENT DRILL PIPE. THREE DRESSING OPTIONS ARE LISTED: CONVENTIONAL, CONEBUSTER AND SUPER.</a:t>
            </a:r>
          </a:p>
        </p:txBody>
      </p:sp>
      <p:sp>
        <p:nvSpPr>
          <p:cNvPr id="21" name="TextBox 20"/>
          <p:cNvSpPr txBox="1"/>
          <p:nvPr/>
        </p:nvSpPr>
        <p:spPr>
          <a:xfrm>
            <a:off x="711200" y="51816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384800"/>
          <a:ext cx="6134100" cy="1885950"/>
        </p:xfrm>
        <a:graphic>
          <a:graphicData uri="http://schemas.openxmlformats.org/drawingml/2006/table">
            <a:tbl>
              <a:tblPr/>
              <a:tblGrid>
                <a:gridCol w="933450"/>
                <a:gridCol w="880110"/>
                <a:gridCol w="1226820"/>
                <a:gridCol w="800100"/>
                <a:gridCol w="826770"/>
                <a:gridCol w="880110"/>
                <a:gridCol w="586740"/>
              </a:tblGrid>
              <a:tr h="457200">
                <a:tc>
                  <a:txBody>
                    <a:bodyPr wrap="square"/>
                    <a:lstStyle/>
                    <a:p>
                      <a:pPr algn="ctr">
                        <a:lnSpc>
                          <a:spcPts val="880"/>
                        </a:lnSpc>
                      </a:pPr>
                      <a:r>
                        <a:rPr sz="720" b="1">
                          <a:solidFill>
                            <a:srgbClr val="FEFEFF"/>
                          </a:solidFill>
                          <a:latin typeface="Ubuntu Mono"/>
                          <a:ea typeface="Ubuntu Mono"/>
                          <a:cs typeface="Ubuntu Mono"/>
                          <a:sym typeface="Ubuntu Mono"/>
                        </a:rPr>
                        <a:t>Cutting diameter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Top pin conn.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Overall length: conventional and Conebuster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Overall length: Super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Fishing neck length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Fishing neck dia.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Wt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58750">
                <a:tc>
                  <a:txBody>
                    <a:bodyPr wrap="square"/>
                    <a:lstStyle/>
                    <a:p>
                      <a:pPr algn="ctr">
                        <a:lnSpc>
                          <a:spcPts val="880"/>
                        </a:lnSpc>
                      </a:pPr>
                      <a:r>
                        <a:rPr sz="720" b="0">
                          <a:solidFill>
                            <a:srgbClr val="FEFEFF"/>
                          </a:solidFill>
                          <a:latin typeface="Ubuntu Mono"/>
                          <a:ea typeface="Ubuntu Mono"/>
                          <a:cs typeface="Ubuntu Mono"/>
                          <a:sym typeface="Ubuntu Mono"/>
                        </a:rPr>
                        <a:t>3-1/2 - 4-1/2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8750">
                <a:tc>
                  <a:txBody>
                    <a:bodyPr wrap="square"/>
                    <a:lstStyle/>
                    <a:p>
                      <a:pPr algn="ctr">
                        <a:lnSpc>
                          <a:spcPts val="880"/>
                        </a:lnSpc>
                      </a:pPr>
                      <a:r>
                        <a:rPr sz="720" b="0">
                          <a:solidFill>
                            <a:srgbClr val="FEFEFF"/>
                          </a:solidFill>
                          <a:latin typeface="Ubuntu Mono"/>
                          <a:ea typeface="Ubuntu Mono"/>
                          <a:cs typeface="Ubuntu Mono"/>
                          <a:sym typeface="Ubuntu Mono"/>
                        </a:rPr>
                        <a:t>4-1/2 - 5-1/2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2-7/8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8750">
                <a:tc>
                  <a:txBody>
                    <a:bodyPr wrap="square"/>
                    <a:lstStyle/>
                    <a:p>
                      <a:pPr algn="ctr">
                        <a:lnSpc>
                          <a:spcPts val="880"/>
                        </a:lnSpc>
                      </a:pPr>
                      <a:r>
                        <a:rPr sz="720" b="0">
                          <a:solidFill>
                            <a:srgbClr val="FEFEFF"/>
                          </a:solidFill>
                          <a:latin typeface="Ubuntu Mono"/>
                          <a:ea typeface="Ubuntu Mono"/>
                          <a:cs typeface="Ubuntu Mono"/>
                          <a:sym typeface="Ubuntu Mono"/>
                        </a:rPr>
                        <a:t>5-1/2 - 5-5/8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8750">
                <a:tc>
                  <a:txBody>
                    <a:bodyPr wrap="square"/>
                    <a:lstStyle/>
                    <a:p>
                      <a:pPr algn="ctr">
                        <a:lnSpc>
                          <a:spcPts val="880"/>
                        </a:lnSpc>
                      </a:pPr>
                      <a:r>
                        <a:rPr sz="720" b="0">
                          <a:solidFill>
                            <a:srgbClr val="FEFEFF"/>
                          </a:solidFill>
                          <a:latin typeface="Ubuntu Mono"/>
                          <a:ea typeface="Ubuntu Mono"/>
                          <a:cs typeface="Ubuntu Mono"/>
                          <a:sym typeface="Ubuntu Mono"/>
                        </a:rPr>
                        <a:t>5-3/4 - 7-1/2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8750">
                <a:tc>
                  <a:txBody>
                    <a:bodyPr wrap="square"/>
                    <a:lstStyle/>
                    <a:p>
                      <a:pPr algn="ctr">
                        <a:lnSpc>
                          <a:spcPts val="880"/>
                        </a:lnSpc>
                      </a:pPr>
                      <a:r>
                        <a:rPr sz="720" b="0">
                          <a:solidFill>
                            <a:srgbClr val="FEFEFF"/>
                          </a:solidFill>
                          <a:latin typeface="Ubuntu Mono"/>
                          <a:ea typeface="Ubuntu Mono"/>
                          <a:cs typeface="Ubuntu Mono"/>
                          <a:sym typeface="Ubuntu Mono"/>
                        </a:rPr>
                        <a:t>7-1/2 - 9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8750">
                <a:tc>
                  <a:txBody>
                    <a:bodyPr wrap="square"/>
                    <a:lstStyle/>
                    <a:p>
                      <a:pPr algn="ctr">
                        <a:lnSpc>
                          <a:spcPts val="880"/>
                        </a:lnSpc>
                      </a:pPr>
                      <a:r>
                        <a:rPr sz="720" b="0">
                          <a:solidFill>
                            <a:srgbClr val="FEFEFF"/>
                          </a:solidFill>
                          <a:latin typeface="Ubuntu Mono"/>
                          <a:ea typeface="Ubuntu Mono"/>
                          <a:cs typeface="Ubuntu Mono"/>
                          <a:sym typeface="Ubuntu Mono"/>
                        </a:rPr>
                        <a:t>9-1/2 - 12-1/4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8750">
                <a:tc>
                  <a:txBody>
                    <a:bodyPr wrap="square"/>
                    <a:lstStyle/>
                    <a:p>
                      <a:pPr algn="ctr">
                        <a:lnSpc>
                          <a:spcPts val="880"/>
                        </a:lnSpc>
                      </a:pPr>
                      <a:r>
                        <a:rPr sz="720" b="0">
                          <a:solidFill>
                            <a:srgbClr val="FEFEFF"/>
                          </a:solidFill>
                          <a:latin typeface="Ubuntu Mono"/>
                          <a:ea typeface="Ubuntu Mono"/>
                          <a:cs typeface="Ubuntu Mono"/>
                          <a:sym typeface="Ubuntu Mono"/>
                        </a:rPr>
                        <a:t>13 - 15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 or 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7-3/4 or 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8750">
                <a:tc>
                  <a:txBody>
                    <a:bodyPr wrap="square"/>
                    <a:lstStyle/>
                    <a:p>
                      <a:pPr algn="ctr">
                        <a:lnSpc>
                          <a:spcPts val="880"/>
                        </a:lnSpc>
                      </a:pPr>
                      <a:r>
                        <a:rPr sz="720" b="0">
                          <a:solidFill>
                            <a:srgbClr val="FEFEFF"/>
                          </a:solidFill>
                          <a:latin typeface="Ubuntu Mono"/>
                          <a:ea typeface="Ubuntu Mono"/>
                          <a:cs typeface="Ubuntu Mono"/>
                          <a:sym typeface="Ubuntu Mono"/>
                        </a:rPr>
                        <a:t>17 - 17-1/2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 or 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7-3/4 or 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8750">
                <a:tc>
                  <a:txBody>
                    <a:bodyPr wrap="square"/>
                    <a:lstStyle/>
                    <a:p>
                      <a:pPr algn="ctr">
                        <a:lnSpc>
                          <a:spcPts val="880"/>
                        </a:lnSpc>
                      </a:pPr>
                      <a:r>
                        <a:rPr sz="720" b="0">
                          <a:solidFill>
                            <a:srgbClr val="FEFEFF"/>
                          </a:solidFill>
                          <a:latin typeface="Ubuntu Mono"/>
                          <a:ea typeface="Ubuntu Mono"/>
                          <a:cs typeface="Ubuntu Mono"/>
                          <a:sym typeface="Ubuntu Mono"/>
                        </a:rPr>
                        <a:t>18-1/2 - 26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 or 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7-3/4 or 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3" name="TextBox 22"/>
          <p:cNvSpPr txBox="1"/>
          <p:nvPr/>
        </p:nvSpPr>
        <p:spPr>
          <a:xfrm>
            <a:off x="711200" y="7308850"/>
            <a:ext cx="6134100" cy="114300"/>
          </a:xfrm>
          <a:prstGeom prst="rect">
            <a:avLst/>
          </a:prstGeom>
          <a:noFill/>
        </p:spPr>
        <p:txBody>
          <a:bodyPr wrap="square" lIns="0" rIns="0" tIns="0" bIns="0">
            <a:spAutoFit/>
          </a:bodyPr>
          <a:lstStyle/>
          <a:p>
            <a:pPr algn="l">
              <a:spcAft>
                <a:spcPts val="0"/>
              </a:spcAft>
            </a:pPr>
            <a:r>
              <a:rPr sz="620" b="0">
                <a:solidFill>
                  <a:srgbClr val="444444"/>
                </a:solidFill>
                <a:latin typeface="Ubuntu Mono"/>
                <a:ea typeface="Ubuntu Mono"/>
                <a:cs typeface="Ubuntu Mono"/>
                <a:sym typeface="Ubuntu Mono"/>
              </a:rPr>
              <a:t>Dimensions in inches, weights in lb (approximate).</a:t>
            </a:r>
          </a:p>
        </p:txBody>
      </p:sp>
      <p:sp>
        <p:nvSpPr>
          <p:cNvPr id="24" name="TextBox 23"/>
          <p:cNvSpPr txBox="1"/>
          <p:nvPr/>
        </p:nvSpPr>
        <p:spPr>
          <a:xfrm>
            <a:off x="711200" y="7562850"/>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5" name="TextBox 24"/>
          <p:cNvSpPr txBox="1"/>
          <p:nvPr/>
        </p:nvSpPr>
        <p:spPr>
          <a:xfrm>
            <a:off x="711200" y="7766050"/>
            <a:ext cx="2984500" cy="127000"/>
          </a:xfrm>
          <a:prstGeom prst="rect">
            <a:avLst/>
          </a:prstGeom>
          <a:noFill/>
        </p:spPr>
        <p:txBody>
          <a:bodyPr wrap="square" lIns="0" rIns="0" tIns="0" bIns="0">
            <a:spAutoFit/>
          </a:bodyPr>
          <a:lstStyle/>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Fishing neck: </a:t>
            </a:r>
            <a:r>
              <a:rPr sz="720" b="0">
                <a:solidFill>
                  <a:srgbClr val="000000"/>
                </a:solidFill>
                <a:latin typeface="Ubuntu Mono"/>
                <a:ea typeface="Ubuntu Mono"/>
                <a:cs typeface="Ubuntu Mono"/>
                <a:sym typeface="Ubuntu Mono"/>
              </a:rPr>
              <a:t>allows retrieval of the mill if it is left in the hole.</a:t>
            </a:r>
          </a:p>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Dressing options: </a:t>
            </a:r>
            <a:r>
              <a:rPr sz="720" b="0">
                <a:solidFill>
                  <a:srgbClr val="000000"/>
                </a:solidFill>
                <a:latin typeface="Ubuntu Mono"/>
                <a:ea typeface="Ubuntu Mono"/>
                <a:cs typeface="Ubuntu Mono"/>
                <a:sym typeface="Ubuntu Mono"/>
              </a:rPr>
              <a:t>conventional, Conebuster or Super.</a:t>
            </a:r>
          </a:p>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Inside casing: </a:t>
            </a:r>
            <a:r>
              <a:rPr sz="720" b="0">
                <a:solidFill>
                  <a:srgbClr val="000000"/>
                </a:solidFill>
                <a:latin typeface="Ubuntu Mono"/>
                <a:ea typeface="Ubuntu Mono"/>
                <a:cs typeface="Ubuntu Mono"/>
                <a:sym typeface="Ubuntu Mono"/>
              </a:rPr>
              <a:t>mill head O.D. equal to the casing drift; wear pads of the same O.D. protect the casing; stabilizer of the same O.D. run directly above.</a:t>
            </a:r>
          </a:p>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Bridge plugs: </a:t>
            </a:r>
            <a:r>
              <a:rPr sz="720" b="0">
                <a:solidFill>
                  <a:srgbClr val="000000"/>
                </a:solidFill>
                <a:latin typeface="Ubuntu Mono"/>
                <a:ea typeface="Ubuntu Mono"/>
                <a:cs typeface="Ubuntu Mono"/>
                <a:sym typeface="Ubuntu Mono"/>
              </a:rPr>
              <a:t>mill O.D. about 1/8 in. under the plug size, to avoid skinning the casing.</a:t>
            </a:r>
          </a:p>
        </p:txBody>
      </p:sp>
      <p:sp>
        <p:nvSpPr>
          <p:cNvPr id="26" name="TextBox 25"/>
          <p:cNvSpPr txBox="1"/>
          <p:nvPr/>
        </p:nvSpPr>
        <p:spPr>
          <a:xfrm>
            <a:off x="711200" y="8985250"/>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OPERATING NOTES</a:t>
            </a:r>
          </a:p>
        </p:txBody>
      </p:sp>
      <p:sp>
        <p:nvSpPr>
          <p:cNvPr id="27" name="TextBox 26"/>
          <p:cNvSpPr txBox="1"/>
          <p:nvPr/>
        </p:nvSpPr>
        <p:spPr>
          <a:xfrm>
            <a:off x="711200" y="9188450"/>
            <a:ext cx="2984500" cy="127000"/>
          </a:xfrm>
          <a:prstGeom prst="rect">
            <a:avLst/>
          </a:prstGeom>
          <a:noFill/>
        </p:spPr>
        <p:txBody>
          <a:bodyPr wrap="square" lIns="0" rIns="0" tIns="0" bIns="0">
            <a:spAutoFit/>
          </a:bodyPr>
          <a:lstStyle/>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Open hole: </a:t>
            </a:r>
            <a:r>
              <a:rPr sz="720" b="0">
                <a:solidFill>
                  <a:srgbClr val="000000"/>
                </a:solidFill>
                <a:latin typeface="Ubuntu Mono"/>
                <a:ea typeface="Ubuntu Mono"/>
                <a:cs typeface="Ubuntu Mono"/>
                <a:sym typeface="Ubuntu Mono"/>
              </a:rPr>
              <a:t>mill O.D. about 1/8 in. under hole diameter; at least 10,000 lb of drill collars; junk sub directly above the mill.</a:t>
            </a:r>
          </a:p>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Spudding: </a:t>
            </a:r>
            <a:r>
              <a:rPr sz="720" b="0">
                <a:solidFill>
                  <a:srgbClr val="000000"/>
                </a:solidFill>
                <a:latin typeface="Ubuntu Mono"/>
                <a:ea typeface="Ubuntu Mono"/>
                <a:cs typeface="Ubuntu Mono"/>
                <a:sym typeface="Ubuntu Mono"/>
              </a:rPr>
              <a:t>frequent spudding pounds loose junk onto bottom for effective milling; a rise in torque shows junk alongside the mill.</a:t>
            </a:r>
          </a:p>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Starting: </a:t>
            </a:r>
            <a:r>
              <a:rPr sz="720" b="0">
                <a:solidFill>
                  <a:srgbClr val="000000"/>
                </a:solidFill>
                <a:latin typeface="Ubuntu Mono"/>
                <a:ea typeface="Ubuntu Mono"/>
                <a:cs typeface="Ubuntu Mono"/>
                <a:sym typeface="Ubuntu Mono"/>
              </a:rPr>
              <a:t>set down on the junk while turning, then bring weight up; never apply weight before rotating.</a:t>
            </a:r>
          </a:p>
        </p:txBody>
      </p:sp>
      <p:sp>
        <p:nvSpPr>
          <p:cNvPr id="28" name="TextBox 27"/>
          <p:cNvSpPr txBox="1"/>
          <p:nvPr/>
        </p:nvSpPr>
        <p:spPr>
          <a:xfrm>
            <a:off x="3810000" y="756285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PERFORMANCE PARAMETERS</a:t>
            </a:r>
          </a:p>
        </p:txBody>
      </p:sp>
      <p:graphicFrame>
        <p:nvGraphicFramePr>
          <p:cNvPr id="29" name="Table 28"/>
          <p:cNvGraphicFramePr>
            <a:graphicFrameLocks noGrp="1"/>
          </p:cNvGraphicFramePr>
          <p:nvPr/>
        </p:nvGraphicFramePr>
        <p:xfrm>
          <a:off x="3810000" y="7753350"/>
          <a:ext cx="3035300" cy="1651000"/>
        </p:xfrm>
        <a:graphic>
          <a:graphicData uri="http://schemas.openxmlformats.org/drawingml/2006/table">
            <a:tbl>
              <a:tblPr/>
              <a:tblGrid>
                <a:gridCol w="1206500"/>
                <a:gridCol w="1828800"/>
              </a:tblGrid>
              <a:tr h="165100">
                <a:tc>
                  <a:txBody>
                    <a:bodyPr wrap="square"/>
                    <a:lstStyle/>
                    <a:p>
                      <a:pPr algn="l">
                        <a:lnSpc>
                          <a:spcPts val="790"/>
                        </a:lnSpc>
                      </a:pPr>
                      <a:r>
                        <a:rPr sz="630" b="0">
                          <a:solidFill>
                            <a:srgbClr val="FEFEFF"/>
                          </a:solidFill>
                          <a:latin typeface="Ubuntu Mono"/>
                          <a:ea typeface="Ubuntu Mono"/>
                          <a:cs typeface="Ubuntu Mono"/>
                          <a:sym typeface="Ubuntu Mono"/>
                        </a:rPr>
                        <a:t>Weight on mill</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790"/>
                        </a:lnSpc>
                      </a:pPr>
                      <a:r>
                        <a:rPr sz="630" b="0">
                          <a:solidFill>
                            <a:srgbClr val="000000"/>
                          </a:solidFill>
                          <a:latin typeface="Ubuntu Mono"/>
                          <a:ea typeface="Ubuntu Mono"/>
                          <a:cs typeface="Ubuntu Mono"/>
                          <a:sym typeface="Ubuntu Mono"/>
                        </a:rPr>
                        <a:t>4,000 - 10,000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5100">
                <a:tc>
                  <a:txBody>
                    <a:bodyPr wrap="square"/>
                    <a:lstStyle/>
                    <a:p>
                      <a:pPr algn="l">
                        <a:lnSpc>
                          <a:spcPts val="790"/>
                        </a:lnSpc>
                      </a:pPr>
                      <a:r>
                        <a:rPr sz="630" b="0">
                          <a:solidFill>
                            <a:srgbClr val="FEFEFF"/>
                          </a:solidFill>
                          <a:latin typeface="Ubuntu Mono"/>
                          <a:ea typeface="Ubuntu Mono"/>
                          <a:cs typeface="Ubuntu Mono"/>
                          <a:sym typeface="Ubuntu Mono"/>
                        </a:rPr>
                        <a:t>Start-up rotary speed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790"/>
                        </a:lnSpc>
                      </a:pPr>
                      <a:r>
                        <a:rPr sz="630" b="0">
                          <a:solidFill>
                            <a:srgbClr val="000000"/>
                          </a:solidFill>
                          <a:latin typeface="Ubuntu Mono"/>
                          <a:ea typeface="Ubuntu Mono"/>
                          <a:cs typeface="Ubuntu Mono"/>
                          <a:sym typeface="Ubuntu Mono"/>
                        </a:rPr>
                        <a:t>60 - 80 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65100">
                <a:tc>
                  <a:txBody>
                    <a:bodyPr wrap="square"/>
                    <a:lstStyle/>
                    <a:p>
                      <a:pPr algn="l">
                        <a:lnSpc>
                          <a:spcPts val="790"/>
                        </a:lnSpc>
                      </a:pPr>
                      <a:r>
                        <a:rPr sz="630" b="0">
                          <a:solidFill>
                            <a:srgbClr val="FEFEFF"/>
                          </a:solidFill>
                          <a:latin typeface="Ubuntu Mono"/>
                          <a:ea typeface="Ubuntu Mono"/>
                          <a:cs typeface="Ubuntu Mono"/>
                          <a:sym typeface="Ubuntu Mono"/>
                        </a:rPr>
                        <a:t>Rotary speed once milling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790"/>
                        </a:lnSpc>
                      </a:pPr>
                      <a:r>
                        <a:rPr sz="630" b="0">
                          <a:solidFill>
                            <a:srgbClr val="000000"/>
                          </a:solidFill>
                          <a:latin typeface="Ubuntu Mono"/>
                          <a:ea typeface="Ubuntu Mono"/>
                          <a:cs typeface="Ubuntu Mono"/>
                          <a:sym typeface="Ubuntu Mono"/>
                        </a:rPr>
                        <a:t>80 - 100 rpm, normal pump</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5100">
                <a:tc>
                  <a:txBody>
                    <a:bodyPr wrap="square"/>
                    <a:lstStyle/>
                    <a:p>
                      <a:pPr algn="l">
                        <a:lnSpc>
                          <a:spcPts val="790"/>
                        </a:lnSpc>
                      </a:pPr>
                      <a:r>
                        <a:rPr sz="630" b="0">
                          <a:solidFill>
                            <a:srgbClr val="FEFEFF"/>
                          </a:solidFill>
                          <a:latin typeface="Ubuntu Mono"/>
                          <a:ea typeface="Ubuntu Mono"/>
                          <a:cs typeface="Ubuntu Mono"/>
                          <a:sym typeface="Ubuntu Mono"/>
                        </a:rPr>
                        <a:t>Weight, second pass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790"/>
                        </a:lnSpc>
                      </a:pPr>
                      <a:r>
                        <a:rPr sz="630" b="0">
                          <a:solidFill>
                            <a:srgbClr val="000000"/>
                          </a:solidFill>
                          <a:latin typeface="Ubuntu Mono"/>
                          <a:ea typeface="Ubuntu Mono"/>
                          <a:cs typeface="Ubuntu Mono"/>
                          <a:sym typeface="Ubuntu Mono"/>
                        </a:rPr>
                        <a:t>4,000 - 6,000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65100">
                <a:tc>
                  <a:txBody>
                    <a:bodyPr wrap="square"/>
                    <a:lstStyle/>
                    <a:p>
                      <a:pPr algn="l">
                        <a:lnSpc>
                          <a:spcPts val="790"/>
                        </a:lnSpc>
                      </a:pPr>
                      <a:r>
                        <a:rPr sz="630" b="0">
                          <a:solidFill>
                            <a:srgbClr val="FEFEFF"/>
                          </a:solidFill>
                          <a:latin typeface="Ubuntu Mono"/>
                          <a:ea typeface="Ubuntu Mono"/>
                          <a:cs typeface="Ubuntu Mono"/>
                          <a:sym typeface="Ubuntu Mono"/>
                        </a:rPr>
                        <a:t>Surface speed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790"/>
                        </a:lnSpc>
                      </a:pPr>
                      <a:r>
                        <a:rPr sz="630" b="0">
                          <a:solidFill>
                            <a:srgbClr val="000000"/>
                          </a:solidFill>
                          <a:latin typeface="Ubuntu Mono"/>
                          <a:ea typeface="Ubuntu Mono"/>
                          <a:cs typeface="Ubuntu Mono"/>
                          <a:sym typeface="Ubuntu Mono"/>
                        </a:rPr>
                        <a:t>250 - 340 ft/min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5100">
                <a:tc>
                  <a:txBody>
                    <a:bodyPr wrap="square"/>
                    <a:lstStyle/>
                    <a:p>
                      <a:pPr algn="l">
                        <a:lnSpc>
                          <a:spcPts val="790"/>
                        </a:lnSpc>
                      </a:pPr>
                      <a:r>
                        <a:rPr sz="630" b="0">
                          <a:solidFill>
                            <a:srgbClr val="FEFEFF"/>
                          </a:solidFill>
                          <a:latin typeface="Ubuntu Mono"/>
                          <a:ea typeface="Ubuntu Mono"/>
                          <a:cs typeface="Ubuntu Mono"/>
                          <a:sym typeface="Ubuntu Mono"/>
                        </a:rPr>
                        <a:t>Rotary speed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790"/>
                        </a:lnSpc>
                      </a:pPr>
                      <a:r>
                        <a:rPr sz="630" b="0">
                          <a:solidFill>
                            <a:srgbClr val="000000"/>
                          </a:solidFill>
                          <a:latin typeface="Ubuntu Mono"/>
                          <a:ea typeface="Ubuntu Mono"/>
                          <a:cs typeface="Ubuntu Mono"/>
                          <a:sym typeface="Ubuntu Mono"/>
                        </a:rPr>
                        <a:t>Surf. speed / (O.D. x 3.14)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65100">
                <a:tc>
                  <a:txBody>
                    <a:bodyPr wrap="square"/>
                    <a:lstStyle/>
                    <a:p>
                      <a:pPr algn="l">
                        <a:lnSpc>
                          <a:spcPts val="790"/>
                        </a:lnSpc>
                      </a:pPr>
                      <a:r>
                        <a:rPr sz="630" b="0">
                          <a:solidFill>
                            <a:srgbClr val="FEFEFF"/>
                          </a:solidFill>
                          <a:latin typeface="Ubuntu Mono"/>
                          <a:ea typeface="Ubuntu Mono"/>
                          <a:cs typeface="Ubuntu Mono"/>
                          <a:sym typeface="Ubuntu Mono"/>
                        </a:rPr>
                        <a:t>Loose junk cycle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790"/>
                        </a:lnSpc>
                      </a:pPr>
                      <a:r>
                        <a:rPr sz="630" b="0">
                          <a:solidFill>
                            <a:srgbClr val="000000"/>
                          </a:solidFill>
                          <a:latin typeface="Ubuntu Mono"/>
                          <a:ea typeface="Ubuntu Mono"/>
                          <a:cs typeface="Ubuntu Mono"/>
                          <a:sym typeface="Ubuntu Mono"/>
                        </a:rPr>
                        <a:t>Mill 1-2 ft, lift 15-20 ft, settle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5100">
                <a:tc>
                  <a:txBody>
                    <a:bodyPr wrap="square"/>
                    <a:lstStyle/>
                    <a:p>
                      <a:pPr algn="l">
                        <a:lnSpc>
                          <a:spcPts val="790"/>
                        </a:lnSpc>
                      </a:pPr>
                      <a:r>
                        <a:rPr sz="630" b="0">
                          <a:solidFill>
                            <a:srgbClr val="FEFEFF"/>
                          </a:solidFill>
                          <a:latin typeface="Ubuntu Mono"/>
                          <a:ea typeface="Ubuntu Mono"/>
                          <a:cs typeface="Ubuntu Mono"/>
                          <a:sym typeface="Ubuntu Mono"/>
                        </a:rPr>
                        <a:t>Stationary junk cycle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790"/>
                        </a:lnSpc>
                      </a:pPr>
                      <a:r>
                        <a:rPr sz="630" b="0">
                          <a:solidFill>
                            <a:srgbClr val="000000"/>
                          </a:solidFill>
                          <a:latin typeface="Ubuntu Mono"/>
                          <a:ea typeface="Ubuntu Mono"/>
                          <a:cs typeface="Ubuntu Mono"/>
                          <a:sym typeface="Ubuntu Mono"/>
                        </a:rPr>
                        <a:t>Each 3-5 ft, lift 10-15 ft, ream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65100">
                <a:tc>
                  <a:txBody>
                    <a:bodyPr wrap="square"/>
                    <a:lstStyle/>
                    <a:p>
                      <a:pPr algn="l">
                        <a:lnSpc>
                          <a:spcPts val="790"/>
                        </a:lnSpc>
                      </a:pPr>
                      <a:r>
                        <a:rPr sz="630" b="0">
                          <a:solidFill>
                            <a:srgbClr val="FEFEFF"/>
                          </a:solidFill>
                          <a:latin typeface="Ubuntu Mono"/>
                          <a:ea typeface="Ubuntu Mono"/>
                          <a:cs typeface="Ubuntu Mono"/>
                          <a:sym typeface="Ubuntu Mono"/>
                        </a:rPr>
                        <a:t>Rough running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790"/>
                        </a:lnSpc>
                      </a:pPr>
                      <a:r>
                        <a:rPr sz="630" b="0">
                          <a:solidFill>
                            <a:srgbClr val="000000"/>
                          </a:solidFill>
                          <a:latin typeface="Ubuntu Mono"/>
                          <a:ea typeface="Ubuntu Mono"/>
                          <a:cs typeface="Ubuntu Mono"/>
                          <a:sym typeface="Ubuntu Mono"/>
                        </a:rPr>
                        <a:t>Cut speed/weight, raise slowly</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5100">
                <a:tc>
                  <a:txBody>
                    <a:bodyPr wrap="square"/>
                    <a:lstStyle/>
                    <a:p>
                      <a:pPr algn="l">
                        <a:lnSpc>
                          <a:spcPts val="790"/>
                        </a:lnSpc>
                      </a:pPr>
                      <a:r>
                        <a:rPr sz="630" b="0">
                          <a:solidFill>
                            <a:srgbClr val="FEFEFF"/>
                          </a:solidFill>
                          <a:latin typeface="Ubuntu Mono"/>
                          <a:ea typeface="Ubuntu Mono"/>
                          <a:cs typeface="Ubuntu Mono"/>
                          <a:sym typeface="Ubuntu Mono"/>
                        </a:rPr>
                        <a:t>Stabilizer spacing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790"/>
                        </a:lnSpc>
                      </a:pPr>
                      <a:r>
                        <a:rPr sz="630" b="0">
                          <a:solidFill>
                            <a:srgbClr val="000000"/>
                          </a:solidFill>
                          <a:latin typeface="Ubuntu Mono"/>
                          <a:ea typeface="Ubuntu Mono"/>
                          <a:cs typeface="Ubuntu Mono"/>
                          <a:sym typeface="Ubuntu Mono"/>
                        </a:rPr>
                        <a:t>60 - 90 ft above mill (vertical)</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30" name="TextBox 29"/>
          <p:cNvSpPr txBox="1"/>
          <p:nvPr/>
        </p:nvSpPr>
        <p:spPr>
          <a:xfrm>
            <a:off x="3810000" y="981075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1" name="TextBox 30"/>
          <p:cNvSpPr txBox="1"/>
          <p:nvPr/>
        </p:nvSpPr>
        <p:spPr>
          <a:xfrm>
            <a:off x="3810000" y="10001250"/>
            <a:ext cx="3035300" cy="508000"/>
          </a:xfrm>
          <a:prstGeom prst="rect">
            <a:avLst/>
          </a:prstGeom>
          <a:noFill/>
        </p:spPr>
        <p:txBody>
          <a:bodyPr wrap="square" lIns="0" rIns="0" tIns="0" bIns="0">
            <a:spAutoFit/>
          </a:bodyPr>
          <a:lstStyle/>
          <a:p>
            <a:pPr algn="just">
              <a:lnSpc>
                <a:spcPts val="880"/>
              </a:lnSpc>
              <a:spcAft>
                <a:spcPts val="0"/>
              </a:spcAft>
            </a:pPr>
            <a:r>
              <a:rPr sz="690" b="0">
                <a:solidFill>
                  <a:srgbClr val="000000"/>
                </a:solidFill>
                <a:latin typeface="Ubuntu Mono"/>
                <a:ea typeface="Ubuntu Mono"/>
                <a:cs typeface="Ubuntu Mono"/>
                <a:sym typeface="Ubuntu Mono"/>
              </a:rPr>
              <a:t>Please specify: 1. mill diameter  2. size and weight of the casing to run through, if available  3. top connection  4. dressing (conventional, Conebuster or Super).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SUPER JUNK MILL</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MILLING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
            </a:r>
          </a:p>
        </p:txBody>
      </p:sp>
      <p:pic>
        <p:nvPicPr>
          <p:cNvPr id="19" name="Picture 18" descr="sjm_a_rgba.png"/>
          <p:cNvPicPr>
            <a:picLocks noChangeAspect="1"/>
          </p:cNvPicPr>
          <p:nvPr/>
        </p:nvPicPr>
        <p:blipFill>
          <a:blip r:embed="rId4"/>
          <a:stretch>
            <a:fillRect/>
          </a:stretch>
        </p:blipFill>
        <p:spPr>
          <a:xfrm>
            <a:off x="3327400" y="177800"/>
            <a:ext cx="2032000" cy="411737"/>
          </a:xfrm>
          <a:prstGeom prst="rect">
            <a:avLst/>
          </a:prstGeom>
        </p:spPr>
      </p:pic>
      <p:pic>
        <p:nvPicPr>
          <p:cNvPr id="20" name="Picture 19" descr="sjm_b_rgba.png"/>
          <p:cNvPicPr>
            <a:picLocks noChangeAspect="1"/>
          </p:cNvPicPr>
          <p:nvPr/>
        </p:nvPicPr>
        <p:blipFill>
          <a:blip r:embed="rId5"/>
          <a:stretch>
            <a:fillRect/>
          </a:stretch>
        </p:blipFill>
        <p:spPr>
          <a:xfrm>
            <a:off x="1524000" y="1168400"/>
            <a:ext cx="2286000" cy="811306"/>
          </a:xfrm>
          <a:prstGeom prst="rect">
            <a:avLst/>
          </a:prstGeom>
        </p:spPr>
      </p:pic>
      <p:sp>
        <p:nvSpPr>
          <p:cNvPr id="21" name="TextBox 20"/>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2" name="TextBox 21"/>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THE JUNK MILL IS A HIGH-PERFORMANCE MILLING TOOL DESIGNED TO GRIND AND REMOVE METAL DEBRIS AND OBSTRUCTIONS IN THE WELLBORE, SUCH AS STUCK TOOLS, CASING FRAGMENTS OR DRILL BITS. IT IS USED IN TOUGH ENVIRONMENTS WHERE STANDARD MILLS MIGHT NOT SUFFICE, OFFERING SUPERIOR CUTTING POWER AND DURABILITY.</a:t>
            </a:r>
          </a:p>
        </p:txBody>
      </p:sp>
      <p:sp>
        <p:nvSpPr>
          <p:cNvPr id="23" name="TextBox 22"/>
          <p:cNvSpPr txBox="1"/>
          <p:nvPr/>
        </p:nvSpPr>
        <p:spPr>
          <a:xfrm>
            <a:off x="711200" y="4978400"/>
            <a:ext cx="3302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4" name="Table 23"/>
          <p:cNvGraphicFramePr>
            <a:graphicFrameLocks noGrp="1"/>
          </p:cNvGraphicFramePr>
          <p:nvPr/>
        </p:nvGraphicFramePr>
        <p:xfrm>
          <a:off x="711200" y="5207000"/>
          <a:ext cx="3302000" cy="1701800"/>
        </p:xfrm>
        <a:graphic>
          <a:graphicData uri="http://schemas.openxmlformats.org/drawingml/2006/table">
            <a:tbl>
              <a:tblPr/>
              <a:tblGrid>
                <a:gridCol w="1524000"/>
                <a:gridCol w="1778000"/>
              </a:tblGrid>
              <a:tr h="228600">
                <a:tc>
                  <a:txBody>
                    <a:bodyPr wrap="square"/>
                    <a:lstStyle/>
                    <a:p>
                      <a:pPr algn="ctr">
                        <a:lnSpc>
                          <a:spcPts val="919"/>
                        </a:lnSpc>
                      </a:pPr>
                      <a:r>
                        <a:rPr sz="760" b="1">
                          <a:solidFill>
                            <a:srgbClr val="FEFEFF"/>
                          </a:solidFill>
                          <a:latin typeface="Ubuntu Mono"/>
                          <a:ea typeface="Ubuntu Mono"/>
                          <a:cs typeface="Ubuntu Mono"/>
                          <a:sym typeface="Ubuntu Mono"/>
                        </a:rPr>
                        <a:t>Dressed OD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1">
                          <a:solidFill>
                            <a:srgbClr val="FEFEFF"/>
                          </a:solidFill>
                          <a:latin typeface="Ubuntu Mono"/>
                          <a:ea typeface="Ubuntu Mono"/>
                          <a:cs typeface="Ubuntu Mono"/>
                          <a:sym typeface="Ubuntu Mono"/>
                        </a:rPr>
                        <a:t>Top pin connection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84150">
                <a:tc>
                  <a:txBody>
                    <a:bodyPr wrap="square"/>
                    <a:lstStyle/>
                    <a:p>
                      <a:pPr algn="ctr">
                        <a:lnSpc>
                          <a:spcPts val="919"/>
                        </a:lnSpc>
                      </a:pPr>
                      <a:r>
                        <a:rPr sz="760" b="0">
                          <a:solidFill>
                            <a:srgbClr val="FEFEFF"/>
                          </a:solidFill>
                          <a:latin typeface="Ubuntu Mono"/>
                          <a:ea typeface="Ubuntu Mono"/>
                          <a:cs typeface="Ubuntu Mono"/>
                          <a:sym typeface="Ubuntu Mono"/>
                        </a:rPr>
                        <a:t>3-1/2 - 4-1/4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0">
                          <a:solidFill>
                            <a:srgbClr val="000000"/>
                          </a:solidFill>
                          <a:latin typeface="Ubuntu Mono"/>
                          <a:ea typeface="Ubuntu Mono"/>
                          <a:cs typeface="Ubuntu Mono"/>
                          <a:sym typeface="Ubuntu Mono"/>
                        </a:rPr>
                        <a:t>2-3/8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84150">
                <a:tc>
                  <a:txBody>
                    <a:bodyPr wrap="square"/>
                    <a:lstStyle/>
                    <a:p>
                      <a:pPr algn="ctr">
                        <a:lnSpc>
                          <a:spcPts val="919"/>
                        </a:lnSpc>
                      </a:pPr>
                      <a:r>
                        <a:rPr sz="760" b="0">
                          <a:solidFill>
                            <a:srgbClr val="FEFEFF"/>
                          </a:solidFill>
                          <a:latin typeface="Ubuntu Mono"/>
                          <a:ea typeface="Ubuntu Mono"/>
                          <a:cs typeface="Ubuntu Mono"/>
                          <a:sym typeface="Ubuntu Mono"/>
                        </a:rPr>
                        <a:t>4-1/2 - 5-1/2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919"/>
                        </a:lnSpc>
                      </a:pPr>
                      <a:r>
                        <a:rPr sz="760" b="0">
                          <a:solidFill>
                            <a:srgbClr val="000000"/>
                          </a:solidFill>
                          <a:latin typeface="Ubuntu Mono"/>
                          <a:ea typeface="Ubuntu Mono"/>
                          <a:cs typeface="Ubuntu Mono"/>
                          <a:sym typeface="Ubuntu Mono"/>
                        </a:rPr>
                        <a:t>2-7/8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84150">
                <a:tc>
                  <a:txBody>
                    <a:bodyPr wrap="square"/>
                    <a:lstStyle/>
                    <a:p>
                      <a:pPr algn="ctr">
                        <a:lnSpc>
                          <a:spcPts val="919"/>
                        </a:lnSpc>
                      </a:pPr>
                      <a:r>
                        <a:rPr sz="760" b="0">
                          <a:solidFill>
                            <a:srgbClr val="FEFEFF"/>
                          </a:solidFill>
                          <a:latin typeface="Ubuntu Mono"/>
                          <a:ea typeface="Ubuntu Mono"/>
                          <a:cs typeface="Ubuntu Mono"/>
                          <a:sym typeface="Ubuntu Mono"/>
                        </a:rPr>
                        <a:t>5-1/2 - 7-1/2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0">
                          <a:solidFill>
                            <a:srgbClr val="000000"/>
                          </a:solidFill>
                          <a:latin typeface="Ubuntu Mono"/>
                          <a:ea typeface="Ubuntu Mono"/>
                          <a:cs typeface="Ubuntu Mono"/>
                          <a:sym typeface="Ubuntu Mono"/>
                        </a:rPr>
                        <a:t>3-1/2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84150">
                <a:tc>
                  <a:txBody>
                    <a:bodyPr wrap="square"/>
                    <a:lstStyle/>
                    <a:p>
                      <a:pPr algn="ctr">
                        <a:lnSpc>
                          <a:spcPts val="919"/>
                        </a:lnSpc>
                      </a:pPr>
                      <a:r>
                        <a:rPr sz="760" b="0">
                          <a:solidFill>
                            <a:srgbClr val="FEFEFF"/>
                          </a:solidFill>
                          <a:latin typeface="Ubuntu Mono"/>
                          <a:ea typeface="Ubuntu Mono"/>
                          <a:cs typeface="Ubuntu Mono"/>
                          <a:sym typeface="Ubuntu Mono"/>
                        </a:rPr>
                        <a:t>7-1/2 - 9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919"/>
                        </a:lnSpc>
                      </a:pPr>
                      <a:r>
                        <a:rPr sz="760" b="0">
                          <a:solidFill>
                            <a:srgbClr val="000000"/>
                          </a:solidFill>
                          <a:latin typeface="Ubuntu Mono"/>
                          <a:ea typeface="Ubuntu Mono"/>
                          <a:cs typeface="Ubuntu Mono"/>
                          <a:sym typeface="Ubuntu Mono"/>
                        </a:rPr>
                        <a:t>4-1/2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84150">
                <a:tc>
                  <a:txBody>
                    <a:bodyPr wrap="square"/>
                    <a:lstStyle/>
                    <a:p>
                      <a:pPr algn="ctr">
                        <a:lnSpc>
                          <a:spcPts val="919"/>
                        </a:lnSpc>
                      </a:pPr>
                      <a:r>
                        <a:rPr sz="760" b="0">
                          <a:solidFill>
                            <a:srgbClr val="FEFEFF"/>
                          </a:solidFill>
                          <a:latin typeface="Ubuntu Mono"/>
                          <a:ea typeface="Ubuntu Mono"/>
                          <a:cs typeface="Ubuntu Mono"/>
                          <a:sym typeface="Ubuntu Mono"/>
                        </a:rPr>
                        <a:t>9-1/2 - 12-1/4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0">
                          <a:solidFill>
                            <a:srgbClr val="000000"/>
                          </a:solidFill>
                          <a:latin typeface="Ubuntu Mono"/>
                          <a:ea typeface="Ubuntu Mono"/>
                          <a:cs typeface="Ubuntu Mono"/>
                          <a:sym typeface="Ubuntu Mono"/>
                        </a:rPr>
                        <a:t>6-5/8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84150">
                <a:tc>
                  <a:txBody>
                    <a:bodyPr wrap="square"/>
                    <a:lstStyle/>
                    <a:p>
                      <a:pPr algn="ctr">
                        <a:lnSpc>
                          <a:spcPts val="919"/>
                        </a:lnSpc>
                      </a:pPr>
                      <a:r>
                        <a:rPr sz="760" b="0">
                          <a:solidFill>
                            <a:srgbClr val="FEFEFF"/>
                          </a:solidFill>
                          <a:latin typeface="Ubuntu Mono"/>
                          <a:ea typeface="Ubuntu Mono"/>
                          <a:cs typeface="Ubuntu Mono"/>
                          <a:sym typeface="Ubuntu Mono"/>
                        </a:rPr>
                        <a:t>13 - 15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919"/>
                        </a:lnSpc>
                      </a:pPr>
                      <a:r>
                        <a:rPr sz="760" b="0">
                          <a:solidFill>
                            <a:srgbClr val="000000"/>
                          </a:solidFill>
                          <a:latin typeface="Ubuntu Mono"/>
                          <a:ea typeface="Ubuntu Mono"/>
                          <a:cs typeface="Ubuntu Mono"/>
                          <a:sym typeface="Ubuntu Mono"/>
                        </a:rPr>
                        <a:t>6-5/8, 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84150">
                <a:tc>
                  <a:txBody>
                    <a:bodyPr wrap="square"/>
                    <a:lstStyle/>
                    <a:p>
                      <a:pPr algn="ctr">
                        <a:lnSpc>
                          <a:spcPts val="919"/>
                        </a:lnSpc>
                      </a:pPr>
                      <a:r>
                        <a:rPr sz="760" b="0">
                          <a:solidFill>
                            <a:srgbClr val="FEFEFF"/>
                          </a:solidFill>
                          <a:latin typeface="Ubuntu Mono"/>
                          <a:ea typeface="Ubuntu Mono"/>
                          <a:cs typeface="Ubuntu Mono"/>
                          <a:sym typeface="Ubuntu Mono"/>
                        </a:rPr>
                        <a:t>17 - 17-1/2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0">
                          <a:solidFill>
                            <a:srgbClr val="000000"/>
                          </a:solidFill>
                          <a:latin typeface="Ubuntu Mono"/>
                          <a:ea typeface="Ubuntu Mono"/>
                          <a:cs typeface="Ubuntu Mono"/>
                          <a:sym typeface="Ubuntu Mono"/>
                        </a:rPr>
                        <a:t>6-5/8, 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84150">
                <a:tc>
                  <a:txBody>
                    <a:bodyPr wrap="square"/>
                    <a:lstStyle/>
                    <a:p>
                      <a:pPr algn="ctr">
                        <a:lnSpc>
                          <a:spcPts val="919"/>
                        </a:lnSpc>
                      </a:pPr>
                      <a:r>
                        <a:rPr sz="760" b="0">
                          <a:solidFill>
                            <a:srgbClr val="FEFEFF"/>
                          </a:solidFill>
                          <a:latin typeface="Ubuntu Mono"/>
                          <a:ea typeface="Ubuntu Mono"/>
                          <a:cs typeface="Ubuntu Mono"/>
                          <a:sym typeface="Ubuntu Mono"/>
                        </a:rPr>
                        <a:t>18-1/2 - 26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919"/>
                        </a:lnSpc>
                      </a:pPr>
                      <a:r>
                        <a:rPr sz="760" b="0">
                          <a:solidFill>
                            <a:srgbClr val="000000"/>
                          </a:solidFill>
                          <a:latin typeface="Ubuntu Mono"/>
                          <a:ea typeface="Ubuntu Mono"/>
                          <a:cs typeface="Ubuntu Mono"/>
                          <a:sym typeface="Ubuntu Mono"/>
                        </a:rPr>
                        <a:t>6-5/8, 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5" name="TextBox 24"/>
          <p:cNvSpPr txBox="1"/>
          <p:nvPr/>
        </p:nvSpPr>
        <p:spPr>
          <a:xfrm>
            <a:off x="4064000" y="4978400"/>
            <a:ext cx="2832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DRESSING OPTIONS</a:t>
            </a:r>
          </a:p>
        </p:txBody>
      </p:sp>
      <p:pic>
        <p:nvPicPr>
          <p:cNvPr id="26" name="Picture 25" descr="thumb0.png"/>
          <p:cNvPicPr>
            <a:picLocks noChangeAspect="1"/>
          </p:cNvPicPr>
          <p:nvPr/>
        </p:nvPicPr>
        <p:blipFill>
          <a:blip r:embed="rId6"/>
          <a:stretch>
            <a:fillRect/>
          </a:stretch>
        </p:blipFill>
        <p:spPr>
          <a:xfrm>
            <a:off x="4191000" y="5257800"/>
            <a:ext cx="533400" cy="533400"/>
          </a:xfrm>
          <a:prstGeom prst="rect">
            <a:avLst/>
          </a:prstGeom>
        </p:spPr>
      </p:pic>
      <p:sp>
        <p:nvSpPr>
          <p:cNvPr id="27" name="TextBox 26"/>
          <p:cNvSpPr txBox="1"/>
          <p:nvPr/>
        </p:nvSpPr>
        <p:spPr>
          <a:xfrm>
            <a:off x="4876800" y="5422900"/>
            <a:ext cx="1905000" cy="203200"/>
          </a:xfrm>
          <a:prstGeom prst="rect">
            <a:avLst/>
          </a:prstGeom>
          <a:noFill/>
        </p:spPr>
        <p:txBody>
          <a:bodyPr wrap="square" lIns="0" rIns="0" tIns="0" bIns="0">
            <a:spAutoFit/>
          </a:bodyPr>
          <a:lstStyle/>
          <a:p>
            <a:pPr algn="l">
              <a:spcAft>
                <a:spcPts val="0"/>
              </a:spcAft>
            </a:pPr>
            <a:r>
              <a:rPr sz="950" b="1">
                <a:solidFill>
                  <a:srgbClr val="194E9A"/>
                </a:solidFill>
                <a:latin typeface="Ubuntu Mono"/>
                <a:ea typeface="Ubuntu Mono"/>
                <a:cs typeface="Ubuntu Mono"/>
                <a:sym typeface="Ubuntu Mono"/>
              </a:rPr>
              <a:t>Conventional</a:t>
            </a:r>
          </a:p>
        </p:txBody>
      </p:sp>
      <p:pic>
        <p:nvPicPr>
          <p:cNvPr id="28" name="Picture 27" descr="thumb1.png"/>
          <p:cNvPicPr>
            <a:picLocks noChangeAspect="1"/>
          </p:cNvPicPr>
          <p:nvPr/>
        </p:nvPicPr>
        <p:blipFill>
          <a:blip r:embed="rId7"/>
          <a:stretch>
            <a:fillRect/>
          </a:stretch>
        </p:blipFill>
        <p:spPr>
          <a:xfrm>
            <a:off x="4191000" y="5892800"/>
            <a:ext cx="533400" cy="533400"/>
          </a:xfrm>
          <a:prstGeom prst="rect">
            <a:avLst/>
          </a:prstGeom>
        </p:spPr>
      </p:pic>
      <p:sp>
        <p:nvSpPr>
          <p:cNvPr id="29" name="TextBox 28"/>
          <p:cNvSpPr txBox="1"/>
          <p:nvPr/>
        </p:nvSpPr>
        <p:spPr>
          <a:xfrm>
            <a:off x="4876800" y="6057900"/>
            <a:ext cx="1905000" cy="203200"/>
          </a:xfrm>
          <a:prstGeom prst="rect">
            <a:avLst/>
          </a:prstGeom>
          <a:noFill/>
        </p:spPr>
        <p:txBody>
          <a:bodyPr wrap="square" lIns="0" rIns="0" tIns="0" bIns="0">
            <a:spAutoFit/>
          </a:bodyPr>
          <a:lstStyle/>
          <a:p>
            <a:pPr algn="l">
              <a:spcAft>
                <a:spcPts val="0"/>
              </a:spcAft>
            </a:pPr>
            <a:r>
              <a:rPr sz="950" b="1">
                <a:solidFill>
                  <a:srgbClr val="194E9A"/>
                </a:solidFill>
                <a:latin typeface="Ubuntu Mono"/>
                <a:ea typeface="Ubuntu Mono"/>
                <a:cs typeface="Ubuntu Mono"/>
                <a:sym typeface="Ubuntu Mono"/>
              </a:rPr>
              <a:t>Conebuster</a:t>
            </a:r>
          </a:p>
        </p:txBody>
      </p:sp>
      <p:pic>
        <p:nvPicPr>
          <p:cNvPr id="30" name="Picture 29" descr="thumb2.png"/>
          <p:cNvPicPr>
            <a:picLocks noChangeAspect="1"/>
          </p:cNvPicPr>
          <p:nvPr/>
        </p:nvPicPr>
        <p:blipFill>
          <a:blip r:embed="rId8"/>
          <a:stretch>
            <a:fillRect/>
          </a:stretch>
        </p:blipFill>
        <p:spPr>
          <a:xfrm>
            <a:off x="4191000" y="6527800"/>
            <a:ext cx="533400" cy="533400"/>
          </a:xfrm>
          <a:prstGeom prst="rect">
            <a:avLst/>
          </a:prstGeom>
        </p:spPr>
      </p:pic>
      <p:sp>
        <p:nvSpPr>
          <p:cNvPr id="31" name="TextBox 30"/>
          <p:cNvSpPr txBox="1"/>
          <p:nvPr/>
        </p:nvSpPr>
        <p:spPr>
          <a:xfrm>
            <a:off x="4876800" y="6692900"/>
            <a:ext cx="1905000" cy="203200"/>
          </a:xfrm>
          <a:prstGeom prst="rect">
            <a:avLst/>
          </a:prstGeom>
          <a:noFill/>
        </p:spPr>
        <p:txBody>
          <a:bodyPr wrap="square" lIns="0" rIns="0" tIns="0" bIns="0">
            <a:spAutoFit/>
          </a:bodyPr>
          <a:lstStyle/>
          <a:p>
            <a:pPr algn="l">
              <a:spcAft>
                <a:spcPts val="0"/>
              </a:spcAft>
            </a:pPr>
            <a:r>
              <a:rPr sz="950" b="1">
                <a:solidFill>
                  <a:srgbClr val="194E9A"/>
                </a:solidFill>
                <a:latin typeface="Ubuntu Mono"/>
                <a:ea typeface="Ubuntu Mono"/>
                <a:cs typeface="Ubuntu Mono"/>
                <a:sym typeface="Ubuntu Mono"/>
              </a:rPr>
              <a:t>Super</a:t>
            </a:r>
          </a:p>
        </p:txBody>
      </p:sp>
      <p:sp>
        <p:nvSpPr>
          <p:cNvPr id="32" name="TextBox 31"/>
          <p:cNvSpPr txBox="1"/>
          <p:nvPr/>
        </p:nvSpPr>
        <p:spPr>
          <a:xfrm>
            <a:off x="711200" y="7366000"/>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USAGE RECOMMENDATIONS</a:t>
            </a:r>
          </a:p>
        </p:txBody>
      </p:sp>
      <p:sp>
        <p:nvSpPr>
          <p:cNvPr id="33" name="TextBox 32"/>
          <p:cNvSpPr txBox="1"/>
          <p:nvPr/>
        </p:nvSpPr>
        <p:spPr>
          <a:xfrm>
            <a:off x="711200" y="7569200"/>
            <a:ext cx="3048000" cy="127000"/>
          </a:xfrm>
          <a:prstGeom prst="rect">
            <a:avLst/>
          </a:prstGeom>
          <a:noFill/>
        </p:spPr>
        <p:txBody>
          <a:bodyPr wrap="square" lIns="0" rIns="0" tIns="0" bIns="0">
            <a:spAutoFit/>
          </a:bodyPr>
          <a:lstStyle/>
          <a:p>
            <a:pPr algn="l">
              <a:lnSpc>
                <a:spcPts val="919"/>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Circulation: </a:t>
            </a:r>
            <a:r>
              <a:rPr sz="720" b="0">
                <a:solidFill>
                  <a:srgbClr val="000000"/>
                </a:solidFill>
                <a:latin typeface="Ubuntu Mono"/>
                <a:ea typeface="Ubuntu Mono"/>
                <a:cs typeface="Ubuntu Mono"/>
                <a:sym typeface="Ubuntu Mono"/>
              </a:rPr>
              <a:t>use with a robust circulation system to clear milling debris efficiently.</a:t>
            </a:r>
          </a:p>
          <a:p>
            <a:pPr algn="l">
              <a:lnSpc>
                <a:spcPts val="919"/>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Debris collection: </a:t>
            </a:r>
            <a:r>
              <a:rPr sz="720" b="0">
                <a:solidFill>
                  <a:srgbClr val="000000"/>
                </a:solidFill>
                <a:latin typeface="Ubuntu Mono"/>
                <a:ea typeface="Ubuntu Mono"/>
                <a:cs typeface="Ubuntu Mono"/>
                <a:sym typeface="Ubuntu Mono"/>
              </a:rPr>
              <a:t>often combined with a fishing magnet or a junk basket to collect any metallic debris left behind.</a:t>
            </a:r>
          </a:p>
          <a:p>
            <a:pPr algn="l">
              <a:lnSpc>
                <a:spcPts val="919"/>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Stabilizers: </a:t>
            </a:r>
            <a:r>
              <a:rPr sz="720" b="0">
                <a:solidFill>
                  <a:srgbClr val="000000"/>
                </a:solidFill>
                <a:latin typeface="Ubuntu Mono"/>
                <a:ea typeface="Ubuntu Mono"/>
                <a:cs typeface="Ubuntu Mono"/>
                <a:sym typeface="Ubuntu Mono"/>
              </a:rPr>
              <a:t>useful for tool stability, more consistent cutting action and longer mill life.</a:t>
            </a:r>
          </a:p>
        </p:txBody>
      </p:sp>
      <p:sp>
        <p:nvSpPr>
          <p:cNvPr id="34" name="TextBox 33"/>
          <p:cNvSpPr txBox="1"/>
          <p:nvPr/>
        </p:nvSpPr>
        <p:spPr>
          <a:xfrm>
            <a:off x="3810000" y="736600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TYPES OF DEBRIS MILLED</a:t>
            </a:r>
          </a:p>
        </p:txBody>
      </p:sp>
      <p:sp>
        <p:nvSpPr>
          <p:cNvPr id="35" name="TextBox 34"/>
          <p:cNvSpPr txBox="1"/>
          <p:nvPr/>
        </p:nvSpPr>
        <p:spPr>
          <a:xfrm>
            <a:off x="3810000" y="7569200"/>
            <a:ext cx="3035300" cy="127000"/>
          </a:xfrm>
          <a:prstGeom prst="rect">
            <a:avLst/>
          </a:prstGeom>
          <a:noFill/>
        </p:spPr>
        <p:txBody>
          <a:bodyPr wrap="square" lIns="0" rIns="0" tIns="0" bIns="0">
            <a:spAutoFit/>
          </a:bodyPr>
          <a:lstStyle/>
          <a:p>
            <a:pPr algn="l">
              <a:lnSpc>
                <a:spcPts val="919"/>
              </a:lnSpc>
              <a:spcAft>
                <a:spcPts val="250"/>
              </a:spcAft>
            </a:pPr>
            <a:r>
              <a:rPr sz="570" b="0">
                <a:solidFill>
                  <a:srgbClr val="01ADEE"/>
                </a:solidFill>
                <a:latin typeface="Ubuntu Mono"/>
                <a:ea typeface="Ubuntu Mono"/>
                <a:cs typeface="Ubuntu Mono"/>
                <a:sym typeface="Ubuntu Mono"/>
              </a:rPr>
              <a:t>■ </a:t>
            </a:r>
            <a:r>
              <a:rPr sz="720" b="0">
                <a:solidFill>
                  <a:srgbClr val="000000"/>
                </a:solidFill>
                <a:latin typeface="Ubuntu Mono"/>
                <a:ea typeface="Ubuntu Mono"/>
                <a:cs typeface="Ubuntu Mono"/>
                <a:sym typeface="Ubuntu Mono"/>
              </a:rPr>
              <a:t>Broken drill bits</a:t>
            </a:r>
          </a:p>
          <a:p>
            <a:pPr algn="l">
              <a:lnSpc>
                <a:spcPts val="919"/>
              </a:lnSpc>
              <a:spcAft>
                <a:spcPts val="250"/>
              </a:spcAft>
            </a:pPr>
            <a:r>
              <a:rPr sz="570" b="0">
                <a:solidFill>
                  <a:srgbClr val="01ADEE"/>
                </a:solidFill>
                <a:latin typeface="Ubuntu Mono"/>
                <a:ea typeface="Ubuntu Mono"/>
                <a:cs typeface="Ubuntu Mono"/>
                <a:sym typeface="Ubuntu Mono"/>
              </a:rPr>
              <a:t>■ </a:t>
            </a:r>
            <a:r>
              <a:rPr sz="720" b="0">
                <a:solidFill>
                  <a:srgbClr val="000000"/>
                </a:solidFill>
                <a:latin typeface="Ubuntu Mono"/>
                <a:ea typeface="Ubuntu Mono"/>
                <a:cs typeface="Ubuntu Mono"/>
                <a:sym typeface="Ubuntu Mono"/>
              </a:rPr>
              <a:t>Casing fragments</a:t>
            </a:r>
          </a:p>
          <a:p>
            <a:pPr algn="l">
              <a:lnSpc>
                <a:spcPts val="919"/>
              </a:lnSpc>
              <a:spcAft>
                <a:spcPts val="250"/>
              </a:spcAft>
            </a:pPr>
            <a:r>
              <a:rPr sz="570" b="0">
                <a:solidFill>
                  <a:srgbClr val="01ADEE"/>
                </a:solidFill>
                <a:latin typeface="Ubuntu Mono"/>
                <a:ea typeface="Ubuntu Mono"/>
                <a:cs typeface="Ubuntu Mono"/>
                <a:sym typeface="Ubuntu Mono"/>
              </a:rPr>
              <a:t>■ </a:t>
            </a:r>
            <a:r>
              <a:rPr sz="720" b="0">
                <a:solidFill>
                  <a:srgbClr val="000000"/>
                </a:solidFill>
                <a:latin typeface="Ubuntu Mono"/>
                <a:ea typeface="Ubuntu Mono"/>
                <a:cs typeface="Ubuntu Mono"/>
                <a:sym typeface="Ubuntu Mono"/>
              </a:rPr>
              <a:t>Stuck tools</a:t>
            </a:r>
          </a:p>
          <a:p>
            <a:pPr algn="l">
              <a:lnSpc>
                <a:spcPts val="919"/>
              </a:lnSpc>
              <a:spcAft>
                <a:spcPts val="250"/>
              </a:spcAft>
            </a:pPr>
            <a:r>
              <a:rPr sz="570" b="0">
                <a:solidFill>
                  <a:srgbClr val="01ADEE"/>
                </a:solidFill>
                <a:latin typeface="Ubuntu Mono"/>
                <a:ea typeface="Ubuntu Mono"/>
                <a:cs typeface="Ubuntu Mono"/>
                <a:sym typeface="Ubuntu Mono"/>
              </a:rPr>
              <a:t>■ </a:t>
            </a:r>
            <a:r>
              <a:rPr sz="720" b="0">
                <a:solidFill>
                  <a:srgbClr val="000000"/>
                </a:solidFill>
                <a:latin typeface="Ubuntu Mono"/>
                <a:ea typeface="Ubuntu Mono"/>
                <a:cs typeface="Ubuntu Mono"/>
                <a:sym typeface="Ubuntu Mono"/>
              </a:rPr>
              <a:t>Fishing equipment debris</a:t>
            </a:r>
          </a:p>
          <a:p>
            <a:pPr algn="l">
              <a:lnSpc>
                <a:spcPts val="919"/>
              </a:lnSpc>
              <a:spcAft>
                <a:spcPts val="250"/>
              </a:spcAft>
            </a:pPr>
            <a:r>
              <a:rPr sz="570" b="0">
                <a:solidFill>
                  <a:srgbClr val="01ADEE"/>
                </a:solidFill>
                <a:latin typeface="Ubuntu Mono"/>
                <a:ea typeface="Ubuntu Mono"/>
                <a:cs typeface="Ubuntu Mono"/>
                <a:sym typeface="Ubuntu Mono"/>
              </a:rPr>
              <a:t>■ </a:t>
            </a:r>
            <a:r>
              <a:rPr sz="720" b="0">
                <a:solidFill>
                  <a:srgbClr val="000000"/>
                </a:solidFill>
                <a:latin typeface="Ubuntu Mono"/>
                <a:ea typeface="Ubuntu Mono"/>
                <a:cs typeface="Ubuntu Mono"/>
                <a:sym typeface="Ubuntu Mono"/>
              </a:rPr>
              <a:t>Miscellaneous metallic obstructions</a:t>
            </a:r>
          </a:p>
        </p:txBody>
      </p:sp>
      <p:sp>
        <p:nvSpPr>
          <p:cNvPr id="36" name="TextBox 35"/>
          <p:cNvSpPr txBox="1"/>
          <p:nvPr/>
        </p:nvSpPr>
        <p:spPr>
          <a:xfrm>
            <a:off x="3810000" y="876300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7" name="TextBox 36"/>
          <p:cNvSpPr txBox="1"/>
          <p:nvPr/>
        </p:nvSpPr>
        <p:spPr>
          <a:xfrm>
            <a:off x="3810000" y="8966200"/>
            <a:ext cx="3035300" cy="508000"/>
          </a:xfrm>
          <a:prstGeom prst="rect">
            <a:avLst/>
          </a:prstGeom>
          <a:noFill/>
        </p:spPr>
        <p:txBody>
          <a:bodyPr wrap="square" lIns="0" rIns="0" tIns="0" bIns="0">
            <a:spAutoFit/>
          </a:bodyPr>
          <a:lstStyle/>
          <a:p>
            <a:pPr algn="just">
              <a:lnSpc>
                <a:spcPts val="900"/>
              </a:lnSpc>
              <a:spcAft>
                <a:spcPts val="0"/>
              </a:spcAft>
            </a:pPr>
            <a:r>
              <a:rPr sz="700" b="0">
                <a:solidFill>
                  <a:srgbClr val="000000"/>
                </a:solidFill>
                <a:latin typeface="Ubuntu Mono"/>
                <a:ea typeface="Ubuntu Mono"/>
                <a:cs typeface="Ubuntu Mono"/>
                <a:sym typeface="Ubuntu Mono"/>
              </a:rPr>
              <a:t>Please specify: 1. dressed OD  2. top pin connection  3. dressing (conventional, Conebuster or Super).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txBody>
          <a:bodyPr/>
          <a:p/>
        </p:txBody>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txBody>
          <a:bodyPr/>
          <a:p/>
        </p:txBody>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VIPER PILOT MILL</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MILLING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CASING REMOVAL AND SLOT RECOVERY MILL</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MILLING TOOL DESIGNED FOR THE EFFICIENT REMOVAL OF DOWNHOLE CASING STRINGS. IT IS USED MAINLY FOR OFFSHORE PLATFORM SLOT RECOVERY, WHERE INTERMEDIATE CASING IS REMOVED BACK TO THE SURFACE STRING OR CONDUCTOR SO THE WELL CAN BE RE-DRILLED TO A NEW TARGET INSTEAD OF BEING ABANDONED. WHERE THE CASING CEMENT IS POOR A MIX OF RETRIEVAL AND MILLING IS USED; WHERE CASING IS CEMENTED BACK TO THE SPOOLS, MILLING ALONE IS USED. THE BLADES CARRY A BRICK-PATTERN CARBIDE CUTTING STRUCTURE FOR HIGH PENETRATION RATE, IDEAL CUTTING SIZE AND LONG MILLING LIFE.</a:t>
            </a:r>
          </a:p>
        </p:txBody>
      </p:sp>
      <p:sp>
        <p:nvSpPr>
          <p:cNvPr id="21" name="TextBox 20"/>
          <p:cNvSpPr txBox="1"/>
          <p:nvPr/>
        </p:nvSpPr>
        <p:spPr>
          <a:xfrm>
            <a:off x="711200" y="49784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181600"/>
          <a:ext cx="6134097" cy="2311400"/>
        </p:xfrm>
        <a:graphic>
          <a:graphicData uri="http://schemas.openxmlformats.org/drawingml/2006/table">
            <a:tbl>
              <a:tblPr/>
              <a:tblGrid>
                <a:gridCol w="526175"/>
                <a:gridCol w="553869"/>
                <a:gridCol w="553869"/>
                <a:gridCol w="553869"/>
                <a:gridCol w="553869"/>
                <a:gridCol w="858497"/>
                <a:gridCol w="692336"/>
                <a:gridCol w="692336"/>
                <a:gridCol w="623102"/>
                <a:gridCol w="526175"/>
              </a:tblGrid>
              <a:tr h="330200">
                <a:tc>
                  <a:txBody>
                    <a:bodyPr wrap="square"/>
                    <a:lstStyle/>
                    <a:p>
                      <a:pPr algn="ctr">
                        <a:lnSpc>
                          <a:spcPts val="860"/>
                        </a:lnSpc>
                      </a:pPr>
                      <a:r>
                        <a:rPr sz="700" b="1">
                          <a:solidFill>
                            <a:srgbClr val="FEFEFF"/>
                          </a:solidFill>
                          <a:latin typeface="Ubuntu Mono"/>
                          <a:ea typeface="Ubuntu Mono"/>
                          <a:cs typeface="Ubuntu Mono"/>
                          <a:sym typeface="Ubuntu Mono"/>
                        </a:rPr>
                        <a:t>Tool series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Casing size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Body dia.</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Blade dia.</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No. of blades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Top pin conn.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Fishing neck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Fishing neck dia.</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Overall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Wt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52400">
                <a:tc>
                  <a:txBody>
                    <a:bodyPr wrap="square"/>
                    <a:lstStyle/>
                    <a:p>
                      <a:pPr algn="ctr">
                        <a:lnSpc>
                          <a:spcPts val="860"/>
                        </a:lnSpc>
                      </a:pPr>
                      <a:r>
                        <a:rPr sz="700" b="0">
                          <a:solidFill>
                            <a:srgbClr val="FEFEFF"/>
                          </a:solidFill>
                          <a:latin typeface="Ubuntu Mono"/>
                          <a:ea typeface="Ubuntu Mono"/>
                          <a:cs typeface="Ubuntu Mono"/>
                          <a:sym typeface="Ubuntu Mono"/>
                        </a:rPr>
                        <a:t>4500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5.250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3-1/2 IF BU</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36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60"/>
                        </a:lnSpc>
                      </a:pPr>
                      <a:r>
                        <a:rPr sz="700" b="0">
                          <a:solidFill>
                            <a:srgbClr val="FEFEFF"/>
                          </a:solidFill>
                          <a:latin typeface="Ubuntu Mono"/>
                          <a:ea typeface="Ubuntu Mono"/>
                          <a:cs typeface="Ubuntu Mono"/>
                          <a:sym typeface="Ubuntu Mono"/>
                        </a:rPr>
                        <a:t>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60"/>
                        </a:lnSpc>
                      </a:pPr>
                      <a:r>
                        <a:rPr sz="700" b="0">
                          <a:solidFill>
                            <a:srgbClr val="000000"/>
                          </a:solidFill>
                          <a:latin typeface="Ubuntu Mono"/>
                          <a:ea typeface="Ubuntu Mono"/>
                          <a:cs typeface="Ubuntu Mono"/>
                          <a:sym typeface="Ubuntu Mono"/>
                        </a:rPr>
                        <a:t>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5.813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3-1/2 IF BU</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36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60"/>
                        </a:lnSpc>
                      </a:pPr>
                      <a:r>
                        <a:rPr sz="700" b="0">
                          <a:solidFill>
                            <a:srgbClr val="FEFEFF"/>
                          </a:solidFill>
                          <a:latin typeface="Ubuntu Mono"/>
                          <a:ea typeface="Ubuntu Mono"/>
                          <a:cs typeface="Ubuntu Mono"/>
                          <a:sym typeface="Ubuntu Mono"/>
                        </a:rPr>
                        <a:t>5500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6.300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3-1/2 IF BU</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36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60"/>
                        </a:lnSpc>
                      </a:pPr>
                      <a:r>
                        <a:rPr sz="700" b="0">
                          <a:solidFill>
                            <a:srgbClr val="FEFEFF"/>
                          </a:solidFill>
                          <a:latin typeface="Ubuntu Mono"/>
                          <a:ea typeface="Ubuntu Mono"/>
                          <a:cs typeface="Ubuntu Mono"/>
                          <a:sym typeface="Ubuntu Mono"/>
                        </a:rPr>
                        <a:t>6000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60"/>
                        </a:lnSpc>
                      </a:pPr>
                      <a:r>
                        <a:rPr sz="700" b="0">
                          <a:solidFill>
                            <a:srgbClr val="000000"/>
                          </a:solidFill>
                          <a:latin typeface="Ubuntu Mono"/>
                          <a:ea typeface="Ubuntu Mono"/>
                          <a:cs typeface="Ubuntu Mono"/>
                          <a:sym typeface="Ubuntu Mono"/>
                        </a:rPr>
                        <a:t>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6.875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3-1/2 IF BU</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42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60"/>
                        </a:lnSpc>
                      </a:pPr>
                      <a:r>
                        <a:rPr sz="700" b="0">
                          <a:solidFill>
                            <a:srgbClr val="FEFEFF"/>
                          </a:solidFill>
                          <a:latin typeface="Ubuntu Mono"/>
                          <a:ea typeface="Ubuntu Mono"/>
                          <a:cs typeface="Ubuntu Mono"/>
                          <a:sym typeface="Ubuntu Mono"/>
                        </a:rPr>
                        <a:t>6600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7.640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4-1/2 IF BU</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42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175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60"/>
                        </a:lnSpc>
                      </a:pPr>
                      <a:r>
                        <a:rPr sz="700" b="0">
                          <a:solidFill>
                            <a:srgbClr val="FEFEFF"/>
                          </a:solidFill>
                          <a:latin typeface="Ubuntu Mono"/>
                          <a:ea typeface="Ubuntu Mono"/>
                          <a:cs typeface="Ubuntu Mono"/>
                          <a:sym typeface="Ubuntu Mono"/>
                        </a:rPr>
                        <a:t>7000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60"/>
                        </a:lnSpc>
                      </a:pPr>
                      <a:r>
                        <a:rPr sz="700" b="0">
                          <a:solidFill>
                            <a:srgbClr val="000000"/>
                          </a:solidFill>
                          <a:latin typeface="Ubuntu Mono"/>
                          <a:ea typeface="Ubuntu Mono"/>
                          <a:cs typeface="Ubuntu Mono"/>
                          <a:sym typeface="Ubuntu Mono"/>
                        </a:rPr>
                        <a:t>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7.906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4-1/2 Reg. BU</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42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190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60"/>
                        </a:lnSpc>
                      </a:pPr>
                      <a:r>
                        <a:rPr sz="700" b="0">
                          <a:solidFill>
                            <a:srgbClr val="FEFEFF"/>
                          </a:solidFill>
                          <a:latin typeface="Ubuntu Mono"/>
                          <a:ea typeface="Ubuntu Mono"/>
                          <a:cs typeface="Ubuntu Mono"/>
                          <a:sym typeface="Ubuntu Mono"/>
                        </a:rPr>
                        <a:t>7600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6-1/4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8.750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4-1/2 IF BU</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6-1/4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48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250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60"/>
                        </a:lnSpc>
                      </a:pPr>
                      <a:r>
                        <a:rPr sz="700" b="0">
                          <a:solidFill>
                            <a:srgbClr val="FEFEFF"/>
                          </a:solidFill>
                          <a:latin typeface="Ubuntu Mono"/>
                          <a:ea typeface="Ubuntu Mono"/>
                          <a:cs typeface="Ubuntu Mono"/>
                          <a:sym typeface="Ubuntu Mono"/>
                        </a:rPr>
                        <a:t>8600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60"/>
                        </a:lnSpc>
                      </a:pPr>
                      <a:r>
                        <a:rPr sz="700" b="0">
                          <a:solidFill>
                            <a:srgbClr val="000000"/>
                          </a:solidFill>
                          <a:latin typeface="Ubuntu Mono"/>
                          <a:ea typeface="Ubuntu Mono"/>
                          <a:cs typeface="Ubuntu Mono"/>
                          <a:sym typeface="Ubuntu Mono"/>
                        </a:rPr>
                        <a:t>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6-3/4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9.875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5-1/2 Reg. BU</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6-3/4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48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275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60"/>
                        </a:lnSpc>
                      </a:pPr>
                      <a:r>
                        <a:rPr sz="700" b="0">
                          <a:solidFill>
                            <a:srgbClr val="FEFEFF"/>
                          </a:solidFill>
                          <a:latin typeface="Ubuntu Mono"/>
                          <a:ea typeface="Ubuntu Mono"/>
                          <a:cs typeface="Ubuntu Mono"/>
                          <a:sym typeface="Ubuntu Mono"/>
                        </a:rPr>
                        <a:t>9600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9-5/8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10.875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6-5/8 Reg. BU</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300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60"/>
                        </a:lnSpc>
                      </a:pPr>
                      <a:r>
                        <a:rPr sz="700" b="0">
                          <a:solidFill>
                            <a:srgbClr val="FEFEFF"/>
                          </a:solidFill>
                          <a:latin typeface="Ubuntu Mono"/>
                          <a:ea typeface="Ubuntu Mono"/>
                          <a:cs typeface="Ubuntu Mono"/>
                          <a:sym typeface="Ubuntu Mono"/>
                        </a:rPr>
                        <a:t>10700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60"/>
                        </a:lnSpc>
                      </a:pPr>
                      <a:r>
                        <a:rPr sz="700" b="0">
                          <a:solidFill>
                            <a:srgbClr val="000000"/>
                          </a:solidFill>
                          <a:latin typeface="Ubuntu Mono"/>
                          <a:ea typeface="Ubuntu Mono"/>
                          <a:cs typeface="Ubuntu Mono"/>
                          <a:sym typeface="Ubuntu Mono"/>
                        </a:rPr>
                        <a:t>10-3/4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12.000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7-5/8 Reg. BU</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325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60"/>
                        </a:lnSpc>
                      </a:pPr>
                      <a:r>
                        <a:rPr sz="700" b="0">
                          <a:solidFill>
                            <a:srgbClr val="FEFEFF"/>
                          </a:solidFill>
                          <a:latin typeface="Ubuntu Mono"/>
                          <a:ea typeface="Ubuntu Mono"/>
                          <a:cs typeface="Ubuntu Mono"/>
                          <a:sym typeface="Ubuntu Mono"/>
                        </a:rPr>
                        <a:t>11700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11-3/4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10-1/4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13.000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8-5/8 Reg. BU</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10-1/4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375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60"/>
                        </a:lnSpc>
                      </a:pPr>
                      <a:r>
                        <a:rPr sz="700" b="0">
                          <a:solidFill>
                            <a:srgbClr val="FEFEFF"/>
                          </a:solidFill>
                          <a:latin typeface="Ubuntu Mono"/>
                          <a:ea typeface="Ubuntu Mono"/>
                          <a:cs typeface="Ubuntu Mono"/>
                          <a:sym typeface="Ubuntu Mono"/>
                        </a:rPr>
                        <a:t>13300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60"/>
                        </a:lnSpc>
                      </a:pPr>
                      <a:r>
                        <a:rPr sz="700" b="0">
                          <a:solidFill>
                            <a:srgbClr val="000000"/>
                          </a:solidFill>
                          <a:latin typeface="Ubuntu Mono"/>
                          <a:ea typeface="Ubuntu Mono"/>
                          <a:cs typeface="Ubuntu Mono"/>
                          <a:sym typeface="Ubuntu Mono"/>
                        </a:rPr>
                        <a:t>13-3/8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11-1/2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14.625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8-5/8 Reg. BU</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11-1/2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72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60"/>
                        </a:lnSpc>
                      </a:pPr>
                      <a:r>
                        <a:rPr sz="700" b="0">
                          <a:solidFill>
                            <a:srgbClr val="FEFEFF"/>
                          </a:solidFill>
                          <a:latin typeface="Ubuntu Mono"/>
                          <a:ea typeface="Ubuntu Mono"/>
                          <a:cs typeface="Ubuntu Mono"/>
                          <a:sym typeface="Ubuntu Mono"/>
                        </a:rPr>
                        <a:t>16000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17.250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8-5/8 Reg. BU</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72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425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3" name="TextBox 22"/>
          <p:cNvSpPr txBox="1"/>
          <p:nvPr/>
        </p:nvSpPr>
        <p:spPr>
          <a:xfrm>
            <a:off x="711200" y="7531100"/>
            <a:ext cx="6134100" cy="381000"/>
          </a:xfrm>
          <a:prstGeom prst="rect">
            <a:avLst/>
          </a:prstGeom>
          <a:noFill/>
        </p:spPr>
        <p:txBody>
          <a:bodyPr wrap="square" lIns="0" rIns="0" tIns="0" bIns="0">
            <a:spAutoFit/>
          </a:bodyPr>
          <a:lstStyle/>
          <a:p>
            <a:pPr algn="l">
              <a:lnSpc>
                <a:spcPts val="740"/>
              </a:lnSpc>
              <a:spcAft>
                <a:spcPts val="0"/>
              </a:spcAft>
            </a:pPr>
            <a:r>
              <a:rPr sz="620" b="0">
                <a:solidFill>
                  <a:srgbClr val="444444"/>
                </a:solidFill>
                <a:latin typeface="Ubuntu Mono"/>
                <a:ea typeface="Ubuntu Mono"/>
                <a:cs typeface="Ubuntu Mono"/>
                <a:sym typeface="Ubuntu Mono"/>
              </a:rPr>
              <a:t>Dimensions in inches, weights in lb (approximate). Pilot stabilisation and guide or taper mill are dressed to the casing drift diameter. stabiliser sleeve available on casing sizes 7-5/8 in. and larger.</a:t>
            </a:r>
          </a:p>
        </p:txBody>
      </p:sp>
      <p:pic>
        <p:nvPicPr>
          <p:cNvPr id="24" name="Picture 23" descr="viper_tool_blue.png"/>
          <p:cNvPicPr>
            <a:picLocks noChangeAspect="1"/>
          </p:cNvPicPr>
          <p:nvPr/>
        </p:nvPicPr>
        <p:blipFill>
          <a:blip r:embed="rId4"/>
          <a:stretch>
            <a:fillRect/>
          </a:stretch>
        </p:blipFill>
        <p:spPr>
          <a:xfrm>
            <a:off x="736600" y="7962900"/>
            <a:ext cx="326175" cy="2387600"/>
          </a:xfrm>
          <a:prstGeom prst="rect">
            <a:avLst/>
          </a:prstGeom>
        </p:spPr>
      </p:pic>
      <p:sp>
        <p:nvSpPr>
          <p:cNvPr id="25" name="TextBox 24"/>
          <p:cNvSpPr txBox="1"/>
          <p:nvPr/>
        </p:nvSpPr>
        <p:spPr>
          <a:xfrm>
            <a:off x="1397000" y="7937500"/>
            <a:ext cx="2540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6" name="TextBox 25"/>
          <p:cNvSpPr txBox="1"/>
          <p:nvPr/>
        </p:nvSpPr>
        <p:spPr>
          <a:xfrm>
            <a:off x="1397000" y="8140700"/>
            <a:ext cx="2540000" cy="127000"/>
          </a:xfrm>
          <a:prstGeom prst="rect">
            <a:avLst/>
          </a:prstGeom>
          <a:noFill/>
        </p:spPr>
        <p:txBody>
          <a:bodyPr wrap="square" lIns="0" rIns="0" tIns="0" bIns="0">
            <a:spAutoFit/>
          </a:bodyPr>
          <a:lstStyle/>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Cutting structure: </a:t>
            </a:r>
            <a:r>
              <a:rPr sz="700" b="0">
                <a:solidFill>
                  <a:srgbClr val="000000"/>
                </a:solidFill>
                <a:latin typeface="Ubuntu Mono"/>
                <a:ea typeface="Ubuntu Mono"/>
                <a:cs typeface="Ubuntu Mono"/>
                <a:sym typeface="Ubuntu Mono"/>
              </a:rPr>
              <a:t>carbide inserts in a brick pattern, developed to resist early wear and breakage.</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Blades: </a:t>
            </a:r>
            <a:r>
              <a:rPr sz="700" b="0">
                <a:solidFill>
                  <a:srgbClr val="000000"/>
                </a:solidFill>
                <a:latin typeface="Ubuntu Mono"/>
                <a:ea typeface="Ubuntu Mono"/>
                <a:cs typeface="Ubuntu Mono"/>
                <a:sym typeface="Ubuntu Mono"/>
              </a:rPr>
              <a:t>high-grade alloy steel, cutting edge set at the angle for maximum efficiency.</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Extended blade length: </a:t>
            </a:r>
            <a:r>
              <a:rPr sz="700" b="0">
                <a:solidFill>
                  <a:srgbClr val="000000"/>
                </a:solidFill>
                <a:latin typeface="Ubuntu Mono"/>
                <a:ea typeface="Ubuntu Mono"/>
                <a:cs typeface="Ubuntu Mono"/>
                <a:sym typeface="Ubuntu Mono"/>
              </a:rPr>
              <a:t>more footage per mill.</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Stabiliser: </a:t>
            </a:r>
            <a:r>
              <a:rPr sz="700" b="0">
                <a:solidFill>
                  <a:srgbClr val="000000"/>
                </a:solidFill>
                <a:latin typeface="Ubuntu Mono"/>
                <a:ea typeface="Ubuntu Mono"/>
                <a:cs typeface="Ubuntu Mono"/>
                <a:sym typeface="Ubuntu Mono"/>
              </a:rPr>
              <a:t>sleeve-type, changeable at the rig site; useful on eccentric casing strings.</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Deviated holes: </a:t>
            </a:r>
            <a:r>
              <a:rPr sz="700" b="0">
                <a:solidFill>
                  <a:srgbClr val="000000"/>
                </a:solidFill>
                <a:latin typeface="Ubuntu Mono"/>
                <a:ea typeface="Ubuntu Mono"/>
                <a:cs typeface="Ubuntu Mono"/>
                <a:sym typeface="Ubuntu Mono"/>
              </a:rPr>
              <a:t>blade design does not skin the next casing string.</a:t>
            </a:r>
          </a:p>
        </p:txBody>
      </p:sp>
      <p:sp>
        <p:nvSpPr>
          <p:cNvPr id="27" name="TextBox 26"/>
          <p:cNvSpPr txBox="1"/>
          <p:nvPr/>
        </p:nvSpPr>
        <p:spPr>
          <a:xfrm>
            <a:off x="4089400" y="793750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OPERATING PARAMETERS</a:t>
            </a:r>
          </a:p>
        </p:txBody>
      </p:sp>
      <p:graphicFrame>
        <p:nvGraphicFramePr>
          <p:cNvPr id="28" name="Table 27"/>
          <p:cNvGraphicFramePr>
            <a:graphicFrameLocks noGrp="1"/>
          </p:cNvGraphicFramePr>
          <p:nvPr/>
        </p:nvGraphicFramePr>
        <p:xfrm>
          <a:off x="4089400" y="8128000"/>
          <a:ext cx="2755900" cy="472440"/>
        </p:xfrm>
        <a:graphic>
          <a:graphicData uri="http://schemas.openxmlformats.org/drawingml/2006/table">
            <a:tbl>
              <a:tblPr/>
              <a:tblGrid>
                <a:gridCol w="1117600"/>
                <a:gridCol w="1638300"/>
              </a:tblGrid>
              <a:tr h="157480">
                <a:tc>
                  <a:txBody>
                    <a:bodyPr wrap="square"/>
                    <a:lstStyle/>
                    <a:p>
                      <a:pPr algn="l">
                        <a:lnSpc>
                          <a:spcPts val="810"/>
                        </a:lnSpc>
                      </a:pPr>
                      <a:r>
                        <a:rPr sz="650" b="0">
                          <a:solidFill>
                            <a:srgbClr val="FEFEFF"/>
                          </a:solidFill>
                          <a:latin typeface="Ubuntu Mono"/>
                          <a:ea typeface="Ubuntu Mono"/>
                          <a:cs typeface="Ubuntu Mono"/>
                          <a:sym typeface="Ubuntu Mono"/>
                        </a:rPr>
                        <a:t>Weight on mill</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0"/>
                        </a:lnSpc>
                      </a:pPr>
                      <a:r>
                        <a:rPr sz="650" b="0">
                          <a:solidFill>
                            <a:srgbClr val="000000"/>
                          </a:solidFill>
                          <a:latin typeface="Ubuntu Mono"/>
                          <a:ea typeface="Ubuntu Mono"/>
                          <a:cs typeface="Ubuntu Mono"/>
                          <a:sym typeface="Ubuntu Mono"/>
                        </a:rPr>
                        <a:t>5,000 - 10,000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10"/>
                        </a:lnSpc>
                      </a:pPr>
                      <a:r>
                        <a:rPr sz="650" b="0">
                          <a:solidFill>
                            <a:srgbClr val="FEFEFF"/>
                          </a:solidFill>
                          <a:latin typeface="Ubuntu Mono"/>
                          <a:ea typeface="Ubuntu Mono"/>
                          <a:cs typeface="Ubuntu Mono"/>
                          <a:sym typeface="Ubuntu Mono"/>
                        </a:rPr>
                        <a:t>Cutting surface speed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0"/>
                        </a:lnSpc>
                      </a:pPr>
                      <a:r>
                        <a:rPr sz="650" b="0">
                          <a:solidFill>
                            <a:srgbClr val="000000"/>
                          </a:solidFill>
                          <a:latin typeface="Ubuntu Mono"/>
                          <a:ea typeface="Ubuntu Mono"/>
                          <a:cs typeface="Ubuntu Mono"/>
                          <a:sym typeface="Ubuntu Mono"/>
                        </a:rPr>
                        <a:t>250 - 340 ft/min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7480">
                <a:tc>
                  <a:txBody>
                    <a:bodyPr wrap="square"/>
                    <a:lstStyle/>
                    <a:p>
                      <a:pPr algn="l">
                        <a:lnSpc>
                          <a:spcPts val="810"/>
                        </a:lnSpc>
                      </a:pPr>
                      <a:r>
                        <a:rPr sz="650" b="0">
                          <a:solidFill>
                            <a:srgbClr val="FEFEFF"/>
                          </a:solidFill>
                          <a:latin typeface="Ubuntu Mono"/>
                          <a:ea typeface="Ubuntu Mono"/>
                          <a:cs typeface="Ubuntu Mono"/>
                          <a:sym typeface="Ubuntu Mono"/>
                        </a:rPr>
                        <a:t>Rotary speed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0"/>
                        </a:lnSpc>
                      </a:pPr>
                      <a:r>
                        <a:rPr sz="650" b="0">
                          <a:solidFill>
                            <a:srgbClr val="000000"/>
                          </a:solidFill>
                          <a:latin typeface="Ubuntu Mono"/>
                          <a:ea typeface="Ubuntu Mono"/>
                          <a:cs typeface="Ubuntu Mono"/>
                          <a:sym typeface="Ubuntu Mono"/>
                        </a:rPr>
                        <a:t>From surface speed and casing 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9" name="TextBox 28"/>
          <p:cNvSpPr txBox="1"/>
          <p:nvPr/>
        </p:nvSpPr>
        <p:spPr>
          <a:xfrm>
            <a:off x="4089400" y="872744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MILL STABILITY</a:t>
            </a:r>
          </a:p>
        </p:txBody>
      </p:sp>
      <p:sp>
        <p:nvSpPr>
          <p:cNvPr id="30" name="TextBox 29"/>
          <p:cNvSpPr txBox="1"/>
          <p:nvPr/>
        </p:nvSpPr>
        <p:spPr>
          <a:xfrm>
            <a:off x="4089400" y="8930640"/>
            <a:ext cx="2755900" cy="127000"/>
          </a:xfrm>
          <a:prstGeom prst="rect">
            <a:avLst/>
          </a:prstGeom>
          <a:noFill/>
        </p:spPr>
        <p:txBody>
          <a:bodyPr wrap="square" lIns="0" rIns="0" tIns="0" bIns="0">
            <a:spAutoFit/>
          </a:bodyPr>
          <a:lstStyle/>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Taper mill: </a:t>
            </a:r>
            <a:r>
              <a:rPr sz="700" b="0">
                <a:solidFill>
                  <a:srgbClr val="000000"/>
                </a:solidFill>
                <a:latin typeface="Ubuntu Mono"/>
                <a:ea typeface="Ubuntu Mono"/>
                <a:cs typeface="Ubuntu Mono"/>
                <a:sym typeface="Ubuntu Mono"/>
              </a:rPr>
              <a:t>run directly ahead of the mill to clear junk or enlarge the casing stub.</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Stabiliser: </a:t>
            </a:r>
            <a:r>
              <a:rPr sz="700" b="0">
                <a:solidFill>
                  <a:srgbClr val="000000"/>
                </a:solidFill>
                <a:latin typeface="Ubuntu Mono"/>
                <a:ea typeface="Ubuntu Mono"/>
                <a:cs typeface="Ubuntu Mono"/>
                <a:sym typeface="Ubuntu Mono"/>
              </a:rPr>
              <a:t>same diameter as the mill, run immediately above it.</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Sizing: </a:t>
            </a:r>
            <a:r>
              <a:rPr sz="700" b="0">
                <a:solidFill>
                  <a:srgbClr val="000000"/>
                </a:solidFill>
                <a:latin typeface="Ubuntu Mono"/>
                <a:ea typeface="Ubuntu Mono"/>
                <a:cs typeface="Ubuntu Mono"/>
                <a:sym typeface="Ubuntu Mono"/>
              </a:rPr>
              <a:t>O.D. and stabilisation diameter set to avoid damage to outer casing strings.</a:t>
            </a:r>
          </a:p>
        </p:txBody>
      </p:sp>
      <p:sp>
        <p:nvSpPr>
          <p:cNvPr id="31" name="TextBox 30"/>
          <p:cNvSpPr txBox="1"/>
          <p:nvPr/>
        </p:nvSpPr>
        <p:spPr>
          <a:xfrm>
            <a:off x="4089400" y="979424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2" name="TextBox 31"/>
          <p:cNvSpPr txBox="1"/>
          <p:nvPr/>
        </p:nvSpPr>
        <p:spPr>
          <a:xfrm>
            <a:off x="4089400" y="9984740"/>
            <a:ext cx="2755900" cy="381000"/>
          </a:xfrm>
          <a:prstGeom prst="rect">
            <a:avLst/>
          </a:prstGeom>
          <a:noFill/>
        </p:spPr>
        <p:txBody>
          <a:bodyPr wrap="square" lIns="0" rIns="0" tIns="0" bIns="0">
            <a:spAutoFit/>
          </a:bodyPr>
          <a:lstStyle/>
          <a:p>
            <a:pPr algn="just">
              <a:lnSpc>
                <a:spcPts val="880"/>
              </a:lnSpc>
              <a:spcAft>
                <a:spcPts val="0"/>
              </a:spcAft>
            </a:pPr>
            <a:r>
              <a:rPr sz="690" b="0">
                <a:solidFill>
                  <a:srgbClr val="000000"/>
                </a:solidFill>
                <a:latin typeface="Ubuntu Mono"/>
                <a:ea typeface="Ubuntu Mono"/>
                <a:cs typeface="Ubuntu Mono"/>
                <a:sym typeface="Ubuntu Mono"/>
              </a:rPr>
              <a:t>Please specify: 1. tool series  2. size and weight of the casing to be milled  3. top pin connection.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PILOT MILL</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MILLING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PILOT MILL FOR TUBULARS AND LINERS</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MILLING TOOL WITH A GUIDE NOSE (PILOT) THAT ENTERS THE TUBULAR BEING MILLED AND KEEPS THE BLADES CENTRED ON IT. IT IS USED TO MILL WASHPIPE, SAFETY JOINTS, CROSSOVER SWAGES, WASHOVER SHOES, ADAPTERS, CASING, LINERS, DRILL PIPE AND SWAGED CASING. LINER HANGERS CAN BE MILLED EFFICIENTLY, AVOIDING INSIDE CUTS AND SPEAR RUNS. THE NOSE CAN BE DRESSED TO MILL ANY JUNK MET ALONG THE WAY.</a:t>
            </a:r>
          </a:p>
        </p:txBody>
      </p:sp>
      <p:sp>
        <p:nvSpPr>
          <p:cNvPr id="21" name="TextBox 20"/>
          <p:cNvSpPr txBox="1"/>
          <p:nvPr/>
        </p:nvSpPr>
        <p:spPr>
          <a:xfrm>
            <a:off x="711200" y="51816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372100"/>
          <a:ext cx="6134095" cy="1320800"/>
        </p:xfrm>
        <a:graphic>
          <a:graphicData uri="http://schemas.openxmlformats.org/drawingml/2006/table">
            <a:tbl>
              <a:tblPr/>
              <a:tblGrid>
                <a:gridCol w="1115290"/>
                <a:gridCol w="1115290"/>
                <a:gridCol w="1115290"/>
                <a:gridCol w="975879"/>
                <a:gridCol w="1115290"/>
                <a:gridCol w="697056"/>
              </a:tblGrid>
              <a:tr h="330200">
                <a:tc>
                  <a:txBody>
                    <a:bodyPr wrap="square"/>
                    <a:lstStyle/>
                    <a:p>
                      <a:pPr algn="ctr">
                        <a:lnSpc>
                          <a:spcPts val="919"/>
                        </a:lnSpc>
                      </a:pPr>
                      <a:r>
                        <a:rPr sz="760" b="1">
                          <a:solidFill>
                            <a:srgbClr val="FEFEFF"/>
                          </a:solidFill>
                          <a:latin typeface="Ubuntu Mono"/>
                          <a:ea typeface="Ubuntu Mono"/>
                          <a:cs typeface="Ubuntu Mono"/>
                          <a:sym typeface="Ubuntu Mono"/>
                        </a:rPr>
                        <a:t>Blade 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1">
                          <a:solidFill>
                            <a:srgbClr val="FEFEFF"/>
                          </a:solidFill>
                          <a:latin typeface="Ubuntu Mono"/>
                          <a:ea typeface="Ubuntu Mono"/>
                          <a:cs typeface="Ubuntu Mono"/>
                          <a:sym typeface="Ubuntu Mono"/>
                        </a:rPr>
                        <a:t>Top pin conn.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1">
                          <a:solidFill>
                            <a:srgbClr val="FEFEFF"/>
                          </a:solidFill>
                          <a:latin typeface="Ubuntu Mono"/>
                          <a:ea typeface="Ubuntu Mono"/>
                          <a:cs typeface="Ubuntu Mono"/>
                          <a:sym typeface="Ubuntu Mono"/>
                        </a:rPr>
                        <a:t>Pilot 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1">
                          <a:solidFill>
                            <a:srgbClr val="FEFEFF"/>
                          </a:solidFill>
                          <a:latin typeface="Ubuntu Mono"/>
                          <a:ea typeface="Ubuntu Mono"/>
                          <a:cs typeface="Ubuntu Mono"/>
                          <a:sym typeface="Ubuntu Mono"/>
                        </a:rPr>
                        <a:t>Overall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1">
                          <a:solidFill>
                            <a:srgbClr val="FEFEFF"/>
                          </a:solidFill>
                          <a:latin typeface="Ubuntu Mono"/>
                          <a:ea typeface="Ubuntu Mono"/>
                          <a:cs typeface="Ubuntu Mono"/>
                          <a:sym typeface="Ubuntu Mono"/>
                        </a:rPr>
                        <a:t>Fishing neck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1">
                          <a:solidFill>
                            <a:srgbClr val="FEFEFF"/>
                          </a:solidFill>
                          <a:latin typeface="Ubuntu Mono"/>
                          <a:ea typeface="Ubuntu Mono"/>
                          <a:cs typeface="Ubuntu Mono"/>
                          <a:sym typeface="Ubuntu Mono"/>
                        </a:rPr>
                        <a:t>Wt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65100">
                <a:tc>
                  <a:txBody>
                    <a:bodyPr wrap="square"/>
                    <a:lstStyle/>
                    <a:p>
                      <a:pPr algn="ctr">
                        <a:lnSpc>
                          <a:spcPts val="919"/>
                        </a:lnSpc>
                      </a:pPr>
                      <a:r>
                        <a:rPr sz="760" b="0">
                          <a:solidFill>
                            <a:srgbClr val="FEFEFF"/>
                          </a:solidFill>
                          <a:latin typeface="Ubuntu Mono"/>
                          <a:ea typeface="Ubuntu Mono"/>
                          <a:cs typeface="Ubuntu Mono"/>
                          <a:sym typeface="Ubuntu Mono"/>
                        </a:rPr>
                        <a:t>3-1/4 - 3-7/8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919"/>
                        </a:lnSpc>
                      </a:pPr>
                      <a:r>
                        <a:rPr sz="760" b="0">
                          <a:solidFill>
                            <a:srgbClr val="000000"/>
                          </a:solidFill>
                          <a:latin typeface="Ubuntu Mono"/>
                          <a:ea typeface="Ubuntu Mono"/>
                          <a:cs typeface="Ubuntu Mono"/>
                          <a:sym typeface="Ubuntu Mono"/>
                        </a:rPr>
                        <a:t>1-3/4 - 2-3/4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919"/>
                        </a:lnSpc>
                      </a:pPr>
                      <a:r>
                        <a:rPr sz="760" b="0">
                          <a:solidFill>
                            <a:srgbClr val="000000"/>
                          </a:solidFill>
                          <a:latin typeface="Ubuntu Mono"/>
                          <a:ea typeface="Ubuntu Mono"/>
                          <a:cs typeface="Ubuntu Mono"/>
                          <a:sym typeface="Ubuntu Mono"/>
                        </a:rPr>
                        <a:t>27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919"/>
                        </a:lnSpc>
                      </a:pPr>
                      <a:r>
                        <a:rPr sz="76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919"/>
                        </a:lnSpc>
                      </a:pPr>
                      <a:r>
                        <a:rPr sz="760" b="0">
                          <a:solidFill>
                            <a:srgbClr val="000000"/>
                          </a:solidFill>
                          <a:latin typeface="Ubuntu Mono"/>
                          <a:ea typeface="Ubuntu Mono"/>
                          <a:cs typeface="Ubuntu Mono"/>
                          <a:sym typeface="Ubuntu Mono"/>
                        </a:rPr>
                        <a:t>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5100">
                <a:tc>
                  <a:txBody>
                    <a:bodyPr wrap="square"/>
                    <a:lstStyle/>
                    <a:p>
                      <a:pPr algn="ctr">
                        <a:lnSpc>
                          <a:spcPts val="919"/>
                        </a:lnSpc>
                      </a:pPr>
                      <a:r>
                        <a:rPr sz="760" b="0">
                          <a:solidFill>
                            <a:srgbClr val="FEFEFF"/>
                          </a:solidFill>
                          <a:latin typeface="Ubuntu Mono"/>
                          <a:ea typeface="Ubuntu Mono"/>
                          <a:cs typeface="Ubuntu Mono"/>
                          <a:sym typeface="Ubuntu Mono"/>
                        </a:rPr>
                        <a:t>4-1/8 - 4-3/8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919"/>
                        </a:lnSpc>
                      </a:pPr>
                      <a:r>
                        <a:rPr sz="76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919"/>
                        </a:lnSpc>
                      </a:pPr>
                      <a:r>
                        <a:rPr sz="760" b="0">
                          <a:solidFill>
                            <a:srgbClr val="000000"/>
                          </a:solidFill>
                          <a:latin typeface="Ubuntu Mono"/>
                          <a:ea typeface="Ubuntu Mono"/>
                          <a:cs typeface="Ubuntu Mono"/>
                          <a:sym typeface="Ubuntu Mono"/>
                        </a:rPr>
                        <a:t>1-3/4 - 2-3/4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919"/>
                        </a:lnSpc>
                      </a:pPr>
                      <a:r>
                        <a:rPr sz="760" b="0">
                          <a:solidFill>
                            <a:srgbClr val="000000"/>
                          </a:solidFill>
                          <a:latin typeface="Ubuntu Mono"/>
                          <a:ea typeface="Ubuntu Mono"/>
                          <a:cs typeface="Ubuntu Mono"/>
                          <a:sym typeface="Ubuntu Mono"/>
                        </a:rPr>
                        <a:t>27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919"/>
                        </a:lnSpc>
                      </a:pPr>
                      <a:r>
                        <a:rPr sz="76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919"/>
                        </a:lnSpc>
                      </a:pPr>
                      <a:r>
                        <a:rPr sz="760" b="0">
                          <a:solidFill>
                            <a:srgbClr val="000000"/>
                          </a:solidFill>
                          <a:latin typeface="Ubuntu Mono"/>
                          <a:ea typeface="Ubuntu Mono"/>
                          <a:cs typeface="Ubuntu Mono"/>
                          <a:sym typeface="Ubuntu Mono"/>
                        </a:rPr>
                        <a:t>45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65100">
                <a:tc>
                  <a:txBody>
                    <a:bodyPr wrap="square"/>
                    <a:lstStyle/>
                    <a:p>
                      <a:pPr algn="ctr">
                        <a:lnSpc>
                          <a:spcPts val="919"/>
                        </a:lnSpc>
                      </a:pPr>
                      <a:r>
                        <a:rPr sz="760" b="0">
                          <a:solidFill>
                            <a:srgbClr val="FEFEFF"/>
                          </a:solidFill>
                          <a:latin typeface="Ubuntu Mono"/>
                          <a:ea typeface="Ubuntu Mono"/>
                          <a:cs typeface="Ubuntu Mono"/>
                          <a:sym typeface="Ubuntu Mono"/>
                        </a:rPr>
                        <a:t>4-1/8 - 5-3/8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0">
                          <a:solidFill>
                            <a:srgbClr val="000000"/>
                          </a:solidFill>
                          <a:latin typeface="Ubuntu Mono"/>
                          <a:ea typeface="Ubuntu Mono"/>
                          <a:cs typeface="Ubuntu Mono"/>
                          <a:sym typeface="Ubuntu Mono"/>
                        </a:rPr>
                        <a:t>2-7/8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919"/>
                        </a:lnSpc>
                      </a:pPr>
                      <a:r>
                        <a:rPr sz="760" b="0">
                          <a:solidFill>
                            <a:srgbClr val="000000"/>
                          </a:solidFill>
                          <a:latin typeface="Ubuntu Mono"/>
                          <a:ea typeface="Ubuntu Mono"/>
                          <a:cs typeface="Ubuntu Mono"/>
                          <a:sym typeface="Ubuntu Mono"/>
                        </a:rPr>
                        <a:t>2-1/8 - 3-1/4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919"/>
                        </a:lnSpc>
                      </a:pPr>
                      <a:r>
                        <a:rPr sz="760" b="0">
                          <a:solidFill>
                            <a:srgbClr val="000000"/>
                          </a:solidFill>
                          <a:latin typeface="Ubuntu Mono"/>
                          <a:ea typeface="Ubuntu Mono"/>
                          <a:cs typeface="Ubuntu Mono"/>
                          <a:sym typeface="Ubuntu Mono"/>
                        </a:rPr>
                        <a:t>27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919"/>
                        </a:lnSpc>
                      </a:pPr>
                      <a:r>
                        <a:rPr sz="76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919"/>
                        </a:lnSpc>
                      </a:pPr>
                      <a:r>
                        <a:rPr sz="760" b="0">
                          <a:solidFill>
                            <a:srgbClr val="000000"/>
                          </a:solidFill>
                          <a:latin typeface="Ubuntu Mono"/>
                          <a:ea typeface="Ubuntu Mono"/>
                          <a:cs typeface="Ubuntu Mono"/>
                          <a:sym typeface="Ubuntu Mono"/>
                        </a:rPr>
                        <a:t>120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5100">
                <a:tc>
                  <a:txBody>
                    <a:bodyPr wrap="square"/>
                    <a:lstStyle/>
                    <a:p>
                      <a:pPr algn="ctr">
                        <a:lnSpc>
                          <a:spcPts val="919"/>
                        </a:lnSpc>
                      </a:pPr>
                      <a:r>
                        <a:rPr sz="760" b="0">
                          <a:solidFill>
                            <a:srgbClr val="FEFEFF"/>
                          </a:solidFill>
                          <a:latin typeface="Ubuntu Mono"/>
                          <a:ea typeface="Ubuntu Mono"/>
                          <a:cs typeface="Ubuntu Mono"/>
                          <a:sym typeface="Ubuntu Mono"/>
                        </a:rPr>
                        <a:t>5-1/2 - 5-5/8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919"/>
                        </a:lnSpc>
                      </a:pPr>
                      <a:r>
                        <a:rPr sz="76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919"/>
                        </a:lnSpc>
                      </a:pPr>
                      <a:r>
                        <a:rPr sz="760" b="0">
                          <a:solidFill>
                            <a:srgbClr val="000000"/>
                          </a:solidFill>
                          <a:latin typeface="Ubuntu Mono"/>
                          <a:ea typeface="Ubuntu Mono"/>
                          <a:cs typeface="Ubuntu Mono"/>
                          <a:sym typeface="Ubuntu Mono"/>
                        </a:rPr>
                        <a:t>2-1/2 - 4-3/4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919"/>
                        </a:lnSpc>
                      </a:pPr>
                      <a:r>
                        <a:rPr sz="760" b="0">
                          <a:solidFill>
                            <a:srgbClr val="000000"/>
                          </a:solidFill>
                          <a:latin typeface="Ubuntu Mono"/>
                          <a:ea typeface="Ubuntu Mono"/>
                          <a:cs typeface="Ubuntu Mono"/>
                          <a:sym typeface="Ubuntu Mono"/>
                        </a:rPr>
                        <a:t>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919"/>
                        </a:lnSpc>
                      </a:pPr>
                      <a:r>
                        <a:rPr sz="760" b="0">
                          <a:solidFill>
                            <a:srgbClr val="000000"/>
                          </a:solidFill>
                          <a:latin typeface="Ubuntu Mono"/>
                          <a:ea typeface="Ubuntu Mono"/>
                          <a:cs typeface="Ubuntu Mono"/>
                          <a:sym typeface="Ubuntu Mono"/>
                        </a:rPr>
                        <a:t>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919"/>
                        </a:lnSpc>
                      </a:pPr>
                      <a:r>
                        <a:rPr sz="760" b="0">
                          <a:solidFill>
                            <a:srgbClr val="000000"/>
                          </a:solidFill>
                          <a:latin typeface="Ubuntu Mono"/>
                          <a:ea typeface="Ubuntu Mono"/>
                          <a:cs typeface="Ubuntu Mono"/>
                          <a:sym typeface="Ubuntu Mono"/>
                        </a:rPr>
                        <a:t>240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65100">
                <a:tc>
                  <a:txBody>
                    <a:bodyPr wrap="square"/>
                    <a:lstStyle/>
                    <a:p>
                      <a:pPr algn="ctr">
                        <a:lnSpc>
                          <a:spcPts val="919"/>
                        </a:lnSpc>
                      </a:pPr>
                      <a:r>
                        <a:rPr sz="760" b="0">
                          <a:solidFill>
                            <a:srgbClr val="FEFEFF"/>
                          </a:solidFill>
                          <a:latin typeface="Ubuntu Mono"/>
                          <a:ea typeface="Ubuntu Mono"/>
                          <a:cs typeface="Ubuntu Mono"/>
                          <a:sym typeface="Ubuntu Mono"/>
                        </a:rPr>
                        <a:t>5-3/4 - 7-3/8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919"/>
                        </a:lnSpc>
                      </a:pPr>
                      <a:r>
                        <a:rPr sz="76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919"/>
                        </a:lnSpc>
                      </a:pPr>
                      <a:r>
                        <a:rPr sz="760" b="0">
                          <a:solidFill>
                            <a:srgbClr val="000000"/>
                          </a:solidFill>
                          <a:latin typeface="Ubuntu Mono"/>
                          <a:ea typeface="Ubuntu Mono"/>
                          <a:cs typeface="Ubuntu Mono"/>
                          <a:sym typeface="Ubuntu Mono"/>
                        </a:rPr>
                        <a:t>2-1/2 - 4-3/4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919"/>
                        </a:lnSpc>
                      </a:pPr>
                      <a:r>
                        <a:rPr sz="760" b="0">
                          <a:solidFill>
                            <a:srgbClr val="000000"/>
                          </a:solidFill>
                          <a:latin typeface="Ubuntu Mono"/>
                          <a:ea typeface="Ubuntu Mono"/>
                          <a:cs typeface="Ubuntu Mono"/>
                          <a:sym typeface="Ubuntu Mono"/>
                        </a:rPr>
                        <a:t>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919"/>
                        </a:lnSpc>
                      </a:pPr>
                      <a:r>
                        <a:rPr sz="760" b="0">
                          <a:solidFill>
                            <a:srgbClr val="000000"/>
                          </a:solidFill>
                          <a:latin typeface="Ubuntu Mono"/>
                          <a:ea typeface="Ubuntu Mono"/>
                          <a:cs typeface="Ubuntu Mono"/>
                          <a:sym typeface="Ubuntu Mono"/>
                        </a:rPr>
                        <a:t>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919"/>
                        </a:lnSpc>
                      </a:pPr>
                      <a:r>
                        <a:rPr sz="760" b="0">
                          <a:solidFill>
                            <a:srgbClr val="000000"/>
                          </a:solidFill>
                          <a:latin typeface="Ubuntu Mono"/>
                          <a:ea typeface="Ubuntu Mono"/>
                          <a:cs typeface="Ubuntu Mono"/>
                          <a:sym typeface="Ubuntu Mono"/>
                        </a:rPr>
                        <a:t>255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5100">
                <a:tc>
                  <a:txBody>
                    <a:bodyPr wrap="square"/>
                    <a:lstStyle/>
                    <a:p>
                      <a:pPr algn="ctr">
                        <a:lnSpc>
                          <a:spcPts val="919"/>
                        </a:lnSpc>
                      </a:pPr>
                      <a:r>
                        <a:rPr sz="760" b="0">
                          <a:solidFill>
                            <a:srgbClr val="FEFEFF"/>
                          </a:solidFill>
                          <a:latin typeface="Ubuntu Mono"/>
                          <a:ea typeface="Ubuntu Mono"/>
                          <a:cs typeface="Ubuntu Mono"/>
                          <a:sym typeface="Ubuntu Mono"/>
                        </a:rPr>
                        <a:t>6-1/8 - 9-7/8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919"/>
                        </a:lnSpc>
                      </a:pPr>
                      <a:r>
                        <a:rPr sz="76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919"/>
                        </a:lnSpc>
                      </a:pPr>
                      <a:r>
                        <a:rPr sz="760" b="0">
                          <a:solidFill>
                            <a:srgbClr val="000000"/>
                          </a:solidFill>
                          <a:latin typeface="Ubuntu Mono"/>
                          <a:ea typeface="Ubuntu Mono"/>
                          <a:cs typeface="Ubuntu Mono"/>
                          <a:sym typeface="Ubuntu Mono"/>
                        </a:rPr>
                        <a:t>4-3/4 - 6-3/4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919"/>
                        </a:lnSpc>
                      </a:pPr>
                      <a:r>
                        <a:rPr sz="760" b="0">
                          <a:solidFill>
                            <a:srgbClr val="000000"/>
                          </a:solidFill>
                          <a:latin typeface="Ubuntu Mono"/>
                          <a:ea typeface="Ubuntu Mono"/>
                          <a:cs typeface="Ubuntu Mono"/>
                          <a:sym typeface="Ubuntu Mono"/>
                        </a:rPr>
                        <a:t>42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919"/>
                        </a:lnSpc>
                      </a:pPr>
                      <a:r>
                        <a:rPr sz="76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919"/>
                        </a:lnSpc>
                      </a:pPr>
                      <a:r>
                        <a:rPr sz="760" b="0">
                          <a:solidFill>
                            <a:srgbClr val="000000"/>
                          </a:solidFill>
                          <a:latin typeface="Ubuntu Mono"/>
                          <a:ea typeface="Ubuntu Mono"/>
                          <a:cs typeface="Ubuntu Mono"/>
                          <a:sym typeface="Ubuntu Mono"/>
                        </a:rPr>
                        <a:t>305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3" name="TextBox 22"/>
          <p:cNvSpPr txBox="1"/>
          <p:nvPr/>
        </p:nvSpPr>
        <p:spPr>
          <a:xfrm>
            <a:off x="711200" y="6743700"/>
            <a:ext cx="6134100" cy="254000"/>
          </a:xfrm>
          <a:prstGeom prst="rect">
            <a:avLst/>
          </a:prstGeom>
          <a:noFill/>
        </p:spPr>
        <p:txBody>
          <a:bodyPr wrap="square" lIns="0" rIns="0" tIns="0" bIns="0">
            <a:spAutoFit/>
          </a:bodyPr>
          <a:lstStyle/>
          <a:p>
            <a:pPr algn="l">
              <a:spcAft>
                <a:spcPts val="0"/>
              </a:spcAft>
            </a:pPr>
            <a:r>
              <a:rPr sz="640" b="0">
                <a:solidFill>
                  <a:srgbClr val="444444"/>
                </a:solidFill>
                <a:latin typeface="Ubuntu Mono"/>
                <a:ea typeface="Ubuntu Mono"/>
                <a:cs typeface="Ubuntu Mono"/>
                <a:sym typeface="Ubuntu Mono"/>
              </a:rPr>
              <a:t>Dimensions in inches, weights in lb (approximate). Standard API regular pin. Other sizes on request.</a:t>
            </a:r>
          </a:p>
        </p:txBody>
      </p:sp>
      <p:sp>
        <p:nvSpPr>
          <p:cNvPr id="24" name="TextBox 23"/>
          <p:cNvSpPr txBox="1"/>
          <p:nvPr/>
        </p:nvSpPr>
        <p:spPr>
          <a:xfrm>
            <a:off x="711200" y="7048500"/>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5" name="TextBox 24"/>
          <p:cNvSpPr txBox="1"/>
          <p:nvPr/>
        </p:nvSpPr>
        <p:spPr>
          <a:xfrm>
            <a:off x="711200" y="7251700"/>
            <a:ext cx="2984500" cy="127000"/>
          </a:xfrm>
          <a:prstGeom prst="rect">
            <a:avLst/>
          </a:prstGeom>
          <a:noFill/>
        </p:spPr>
        <p:txBody>
          <a:bodyPr wrap="square" lIns="0" rIns="0" tIns="0" bIns="0">
            <a:spAutoFit/>
          </a:bodyPr>
          <a:lstStyle/>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Guide nose: </a:t>
            </a:r>
            <a:r>
              <a:rPr sz="720" b="0">
                <a:solidFill>
                  <a:srgbClr val="000000"/>
                </a:solidFill>
                <a:latin typeface="Ubuntu Mono"/>
                <a:ea typeface="Ubuntu Mono"/>
                <a:cs typeface="Ubuntu Mono"/>
                <a:sym typeface="Ubuntu Mono"/>
              </a:rPr>
              <a:t>the pilot sits in the tubular bore and centres the blades.</a:t>
            </a:r>
          </a:p>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Blade size: </a:t>
            </a:r>
            <a:r>
              <a:rPr sz="720" b="0">
                <a:solidFill>
                  <a:srgbClr val="000000"/>
                </a:solidFill>
                <a:latin typeface="Ubuntu Mono"/>
                <a:ea typeface="Ubuntu Mono"/>
                <a:cs typeface="Ubuntu Mono"/>
                <a:sym typeface="Ubuntu Mono"/>
              </a:rPr>
              <a:t>about 1/4 in. over the O.D. of the tool joint or coupling to be milled.</a:t>
            </a:r>
          </a:p>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Pilot size: </a:t>
            </a:r>
            <a:r>
              <a:rPr sz="720" b="0">
                <a:solidFill>
                  <a:srgbClr val="000000"/>
                </a:solidFill>
                <a:latin typeface="Ubuntu Mono"/>
                <a:ea typeface="Ubuntu Mono"/>
                <a:cs typeface="Ubuntu Mono"/>
                <a:sym typeface="Ubuntu Mono"/>
              </a:rPr>
              <a:t>same as the drift diameter of the tubular.</a:t>
            </a:r>
          </a:p>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Dressable nose: </a:t>
            </a:r>
            <a:r>
              <a:rPr sz="720" b="0">
                <a:solidFill>
                  <a:srgbClr val="000000"/>
                </a:solidFill>
                <a:latin typeface="Ubuntu Mono"/>
                <a:ea typeface="Ubuntu Mono"/>
                <a:cs typeface="Ubuntu Mono"/>
                <a:sym typeface="Ubuntu Mono"/>
              </a:rPr>
              <a:t>can be dressed to mill junk.</a:t>
            </a:r>
          </a:p>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Fishing neck: </a:t>
            </a:r>
            <a:r>
              <a:rPr sz="720" b="0">
                <a:solidFill>
                  <a:srgbClr val="000000"/>
                </a:solidFill>
                <a:latin typeface="Ubuntu Mono"/>
                <a:ea typeface="Ubuntu Mono"/>
                <a:cs typeface="Ubuntu Mono"/>
                <a:sym typeface="Ubuntu Mono"/>
              </a:rPr>
              <a:t>standard neck for handling and recovery.</a:t>
            </a:r>
          </a:p>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Typical jobs: </a:t>
            </a:r>
            <a:r>
              <a:rPr sz="720" b="0">
                <a:solidFill>
                  <a:srgbClr val="000000"/>
                </a:solidFill>
                <a:latin typeface="Ubuntu Mono"/>
                <a:ea typeface="Ubuntu Mono"/>
                <a:cs typeface="Ubuntu Mono"/>
                <a:sym typeface="Ubuntu Mono"/>
              </a:rPr>
              <a:t>washpipe (most efficient tool for stuck washpipe), liners and hangers, adapters, swaged casing, drill collars with open I.D.</a:t>
            </a:r>
          </a:p>
        </p:txBody>
      </p:sp>
      <p:sp>
        <p:nvSpPr>
          <p:cNvPr id="26" name="TextBox 25"/>
          <p:cNvSpPr txBox="1"/>
          <p:nvPr/>
        </p:nvSpPr>
        <p:spPr>
          <a:xfrm>
            <a:off x="3860800" y="7048500"/>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OPERATING PARAMETERS</a:t>
            </a:r>
          </a:p>
        </p:txBody>
      </p:sp>
      <p:graphicFrame>
        <p:nvGraphicFramePr>
          <p:cNvPr id="27" name="Table 26"/>
          <p:cNvGraphicFramePr>
            <a:graphicFrameLocks noGrp="1"/>
          </p:cNvGraphicFramePr>
          <p:nvPr/>
        </p:nvGraphicFramePr>
        <p:xfrm>
          <a:off x="3860800" y="7239000"/>
          <a:ext cx="2984500" cy="990600"/>
        </p:xfrm>
        <a:graphic>
          <a:graphicData uri="http://schemas.openxmlformats.org/drawingml/2006/table">
            <a:tbl>
              <a:tblPr/>
              <a:tblGrid>
                <a:gridCol w="1270000"/>
                <a:gridCol w="1714500"/>
              </a:tblGrid>
              <a:tr h="165100">
                <a:tc>
                  <a:txBody>
                    <a:bodyPr wrap="square"/>
                    <a:lstStyle/>
                    <a:p>
                      <a:pPr algn="l">
                        <a:lnSpc>
                          <a:spcPts val="819"/>
                        </a:lnSpc>
                      </a:pPr>
                      <a:r>
                        <a:rPr sz="660" b="0">
                          <a:solidFill>
                            <a:srgbClr val="FEFEFF"/>
                          </a:solidFill>
                          <a:latin typeface="Ubuntu Mono"/>
                          <a:ea typeface="Ubuntu Mono"/>
                          <a:cs typeface="Ubuntu Mono"/>
                          <a:sym typeface="Ubuntu Mono"/>
                        </a:rPr>
                        <a:t>Rotary speed (start)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9"/>
                        </a:lnSpc>
                      </a:pPr>
                      <a:r>
                        <a:rPr sz="660" b="0">
                          <a:solidFill>
                            <a:srgbClr val="000000"/>
                          </a:solidFill>
                          <a:latin typeface="Ubuntu Mono"/>
                          <a:ea typeface="Ubuntu Mono"/>
                          <a:cs typeface="Ubuntu Mono"/>
                          <a:sym typeface="Ubuntu Mono"/>
                        </a:rPr>
                        <a:t>80 - 100 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5100">
                <a:tc>
                  <a:txBody>
                    <a:bodyPr wrap="square"/>
                    <a:lstStyle/>
                    <a:p>
                      <a:pPr algn="l">
                        <a:lnSpc>
                          <a:spcPts val="819"/>
                        </a:lnSpc>
                      </a:pPr>
                      <a:r>
                        <a:rPr sz="660" b="0">
                          <a:solidFill>
                            <a:srgbClr val="FEFEFF"/>
                          </a:solidFill>
                          <a:latin typeface="Ubuntu Mono"/>
                          <a:ea typeface="Ubuntu Mono"/>
                          <a:cs typeface="Ubuntu Mono"/>
                          <a:sym typeface="Ubuntu Mono"/>
                        </a:rPr>
                        <a:t>Tool weight (start)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9"/>
                        </a:lnSpc>
                      </a:pPr>
                      <a:r>
                        <a:rPr sz="660" b="0">
                          <a:solidFill>
                            <a:srgbClr val="000000"/>
                          </a:solidFill>
                          <a:latin typeface="Ubuntu Mono"/>
                          <a:ea typeface="Ubuntu Mono"/>
                          <a:cs typeface="Ubuntu Mono"/>
                          <a:sym typeface="Ubuntu Mono"/>
                        </a:rPr>
                        <a:t>2,000 - 6,000 lb or less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65100">
                <a:tc>
                  <a:txBody>
                    <a:bodyPr wrap="square"/>
                    <a:lstStyle/>
                    <a:p>
                      <a:pPr algn="l">
                        <a:lnSpc>
                          <a:spcPts val="819"/>
                        </a:lnSpc>
                      </a:pPr>
                      <a:r>
                        <a:rPr sz="660" b="0">
                          <a:solidFill>
                            <a:srgbClr val="FEFEFF"/>
                          </a:solidFill>
                          <a:latin typeface="Ubuntu Mono"/>
                          <a:ea typeface="Ubuntu Mono"/>
                          <a:cs typeface="Ubuntu Mono"/>
                          <a:sym typeface="Ubuntu Mono"/>
                        </a:rPr>
                        <a:t>H-40 / K-55 casing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9"/>
                        </a:lnSpc>
                      </a:pPr>
                      <a:r>
                        <a:rPr sz="660" b="0">
                          <a:solidFill>
                            <a:srgbClr val="000000"/>
                          </a:solidFill>
                          <a:latin typeface="Ubuntu Mono"/>
                          <a:ea typeface="Ubuntu Mono"/>
                          <a:cs typeface="Ubuntu Mono"/>
                          <a:sym typeface="Ubuntu Mono"/>
                        </a:rPr>
                        <a:t>4,000 - 6,000 lb; 80 - 100 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5100">
                <a:tc>
                  <a:txBody>
                    <a:bodyPr wrap="square"/>
                    <a:lstStyle/>
                    <a:p>
                      <a:pPr algn="l">
                        <a:lnSpc>
                          <a:spcPts val="819"/>
                        </a:lnSpc>
                      </a:pPr>
                      <a:r>
                        <a:rPr sz="660" b="0">
                          <a:solidFill>
                            <a:srgbClr val="FEFEFF"/>
                          </a:solidFill>
                          <a:latin typeface="Ubuntu Mono"/>
                          <a:ea typeface="Ubuntu Mono"/>
                          <a:cs typeface="Ubuntu Mono"/>
                          <a:sym typeface="Ubuntu Mono"/>
                        </a:rPr>
                        <a:t>N-80 / P-110 / Q-135 casing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9"/>
                        </a:lnSpc>
                      </a:pPr>
                      <a:r>
                        <a:rPr sz="660" b="0">
                          <a:solidFill>
                            <a:srgbClr val="000000"/>
                          </a:solidFill>
                          <a:latin typeface="Ubuntu Mono"/>
                          <a:ea typeface="Ubuntu Mono"/>
                          <a:cs typeface="Ubuntu Mono"/>
                          <a:sym typeface="Ubuntu Mono"/>
                        </a:rPr>
                        <a:t>8,000 - 10,000 lb; 100 - 120 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65100">
                <a:tc>
                  <a:txBody>
                    <a:bodyPr wrap="square"/>
                    <a:lstStyle/>
                    <a:p>
                      <a:pPr algn="l">
                        <a:lnSpc>
                          <a:spcPts val="819"/>
                        </a:lnSpc>
                      </a:pPr>
                      <a:r>
                        <a:rPr sz="660" b="0">
                          <a:solidFill>
                            <a:srgbClr val="FEFEFF"/>
                          </a:solidFill>
                          <a:latin typeface="Ubuntu Mono"/>
                          <a:ea typeface="Ubuntu Mono"/>
                          <a:cs typeface="Ubuntu Mono"/>
                          <a:sym typeface="Ubuntu Mono"/>
                        </a:rPr>
                        <a:t>Entering the tubular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9"/>
                        </a:lnSpc>
                      </a:pPr>
                      <a:r>
                        <a:rPr sz="660" b="0">
                          <a:solidFill>
                            <a:srgbClr val="000000"/>
                          </a:solidFill>
                          <a:latin typeface="Ubuntu Mono"/>
                          <a:ea typeface="Ubuntu Mono"/>
                          <a:cs typeface="Ubuntu Mono"/>
                          <a:sym typeface="Ubuntu Mono"/>
                        </a:rPr>
                        <a:t>about 30 rpm, 2,000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5100">
                <a:tc>
                  <a:txBody>
                    <a:bodyPr wrap="square"/>
                    <a:lstStyle/>
                    <a:p>
                      <a:pPr algn="l">
                        <a:lnSpc>
                          <a:spcPts val="819"/>
                        </a:lnSpc>
                      </a:pPr>
                      <a:r>
                        <a:rPr sz="660" b="0">
                          <a:solidFill>
                            <a:srgbClr val="FEFEFF"/>
                          </a:solidFill>
                          <a:latin typeface="Ubuntu Mono"/>
                          <a:ea typeface="Ubuntu Mono"/>
                          <a:cs typeface="Ubuntu Mono"/>
                          <a:sym typeface="Ubuntu Mono"/>
                        </a:rPr>
                        <a:t>Typical milling rate (casing)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9"/>
                        </a:lnSpc>
                      </a:pPr>
                      <a:r>
                        <a:rPr sz="660" b="0">
                          <a:solidFill>
                            <a:srgbClr val="000000"/>
                          </a:solidFill>
                          <a:latin typeface="Ubuntu Mono"/>
                          <a:ea typeface="Ubuntu Mono"/>
                          <a:cs typeface="Ubuntu Mono"/>
                          <a:sym typeface="Ubuntu Mono"/>
                        </a:rPr>
                        <a:t>8 - 12 ft/hr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8" name="TextBox 27"/>
          <p:cNvSpPr txBox="1"/>
          <p:nvPr/>
        </p:nvSpPr>
        <p:spPr>
          <a:xfrm>
            <a:off x="3860800" y="8356600"/>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OPERATING NOTES</a:t>
            </a:r>
          </a:p>
        </p:txBody>
      </p:sp>
      <p:sp>
        <p:nvSpPr>
          <p:cNvPr id="29" name="TextBox 28"/>
          <p:cNvSpPr txBox="1"/>
          <p:nvPr/>
        </p:nvSpPr>
        <p:spPr>
          <a:xfrm>
            <a:off x="3860800" y="8559800"/>
            <a:ext cx="2984500" cy="127000"/>
          </a:xfrm>
          <a:prstGeom prst="rect">
            <a:avLst/>
          </a:prstGeom>
          <a:noFill/>
        </p:spPr>
        <p:txBody>
          <a:bodyPr wrap="square" lIns="0" rIns="0" tIns="0" bIns="0">
            <a:spAutoFit/>
          </a:bodyPr>
          <a:lstStyle/>
          <a:p>
            <a:pPr algn="l">
              <a:lnSpc>
                <a:spcPts val="880"/>
              </a:lnSpc>
              <a:spcAft>
                <a:spcPts val="25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Alignment check: </a:t>
            </a:r>
            <a:r>
              <a:rPr sz="700" b="0">
                <a:solidFill>
                  <a:srgbClr val="000000"/>
                </a:solidFill>
                <a:latin typeface="Ubuntu Mono"/>
                <a:ea typeface="Ubuntu Mono"/>
                <a:cs typeface="Ubuntu Mono"/>
                <a:sym typeface="Ubuntu Mono"/>
              </a:rPr>
              <a:t>rotate at about 125 rpm above the tubular to find neutral torque, then enter the pilot slowly; a gradual slow-down when rotation stops shows good alignment.</a:t>
            </a:r>
          </a:p>
          <a:p>
            <a:pPr algn="l">
              <a:lnSpc>
                <a:spcPts val="880"/>
              </a:lnSpc>
              <a:spcAft>
                <a:spcPts val="25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Steady feed: </a:t>
            </a:r>
            <a:r>
              <a:rPr sz="700" b="0">
                <a:solidFill>
                  <a:srgbClr val="000000"/>
                </a:solidFill>
                <a:latin typeface="Ubuntu Mono"/>
                <a:ea typeface="Ubuntu Mono"/>
                <a:cs typeface="Ubuntu Mono"/>
                <a:sym typeface="Ubuntu Mono"/>
              </a:rPr>
              <a:t>apply weight at a constant rate, do not drill off.</a:t>
            </a:r>
          </a:p>
          <a:p>
            <a:pPr algn="l">
              <a:lnSpc>
                <a:spcPts val="880"/>
              </a:lnSpc>
              <a:spcAft>
                <a:spcPts val="25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Cuttings: </a:t>
            </a:r>
            <a:r>
              <a:rPr sz="700" b="0">
                <a:solidFill>
                  <a:srgbClr val="000000"/>
                </a:solidFill>
                <a:latin typeface="Ubuntu Mono"/>
                <a:ea typeface="Ubuntu Mono"/>
                <a:cs typeface="Ubuntu Mono"/>
                <a:sym typeface="Ubuntu Mono"/>
              </a:rPr>
              <a:t>below a shoe, ream up and down every 15 - 20 ft milled; also in holes deviated 30 degrees or more.</a:t>
            </a:r>
          </a:p>
          <a:p>
            <a:pPr algn="l">
              <a:lnSpc>
                <a:spcPts val="880"/>
              </a:lnSpc>
              <a:spcAft>
                <a:spcPts val="25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Rate drop: </a:t>
            </a:r>
            <a:r>
              <a:rPr sz="700" b="0">
                <a:solidFill>
                  <a:srgbClr val="000000"/>
                </a:solidFill>
                <a:latin typeface="Ubuntu Mono"/>
                <a:ea typeface="Ubuntu Mono"/>
                <a:cs typeface="Ubuntu Mono"/>
                <a:sym typeface="Ubuntu Mono"/>
              </a:rPr>
              <a:t>may be a loose steel ring turning with the mill; spud gently. If cutting stops with no torque rise, a tubular section may be turning: pull and retrieve with a spear.</a:t>
            </a:r>
          </a:p>
          <a:p>
            <a:pPr algn="l">
              <a:lnSpc>
                <a:spcPts val="880"/>
              </a:lnSpc>
              <a:spcAft>
                <a:spcPts val="25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Wear pattern: </a:t>
            </a:r>
            <a:r>
              <a:rPr sz="700" b="0">
                <a:solidFill>
                  <a:srgbClr val="000000"/>
                </a:solidFill>
                <a:latin typeface="Ubuntu Mono"/>
                <a:ea typeface="Ubuntu Mono"/>
                <a:cs typeface="Ubuntu Mono"/>
                <a:sym typeface="Ubuntu Mono"/>
              </a:rPr>
              <a:t>hook wear means efficient cutting; taper wear means ease off the weight.</a:t>
            </a:r>
          </a:p>
        </p:txBody>
      </p:sp>
      <p:sp>
        <p:nvSpPr>
          <p:cNvPr id="30" name="TextBox 29"/>
          <p:cNvSpPr txBox="1"/>
          <p:nvPr/>
        </p:nvSpPr>
        <p:spPr>
          <a:xfrm>
            <a:off x="711200" y="9144000"/>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1" name="TextBox 30"/>
          <p:cNvSpPr txBox="1"/>
          <p:nvPr/>
        </p:nvSpPr>
        <p:spPr>
          <a:xfrm>
            <a:off x="711200" y="9334500"/>
            <a:ext cx="2984500" cy="508000"/>
          </a:xfrm>
          <a:prstGeom prst="rect">
            <a:avLst/>
          </a:prstGeom>
          <a:noFill/>
        </p:spPr>
        <p:txBody>
          <a:bodyPr wrap="square" lIns="0" rIns="0" tIns="0" bIns="0">
            <a:spAutoFit/>
          </a:bodyPr>
          <a:lstStyle/>
          <a:p>
            <a:pPr algn="just">
              <a:lnSpc>
                <a:spcPts val="860"/>
              </a:lnSpc>
              <a:spcAft>
                <a:spcPts val="0"/>
              </a:spcAft>
            </a:pPr>
            <a:r>
              <a:rPr sz="680" b="0">
                <a:solidFill>
                  <a:srgbClr val="000000"/>
                </a:solidFill>
                <a:latin typeface="Ubuntu Mono"/>
                <a:ea typeface="Ubuntu Mono"/>
                <a:cs typeface="Ubuntu Mono"/>
                <a:sym typeface="Ubuntu Mono"/>
              </a:rPr>
              <a:t>Please specify: 1. size and weight of the casing to be milled  2. size and weight of the casing to run through, if known  3. top pin connection.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STRING MILL</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MILLING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SPIRAL BLADE STRING MILL</a:t>
            </a:r>
          </a:p>
        </p:txBody>
      </p:sp>
      <p:pic>
        <p:nvPicPr>
          <p:cNvPr id="19" name="Picture 18" descr="stringmill_tool_blue.png"/>
          <p:cNvPicPr>
            <a:picLocks noChangeAspect="1"/>
          </p:cNvPicPr>
          <p:nvPr/>
        </p:nvPicPr>
        <p:blipFill>
          <a:blip r:embed="rId4"/>
          <a:stretch>
            <a:fillRect/>
          </a:stretch>
        </p:blipFill>
        <p:spPr>
          <a:xfrm>
            <a:off x="1524000" y="1253495"/>
            <a:ext cx="3810000" cy="1049009"/>
          </a:xfrm>
          <a:prstGeom prst="rect">
            <a:avLst/>
          </a:prstGeom>
        </p:spPr>
      </p:pic>
      <p:sp>
        <p:nvSpPr>
          <p:cNvPr id="20" name="TextBox 19"/>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1" name="TextBox 20"/>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THE STRING MILL IS A SPIRAL-BLADED MILLING TOOL RUN IN THE STRING TO REMOVE DEBRIS, PERFORATION BURRS AND OTHER FOREIGN MATERIAL LEFT IN THE CASING ID AFTER DRILLING, WELLBORE CLEAN-UP AND PRE-COMPLETION RUNNING OPERATIONS. ITS ALIGNED FLUID CHANNELS GIVE MAXIMUM FLUID BY-PASS AND 360 DEGREE COVER FOR BETTER RECOVERY. IT IS PARTICULARLY SUITED TO PREPARING CASING WINDOWS BEFORE RUNNING LINERS OR COMPLETIONS. IT IS RUN ALONGSIDE A NON-ROTATING CASING SCRAPER AHEAD OF THE DRIFT SUB, REMOVING DRILLING FLUID RESIDUE, SCALE AND CEMENT WHILE RUNNING IN HOLE AND RECIPROCATING THE STRING. THE BLADES CAN BE FACED WITH A CHOICE OF HARDFACING, DEPENDING ON OPERATIONAL REQUIREMENTS.</a:t>
            </a:r>
          </a:p>
        </p:txBody>
      </p:sp>
      <p:sp>
        <p:nvSpPr>
          <p:cNvPr id="22" name="TextBox 21"/>
          <p:cNvSpPr txBox="1"/>
          <p:nvPr/>
        </p:nvSpPr>
        <p:spPr>
          <a:xfrm>
            <a:off x="711200" y="51816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3" name="Table 22"/>
          <p:cNvGraphicFramePr>
            <a:graphicFrameLocks noGrp="1"/>
          </p:cNvGraphicFramePr>
          <p:nvPr/>
        </p:nvGraphicFramePr>
        <p:xfrm>
          <a:off x="711200" y="5384800"/>
          <a:ext cx="6134095" cy="1917700"/>
        </p:xfrm>
        <a:graphic>
          <a:graphicData uri="http://schemas.openxmlformats.org/drawingml/2006/table">
            <a:tbl>
              <a:tblPr/>
              <a:tblGrid>
                <a:gridCol w="405337"/>
                <a:gridCol w="513426"/>
                <a:gridCol w="594494"/>
                <a:gridCol w="594494"/>
                <a:gridCol w="405337"/>
                <a:gridCol w="459381"/>
                <a:gridCol w="459381"/>
                <a:gridCol w="432359"/>
                <a:gridCol w="594494"/>
                <a:gridCol w="540449"/>
                <a:gridCol w="540449"/>
                <a:gridCol w="594494"/>
              </a:tblGrid>
              <a:tr h="457200">
                <a:tc>
                  <a:txBody>
                    <a:bodyPr wrap="square"/>
                    <a:lstStyle/>
                    <a:p>
                      <a:pPr algn="ctr">
                        <a:lnSpc>
                          <a:spcPts val="780"/>
                        </a:lnSpc>
                      </a:pPr>
                      <a:r>
                        <a:rPr sz="620" b="1">
                          <a:solidFill>
                            <a:srgbClr val="FEFEFF"/>
                          </a:solidFill>
                          <a:latin typeface="Ubuntu Mono"/>
                          <a:ea typeface="Ubuntu Mono"/>
                          <a:cs typeface="Ubuntu Mono"/>
                          <a:sym typeface="Ubuntu Mono"/>
                        </a:rPr>
                        <a:t>Casing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780"/>
                        </a:lnSpc>
                      </a:pPr>
                      <a:r>
                        <a:rPr sz="620" b="1">
                          <a:solidFill>
                            <a:srgbClr val="FEFEFF"/>
                          </a:solidFill>
                          <a:latin typeface="Ubuntu Mono"/>
                          <a:ea typeface="Ubuntu Mono"/>
                          <a:cs typeface="Ubuntu Mono"/>
                          <a:sym typeface="Ubuntu Mono"/>
                        </a:rPr>
                        <a:t>Weight (lb/ft)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780"/>
                        </a:lnSpc>
                      </a:pPr>
                      <a:r>
                        <a:rPr sz="620" b="1">
                          <a:solidFill>
                            <a:srgbClr val="FEFEFF"/>
                          </a:solidFill>
                          <a:latin typeface="Ubuntu Mono"/>
                          <a:ea typeface="Ubuntu Mono"/>
                          <a:cs typeface="Ubuntu Mono"/>
                          <a:sym typeface="Ubuntu Mono"/>
                        </a:rPr>
                        <a:t>Drift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780"/>
                        </a:lnSpc>
                      </a:pPr>
                      <a:r>
                        <a:rPr sz="620" b="1">
                          <a:solidFill>
                            <a:srgbClr val="FEFEFF"/>
                          </a:solidFill>
                          <a:latin typeface="Ubuntu Mono"/>
                          <a:ea typeface="Ubuntu Mono"/>
                          <a:cs typeface="Ubuntu Mono"/>
                          <a:sym typeface="Ubuntu Mono"/>
                        </a:rPr>
                        <a:t>Max hard OD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780"/>
                        </a:lnSpc>
                      </a:pPr>
                      <a:r>
                        <a:rPr sz="620" b="1">
                          <a:solidFill>
                            <a:srgbClr val="FEFEFF"/>
                          </a:solidFill>
                          <a:latin typeface="Ubuntu Mono"/>
                          <a:ea typeface="Ubuntu Mono"/>
                          <a:cs typeface="Ubuntu Mono"/>
                          <a:sym typeface="Ubuntu Mono"/>
                        </a:rPr>
                        <a:t>Body ID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780"/>
                        </a:lnSpc>
                      </a:pPr>
                      <a:r>
                        <a:rPr sz="620" b="1">
                          <a:solidFill>
                            <a:srgbClr val="FEFEFF"/>
                          </a:solidFill>
                          <a:latin typeface="Ubuntu Mono"/>
                          <a:ea typeface="Ubuntu Mono"/>
                          <a:cs typeface="Ubuntu Mono"/>
                          <a:sym typeface="Ubuntu Mono"/>
                        </a:rPr>
                        <a:t>Overall length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780"/>
                        </a:lnSpc>
                      </a:pPr>
                      <a:r>
                        <a:rPr sz="620" b="1">
                          <a:solidFill>
                            <a:srgbClr val="FEFEFF"/>
                          </a:solidFill>
                          <a:latin typeface="Ubuntu Mono"/>
                          <a:ea typeface="Ubuntu Mono"/>
                          <a:cs typeface="Ubuntu Mono"/>
                          <a:sym typeface="Ubuntu Mono"/>
                        </a:rPr>
                        <a:t>Neck length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780"/>
                        </a:lnSpc>
                      </a:pPr>
                      <a:r>
                        <a:rPr sz="620" b="1">
                          <a:solidFill>
                            <a:srgbClr val="FEFEFF"/>
                          </a:solidFill>
                          <a:latin typeface="Ubuntu Mono"/>
                          <a:ea typeface="Ubuntu Mono"/>
                          <a:cs typeface="Ubuntu Mono"/>
                          <a:sym typeface="Ubuntu Mono"/>
                        </a:rPr>
                        <a:t>Neck OD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780"/>
                        </a:lnSpc>
                      </a:pPr>
                      <a:r>
                        <a:rPr sz="620" b="1">
                          <a:solidFill>
                            <a:srgbClr val="FEFEFF"/>
                          </a:solidFill>
                          <a:latin typeface="Ubuntu Mono"/>
                          <a:ea typeface="Ubuntu Mono"/>
                          <a:cs typeface="Ubuntu Mono"/>
                          <a:sym typeface="Ubuntu Mono"/>
                        </a:rPr>
                        <a:t>Rig connection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780"/>
                        </a:lnSpc>
                      </a:pPr>
                      <a:r>
                        <a:rPr sz="620" b="1">
                          <a:solidFill>
                            <a:srgbClr val="FEFEFF"/>
                          </a:solidFill>
                          <a:latin typeface="Ubuntu Mono"/>
                          <a:ea typeface="Ubuntu Mono"/>
                          <a:cs typeface="Ubuntu Mono"/>
                          <a:sym typeface="Ubuntu Mono"/>
                        </a:rPr>
                        <a:t>Torsional yield (ft-lb)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780"/>
                        </a:lnSpc>
                      </a:pPr>
                      <a:r>
                        <a:rPr sz="620" b="1">
                          <a:solidFill>
                            <a:srgbClr val="FEFEFF"/>
                          </a:solidFill>
                          <a:latin typeface="Ubuntu Mono"/>
                          <a:ea typeface="Ubuntu Mono"/>
                          <a:cs typeface="Ubuntu Mono"/>
                          <a:sym typeface="Ubuntu Mono"/>
                        </a:rPr>
                        <a:t>Make-up torque (ft-lb)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780"/>
                        </a:lnSpc>
                      </a:pPr>
                      <a:r>
                        <a:rPr sz="620" b="1">
                          <a:solidFill>
                            <a:srgbClr val="FEFEFF"/>
                          </a:solidFill>
                          <a:latin typeface="Ubuntu Mono"/>
                          <a:ea typeface="Ubuntu Mono"/>
                          <a:cs typeface="Ubuntu Mono"/>
                          <a:sym typeface="Ubuntu Mono"/>
                        </a:rPr>
                        <a:t>Tensile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46050">
                <a:tc>
                  <a:txBody>
                    <a:bodyPr wrap="square"/>
                    <a:lstStyle/>
                    <a:p>
                      <a:pPr algn="ctr">
                        <a:lnSpc>
                          <a:spcPts val="780"/>
                        </a:lnSpc>
                      </a:pPr>
                      <a:r>
                        <a:rPr sz="620" b="0">
                          <a:solidFill>
                            <a:srgbClr val="FEFEFF"/>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780"/>
                        </a:lnSpc>
                      </a:pPr>
                      <a:r>
                        <a:rPr sz="620" b="0">
                          <a:solidFill>
                            <a:srgbClr val="000000"/>
                          </a:solidFill>
                          <a:latin typeface="Ubuntu Mono"/>
                          <a:ea typeface="Ubuntu Mono"/>
                          <a:cs typeface="Ubuntu Mono"/>
                          <a:sym typeface="Ubuntu Mono"/>
                        </a:rPr>
                        <a:t>9.5 - 16.5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3.965 - 3.629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3.965 - 3.629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1.50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57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3.125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2-7/8 HT PAC</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8,500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5,100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214,200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6050">
                <a:tc>
                  <a:txBody>
                    <a:bodyPr wrap="square"/>
                    <a:lstStyle/>
                    <a:p>
                      <a:pPr algn="ctr">
                        <a:lnSpc>
                          <a:spcPts val="780"/>
                        </a:lnSpc>
                      </a:pPr>
                      <a:r>
                        <a:rPr sz="620" b="0">
                          <a:solidFill>
                            <a:srgbClr val="FEFEFF"/>
                          </a:solidFill>
                          <a:latin typeface="Ubuntu Mono"/>
                          <a:ea typeface="Ubuntu Mono"/>
                          <a:cs typeface="Ubuntu Mono"/>
                          <a:sym typeface="Ubuntu Mono"/>
                        </a:rPr>
                        <a:t>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780"/>
                        </a:lnSpc>
                      </a:pPr>
                      <a:r>
                        <a:rPr sz="620" b="0">
                          <a:solidFill>
                            <a:srgbClr val="000000"/>
                          </a:solidFill>
                          <a:latin typeface="Ubuntu Mono"/>
                          <a:ea typeface="Ubuntu Mono"/>
                          <a:cs typeface="Ubuntu Mono"/>
                          <a:sym typeface="Ubuntu Mono"/>
                        </a:rPr>
                        <a:t>23 - 28.4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4.545 - 4.315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4.545 - 4.315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1.50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57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3.125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2-7/8 HT PAC</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8,500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5,100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214,200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6050">
                <a:tc>
                  <a:txBody>
                    <a:bodyPr wrap="square"/>
                    <a:lstStyle/>
                    <a:p>
                      <a:pPr algn="ctr">
                        <a:lnSpc>
                          <a:spcPts val="780"/>
                        </a:lnSpc>
                      </a:pPr>
                      <a:r>
                        <a:rPr sz="620" b="0">
                          <a:solidFill>
                            <a:srgbClr val="FEFEFF"/>
                          </a:solidFill>
                          <a:latin typeface="Ubuntu Mono"/>
                          <a:ea typeface="Ubuntu Mono"/>
                          <a:cs typeface="Ubuntu Mono"/>
                          <a:sym typeface="Ubuntu Mono"/>
                        </a:rPr>
                        <a:t>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780"/>
                        </a:lnSpc>
                      </a:pPr>
                      <a:r>
                        <a:rPr sz="620" b="0">
                          <a:solidFill>
                            <a:srgbClr val="000000"/>
                          </a:solidFill>
                          <a:latin typeface="Ubuntu Mono"/>
                          <a:ea typeface="Ubuntu Mono"/>
                          <a:cs typeface="Ubuntu Mono"/>
                          <a:sym typeface="Ubuntu Mono"/>
                        </a:rPr>
                        <a:t>26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6.151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6.151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2.69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64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4.750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NC38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11,800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9,100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580,000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6050">
                <a:tc>
                  <a:txBody>
                    <a:bodyPr wrap="square"/>
                    <a:lstStyle/>
                    <a:p>
                      <a:pPr algn="ctr">
                        <a:lnSpc>
                          <a:spcPts val="780"/>
                        </a:lnSpc>
                      </a:pPr>
                      <a:r>
                        <a:rPr sz="620" b="0">
                          <a:solidFill>
                            <a:srgbClr val="FEFEFF"/>
                          </a:solidFill>
                          <a:latin typeface="Ubuntu Mono"/>
                          <a:ea typeface="Ubuntu Mono"/>
                          <a:cs typeface="Ubuntu Mono"/>
                          <a:sym typeface="Ubuntu Mono"/>
                        </a:rPr>
                        <a:t>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780"/>
                        </a:lnSpc>
                      </a:pPr>
                      <a:r>
                        <a:rPr sz="620" b="0">
                          <a:solidFill>
                            <a:srgbClr val="000000"/>
                          </a:solidFill>
                          <a:latin typeface="Ubuntu Mono"/>
                          <a:ea typeface="Ubuntu Mono"/>
                          <a:cs typeface="Ubuntu Mono"/>
                          <a:sym typeface="Ubuntu Mono"/>
                        </a:rPr>
                        <a:t>29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6.059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6.059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2.250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76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27.5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4.750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NC38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11,800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9,100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580,000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6050">
                <a:tc>
                  <a:txBody>
                    <a:bodyPr wrap="square"/>
                    <a:lstStyle/>
                    <a:p>
                      <a:pPr algn="ctr">
                        <a:lnSpc>
                          <a:spcPts val="780"/>
                        </a:lnSpc>
                      </a:pPr>
                      <a:r>
                        <a:rPr sz="620" b="0">
                          <a:solidFill>
                            <a:srgbClr val="FEFEFF"/>
                          </a:solidFill>
                          <a:latin typeface="Ubuntu Mono"/>
                          <a:ea typeface="Ubuntu Mono"/>
                          <a:cs typeface="Ubuntu Mono"/>
                          <a:sym typeface="Ubuntu Mono"/>
                        </a:rPr>
                        <a:t>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780"/>
                        </a:lnSpc>
                      </a:pPr>
                      <a:r>
                        <a:rPr sz="620" b="0">
                          <a:solidFill>
                            <a:srgbClr val="000000"/>
                          </a:solidFill>
                          <a:latin typeface="Ubuntu Mono"/>
                          <a:ea typeface="Ubuntu Mono"/>
                          <a:cs typeface="Ubuntu Mono"/>
                          <a:sym typeface="Ubuntu Mono"/>
                        </a:rPr>
                        <a:t>32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5.969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5.969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2.250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76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27.5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4.750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NC38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11,800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9,100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580,000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6050">
                <a:tc>
                  <a:txBody>
                    <a:bodyPr wrap="square"/>
                    <a:lstStyle/>
                    <a:p>
                      <a:pPr algn="ctr">
                        <a:lnSpc>
                          <a:spcPts val="780"/>
                        </a:lnSpc>
                      </a:pPr>
                      <a:r>
                        <a:rPr sz="620" b="0">
                          <a:solidFill>
                            <a:srgbClr val="FEFEFF"/>
                          </a:solidFill>
                          <a:latin typeface="Ubuntu Mono"/>
                          <a:ea typeface="Ubuntu Mono"/>
                          <a:cs typeface="Ubuntu Mono"/>
                          <a:sym typeface="Ubuntu Mono"/>
                        </a:rPr>
                        <a:t>9-5/8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780"/>
                        </a:lnSpc>
                      </a:pPr>
                      <a:r>
                        <a:rPr sz="620" b="0">
                          <a:solidFill>
                            <a:srgbClr val="000000"/>
                          </a:solidFill>
                          <a:latin typeface="Ubuntu Mono"/>
                          <a:ea typeface="Ubuntu Mono"/>
                          <a:cs typeface="Ubuntu Mono"/>
                          <a:sym typeface="Ubuntu Mono"/>
                        </a:rPr>
                        <a:t>43.5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8.599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8.599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3.500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76.5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6.500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NC50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51,700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27,000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944,000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6050">
                <a:tc>
                  <a:txBody>
                    <a:bodyPr wrap="square"/>
                    <a:lstStyle/>
                    <a:p>
                      <a:pPr algn="ctr">
                        <a:lnSpc>
                          <a:spcPts val="780"/>
                        </a:lnSpc>
                      </a:pPr>
                      <a:r>
                        <a:rPr sz="620" b="0">
                          <a:solidFill>
                            <a:srgbClr val="FEFEFF"/>
                          </a:solidFill>
                          <a:latin typeface="Ubuntu Mono"/>
                          <a:ea typeface="Ubuntu Mono"/>
                          <a:cs typeface="Ubuntu Mono"/>
                          <a:sym typeface="Ubuntu Mono"/>
                        </a:rPr>
                        <a:t>9-5/8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780"/>
                        </a:lnSpc>
                      </a:pPr>
                      <a:r>
                        <a:rPr sz="620" b="0">
                          <a:solidFill>
                            <a:srgbClr val="000000"/>
                          </a:solidFill>
                          <a:latin typeface="Ubuntu Mono"/>
                          <a:ea typeface="Ubuntu Mono"/>
                          <a:cs typeface="Ubuntu Mono"/>
                          <a:sym typeface="Ubuntu Mono"/>
                        </a:rPr>
                        <a:t>47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8.525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8.525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3.500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76.5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6.500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NC50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51,700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27,000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944,000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6050">
                <a:tc>
                  <a:txBody>
                    <a:bodyPr wrap="square"/>
                    <a:lstStyle/>
                    <a:p>
                      <a:pPr algn="ctr">
                        <a:lnSpc>
                          <a:spcPts val="780"/>
                        </a:lnSpc>
                      </a:pPr>
                      <a:r>
                        <a:rPr sz="620" b="0">
                          <a:solidFill>
                            <a:srgbClr val="FEFEFF"/>
                          </a:solidFill>
                          <a:latin typeface="Ubuntu Mono"/>
                          <a:ea typeface="Ubuntu Mono"/>
                          <a:cs typeface="Ubuntu Mono"/>
                          <a:sym typeface="Ubuntu Mono"/>
                        </a:rPr>
                        <a:t>9-5/8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780"/>
                        </a:lnSpc>
                      </a:pPr>
                      <a:r>
                        <a:rPr sz="620" b="0">
                          <a:solidFill>
                            <a:srgbClr val="000000"/>
                          </a:solidFill>
                          <a:latin typeface="Ubuntu Mono"/>
                          <a:ea typeface="Ubuntu Mono"/>
                          <a:cs typeface="Ubuntu Mono"/>
                          <a:sym typeface="Ubuntu Mono"/>
                        </a:rPr>
                        <a:t>53.5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8.379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8.379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3.500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76.5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6.500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NC50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51,700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27,000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944,000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6050">
                <a:tc>
                  <a:txBody>
                    <a:bodyPr wrap="square"/>
                    <a:lstStyle/>
                    <a:p>
                      <a:pPr algn="ctr">
                        <a:lnSpc>
                          <a:spcPts val="780"/>
                        </a:lnSpc>
                      </a:pPr>
                      <a:r>
                        <a:rPr sz="620" b="0">
                          <a:solidFill>
                            <a:srgbClr val="FEFEFF"/>
                          </a:solidFill>
                          <a:latin typeface="Ubuntu Mono"/>
                          <a:ea typeface="Ubuntu Mono"/>
                          <a:cs typeface="Ubuntu Mono"/>
                          <a:sym typeface="Ubuntu Mono"/>
                        </a:rPr>
                        <a:t>9-5/8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780"/>
                        </a:lnSpc>
                      </a:pPr>
                      <a:r>
                        <a:rPr sz="620" b="0">
                          <a:solidFill>
                            <a:srgbClr val="000000"/>
                          </a:solidFill>
                          <a:latin typeface="Ubuntu Mono"/>
                          <a:ea typeface="Ubuntu Mono"/>
                          <a:cs typeface="Ubuntu Mono"/>
                          <a:sym typeface="Ubuntu Mono"/>
                        </a:rPr>
                        <a:t>58.4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8.279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8.279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3.500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76.5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6.500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NC50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51,700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27,000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780"/>
                        </a:lnSpc>
                      </a:pPr>
                      <a:r>
                        <a:rPr sz="620" b="0">
                          <a:solidFill>
                            <a:srgbClr val="000000"/>
                          </a:solidFill>
                          <a:latin typeface="Ubuntu Mono"/>
                          <a:ea typeface="Ubuntu Mono"/>
                          <a:cs typeface="Ubuntu Mono"/>
                          <a:sym typeface="Ubuntu Mono"/>
                        </a:rPr>
                        <a:t>944,000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6050">
                <a:tc>
                  <a:txBody>
                    <a:bodyPr wrap="square"/>
                    <a:lstStyle/>
                    <a:p>
                      <a:pPr algn="ctr">
                        <a:lnSpc>
                          <a:spcPts val="780"/>
                        </a:lnSpc>
                      </a:pPr>
                      <a:r>
                        <a:rPr sz="620" b="0">
                          <a:solidFill>
                            <a:srgbClr val="FEFEFF"/>
                          </a:solidFill>
                          <a:latin typeface="Ubuntu Mono"/>
                          <a:ea typeface="Ubuntu Mono"/>
                          <a:cs typeface="Ubuntu Mono"/>
                          <a:sym typeface="Ubuntu Mono"/>
                        </a:rPr>
                        <a:t>9-5/8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780"/>
                        </a:lnSpc>
                      </a:pPr>
                      <a:r>
                        <a:rPr sz="620" b="0">
                          <a:solidFill>
                            <a:srgbClr val="000000"/>
                          </a:solidFill>
                          <a:latin typeface="Ubuntu Mono"/>
                          <a:ea typeface="Ubuntu Mono"/>
                          <a:cs typeface="Ubuntu Mono"/>
                          <a:sym typeface="Ubuntu Mono"/>
                        </a:rPr>
                        <a:t>59.4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8.250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8.250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3.500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76.5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6.500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NC50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51,700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27,000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780"/>
                        </a:lnSpc>
                      </a:pPr>
                      <a:r>
                        <a:rPr sz="620" b="0">
                          <a:solidFill>
                            <a:srgbClr val="000000"/>
                          </a:solidFill>
                          <a:latin typeface="Ubuntu Mono"/>
                          <a:ea typeface="Ubuntu Mono"/>
                          <a:cs typeface="Ubuntu Mono"/>
                          <a:sym typeface="Ubuntu Mono"/>
                        </a:rPr>
                        <a:t>944,000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4" name="TextBox 23"/>
          <p:cNvSpPr txBox="1"/>
          <p:nvPr/>
        </p:nvSpPr>
        <p:spPr>
          <a:xfrm>
            <a:off x="711200" y="7340600"/>
            <a:ext cx="6134100" cy="114300"/>
          </a:xfrm>
          <a:prstGeom prst="rect">
            <a:avLst/>
          </a:prstGeom>
          <a:noFill/>
        </p:spPr>
        <p:txBody>
          <a:bodyPr wrap="square" lIns="0" rIns="0" tIns="0" bIns="0">
            <a:spAutoFit/>
          </a:bodyPr>
          <a:lstStyle/>
          <a:p>
            <a:pPr algn="l">
              <a:spcAft>
                <a:spcPts val="0"/>
              </a:spcAft>
            </a:pPr>
            <a:r>
              <a:rPr sz="620" b="0">
                <a:solidFill>
                  <a:srgbClr val="444444"/>
                </a:solidFill>
                <a:latin typeface="Ubuntu Mono"/>
                <a:ea typeface="Ubuntu Mono"/>
                <a:cs typeface="Ubuntu Mono"/>
                <a:sym typeface="Ubuntu Mono"/>
              </a:rPr>
              <a:t>Other sizes, bespoke ODs and blade lengths on request. Dimensions in inches, loads in lb and ft-lb.</a:t>
            </a:r>
          </a:p>
        </p:txBody>
      </p:sp>
      <p:sp>
        <p:nvSpPr>
          <p:cNvPr id="25" name="TextBox 24"/>
          <p:cNvSpPr txBox="1"/>
          <p:nvPr/>
        </p:nvSpPr>
        <p:spPr>
          <a:xfrm>
            <a:off x="711200" y="74930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OPERATING LIMITS</a:t>
            </a:r>
          </a:p>
        </p:txBody>
      </p:sp>
      <p:graphicFrame>
        <p:nvGraphicFramePr>
          <p:cNvPr id="26" name="Table 25"/>
          <p:cNvGraphicFramePr>
            <a:graphicFrameLocks noGrp="1"/>
          </p:cNvGraphicFramePr>
          <p:nvPr/>
        </p:nvGraphicFramePr>
        <p:xfrm>
          <a:off x="711200" y="7696200"/>
          <a:ext cx="6134100" cy="717550"/>
        </p:xfrm>
        <a:graphic>
          <a:graphicData uri="http://schemas.openxmlformats.org/drawingml/2006/table">
            <a:tbl>
              <a:tblPr/>
              <a:tblGrid>
                <a:gridCol w="1117600"/>
                <a:gridCol w="1117600"/>
                <a:gridCol w="1206500"/>
                <a:gridCol w="1524000"/>
                <a:gridCol w="1168400"/>
              </a:tblGrid>
              <a:tr h="279400">
                <a:tc>
                  <a:txBody>
                    <a:bodyPr wrap="square"/>
                    <a:lstStyle/>
                    <a:p>
                      <a:pPr algn="ctr">
                        <a:lnSpc>
                          <a:spcPts val="819"/>
                        </a:lnSpc>
                      </a:pPr>
                      <a:r>
                        <a:rPr sz="660" b="1">
                          <a:solidFill>
                            <a:srgbClr val="FEFEFF"/>
                          </a:solidFill>
                          <a:latin typeface="Ubuntu Mono"/>
                          <a:ea typeface="Ubuntu Mono"/>
                          <a:cs typeface="Ubuntu Mono"/>
                          <a:sym typeface="Ubuntu Mono"/>
                        </a:rPr>
                        <a:t>Casing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Max run speed (ft/min)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Max rotating speed (rpm)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Max compression when rotating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Max pressure test (psi)</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46050">
                <a:tc>
                  <a:txBody>
                    <a:bodyPr wrap="square"/>
                    <a:lstStyle/>
                    <a:p>
                      <a:pPr algn="ctr">
                        <a:lnSpc>
                          <a:spcPts val="819"/>
                        </a:lnSpc>
                      </a:pPr>
                      <a:r>
                        <a:rPr sz="660" b="0">
                          <a:solidFill>
                            <a:srgbClr val="FEFEFF"/>
                          </a:solidFill>
                          <a:latin typeface="Ubuntu Mono"/>
                          <a:ea typeface="Ubuntu Mono"/>
                          <a:cs typeface="Ubuntu Mono"/>
                          <a:sym typeface="Ubuntu Mono"/>
                        </a:rPr>
                        <a:t>4-1/2, 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6050">
                <a:tc>
                  <a:txBody>
                    <a:bodyPr wrap="square"/>
                    <a:lstStyle/>
                    <a:p>
                      <a:pPr algn="ctr">
                        <a:lnSpc>
                          <a:spcPts val="819"/>
                        </a:lnSpc>
                      </a:pPr>
                      <a:r>
                        <a:rPr sz="660" b="0">
                          <a:solidFill>
                            <a:srgbClr val="FEFEFF"/>
                          </a:solidFill>
                          <a:latin typeface="Ubuntu Mono"/>
                          <a:ea typeface="Ubuntu Mono"/>
                          <a:cs typeface="Ubuntu Mono"/>
                          <a:sym typeface="Ubuntu Mono"/>
                        </a:rPr>
                        <a:t>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120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30,000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10,000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6050">
                <a:tc>
                  <a:txBody>
                    <a:bodyPr wrap="square"/>
                    <a:lstStyle/>
                    <a:p>
                      <a:pPr algn="ctr">
                        <a:lnSpc>
                          <a:spcPts val="819"/>
                        </a:lnSpc>
                      </a:pPr>
                      <a:r>
                        <a:rPr sz="660" b="0">
                          <a:solidFill>
                            <a:srgbClr val="FEFEFF"/>
                          </a:solidFill>
                          <a:latin typeface="Ubuntu Mono"/>
                          <a:ea typeface="Ubuntu Mono"/>
                          <a:cs typeface="Ubuntu Mono"/>
                          <a:sym typeface="Ubuntu Mono"/>
                        </a:rPr>
                        <a:t>9-5/8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40,000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7" name="TextBox 26"/>
          <p:cNvSpPr txBox="1"/>
          <p:nvPr/>
        </p:nvSpPr>
        <p:spPr>
          <a:xfrm>
            <a:off x="711200" y="8540750"/>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BENEFITS</a:t>
            </a:r>
          </a:p>
        </p:txBody>
      </p:sp>
      <p:sp>
        <p:nvSpPr>
          <p:cNvPr id="28" name="TextBox 27"/>
          <p:cNvSpPr txBox="1"/>
          <p:nvPr/>
        </p:nvSpPr>
        <p:spPr>
          <a:xfrm>
            <a:off x="711200" y="8731250"/>
            <a:ext cx="3022600" cy="127000"/>
          </a:xfrm>
          <a:prstGeom prst="rect">
            <a:avLst/>
          </a:prstGeom>
          <a:noFill/>
        </p:spPr>
        <p:txBody>
          <a:bodyPr wrap="square" lIns="0" rIns="0" tIns="0" bIns="0">
            <a:spAutoFit/>
          </a:bodyPr>
          <a:lstStyle/>
          <a:p>
            <a:pPr algn="l">
              <a:lnSpc>
                <a:spcPts val="860"/>
              </a:lnSpc>
              <a:spcAft>
                <a:spcPts val="180"/>
              </a:spcAft>
            </a:pPr>
            <a:r>
              <a:rPr sz="540" b="0">
                <a:solidFill>
                  <a:srgbClr val="01ADEE"/>
                </a:solidFill>
                <a:latin typeface="Ubuntu Mono"/>
                <a:ea typeface="Ubuntu Mono"/>
                <a:cs typeface="Ubuntu Mono"/>
                <a:sym typeface="Ubuntu Mono"/>
              </a:rPr>
              <a:t>■ </a:t>
            </a:r>
            <a:r>
              <a:rPr sz="690" b="1">
                <a:solidFill>
                  <a:srgbClr val="000000"/>
                </a:solidFill>
                <a:latin typeface="Ubuntu Mono"/>
                <a:ea typeface="Ubuntu Mono"/>
                <a:cs typeface="Ubuntu Mono"/>
                <a:sym typeface="Ubuntu Mono"/>
              </a:rPr>
              <a:t>High fluid by-pass: </a:t>
            </a:r>
            <a:r>
              <a:rPr sz="690" b="0">
                <a:solidFill>
                  <a:srgbClr val="000000"/>
                </a:solidFill>
                <a:latin typeface="Ubuntu Mono"/>
                <a:ea typeface="Ubuntu Mono"/>
                <a:cs typeface="Ubuntu Mono"/>
                <a:sym typeface="Ubuntu Mono"/>
              </a:rPr>
              <a:t>fluid and debris flow past the tool body.</a:t>
            </a:r>
          </a:p>
          <a:p>
            <a:pPr algn="l">
              <a:lnSpc>
                <a:spcPts val="860"/>
              </a:lnSpc>
              <a:spcAft>
                <a:spcPts val="180"/>
              </a:spcAft>
            </a:pPr>
            <a:r>
              <a:rPr sz="540" b="0">
                <a:solidFill>
                  <a:srgbClr val="01ADEE"/>
                </a:solidFill>
                <a:latin typeface="Ubuntu Mono"/>
                <a:ea typeface="Ubuntu Mono"/>
                <a:cs typeface="Ubuntu Mono"/>
                <a:sym typeface="Ubuntu Mono"/>
              </a:rPr>
              <a:t>■ </a:t>
            </a:r>
            <a:r>
              <a:rPr sz="690" b="1">
                <a:solidFill>
                  <a:srgbClr val="000000"/>
                </a:solidFill>
                <a:latin typeface="Ubuntu Mono"/>
                <a:ea typeface="Ubuntu Mono"/>
                <a:cs typeface="Ubuntu Mono"/>
                <a:sym typeface="Ubuntu Mono"/>
              </a:rPr>
              <a:t>Compatible: </a:t>
            </a:r>
            <a:r>
              <a:rPr sz="690" b="0">
                <a:solidFill>
                  <a:srgbClr val="000000"/>
                </a:solidFill>
                <a:latin typeface="Ubuntu Mono"/>
                <a:ea typeface="Ubuntu Mono"/>
                <a:cs typeface="Ubuntu Mono"/>
                <a:sym typeface="Ubuntu Mono"/>
              </a:rPr>
              <a:t>large inner bore, works with all standard clean-up tools and prevents surge and swab.</a:t>
            </a:r>
          </a:p>
          <a:p>
            <a:pPr algn="l">
              <a:lnSpc>
                <a:spcPts val="860"/>
              </a:lnSpc>
              <a:spcAft>
                <a:spcPts val="180"/>
              </a:spcAft>
            </a:pPr>
            <a:r>
              <a:rPr sz="540" b="0">
                <a:solidFill>
                  <a:srgbClr val="01ADEE"/>
                </a:solidFill>
                <a:latin typeface="Ubuntu Mono"/>
                <a:ea typeface="Ubuntu Mono"/>
                <a:cs typeface="Ubuntu Mono"/>
                <a:sym typeface="Ubuntu Mono"/>
              </a:rPr>
              <a:t>■ </a:t>
            </a:r>
            <a:r>
              <a:rPr sz="690" b="1">
                <a:solidFill>
                  <a:srgbClr val="000000"/>
                </a:solidFill>
                <a:latin typeface="Ubuntu Mono"/>
                <a:ea typeface="Ubuntu Mono"/>
                <a:cs typeface="Ubuntu Mono"/>
                <a:sym typeface="Ubuntu Mono"/>
              </a:rPr>
              <a:t>Robust: </a:t>
            </a:r>
            <a:r>
              <a:rPr sz="690" b="0">
                <a:solidFill>
                  <a:srgbClr val="000000"/>
                </a:solidFill>
                <a:latin typeface="Ubuntu Mono"/>
                <a:ea typeface="Ubuntu Mono"/>
                <a:cs typeface="Ubuntu Mono"/>
                <a:sym typeface="Ubuntu Mono"/>
              </a:rPr>
              <a:t>no internal or external screws or bolts.</a:t>
            </a:r>
          </a:p>
          <a:p>
            <a:pPr algn="l">
              <a:lnSpc>
                <a:spcPts val="860"/>
              </a:lnSpc>
              <a:spcAft>
                <a:spcPts val="180"/>
              </a:spcAft>
            </a:pPr>
            <a:r>
              <a:rPr sz="540" b="0">
                <a:solidFill>
                  <a:srgbClr val="01ADEE"/>
                </a:solidFill>
                <a:latin typeface="Ubuntu Mono"/>
                <a:ea typeface="Ubuntu Mono"/>
                <a:cs typeface="Ubuntu Mono"/>
                <a:sym typeface="Ubuntu Mono"/>
              </a:rPr>
              <a:t>■ </a:t>
            </a:r>
            <a:r>
              <a:rPr sz="690" b="1">
                <a:solidFill>
                  <a:srgbClr val="000000"/>
                </a:solidFill>
                <a:latin typeface="Ubuntu Mono"/>
                <a:ea typeface="Ubuntu Mono"/>
                <a:cs typeface="Ubuntu Mono"/>
                <a:sym typeface="Ubuntu Mono"/>
              </a:rPr>
              <a:t>Flexible: </a:t>
            </a:r>
            <a:r>
              <a:rPr sz="690" b="0">
                <a:solidFill>
                  <a:srgbClr val="000000"/>
                </a:solidFill>
                <a:latin typeface="Ubuntu Mono"/>
                <a:ea typeface="Ubuntu Mono"/>
                <a:cs typeface="Ubuntu Mono"/>
                <a:sym typeface="Ubuntu Mono"/>
              </a:rPr>
              <a:t>API and non-standard casing sizes, bespoke ODs and blade lengths.</a:t>
            </a:r>
          </a:p>
        </p:txBody>
      </p:sp>
      <p:sp>
        <p:nvSpPr>
          <p:cNvPr id="29" name="TextBox 28"/>
          <p:cNvSpPr txBox="1"/>
          <p:nvPr/>
        </p:nvSpPr>
        <p:spPr>
          <a:xfrm>
            <a:off x="3810000" y="854075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0" name="TextBox 29"/>
          <p:cNvSpPr txBox="1"/>
          <p:nvPr/>
        </p:nvSpPr>
        <p:spPr>
          <a:xfrm>
            <a:off x="3810000" y="8731250"/>
            <a:ext cx="3035300" cy="635000"/>
          </a:xfrm>
          <a:prstGeom prst="rect">
            <a:avLst/>
          </a:prstGeom>
          <a:noFill/>
        </p:spPr>
        <p:txBody>
          <a:bodyPr wrap="square" lIns="0" rIns="0" tIns="0" bIns="0">
            <a:spAutoFit/>
          </a:bodyPr>
          <a:lstStyle/>
          <a:p>
            <a:pPr algn="just">
              <a:lnSpc>
                <a:spcPts val="860"/>
              </a:lnSpc>
              <a:spcAft>
                <a:spcPts val="0"/>
              </a:spcAft>
            </a:pPr>
            <a:r>
              <a:rPr sz="690" b="0">
                <a:solidFill>
                  <a:srgbClr val="000000"/>
                </a:solidFill>
                <a:latin typeface="Ubuntu Mono"/>
                <a:ea typeface="Ubuntu Mono"/>
                <a:cs typeface="Ubuntu Mono"/>
                <a:sym typeface="Ubuntu Mono"/>
              </a:rPr>
              <a:t>Please specify: 1. casing size and weight  2. rig connection  3. blade length and hardfacing  4. other tools run in the string (scraper, drift sub).</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TAPER MILL</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MILLING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CP AND CT TAPER MILLS</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TAPER MILLS REMOVE RESTRICTIONS AND MILL THROUGH PINCHED OR COLLAPSED CASING. THEY CARRY A TAPERED OR SHORT BLUNT NOSE THAT SERVES AS A GUIDE. TWO VERSIONS: THE CP, WITH A SHORT BLUNT NOSE AND A SHORT TAPER, PRODUCES MUCH LESS TORQUE AND CAN TAKE MORE WEIGHT, SUITING THE TOUGHEST JOBS WHERE A LONG NOSE MIGHT BREAK; THE CT, WITH SPIRAL BLADES AND A POINTED NOSE, IS DESIGNED TO MILL THROUGH RESTRICTIONS.</a:t>
            </a:r>
          </a:p>
        </p:txBody>
      </p:sp>
      <p:sp>
        <p:nvSpPr>
          <p:cNvPr id="21" name="TextBox 20"/>
          <p:cNvSpPr txBox="1"/>
          <p:nvPr/>
        </p:nvSpPr>
        <p:spPr>
          <a:xfrm>
            <a:off x="711200" y="51816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372100"/>
          <a:ext cx="6134095" cy="2463800"/>
        </p:xfrm>
        <a:graphic>
          <a:graphicData uri="http://schemas.openxmlformats.org/drawingml/2006/table">
            <a:tbl>
              <a:tblPr/>
              <a:tblGrid>
                <a:gridCol w="1003761"/>
                <a:gridCol w="975879"/>
                <a:gridCol w="585527"/>
                <a:gridCol w="585527"/>
                <a:gridCol w="724939"/>
                <a:gridCol w="920114"/>
                <a:gridCol w="669174"/>
                <a:gridCol w="669174"/>
              </a:tblGrid>
              <a:tr h="330200">
                <a:tc>
                  <a:txBody>
                    <a:bodyPr wrap="square"/>
                    <a:lstStyle/>
                    <a:p>
                      <a:pPr algn="ctr">
                        <a:lnSpc>
                          <a:spcPts val="880"/>
                        </a:lnSpc>
                      </a:pPr>
                      <a:r>
                        <a:rPr sz="720" b="1">
                          <a:solidFill>
                            <a:srgbClr val="FEFEFF"/>
                          </a:solidFill>
                          <a:latin typeface="Ubuntu Mono"/>
                          <a:ea typeface="Ubuntu Mono"/>
                          <a:cs typeface="Ubuntu Mono"/>
                          <a:sym typeface="Ubuntu Mono"/>
                        </a:rPr>
                        <a:t>Dressed 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Top pin conn.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Length CT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Length CP</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Fishing neck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Fishing neck 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Wt CT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Wt CP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3-1/4 - 3-7/8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4 - 4-3/8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4-1/2 - 5-3/8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2-7/8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5-1/2 - 5-5/8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155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5-3/4 - 6-3/8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6-1/2 - 7-3/8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170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7-1/2 - 7-7/8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8-3/8 - 9-1/2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54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9-3/8 - 9-7/8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 or 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5-3/4 or 7-3/4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345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10-3/8 - 11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57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355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11-1/2 - 12-1/4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455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390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14-3/4 - 15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525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17 - 17-1/2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595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20 - 26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 or 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7-3/4 or 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3" name="TextBox 22"/>
          <p:cNvSpPr txBox="1"/>
          <p:nvPr/>
        </p:nvSpPr>
        <p:spPr>
          <a:xfrm>
            <a:off x="711200" y="7886700"/>
            <a:ext cx="6134100" cy="254000"/>
          </a:xfrm>
          <a:prstGeom prst="rect">
            <a:avLst/>
          </a:prstGeom>
          <a:noFill/>
        </p:spPr>
        <p:txBody>
          <a:bodyPr wrap="square" lIns="0" rIns="0" tIns="0" bIns="0">
            <a:spAutoFit/>
          </a:bodyPr>
          <a:lstStyle/>
          <a:p>
            <a:pPr algn="l">
              <a:spcAft>
                <a:spcPts val="0"/>
              </a:spcAft>
            </a:pPr>
            <a:r>
              <a:rPr sz="640" b="0">
                <a:solidFill>
                  <a:srgbClr val="444444"/>
                </a:solidFill>
                <a:latin typeface="Ubuntu Mono"/>
                <a:ea typeface="Ubuntu Mono"/>
                <a:cs typeface="Ubuntu Mono"/>
                <a:sym typeface="Ubuntu Mono"/>
              </a:rPr>
              <a:t>Dimensions in inches (overall lengths in inches), weights in lb (approximate). Ranges as dressed diameters of each size group.</a:t>
            </a:r>
          </a:p>
        </p:txBody>
      </p:sp>
      <p:sp>
        <p:nvSpPr>
          <p:cNvPr id="24" name="TextBox 23"/>
          <p:cNvSpPr txBox="1"/>
          <p:nvPr/>
        </p:nvSpPr>
        <p:spPr>
          <a:xfrm>
            <a:off x="711200" y="8191500"/>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5" name="TextBox 24"/>
          <p:cNvSpPr txBox="1"/>
          <p:nvPr/>
        </p:nvSpPr>
        <p:spPr>
          <a:xfrm>
            <a:off x="711200" y="8394700"/>
            <a:ext cx="2984500" cy="127000"/>
          </a:xfrm>
          <a:prstGeom prst="rect">
            <a:avLst/>
          </a:prstGeom>
          <a:noFill/>
        </p:spPr>
        <p:txBody>
          <a:bodyPr wrap="square" lIns="0" rIns="0" tIns="0" bIns="0">
            <a:spAutoFit/>
          </a:bodyPr>
          <a:lstStyle/>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CP: </a:t>
            </a:r>
            <a:r>
              <a:rPr sz="720" b="0">
                <a:solidFill>
                  <a:srgbClr val="000000"/>
                </a:solidFill>
                <a:latin typeface="Ubuntu Mono"/>
                <a:ea typeface="Ubuntu Mono"/>
                <a:cs typeface="Ubuntu Mono"/>
                <a:sym typeface="Ubuntu Mono"/>
              </a:rPr>
              <a:t>blunt nose, short taper; low torque, tolerates more weight.</a:t>
            </a:r>
          </a:p>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CT: </a:t>
            </a:r>
            <a:r>
              <a:rPr sz="720" b="0">
                <a:solidFill>
                  <a:srgbClr val="000000"/>
                </a:solidFill>
                <a:latin typeface="Ubuntu Mono"/>
                <a:ea typeface="Ubuntu Mono"/>
                <a:cs typeface="Ubuntu Mono"/>
                <a:sym typeface="Ubuntu Mono"/>
              </a:rPr>
              <a:t>spiral blades and pointed nose for restrictions.</a:t>
            </a:r>
          </a:p>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Typical jobs: </a:t>
            </a:r>
            <a:r>
              <a:rPr sz="720" b="0">
                <a:solidFill>
                  <a:srgbClr val="000000"/>
                </a:solidFill>
                <a:latin typeface="Ubuntu Mono"/>
                <a:ea typeface="Ubuntu Mono"/>
                <a:cs typeface="Ubuntu Mono"/>
                <a:sym typeface="Ubuntu Mono"/>
              </a:rPr>
              <a:t>reaming collapsed casing and liners, cleaning permanent whipstock windows, milling jagged or split shoes, enlarging restrictions through retainers and adapters.</a:t>
            </a:r>
          </a:p>
          <a:p>
            <a:pPr algn="l">
              <a:lnSpc>
                <a:spcPts val="900"/>
              </a:lnSpc>
              <a:spcAft>
                <a:spcPts val="25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Stabilising: </a:t>
            </a:r>
            <a:r>
              <a:rPr sz="720" b="0">
                <a:solidFill>
                  <a:srgbClr val="000000"/>
                </a:solidFill>
                <a:latin typeface="Ubuntu Mono"/>
                <a:ea typeface="Ubuntu Mono"/>
                <a:cs typeface="Ubuntu Mono"/>
                <a:sym typeface="Ubuntu Mono"/>
              </a:rPr>
              <a:t>keep 1/2 to 1 in. under drift diameter.</a:t>
            </a:r>
          </a:p>
        </p:txBody>
      </p:sp>
      <p:sp>
        <p:nvSpPr>
          <p:cNvPr id="26" name="TextBox 25"/>
          <p:cNvSpPr txBox="1"/>
          <p:nvPr/>
        </p:nvSpPr>
        <p:spPr>
          <a:xfrm>
            <a:off x="3860800" y="8191500"/>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OPERATING PARAMETERS</a:t>
            </a:r>
          </a:p>
        </p:txBody>
      </p:sp>
      <p:graphicFrame>
        <p:nvGraphicFramePr>
          <p:cNvPr id="27" name="Table 26"/>
          <p:cNvGraphicFramePr>
            <a:graphicFrameLocks noGrp="1"/>
          </p:cNvGraphicFramePr>
          <p:nvPr/>
        </p:nvGraphicFramePr>
        <p:xfrm>
          <a:off x="3860800" y="8382000"/>
          <a:ext cx="2984500" cy="1111250"/>
        </p:xfrm>
        <a:graphic>
          <a:graphicData uri="http://schemas.openxmlformats.org/drawingml/2006/table">
            <a:tbl>
              <a:tblPr/>
              <a:tblGrid>
                <a:gridCol w="1270000"/>
                <a:gridCol w="1714500"/>
              </a:tblGrid>
              <a:tr h="158750">
                <a:tc>
                  <a:txBody>
                    <a:bodyPr wrap="square"/>
                    <a:lstStyle/>
                    <a:p>
                      <a:pPr algn="l">
                        <a:lnSpc>
                          <a:spcPts val="819"/>
                        </a:lnSpc>
                      </a:pPr>
                      <a:r>
                        <a:rPr sz="660" b="0">
                          <a:solidFill>
                            <a:srgbClr val="FEFEFF"/>
                          </a:solidFill>
                          <a:latin typeface="Ubuntu Mono"/>
                          <a:ea typeface="Ubuntu Mono"/>
                          <a:cs typeface="Ubuntu Mono"/>
                          <a:sym typeface="Ubuntu Mono"/>
                        </a:rPr>
                        <a:t>Weight range (general)</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9"/>
                        </a:lnSpc>
                      </a:pPr>
                      <a:r>
                        <a:rPr sz="660" b="0">
                          <a:solidFill>
                            <a:srgbClr val="000000"/>
                          </a:solidFill>
                          <a:latin typeface="Ubuntu Mono"/>
                          <a:ea typeface="Ubuntu Mono"/>
                          <a:cs typeface="Ubuntu Mono"/>
                          <a:sym typeface="Ubuntu Mono"/>
                        </a:rPr>
                        <a:t>2,000 - 4,000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8750">
                <a:tc>
                  <a:txBody>
                    <a:bodyPr wrap="square"/>
                    <a:lstStyle/>
                    <a:p>
                      <a:pPr algn="l">
                        <a:lnSpc>
                          <a:spcPts val="819"/>
                        </a:lnSpc>
                      </a:pPr>
                      <a:r>
                        <a:rPr sz="660" b="0">
                          <a:solidFill>
                            <a:srgbClr val="FEFEFF"/>
                          </a:solidFill>
                          <a:latin typeface="Ubuntu Mono"/>
                          <a:ea typeface="Ubuntu Mono"/>
                          <a:cs typeface="Ubuntu Mono"/>
                          <a:sym typeface="Ubuntu Mono"/>
                        </a:rPr>
                        <a:t>Start rotation above collapse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9"/>
                        </a:lnSpc>
                      </a:pPr>
                      <a:r>
                        <a:rPr sz="660" b="0">
                          <a:solidFill>
                            <a:srgbClr val="000000"/>
                          </a:solidFill>
                          <a:latin typeface="Ubuntu Mono"/>
                          <a:ea typeface="Ubuntu Mono"/>
                          <a:cs typeface="Ubuntu Mono"/>
                          <a:sym typeface="Ubuntu Mono"/>
                        </a:rPr>
                        <a:t>75 rpm (min. 75 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8750">
                <a:tc>
                  <a:txBody>
                    <a:bodyPr wrap="square"/>
                    <a:lstStyle/>
                    <a:p>
                      <a:pPr algn="l">
                        <a:lnSpc>
                          <a:spcPts val="819"/>
                        </a:lnSpc>
                      </a:pPr>
                      <a:r>
                        <a:rPr sz="660" b="0">
                          <a:solidFill>
                            <a:srgbClr val="FEFEFF"/>
                          </a:solidFill>
                          <a:latin typeface="Ubuntu Mono"/>
                          <a:ea typeface="Ubuntu Mono"/>
                          <a:cs typeface="Ubuntu Mono"/>
                          <a:sym typeface="Ubuntu Mono"/>
                        </a:rPr>
                        <a:t>Weight increase in collapse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9"/>
                        </a:lnSpc>
                      </a:pPr>
                      <a:r>
                        <a:rPr sz="660" b="0">
                          <a:solidFill>
                            <a:srgbClr val="000000"/>
                          </a:solidFill>
                          <a:latin typeface="Ubuntu Mono"/>
                          <a:ea typeface="Ubuntu Mono"/>
                          <a:cs typeface="Ubuntu Mono"/>
                          <a:sym typeface="Ubuntu Mono"/>
                        </a:rPr>
                        <a:t>1,000 - 2,000 lb, slowly</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8750">
                <a:tc>
                  <a:txBody>
                    <a:bodyPr wrap="square"/>
                    <a:lstStyle/>
                    <a:p>
                      <a:pPr algn="l">
                        <a:lnSpc>
                          <a:spcPts val="819"/>
                        </a:lnSpc>
                      </a:pPr>
                      <a:r>
                        <a:rPr sz="660" b="0">
                          <a:solidFill>
                            <a:srgbClr val="FEFEFF"/>
                          </a:solidFill>
                          <a:latin typeface="Ubuntu Mono"/>
                          <a:ea typeface="Ubuntu Mono"/>
                          <a:cs typeface="Ubuntu Mono"/>
                          <a:sym typeface="Ubuntu Mono"/>
                        </a:rPr>
                        <a:t>Collapsed casing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9"/>
                        </a:lnSpc>
                      </a:pPr>
                      <a:r>
                        <a:rPr sz="660" b="0">
                          <a:solidFill>
                            <a:srgbClr val="000000"/>
                          </a:solidFill>
                          <a:latin typeface="Ubuntu Mono"/>
                          <a:ea typeface="Ubuntu Mono"/>
                          <a:cs typeface="Ubuntu Mono"/>
                          <a:sym typeface="Ubuntu Mono"/>
                        </a:rPr>
                        <a:t>about 50 rpm; 2,000 - 3,000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8750">
                <a:tc>
                  <a:txBody>
                    <a:bodyPr wrap="square"/>
                    <a:lstStyle/>
                    <a:p>
                      <a:pPr algn="l">
                        <a:lnSpc>
                          <a:spcPts val="819"/>
                        </a:lnSpc>
                      </a:pPr>
                      <a:r>
                        <a:rPr sz="660" b="0">
                          <a:solidFill>
                            <a:srgbClr val="FEFEFF"/>
                          </a:solidFill>
                          <a:latin typeface="Ubuntu Mono"/>
                          <a:ea typeface="Ubuntu Mono"/>
                          <a:cs typeface="Ubuntu Mono"/>
                          <a:sym typeface="Ubuntu Mono"/>
                        </a:rPr>
                        <a:t>Whipstock window clean-up</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9"/>
                        </a:lnSpc>
                      </a:pPr>
                      <a:r>
                        <a:rPr sz="660" b="0">
                          <a:solidFill>
                            <a:srgbClr val="000000"/>
                          </a:solidFill>
                          <a:latin typeface="Ubuntu Mono"/>
                          <a:ea typeface="Ubuntu Mono"/>
                          <a:cs typeface="Ubuntu Mono"/>
                          <a:sym typeface="Ubuntu Mono"/>
                        </a:rPr>
                        <a:t>40 rpm; under 1,000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8750">
                <a:tc>
                  <a:txBody>
                    <a:bodyPr wrap="square"/>
                    <a:lstStyle/>
                    <a:p>
                      <a:pPr algn="l">
                        <a:lnSpc>
                          <a:spcPts val="819"/>
                        </a:lnSpc>
                      </a:pPr>
                      <a:r>
                        <a:rPr sz="660" b="0">
                          <a:solidFill>
                            <a:srgbClr val="FEFEFF"/>
                          </a:solidFill>
                          <a:latin typeface="Ubuntu Mono"/>
                          <a:ea typeface="Ubuntu Mono"/>
                          <a:cs typeface="Ubuntu Mono"/>
                          <a:sym typeface="Ubuntu Mono"/>
                        </a:rPr>
                        <a:t>Retainers / adapters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9"/>
                        </a:lnSpc>
                      </a:pPr>
                      <a:r>
                        <a:rPr sz="660" b="0">
                          <a:solidFill>
                            <a:srgbClr val="000000"/>
                          </a:solidFill>
                          <a:latin typeface="Ubuntu Mono"/>
                          <a:ea typeface="Ubuntu Mono"/>
                          <a:cs typeface="Ubuntu Mono"/>
                          <a:sym typeface="Ubuntu Mono"/>
                        </a:rPr>
                        <a:t>about 70 rpm; 2,000 - 6,000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8750">
                <a:tc>
                  <a:txBody>
                    <a:bodyPr wrap="square"/>
                    <a:lstStyle/>
                    <a:p>
                      <a:pPr algn="l">
                        <a:lnSpc>
                          <a:spcPts val="819"/>
                        </a:lnSpc>
                      </a:pPr>
                      <a:r>
                        <a:rPr sz="660" b="0">
                          <a:solidFill>
                            <a:srgbClr val="FEFEFF"/>
                          </a:solidFill>
                          <a:latin typeface="Ubuntu Mono"/>
                          <a:ea typeface="Ubuntu Mono"/>
                          <a:cs typeface="Ubuntu Mono"/>
                          <a:sym typeface="Ubuntu Mono"/>
                        </a:rPr>
                        <a:t>After clearing restriction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9"/>
                        </a:lnSpc>
                      </a:pPr>
                      <a:r>
                        <a:rPr sz="660" b="0">
                          <a:solidFill>
                            <a:srgbClr val="000000"/>
                          </a:solidFill>
                          <a:latin typeface="Ubuntu Mono"/>
                          <a:ea typeface="Ubuntu Mono"/>
                          <a:cs typeface="Ubuntu Mono"/>
                          <a:sym typeface="Ubuntu Mono"/>
                        </a:rPr>
                        <a:t>80 - 100 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8" name="TextBox 27"/>
          <p:cNvSpPr txBox="1"/>
          <p:nvPr/>
        </p:nvSpPr>
        <p:spPr>
          <a:xfrm>
            <a:off x="711200" y="959485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OPERATING NOTES</a:t>
            </a:r>
          </a:p>
        </p:txBody>
      </p:sp>
      <p:sp>
        <p:nvSpPr>
          <p:cNvPr id="29" name="TextBox 28"/>
          <p:cNvSpPr txBox="1"/>
          <p:nvPr/>
        </p:nvSpPr>
        <p:spPr>
          <a:xfrm>
            <a:off x="711200" y="9785350"/>
            <a:ext cx="6134100" cy="508000"/>
          </a:xfrm>
          <a:prstGeom prst="rect">
            <a:avLst/>
          </a:prstGeom>
          <a:noFill/>
        </p:spPr>
        <p:txBody>
          <a:bodyPr wrap="square" lIns="0" rIns="0" tIns="0" bIns="0">
            <a:spAutoFit/>
          </a:bodyPr>
          <a:lstStyle/>
          <a:p>
            <a:pPr algn="just">
              <a:lnSpc>
                <a:spcPts val="860"/>
              </a:lnSpc>
              <a:spcAft>
                <a:spcPts val="0"/>
              </a:spcAft>
            </a:pPr>
            <a:r>
              <a:rPr sz="680" b="0">
                <a:solidFill>
                  <a:srgbClr val="000000"/>
                </a:solidFill>
                <a:latin typeface="Ubuntu Mono"/>
                <a:ea typeface="Ubuntu Mono"/>
                <a:cs typeface="Ubuntu Mono"/>
                <a:sym typeface="Ubuntu Mono"/>
              </a:rPr>
              <a:t>Run a mill about 1/4 in. larger than the minimum I.D. of the collapse and enlarge in stages; do not use a taper mill if the collapse has passed centre. A string taper mill can be used if there is a danger of sidetracking. Governing factor is torque: reduce speed and weight if it rises. For a window, run the same diameter as the largest window mill, rotate slowly its full length and repeat until torque is minimal; do not try to make hole.</a:t>
            </a:r>
          </a:p>
        </p:txBody>
      </p:sp>
      <p:sp>
        <p:nvSpPr>
          <p:cNvPr id="30" name="TextBox 29"/>
          <p:cNvSpPr txBox="1"/>
          <p:nvPr/>
        </p:nvSpPr>
        <p:spPr>
          <a:xfrm>
            <a:off x="711200" y="1034415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1" name="TextBox 30"/>
          <p:cNvSpPr txBox="1"/>
          <p:nvPr/>
        </p:nvSpPr>
        <p:spPr>
          <a:xfrm>
            <a:off x="711200" y="10534650"/>
            <a:ext cx="6134100" cy="254000"/>
          </a:xfrm>
          <a:prstGeom prst="rect">
            <a:avLst/>
          </a:prstGeom>
          <a:noFill/>
        </p:spPr>
        <p:txBody>
          <a:bodyPr wrap="square" lIns="0" rIns="0" tIns="0" bIns="0">
            <a:spAutoFit/>
          </a:bodyPr>
          <a:lstStyle/>
          <a:p>
            <a:pPr algn="l">
              <a:lnSpc>
                <a:spcPts val="860"/>
              </a:lnSpc>
              <a:spcAft>
                <a:spcPts val="0"/>
              </a:spcAft>
            </a:pPr>
            <a:r>
              <a:rPr sz="680" b="0">
                <a:solidFill>
                  <a:srgbClr val="000000"/>
                </a:solidFill>
                <a:latin typeface="Ubuntu Mono"/>
                <a:ea typeface="Ubuntu Mono"/>
                <a:cs typeface="Ubuntu Mono"/>
                <a:sym typeface="Ubuntu Mono"/>
              </a:rPr>
              <a:t>Please specify: 1. type (CP or CT)  2. dressed diameter  3. top pin connection  4. fishing neck diameter, if different from standard.</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WASHOVER SHOE</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MILLING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
            </a:r>
          </a:p>
        </p:txBody>
      </p:sp>
      <p:pic>
        <p:nvPicPr>
          <p:cNvPr id="19" name="Picture 18" descr="shoeB.png"/>
          <p:cNvPicPr>
            <a:picLocks noChangeAspect="1"/>
          </p:cNvPicPr>
          <p:nvPr/>
        </p:nvPicPr>
        <p:blipFill>
          <a:blip r:embed="rId4"/>
          <a:stretch>
            <a:fillRect/>
          </a:stretch>
        </p:blipFill>
        <p:spPr>
          <a:xfrm>
            <a:off x="889000" y="609600"/>
            <a:ext cx="1714500" cy="1443140"/>
          </a:xfrm>
          <a:prstGeom prst="rect">
            <a:avLst/>
          </a:prstGeom>
        </p:spPr>
      </p:pic>
      <p:pic>
        <p:nvPicPr>
          <p:cNvPr id="20" name="Picture 19" descr="shoeA.png"/>
          <p:cNvPicPr>
            <a:picLocks noChangeAspect="1"/>
          </p:cNvPicPr>
          <p:nvPr/>
        </p:nvPicPr>
        <p:blipFill>
          <a:blip r:embed="rId5"/>
          <a:stretch>
            <a:fillRect/>
          </a:stretch>
        </p:blipFill>
        <p:spPr>
          <a:xfrm>
            <a:off x="3175000" y="203200"/>
            <a:ext cx="2222500" cy="1853127"/>
          </a:xfrm>
          <a:prstGeom prst="rect">
            <a:avLst/>
          </a:prstGeom>
        </p:spPr>
      </p:pic>
      <p:sp>
        <p:nvSpPr>
          <p:cNvPr id="21" name="TextBox 20"/>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2" name="TextBox 21"/>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WASHOVER SHOES ARE MADE IN VARIOUS SIZES AND STYLES TO MEET THE MANY CONDITIONS MET IN FISHING AND WASHOVER OPERATIONS. RUN AT THE BOTTOM OF THE WASHOVER STRING, THE SHOE CUTS A CLEARANCE BETWEEN THE FISH AND THE WALL OF THE WELLBORE DURING RETRIEVAL OPERATIONS, OR FREES STUCK DOWNHOLE OBJECTS. IT CAN BE DRESSED WITH CARBIDE INSERTS FOR HARD MILLING AND LONGER WORK DURATION. WASHOVER EXTENSIONS, WASHOVER PIPES AND TOP SUBS ARE AVAILABLE TO SUIT THE CONNECTION SIZE OF THE WASHOVER STRING, TOGETHER WITH THE APPROPRIATE LIFTING EQUIPMENT.</a:t>
            </a:r>
          </a:p>
        </p:txBody>
      </p:sp>
      <p:sp>
        <p:nvSpPr>
          <p:cNvPr id="23" name="TextBox 22"/>
          <p:cNvSpPr txBox="1"/>
          <p:nvPr/>
        </p:nvSpPr>
        <p:spPr>
          <a:xfrm>
            <a:off x="711200" y="5308600"/>
            <a:ext cx="3302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SHOE STYLES</a:t>
            </a:r>
          </a:p>
        </p:txBody>
      </p:sp>
      <p:pic>
        <p:nvPicPr>
          <p:cNvPr id="24" name="Picture 23" descr="shoeC.png"/>
          <p:cNvPicPr>
            <a:picLocks noChangeAspect="1"/>
          </p:cNvPicPr>
          <p:nvPr/>
        </p:nvPicPr>
        <p:blipFill>
          <a:blip r:embed="rId6"/>
          <a:stretch>
            <a:fillRect/>
          </a:stretch>
        </p:blipFill>
        <p:spPr>
          <a:xfrm>
            <a:off x="711200" y="5537200"/>
            <a:ext cx="3810000" cy="2576286"/>
          </a:xfrm>
          <a:prstGeom prst="rect">
            <a:avLst/>
          </a:prstGeom>
        </p:spPr>
      </p:pic>
      <p:sp>
        <p:nvSpPr>
          <p:cNvPr id="25" name="TextBox 24"/>
          <p:cNvSpPr txBox="1"/>
          <p:nvPr/>
        </p:nvSpPr>
        <p:spPr>
          <a:xfrm>
            <a:off x="4724400" y="5308600"/>
            <a:ext cx="2159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SIZE RANGE</a:t>
            </a:r>
          </a:p>
        </p:txBody>
      </p:sp>
      <p:graphicFrame>
        <p:nvGraphicFramePr>
          <p:cNvPr id="26" name="Table 25"/>
          <p:cNvGraphicFramePr>
            <a:graphicFrameLocks noGrp="1"/>
          </p:cNvGraphicFramePr>
          <p:nvPr/>
        </p:nvGraphicFramePr>
        <p:xfrm>
          <a:off x="4724400" y="5537200"/>
          <a:ext cx="2159000" cy="355600"/>
        </p:xfrm>
        <a:graphic>
          <a:graphicData uri="http://schemas.openxmlformats.org/drawingml/2006/table">
            <a:tbl>
              <a:tblPr/>
              <a:tblGrid>
                <a:gridCol w="1079500"/>
                <a:gridCol w="1079500"/>
              </a:tblGrid>
              <a:tr h="177800">
                <a:tc>
                  <a:txBody>
                    <a:bodyPr wrap="square"/>
                    <a:lstStyle/>
                    <a:p>
                      <a:pPr algn="l">
                        <a:lnSpc>
                          <a:spcPts val="840"/>
                        </a:lnSpc>
                      </a:pPr>
                      <a:r>
                        <a:rPr sz="680" b="0">
                          <a:solidFill>
                            <a:srgbClr val="FEFEFF"/>
                          </a:solidFill>
                          <a:latin typeface="Ubuntu Mono"/>
                          <a:ea typeface="Ubuntu Mono"/>
                          <a:cs typeface="Ubuntu Mono"/>
                          <a:sym typeface="Ubuntu Mono"/>
                        </a:rPr>
                        <a:t>Shoe 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40"/>
                        </a:lnSpc>
                      </a:pPr>
                      <a:r>
                        <a:rPr sz="680" b="0">
                          <a:solidFill>
                            <a:srgbClr val="000000"/>
                          </a:solidFill>
                          <a:latin typeface="Ubuntu Mono"/>
                          <a:ea typeface="Ubuntu Mono"/>
                          <a:cs typeface="Ubuntu Mono"/>
                          <a:sym typeface="Ubuntu Mono"/>
                        </a:rPr>
                        <a:t>2-9/16 - 13-3/8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77800">
                <a:tc>
                  <a:txBody>
                    <a:bodyPr wrap="square"/>
                    <a:lstStyle/>
                    <a:p>
                      <a:pPr algn="l">
                        <a:lnSpc>
                          <a:spcPts val="840"/>
                        </a:lnSpc>
                      </a:pPr>
                      <a:r>
                        <a:rPr sz="680" b="0">
                          <a:solidFill>
                            <a:srgbClr val="FEFEFF"/>
                          </a:solidFill>
                          <a:latin typeface="Ubuntu Mono"/>
                          <a:ea typeface="Ubuntu Mono"/>
                          <a:cs typeface="Ubuntu Mono"/>
                          <a:sym typeface="Ubuntu Mono"/>
                        </a:rPr>
                        <a:t>Metric</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40"/>
                        </a:lnSpc>
                      </a:pPr>
                      <a:r>
                        <a:rPr sz="680" b="0">
                          <a:solidFill>
                            <a:srgbClr val="000000"/>
                          </a:solidFill>
                          <a:latin typeface="Ubuntu Mono"/>
                          <a:ea typeface="Ubuntu Mono"/>
                          <a:cs typeface="Ubuntu Mono"/>
                          <a:sym typeface="Ubuntu Mono"/>
                        </a:rPr>
                        <a:t>65 - 340 mm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7" name="TextBox 26"/>
          <p:cNvSpPr txBox="1"/>
          <p:nvPr/>
        </p:nvSpPr>
        <p:spPr>
          <a:xfrm>
            <a:off x="4724400" y="6121400"/>
            <a:ext cx="2159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OPERATING PARAMETERS</a:t>
            </a:r>
          </a:p>
        </p:txBody>
      </p:sp>
      <p:graphicFrame>
        <p:nvGraphicFramePr>
          <p:cNvPr id="28" name="Table 27"/>
          <p:cNvGraphicFramePr>
            <a:graphicFrameLocks noGrp="1"/>
          </p:cNvGraphicFramePr>
          <p:nvPr/>
        </p:nvGraphicFramePr>
        <p:xfrm>
          <a:off x="4724400" y="6350000"/>
          <a:ext cx="2159000" cy="571500"/>
        </p:xfrm>
        <a:graphic>
          <a:graphicData uri="http://schemas.openxmlformats.org/drawingml/2006/table">
            <a:tbl>
              <a:tblPr/>
              <a:tblGrid>
                <a:gridCol w="889000"/>
                <a:gridCol w="1270000"/>
              </a:tblGrid>
              <a:tr h="190500">
                <a:tc>
                  <a:txBody>
                    <a:bodyPr wrap="square"/>
                    <a:lstStyle/>
                    <a:p>
                      <a:pPr algn="l">
                        <a:lnSpc>
                          <a:spcPts val="819"/>
                        </a:lnSpc>
                      </a:pPr>
                      <a:r>
                        <a:rPr sz="660" b="0">
                          <a:solidFill>
                            <a:srgbClr val="FEFEFF"/>
                          </a:solidFill>
                          <a:latin typeface="Ubuntu Mono"/>
                          <a:ea typeface="Ubuntu Mono"/>
                          <a:cs typeface="Ubuntu Mono"/>
                          <a:sym typeface="Ubuntu Mono"/>
                        </a:rPr>
                        <a:t>Rotary speed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9"/>
                        </a:lnSpc>
                      </a:pPr>
                      <a:r>
                        <a:rPr sz="660" b="0">
                          <a:solidFill>
                            <a:srgbClr val="000000"/>
                          </a:solidFill>
                          <a:latin typeface="Ubuntu Mono"/>
                          <a:ea typeface="Ubuntu Mono"/>
                          <a:cs typeface="Ubuntu Mono"/>
                          <a:sym typeface="Ubuntu Mono"/>
                        </a:rPr>
                        <a:t>60 - 80 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90500">
                <a:tc>
                  <a:txBody>
                    <a:bodyPr wrap="square"/>
                    <a:lstStyle/>
                    <a:p>
                      <a:pPr algn="l">
                        <a:lnSpc>
                          <a:spcPts val="819"/>
                        </a:lnSpc>
                      </a:pPr>
                      <a:r>
                        <a:rPr sz="660" b="0">
                          <a:solidFill>
                            <a:srgbClr val="FEFEFF"/>
                          </a:solidFill>
                          <a:latin typeface="Ubuntu Mono"/>
                          <a:ea typeface="Ubuntu Mono"/>
                          <a:cs typeface="Ubuntu Mono"/>
                          <a:sym typeface="Ubuntu Mono"/>
                        </a:rPr>
                        <a:t>Weight on shoe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9"/>
                        </a:lnSpc>
                      </a:pPr>
                      <a:r>
                        <a:rPr sz="660" b="0">
                          <a:solidFill>
                            <a:srgbClr val="000000"/>
                          </a:solidFill>
                          <a:latin typeface="Ubuntu Mono"/>
                          <a:ea typeface="Ubuntu Mono"/>
                          <a:cs typeface="Ubuntu Mono"/>
                          <a:sym typeface="Ubuntu Mono"/>
                        </a:rPr>
                        <a:t>2,000 - 6,000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90500">
                <a:tc>
                  <a:txBody>
                    <a:bodyPr wrap="square"/>
                    <a:lstStyle/>
                    <a:p>
                      <a:pPr algn="l">
                        <a:lnSpc>
                          <a:spcPts val="819"/>
                        </a:lnSpc>
                      </a:pPr>
                      <a:r>
                        <a:rPr sz="660" b="0">
                          <a:solidFill>
                            <a:srgbClr val="FEFEFF"/>
                          </a:solidFill>
                          <a:latin typeface="Ubuntu Mono"/>
                          <a:ea typeface="Ubuntu Mono"/>
                          <a:cs typeface="Ubuntu Mono"/>
                          <a:sym typeface="Ubuntu Mono"/>
                        </a:rPr>
                        <a:t>Technique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9"/>
                        </a:lnSpc>
                      </a:pPr>
                      <a:r>
                        <a:rPr sz="660" b="0">
                          <a:solidFill>
                            <a:srgbClr val="000000"/>
                          </a:solidFill>
                          <a:latin typeface="Ubuntu Mono"/>
                          <a:ea typeface="Ubuntu Mono"/>
                          <a:cs typeface="Ubuntu Mono"/>
                          <a:sym typeface="Ubuntu Mono"/>
                        </a:rPr>
                        <a:t>Pick up from time to time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9" name="TextBox 28"/>
          <p:cNvSpPr txBox="1"/>
          <p:nvPr/>
        </p:nvSpPr>
        <p:spPr>
          <a:xfrm>
            <a:off x="4724400" y="7010400"/>
            <a:ext cx="2159000" cy="381000"/>
          </a:xfrm>
          <a:prstGeom prst="rect">
            <a:avLst/>
          </a:prstGeom>
          <a:noFill/>
        </p:spPr>
        <p:txBody>
          <a:bodyPr wrap="square" lIns="0" rIns="0" tIns="0" bIns="0">
            <a:spAutoFit/>
          </a:bodyPr>
          <a:lstStyle/>
          <a:p>
            <a:pPr algn="l">
              <a:lnSpc>
                <a:spcPts val="740"/>
              </a:lnSpc>
              <a:spcAft>
                <a:spcPts val="0"/>
              </a:spcAft>
            </a:pPr>
            <a:r>
              <a:rPr sz="620" b="0">
                <a:solidFill>
                  <a:srgbClr val="444444"/>
                </a:solidFill>
                <a:latin typeface="Ubuntu Mono"/>
                <a:ea typeface="Ubuntu Mono"/>
                <a:cs typeface="Ubuntu Mono"/>
                <a:sym typeface="Ubuntu Mono"/>
              </a:rPr>
              <a:t>Guideline values for washover shoes; adjust to the formation and the fish.</a:t>
            </a:r>
          </a:p>
        </p:txBody>
      </p:sp>
      <p:sp>
        <p:nvSpPr>
          <p:cNvPr id="30" name="TextBox 29"/>
          <p:cNvSpPr txBox="1"/>
          <p:nvPr/>
        </p:nvSpPr>
        <p:spPr>
          <a:xfrm>
            <a:off x="711200" y="8382000"/>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MAIN APPLICATIONS</a:t>
            </a:r>
          </a:p>
        </p:txBody>
      </p:sp>
      <p:sp>
        <p:nvSpPr>
          <p:cNvPr id="31" name="TextBox 30"/>
          <p:cNvSpPr txBox="1"/>
          <p:nvPr/>
        </p:nvSpPr>
        <p:spPr>
          <a:xfrm>
            <a:off x="711200" y="8585200"/>
            <a:ext cx="3022600" cy="127000"/>
          </a:xfrm>
          <a:prstGeom prst="rect">
            <a:avLst/>
          </a:prstGeom>
          <a:noFill/>
        </p:spPr>
        <p:txBody>
          <a:bodyPr wrap="square" lIns="0" rIns="0" tIns="0" bIns="0">
            <a:spAutoFit/>
          </a:bodyPr>
          <a:lstStyle/>
          <a:p>
            <a:pPr algn="l">
              <a:lnSpc>
                <a:spcPts val="900"/>
              </a:lnSpc>
              <a:spcAft>
                <a:spcPts val="220"/>
              </a:spcAft>
            </a:pPr>
            <a:r>
              <a:rPr sz="560" b="0">
                <a:solidFill>
                  <a:srgbClr val="01ADEE"/>
                </a:solidFill>
                <a:latin typeface="Ubuntu Mono"/>
                <a:ea typeface="Ubuntu Mono"/>
                <a:cs typeface="Ubuntu Mono"/>
                <a:sym typeface="Ubuntu Mono"/>
              </a:rPr>
              <a:t>■ </a:t>
            </a:r>
            <a:r>
              <a:rPr sz="710" b="0">
                <a:solidFill>
                  <a:srgbClr val="000000"/>
                </a:solidFill>
                <a:latin typeface="Ubuntu Mono"/>
                <a:ea typeface="Ubuntu Mono"/>
                <a:cs typeface="Ubuntu Mono"/>
                <a:sym typeface="Ubuntu Mono"/>
              </a:rPr>
              <a:t>Recovering stuck drill pipe, tubing or casing.</a:t>
            </a:r>
          </a:p>
          <a:p>
            <a:pPr algn="l">
              <a:lnSpc>
                <a:spcPts val="900"/>
              </a:lnSpc>
              <a:spcAft>
                <a:spcPts val="220"/>
              </a:spcAft>
            </a:pPr>
            <a:r>
              <a:rPr sz="560" b="0">
                <a:solidFill>
                  <a:srgbClr val="01ADEE"/>
                </a:solidFill>
                <a:latin typeface="Ubuntu Mono"/>
                <a:ea typeface="Ubuntu Mono"/>
                <a:cs typeface="Ubuntu Mono"/>
                <a:sym typeface="Ubuntu Mono"/>
              </a:rPr>
              <a:t>■ </a:t>
            </a:r>
            <a:r>
              <a:rPr sz="710" b="0">
                <a:solidFill>
                  <a:srgbClr val="000000"/>
                </a:solidFill>
                <a:latin typeface="Ubuntu Mono"/>
                <a:ea typeface="Ubuntu Mono"/>
                <a:cs typeface="Ubuntu Mono"/>
                <a:sym typeface="Ubuntu Mono"/>
              </a:rPr>
              <a:t>Clearing wellbore restrictions caused by collapsed formations or debris.</a:t>
            </a:r>
          </a:p>
          <a:p>
            <a:pPr algn="l">
              <a:lnSpc>
                <a:spcPts val="900"/>
              </a:lnSpc>
              <a:spcAft>
                <a:spcPts val="220"/>
              </a:spcAft>
            </a:pPr>
            <a:r>
              <a:rPr sz="560" b="0">
                <a:solidFill>
                  <a:srgbClr val="01ADEE"/>
                </a:solidFill>
                <a:latin typeface="Ubuntu Mono"/>
                <a:ea typeface="Ubuntu Mono"/>
                <a:cs typeface="Ubuntu Mono"/>
                <a:sym typeface="Ubuntu Mono"/>
              </a:rPr>
              <a:t>■ </a:t>
            </a:r>
            <a:r>
              <a:rPr sz="710" b="0">
                <a:solidFill>
                  <a:srgbClr val="000000"/>
                </a:solidFill>
                <a:latin typeface="Ubuntu Mono"/>
                <a:ea typeface="Ubuntu Mono"/>
                <a:cs typeface="Ubuntu Mono"/>
                <a:sym typeface="Ubuntu Mono"/>
              </a:rPr>
              <a:t>Assisting fishing operations with a clean passage around stuck equipment.</a:t>
            </a:r>
          </a:p>
        </p:txBody>
      </p:sp>
      <p:sp>
        <p:nvSpPr>
          <p:cNvPr id="32" name="TextBox 31"/>
          <p:cNvSpPr txBox="1"/>
          <p:nvPr/>
        </p:nvSpPr>
        <p:spPr>
          <a:xfrm>
            <a:off x="3810000" y="838200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FEATURES</a:t>
            </a:r>
          </a:p>
        </p:txBody>
      </p:sp>
      <p:sp>
        <p:nvSpPr>
          <p:cNvPr id="33" name="TextBox 32"/>
          <p:cNvSpPr txBox="1"/>
          <p:nvPr/>
        </p:nvSpPr>
        <p:spPr>
          <a:xfrm>
            <a:off x="3810000" y="8585200"/>
            <a:ext cx="3035300" cy="127000"/>
          </a:xfrm>
          <a:prstGeom prst="rect">
            <a:avLst/>
          </a:prstGeom>
          <a:noFill/>
        </p:spPr>
        <p:txBody>
          <a:bodyPr wrap="square" lIns="0" rIns="0" tIns="0" bIns="0">
            <a:spAutoFit/>
          </a:bodyPr>
          <a:lstStyle/>
          <a:p>
            <a:pPr algn="l">
              <a:lnSpc>
                <a:spcPts val="900"/>
              </a:lnSpc>
              <a:spcAft>
                <a:spcPts val="220"/>
              </a:spcAft>
            </a:pPr>
            <a:r>
              <a:rPr sz="560" b="0">
                <a:solidFill>
                  <a:srgbClr val="01ADEE"/>
                </a:solidFill>
                <a:latin typeface="Ubuntu Mono"/>
                <a:ea typeface="Ubuntu Mono"/>
                <a:cs typeface="Ubuntu Mono"/>
                <a:sym typeface="Ubuntu Mono"/>
              </a:rPr>
              <a:t>■ </a:t>
            </a:r>
            <a:r>
              <a:rPr sz="710" b="0">
                <a:solidFill>
                  <a:srgbClr val="000000"/>
                </a:solidFill>
                <a:latin typeface="Ubuntu Mono"/>
                <a:ea typeface="Ubuntu Mono"/>
                <a:cs typeface="Ubuntu Mono"/>
                <a:sym typeface="Ubuntu Mono"/>
              </a:rPr>
              <a:t>Cutting edge designed for efficient material removal.</a:t>
            </a:r>
          </a:p>
          <a:p>
            <a:pPr algn="l">
              <a:lnSpc>
                <a:spcPts val="900"/>
              </a:lnSpc>
              <a:spcAft>
                <a:spcPts val="220"/>
              </a:spcAft>
            </a:pPr>
            <a:r>
              <a:rPr sz="560" b="0">
                <a:solidFill>
                  <a:srgbClr val="01ADEE"/>
                </a:solidFill>
                <a:latin typeface="Ubuntu Mono"/>
                <a:ea typeface="Ubuntu Mono"/>
                <a:cs typeface="Ubuntu Mono"/>
                <a:sym typeface="Ubuntu Mono"/>
              </a:rPr>
              <a:t>■ </a:t>
            </a:r>
            <a:r>
              <a:rPr sz="710" b="0">
                <a:solidFill>
                  <a:srgbClr val="000000"/>
                </a:solidFill>
                <a:latin typeface="Ubuntu Mono"/>
                <a:ea typeface="Ubuntu Mono"/>
                <a:cs typeface="Ubuntu Mono"/>
                <a:sym typeface="Ubuntu Mono"/>
              </a:rPr>
              <a:t>Many sizes to match casing and tubing diameters.</a:t>
            </a:r>
          </a:p>
          <a:p>
            <a:pPr algn="l">
              <a:lnSpc>
                <a:spcPts val="900"/>
              </a:lnSpc>
              <a:spcAft>
                <a:spcPts val="220"/>
              </a:spcAft>
            </a:pPr>
            <a:r>
              <a:rPr sz="560" b="0">
                <a:solidFill>
                  <a:srgbClr val="01ADEE"/>
                </a:solidFill>
                <a:latin typeface="Ubuntu Mono"/>
                <a:ea typeface="Ubuntu Mono"/>
                <a:cs typeface="Ubuntu Mono"/>
                <a:sym typeface="Ubuntu Mono"/>
              </a:rPr>
              <a:t>■ </a:t>
            </a:r>
            <a:r>
              <a:rPr sz="710" b="0">
                <a:solidFill>
                  <a:srgbClr val="000000"/>
                </a:solidFill>
                <a:latin typeface="Ubuntu Mono"/>
                <a:ea typeface="Ubuntu Mono"/>
                <a:cs typeface="Ubuntu Mono"/>
                <a:sym typeface="Ubuntu Mono"/>
              </a:rPr>
              <a:t>Hardfaced or carbide-enhanced surfaces for durability and cutting efficiency.</a:t>
            </a:r>
          </a:p>
          <a:p>
            <a:pPr algn="l">
              <a:lnSpc>
                <a:spcPts val="900"/>
              </a:lnSpc>
              <a:spcAft>
                <a:spcPts val="220"/>
              </a:spcAft>
            </a:pPr>
            <a:r>
              <a:rPr sz="560" b="0">
                <a:solidFill>
                  <a:srgbClr val="01ADEE"/>
                </a:solidFill>
                <a:latin typeface="Ubuntu Mono"/>
                <a:ea typeface="Ubuntu Mono"/>
                <a:cs typeface="Ubuntu Mono"/>
                <a:sym typeface="Ubuntu Mono"/>
              </a:rPr>
              <a:t>■ </a:t>
            </a:r>
            <a:r>
              <a:rPr sz="710" b="0">
                <a:solidFill>
                  <a:srgbClr val="000000"/>
                </a:solidFill>
                <a:latin typeface="Ubuntu Mono"/>
                <a:ea typeface="Ubuntu Mono"/>
                <a:cs typeface="Ubuntu Mono"/>
                <a:sym typeface="Ubuntu Mono"/>
              </a:rPr>
              <a:t>Optimised fluid ports to keep circulation and carry debris away.</a:t>
            </a:r>
          </a:p>
          <a:p>
            <a:pPr algn="l">
              <a:lnSpc>
                <a:spcPts val="900"/>
              </a:lnSpc>
              <a:spcAft>
                <a:spcPts val="220"/>
              </a:spcAft>
            </a:pPr>
            <a:r>
              <a:rPr sz="560" b="0">
                <a:solidFill>
                  <a:srgbClr val="01ADEE"/>
                </a:solidFill>
                <a:latin typeface="Ubuntu Mono"/>
                <a:ea typeface="Ubuntu Mono"/>
                <a:cs typeface="Ubuntu Mono"/>
                <a:sym typeface="Ubuntu Mono"/>
              </a:rPr>
              <a:t>■ </a:t>
            </a:r>
            <a:r>
              <a:rPr sz="710" b="0">
                <a:solidFill>
                  <a:srgbClr val="000000"/>
                </a:solidFill>
                <a:latin typeface="Ubuntu Mono"/>
                <a:ea typeface="Ubuntu Mono"/>
                <a:cs typeface="Ubuntu Mono"/>
                <a:sym typeface="Ubuntu Mono"/>
              </a:rPr>
              <a:t>Compatible with various thread connections.</a:t>
            </a:r>
          </a:p>
        </p:txBody>
      </p:sp>
      <p:sp>
        <p:nvSpPr>
          <p:cNvPr id="34" name="TextBox 33"/>
          <p:cNvSpPr txBox="1"/>
          <p:nvPr/>
        </p:nvSpPr>
        <p:spPr>
          <a:xfrm>
            <a:off x="711200" y="97028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5" name="TextBox 34"/>
          <p:cNvSpPr txBox="1"/>
          <p:nvPr/>
        </p:nvSpPr>
        <p:spPr>
          <a:xfrm>
            <a:off x="711200" y="9906000"/>
            <a:ext cx="6134100" cy="304800"/>
          </a:xfrm>
          <a:prstGeom prst="rect">
            <a:avLst/>
          </a:prstGeom>
          <a:noFill/>
        </p:spPr>
        <p:txBody>
          <a:bodyPr wrap="square" lIns="0" rIns="0" tIns="0" bIns="0">
            <a:spAutoFit/>
          </a:bodyPr>
          <a:lstStyle/>
          <a:p>
            <a:pPr algn="just">
              <a:lnSpc>
                <a:spcPts val="860"/>
              </a:lnSpc>
              <a:spcAft>
                <a:spcPts val="0"/>
              </a:spcAft>
            </a:pPr>
            <a:r>
              <a:rPr sz="690" b="0">
                <a:solidFill>
                  <a:srgbClr val="000000"/>
                </a:solidFill>
                <a:latin typeface="Ubuntu Mono"/>
                <a:ea typeface="Ubuntu Mono"/>
                <a:cs typeface="Ubuntu Mono"/>
                <a:sym typeface="Ubuntu Mono"/>
              </a:rPr>
              <a:t>Please specify: 1. shoe OD and style  2. cutting surface (hardfacing or carbide inserts)  3. connection to the washover string  4. washover extensions, pipes and top subs required.</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RTU</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ENLARGEMENT</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ROCK-TYPE UNDERREAMER</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RUGGED THREE-CONE UNDERREAMER THAT ENLARGES A HOLE TO NEARLY TWICE ITS OWN BODY DIAMETER. A WIDE RANGE OF CONE TYPES MATCHES THE CUTTER TO THE FORMATION, AND A CHOICE OF ORIFICE SIZES TAILORS PERFORMANCE TO THE RIG HYDRAULICS. THE TOOL CAN BE SERVICED ON LOCATION, THE CUTTER ARMS ARE CHANGED QUICKLY ON THE RIG FLOOR, AND FULL CIRCULATION IS KEPT AT ALL TIMES WITH WATER, MUD, AIR, AERATED MUD OR FOAM.</a:t>
            </a:r>
          </a:p>
        </p:txBody>
      </p:sp>
      <p:sp>
        <p:nvSpPr>
          <p:cNvPr id="21" name="TextBox 20"/>
          <p:cNvSpPr txBox="1"/>
          <p:nvPr/>
        </p:nvSpPr>
        <p:spPr>
          <a:xfrm>
            <a:off x="711200" y="48260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029200"/>
          <a:ext cx="6134094" cy="2217420"/>
        </p:xfrm>
        <a:graphic>
          <a:graphicData uri="http://schemas.openxmlformats.org/drawingml/2006/table">
            <a:tbl>
              <a:tblPr/>
              <a:tblGrid>
                <a:gridCol w="503827"/>
                <a:gridCol w="604593"/>
                <a:gridCol w="654975"/>
                <a:gridCol w="453444"/>
                <a:gridCol w="478636"/>
                <a:gridCol w="730549"/>
                <a:gridCol w="529018"/>
                <a:gridCol w="529018"/>
                <a:gridCol w="503827"/>
                <a:gridCol w="705358"/>
                <a:gridCol w="440849"/>
              </a:tblGrid>
              <a:tr h="368300">
                <a:tc>
                  <a:txBody>
                    <a:bodyPr wrap="square"/>
                    <a:lstStyle/>
                    <a:p>
                      <a:pPr algn="ctr">
                        <a:lnSpc>
                          <a:spcPts val="880"/>
                        </a:lnSpc>
                      </a:pPr>
                      <a:r>
                        <a:rPr sz="720" b="1">
                          <a:solidFill>
                            <a:srgbClr val="FEFEFF"/>
                          </a:solidFill>
                          <a:latin typeface="Ubuntu Mono"/>
                          <a:ea typeface="Ubuntu Mono"/>
                          <a:cs typeface="Ubuntu Mono"/>
                          <a:sym typeface="Ubuntu Mono"/>
                        </a:rPr>
                        <a:t>Tool series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Std. opening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Optional opening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Body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Collapsed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Through casing Ø x lb/ft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Fishing neck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Fishing neck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Overall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Top pin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Wt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3600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4-3/4 - 6-1/2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 x 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26-1/2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175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4500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6-1/2, 8-1/2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6 - 9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5-1/2 x 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235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5700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8 - 11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 x 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76-1/2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5800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8 - 11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5-7/8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5-7/8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 x 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76-1/2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6000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11 - 12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 x 26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78-1/2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6100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11 - 12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 x 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78-1/2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6200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11 - 13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 x 17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78-1/2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7200*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9 - 14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8-5/8 x 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775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8200*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10 - 16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9-5/8 x 47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5-3/4 or 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 or 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9500*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17-1/2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13 - 18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10-3/4 x 45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11700*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17-1/2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14-3/4 - 22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13-3/8 x 68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1,670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15000 LP*</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26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17-1/2 - 30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16 x 75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 or 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 or 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22000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32 - 40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32 - 40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24-1/2 x 113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 or 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124-1/4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7-5/8 or 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5,900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3" name="TextBox 22"/>
          <p:cNvSpPr txBox="1"/>
          <p:nvPr/>
        </p:nvSpPr>
        <p:spPr>
          <a:xfrm>
            <a:off x="711200" y="7284720"/>
            <a:ext cx="6134100" cy="114300"/>
          </a:xfrm>
          <a:prstGeom prst="rect">
            <a:avLst/>
          </a:prstGeom>
          <a:noFill/>
        </p:spPr>
        <p:txBody>
          <a:bodyPr wrap="square" lIns="0" rIns="0" tIns="0" bIns="0">
            <a:spAutoFit/>
          </a:bodyPr>
          <a:lstStyle/>
          <a:p>
            <a:pPr algn="l">
              <a:spcAft>
                <a:spcPts val="0"/>
              </a:spcAft>
            </a:pPr>
            <a:r>
              <a:rPr sz="640" b="0">
                <a:solidFill>
                  <a:srgbClr val="444444"/>
                </a:solidFill>
                <a:latin typeface="Ubuntu Mono"/>
                <a:ea typeface="Ubuntu Mono"/>
                <a:cs typeface="Ubuntu Mono"/>
                <a:sym typeface="Ubuntu Mono"/>
              </a:rPr>
              <a:t>* Available with PDC Bearclaw cutters. Dimensions in inches, weights in lb (approximate). Optional opening diameters on request.</a:t>
            </a:r>
          </a:p>
        </p:txBody>
      </p:sp>
      <p:pic>
        <p:nvPicPr>
          <p:cNvPr id="24" name="Picture 23" descr="rtu_tool_blue.png"/>
          <p:cNvPicPr>
            <a:picLocks noChangeAspect="1"/>
          </p:cNvPicPr>
          <p:nvPr/>
        </p:nvPicPr>
        <p:blipFill>
          <a:blip r:embed="rId4"/>
          <a:stretch>
            <a:fillRect/>
          </a:stretch>
        </p:blipFill>
        <p:spPr>
          <a:xfrm>
            <a:off x="711200" y="7493000"/>
            <a:ext cx="617564" cy="2997200"/>
          </a:xfrm>
          <a:prstGeom prst="rect">
            <a:avLst/>
          </a:prstGeom>
        </p:spPr>
      </p:pic>
      <p:sp>
        <p:nvSpPr>
          <p:cNvPr id="25" name="TextBox 24"/>
          <p:cNvSpPr txBox="1"/>
          <p:nvPr/>
        </p:nvSpPr>
        <p:spPr>
          <a:xfrm>
            <a:off x="1498600" y="7467600"/>
            <a:ext cx="2413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6" name="TextBox 25"/>
          <p:cNvSpPr txBox="1"/>
          <p:nvPr/>
        </p:nvSpPr>
        <p:spPr>
          <a:xfrm>
            <a:off x="1498600" y="7670800"/>
            <a:ext cx="2413000" cy="127000"/>
          </a:xfrm>
          <a:prstGeom prst="rect">
            <a:avLst/>
          </a:prstGeom>
          <a:noFill/>
        </p:spPr>
        <p:txBody>
          <a:bodyPr wrap="square" lIns="0" rIns="0" tIns="0" bIns="0">
            <a:spAutoFit/>
          </a:bodyPr>
          <a:lstStyle/>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Three-cone cutters: </a:t>
            </a:r>
            <a:r>
              <a:rPr sz="700" b="0">
                <a:solidFill>
                  <a:srgbClr val="000000"/>
                </a:solidFill>
                <a:latin typeface="Ubuntu Mono"/>
                <a:ea typeface="Ubuntu Mono"/>
                <a:cs typeface="Ubuntu Mono"/>
                <a:sym typeface="Ubuntu Mono"/>
              </a:rPr>
              <a:t>enlarges to almost twice the body diameter.</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Cutter options: </a:t>
            </a:r>
            <a:r>
              <a:rPr sz="700" b="0">
                <a:solidFill>
                  <a:srgbClr val="000000"/>
                </a:solidFill>
                <a:latin typeface="Ubuntu Mono"/>
                <a:ea typeface="Ubuntu Mono"/>
                <a:cs typeface="Ubuntu Mono"/>
                <a:sym typeface="Ubuntu Mono"/>
              </a:rPr>
              <a:t>milled tooth, TCI or PDC Bearclaw cutting structures.</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Tailored hydraulics: </a:t>
            </a:r>
            <a:r>
              <a:rPr sz="700" b="0">
                <a:solidFill>
                  <a:srgbClr val="000000"/>
                </a:solidFill>
                <a:latin typeface="Ubuntu Mono"/>
                <a:ea typeface="Ubuntu Mono"/>
                <a:cs typeface="Ubuntu Mono"/>
                <a:sym typeface="Ubuntu Mono"/>
              </a:rPr>
              <a:t>orifice sizes selected to suit the rig conditions.</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Full circulation: </a:t>
            </a:r>
            <a:r>
              <a:rPr sz="700" b="0">
                <a:solidFill>
                  <a:srgbClr val="000000"/>
                </a:solidFill>
                <a:latin typeface="Ubuntu Mono"/>
                <a:ea typeface="Ubuntu Mono"/>
                <a:cs typeface="Ubuntu Mono"/>
                <a:sym typeface="Ubuntu Mono"/>
              </a:rPr>
              <a:t>constant flow volume through the tool.</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Field serviceable: </a:t>
            </a:r>
            <a:r>
              <a:rPr sz="700" b="0">
                <a:solidFill>
                  <a:srgbClr val="000000"/>
                </a:solidFill>
                <a:latin typeface="Ubuntu Mono"/>
                <a:ea typeface="Ubuntu Mono"/>
                <a:cs typeface="Ubuntu Mono"/>
                <a:sym typeface="Ubuntu Mono"/>
              </a:rPr>
              <a:t>serviced on location; arms swapped on the rig floor.</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Optional Flo-Tel: </a:t>
            </a:r>
            <a:r>
              <a:rPr sz="700" b="0">
                <a:solidFill>
                  <a:srgbClr val="000000"/>
                </a:solidFill>
                <a:latin typeface="Ubuntu Mono"/>
                <a:ea typeface="Ubuntu Mono"/>
                <a:cs typeface="Ubuntu Mono"/>
                <a:sym typeface="Ubuntu Mono"/>
              </a:rPr>
              <a:t>pump pressure drops 200 - 250 psi once the arms are fully extended, confirming full gauge and avoiding second trips.</a:t>
            </a:r>
          </a:p>
        </p:txBody>
      </p:sp>
      <p:sp>
        <p:nvSpPr>
          <p:cNvPr id="27" name="TextBox 26"/>
          <p:cNvSpPr txBox="1"/>
          <p:nvPr/>
        </p:nvSpPr>
        <p:spPr>
          <a:xfrm>
            <a:off x="1498600" y="9474200"/>
            <a:ext cx="2413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OPERATING NOTES</a:t>
            </a:r>
          </a:p>
        </p:txBody>
      </p:sp>
      <p:sp>
        <p:nvSpPr>
          <p:cNvPr id="28" name="TextBox 27"/>
          <p:cNvSpPr txBox="1"/>
          <p:nvPr/>
        </p:nvSpPr>
        <p:spPr>
          <a:xfrm>
            <a:off x="1498600" y="9677400"/>
            <a:ext cx="2413000" cy="127000"/>
          </a:xfrm>
          <a:prstGeom prst="rect">
            <a:avLst/>
          </a:prstGeom>
          <a:noFill/>
        </p:spPr>
        <p:txBody>
          <a:bodyPr wrap="square" lIns="0" rIns="0" tIns="0" bIns="0">
            <a:spAutoFit/>
          </a:bodyPr>
          <a:lstStyle/>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Running in: </a:t>
            </a:r>
            <a:r>
              <a:rPr sz="700" b="0">
                <a:solidFill>
                  <a:srgbClr val="000000"/>
                </a:solidFill>
                <a:latin typeface="Ubuntu Mono"/>
                <a:ea typeface="Ubuntu Mono"/>
                <a:cs typeface="Ubuntu Mono"/>
                <a:sym typeface="Ubuntu Mono"/>
              </a:rPr>
              <a:t>go slowly at the top of the section; surge pressure can open the arms and damage casing.</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Rate of penetration: </a:t>
            </a:r>
            <a:r>
              <a:rPr sz="700" b="0">
                <a:solidFill>
                  <a:srgbClr val="000000"/>
                </a:solidFill>
                <a:latin typeface="Ubuntu Mono"/>
                <a:ea typeface="Ubuntu Mono"/>
                <a:cs typeface="Ubuntu Mono"/>
                <a:sym typeface="Ubuntu Mono"/>
              </a:rPr>
              <a:t>keep below 100 ft/hr or the hole may not reach drift gauge.</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Dull cutters: </a:t>
            </a:r>
            <a:r>
              <a:rPr sz="700" b="0">
                <a:solidFill>
                  <a:srgbClr val="000000"/>
                </a:solidFill>
                <a:latin typeface="Ubuntu Mono"/>
                <a:ea typeface="Ubuntu Mono"/>
                <a:cs typeface="Ubuntu Mono"/>
                <a:sym typeface="Ubuntu Mono"/>
              </a:rPr>
              <a:t>pull at the first sign of dulling.</a:t>
            </a:r>
          </a:p>
        </p:txBody>
      </p:sp>
      <p:sp>
        <p:nvSpPr>
          <p:cNvPr id="29" name="TextBox 28"/>
          <p:cNvSpPr txBox="1"/>
          <p:nvPr/>
        </p:nvSpPr>
        <p:spPr>
          <a:xfrm>
            <a:off x="4089400" y="746760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PERFORMANCE PARAMETERS</a:t>
            </a:r>
          </a:p>
        </p:txBody>
      </p:sp>
      <p:graphicFrame>
        <p:nvGraphicFramePr>
          <p:cNvPr id="30" name="Table 29"/>
          <p:cNvGraphicFramePr>
            <a:graphicFrameLocks noGrp="1"/>
          </p:cNvGraphicFramePr>
          <p:nvPr/>
        </p:nvGraphicFramePr>
        <p:xfrm>
          <a:off x="4089400" y="7658100"/>
          <a:ext cx="2755900" cy="944880"/>
        </p:xfrm>
        <a:graphic>
          <a:graphicData uri="http://schemas.openxmlformats.org/drawingml/2006/table">
            <a:tbl>
              <a:tblPr/>
              <a:tblGrid>
                <a:gridCol w="1117600"/>
                <a:gridCol w="1638300"/>
              </a:tblGrid>
              <a:tr h="157480">
                <a:tc>
                  <a:txBody>
                    <a:bodyPr wrap="square"/>
                    <a:lstStyle/>
                    <a:p>
                      <a:pPr algn="l">
                        <a:lnSpc>
                          <a:spcPts val="810"/>
                        </a:lnSpc>
                      </a:pPr>
                      <a:r>
                        <a:rPr sz="650" b="0">
                          <a:solidFill>
                            <a:srgbClr val="FEFEFF"/>
                          </a:solidFill>
                          <a:latin typeface="Ubuntu Mono"/>
                          <a:ea typeface="Ubuntu Mono"/>
                          <a:cs typeface="Ubuntu Mono"/>
                          <a:sym typeface="Ubuntu Mono"/>
                        </a:rPr>
                        <a:t>Rpm to shoulder depth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0"/>
                        </a:lnSpc>
                      </a:pPr>
                      <a:r>
                        <a:rPr sz="650" b="0">
                          <a:solidFill>
                            <a:srgbClr val="000000"/>
                          </a:solidFill>
                          <a:latin typeface="Ubuntu Mono"/>
                          <a:ea typeface="Ubuntu Mono"/>
                          <a:cs typeface="Ubuntu Mono"/>
                          <a:sym typeface="Ubuntu Mono"/>
                        </a:rPr>
                        <a:t>30 - 50 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10"/>
                        </a:lnSpc>
                      </a:pPr>
                      <a:r>
                        <a:rPr sz="650" b="0">
                          <a:solidFill>
                            <a:srgbClr val="FEFEFF"/>
                          </a:solidFill>
                          <a:latin typeface="Ubuntu Mono"/>
                          <a:ea typeface="Ubuntu Mono"/>
                          <a:cs typeface="Ubuntu Mono"/>
                          <a:sym typeface="Ubuntu Mono"/>
                        </a:rPr>
                        <a:t>Rpm, cutting shoulder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0"/>
                        </a:lnSpc>
                      </a:pPr>
                      <a:r>
                        <a:rPr sz="650" b="0">
                          <a:solidFill>
                            <a:srgbClr val="000000"/>
                          </a:solidFill>
                          <a:latin typeface="Ubuntu Mono"/>
                          <a:ea typeface="Ubuntu Mono"/>
                          <a:cs typeface="Ubuntu Mono"/>
                          <a:sym typeface="Ubuntu Mono"/>
                        </a:rPr>
                        <a:t>80 - 150 rpm max.</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7480">
                <a:tc>
                  <a:txBody>
                    <a:bodyPr wrap="square"/>
                    <a:lstStyle/>
                    <a:p>
                      <a:pPr algn="l">
                        <a:lnSpc>
                          <a:spcPts val="810"/>
                        </a:lnSpc>
                      </a:pPr>
                      <a:r>
                        <a:rPr sz="650" b="0">
                          <a:solidFill>
                            <a:srgbClr val="FEFEFF"/>
                          </a:solidFill>
                          <a:latin typeface="Ubuntu Mono"/>
                          <a:ea typeface="Ubuntu Mono"/>
                          <a:cs typeface="Ubuntu Mono"/>
                          <a:sym typeface="Ubuntu Mono"/>
                        </a:rPr>
                        <a:t>Rpm, underreaming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0"/>
                        </a:lnSpc>
                      </a:pPr>
                      <a:r>
                        <a:rPr sz="650" b="0">
                          <a:solidFill>
                            <a:srgbClr val="000000"/>
                          </a:solidFill>
                          <a:latin typeface="Ubuntu Mono"/>
                          <a:ea typeface="Ubuntu Mono"/>
                          <a:cs typeface="Ubuntu Mono"/>
                          <a:sym typeface="Ubuntu Mono"/>
                        </a:rPr>
                        <a:t>80 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10"/>
                        </a:lnSpc>
                      </a:pPr>
                      <a:r>
                        <a:rPr sz="650" b="0">
                          <a:solidFill>
                            <a:srgbClr val="FEFEFF"/>
                          </a:solidFill>
                          <a:latin typeface="Ubuntu Mono"/>
                          <a:ea typeface="Ubuntu Mono"/>
                          <a:cs typeface="Ubuntu Mono"/>
                          <a:sym typeface="Ubuntu Mono"/>
                        </a:rPr>
                        <a:t>Weight on tool</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0"/>
                        </a:lnSpc>
                      </a:pPr>
                      <a:r>
                        <a:rPr sz="650" b="0">
                          <a:solidFill>
                            <a:srgbClr val="000000"/>
                          </a:solidFill>
                          <a:latin typeface="Ubuntu Mono"/>
                          <a:ea typeface="Ubuntu Mono"/>
                          <a:cs typeface="Ubuntu Mono"/>
                          <a:sym typeface="Ubuntu Mono"/>
                        </a:rPr>
                        <a:t>1,000 lb per in. of body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7480">
                <a:tc>
                  <a:txBody>
                    <a:bodyPr wrap="square"/>
                    <a:lstStyle/>
                    <a:p>
                      <a:pPr algn="l">
                        <a:lnSpc>
                          <a:spcPts val="810"/>
                        </a:lnSpc>
                      </a:pPr>
                      <a:r>
                        <a:rPr sz="650" b="0">
                          <a:solidFill>
                            <a:srgbClr val="FEFEFF"/>
                          </a:solidFill>
                          <a:latin typeface="Ubuntu Mono"/>
                          <a:ea typeface="Ubuntu Mono"/>
                          <a:cs typeface="Ubuntu Mono"/>
                          <a:sym typeface="Ubuntu Mono"/>
                        </a:rPr>
                        <a:t>With Flo-Tel</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0"/>
                        </a:lnSpc>
                      </a:pPr>
                      <a:r>
                        <a:rPr sz="650" b="0">
                          <a:solidFill>
                            <a:srgbClr val="000000"/>
                          </a:solidFill>
                          <a:latin typeface="Ubuntu Mono"/>
                          <a:ea typeface="Ubuntu Mono"/>
                          <a:cs typeface="Ubuntu Mono"/>
                          <a:sym typeface="Ubuntu Mono"/>
                        </a:rPr>
                        <a:t>80 - 150 rpm, max. pump pressure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10"/>
                        </a:lnSpc>
                      </a:pPr>
                      <a:r>
                        <a:rPr sz="650" b="0">
                          <a:solidFill>
                            <a:srgbClr val="FEFEFF"/>
                          </a:solidFill>
                          <a:latin typeface="Ubuntu Mono"/>
                          <a:ea typeface="Ubuntu Mono"/>
                          <a:cs typeface="Ubuntu Mono"/>
                          <a:sym typeface="Ubuntu Mono"/>
                        </a:rPr>
                        <a:t>Circulating medium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0"/>
                        </a:lnSpc>
                      </a:pPr>
                      <a:r>
                        <a:rPr sz="650" b="0">
                          <a:solidFill>
                            <a:srgbClr val="000000"/>
                          </a:solidFill>
                          <a:latin typeface="Ubuntu Mono"/>
                          <a:ea typeface="Ubuntu Mono"/>
                          <a:cs typeface="Ubuntu Mono"/>
                          <a:sym typeface="Ubuntu Mono"/>
                        </a:rPr>
                        <a:t>Water, mud, air, foam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31" name="TextBox 30"/>
          <p:cNvSpPr txBox="1"/>
          <p:nvPr/>
        </p:nvSpPr>
        <p:spPr>
          <a:xfrm>
            <a:off x="4089400" y="872998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CUTTING THE SHOULDER</a:t>
            </a:r>
          </a:p>
        </p:txBody>
      </p:sp>
      <p:sp>
        <p:nvSpPr>
          <p:cNvPr id="32" name="TextBox 31"/>
          <p:cNvSpPr txBox="1"/>
          <p:nvPr/>
        </p:nvSpPr>
        <p:spPr>
          <a:xfrm>
            <a:off x="4089400" y="8933180"/>
            <a:ext cx="2755900" cy="127000"/>
          </a:xfrm>
          <a:prstGeom prst="rect">
            <a:avLst/>
          </a:prstGeom>
          <a:noFill/>
        </p:spPr>
        <p:txBody>
          <a:bodyPr wrap="square" lIns="0" rIns="0" tIns="0" bIns="0">
            <a:spAutoFit/>
          </a:bodyPr>
          <a:lstStyle/>
          <a:p>
            <a:pPr algn="l">
              <a:lnSpc>
                <a:spcPts val="840"/>
              </a:lnSpc>
              <a:spcAft>
                <a:spcPts val="150"/>
              </a:spcAft>
            </a:pPr>
            <a:r>
              <a:rPr sz="530" b="0">
                <a:solidFill>
                  <a:srgbClr val="01ADEE"/>
                </a:solidFill>
                <a:latin typeface="Ubuntu Mono"/>
                <a:ea typeface="Ubuntu Mono"/>
                <a:cs typeface="Ubuntu Mono"/>
                <a:sym typeface="Ubuntu Mono"/>
              </a:rPr>
              <a:t>■ </a:t>
            </a:r>
            <a:r>
              <a:rPr sz="680" b="1">
                <a:solidFill>
                  <a:srgbClr val="000000"/>
                </a:solidFill>
                <a:latin typeface="Ubuntu Mono"/>
                <a:ea typeface="Ubuntu Mono"/>
                <a:cs typeface="Ubuntu Mono"/>
                <a:sym typeface="Ubuntu Mono"/>
              </a:rPr>
              <a:t>Start: </a:t>
            </a:r>
            <a:r>
              <a:rPr sz="680" b="0">
                <a:solidFill>
                  <a:srgbClr val="000000"/>
                </a:solidFill>
                <a:latin typeface="Ubuntu Mono"/>
                <a:ea typeface="Ubuntu Mono"/>
                <a:cs typeface="Ubuntu Mono"/>
                <a:sym typeface="Ubuntu Mono"/>
              </a:rPr>
              <a:t>establish flow, rotate at 80 - 150 rpm and drill off slowly for 5 - 10 minutes.</a:t>
            </a:r>
          </a:p>
          <a:p>
            <a:pPr algn="l">
              <a:lnSpc>
                <a:spcPts val="840"/>
              </a:lnSpc>
              <a:spcAft>
                <a:spcPts val="150"/>
              </a:spcAft>
            </a:pPr>
            <a:r>
              <a:rPr sz="530" b="0">
                <a:solidFill>
                  <a:srgbClr val="01ADEE"/>
                </a:solidFill>
                <a:latin typeface="Ubuntu Mono"/>
                <a:ea typeface="Ubuntu Mono"/>
                <a:cs typeface="Ubuntu Mono"/>
                <a:sym typeface="Ubuntu Mono"/>
              </a:rPr>
              <a:t>■ </a:t>
            </a:r>
            <a:r>
              <a:rPr sz="680" b="1">
                <a:solidFill>
                  <a:srgbClr val="000000"/>
                </a:solidFill>
                <a:latin typeface="Ubuntu Mono"/>
                <a:ea typeface="Ubuntu Mono"/>
                <a:cs typeface="Ubuntu Mono"/>
                <a:sym typeface="Ubuntu Mono"/>
              </a:rPr>
              <a:t>Open the arms: </a:t>
            </a:r>
            <a:r>
              <a:rPr sz="680" b="0">
                <a:solidFill>
                  <a:srgbClr val="000000"/>
                </a:solidFill>
                <a:latin typeface="Ubuntu Mono"/>
                <a:ea typeface="Ubuntu Mono"/>
                <a:cs typeface="Ubuntu Mono"/>
                <a:sym typeface="Ubuntu Mono"/>
              </a:rPr>
              <a:t>lift off with the pump on and repeat to be sure they are fully open.</a:t>
            </a:r>
          </a:p>
          <a:p>
            <a:pPr algn="l">
              <a:lnSpc>
                <a:spcPts val="840"/>
              </a:lnSpc>
              <a:spcAft>
                <a:spcPts val="150"/>
              </a:spcAft>
            </a:pPr>
            <a:r>
              <a:rPr sz="530" b="0">
                <a:solidFill>
                  <a:srgbClr val="01ADEE"/>
                </a:solidFill>
                <a:latin typeface="Ubuntu Mono"/>
                <a:ea typeface="Ubuntu Mono"/>
                <a:cs typeface="Ubuntu Mono"/>
                <a:sym typeface="Ubuntu Mono"/>
              </a:rPr>
              <a:t>■ </a:t>
            </a:r>
            <a:r>
              <a:rPr sz="680" b="1">
                <a:solidFill>
                  <a:srgbClr val="000000"/>
                </a:solidFill>
                <a:latin typeface="Ubuntu Mono"/>
                <a:ea typeface="Ubuntu Mono"/>
                <a:cs typeface="Ubuntu Mono"/>
                <a:sym typeface="Ubuntu Mono"/>
              </a:rPr>
              <a:t>Shoulder reached: </a:t>
            </a:r>
            <a:r>
              <a:rPr sz="680" b="0">
                <a:solidFill>
                  <a:srgbClr val="000000"/>
                </a:solidFill>
                <a:latin typeface="Ubuntu Mono"/>
                <a:ea typeface="Ubuntu Mono"/>
                <a:cs typeface="Ubuntu Mono"/>
                <a:sym typeface="Ubuntu Mono"/>
              </a:rPr>
              <a:t>weight starts to register, then add weight to underream.</a:t>
            </a:r>
          </a:p>
        </p:txBody>
      </p:sp>
      <p:sp>
        <p:nvSpPr>
          <p:cNvPr id="33" name="TextBox 32"/>
          <p:cNvSpPr txBox="1"/>
          <p:nvPr/>
        </p:nvSpPr>
        <p:spPr>
          <a:xfrm>
            <a:off x="4089400" y="991108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4" name="TextBox 33"/>
          <p:cNvSpPr txBox="1"/>
          <p:nvPr/>
        </p:nvSpPr>
        <p:spPr>
          <a:xfrm>
            <a:off x="4089400" y="10101580"/>
            <a:ext cx="2755900" cy="508000"/>
          </a:xfrm>
          <a:prstGeom prst="rect">
            <a:avLst/>
          </a:prstGeom>
          <a:noFill/>
        </p:spPr>
        <p:txBody>
          <a:bodyPr wrap="square" lIns="0" rIns="0" tIns="0" bIns="0">
            <a:spAutoFit/>
          </a:bodyPr>
          <a:lstStyle/>
          <a:p>
            <a:pPr algn="just">
              <a:lnSpc>
                <a:spcPts val="880"/>
              </a:lnSpc>
              <a:spcAft>
                <a:spcPts val="0"/>
              </a:spcAft>
            </a:pPr>
            <a:r>
              <a:rPr sz="690" b="0">
                <a:solidFill>
                  <a:srgbClr val="000000"/>
                </a:solidFill>
                <a:latin typeface="Ubuntu Mono"/>
                <a:ea typeface="Ubuntu Mono"/>
                <a:cs typeface="Ubuntu Mono"/>
                <a:sym typeface="Ubuntu Mono"/>
              </a:rPr>
              <a:t>Please specify: 1. tool series  2. top and bottom connections  3. fishing neck Ø  4. opening Ø  5. size and weight of casing to run through, if known  6. bullnose or bits (ordered separately)  7. cutting structure (milled tooth, TCI or PDC).</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DTU</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ENLARGEMENT</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DRILLING-TYPE UNDERREAMER</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DRILLING-TYPE UNDERREAMER THAT ENLARGES PREVIOUSLY DRILLED PILOT HOLES. A BOTTOM BOX CONNECTION LETS A BIT OR A BULLNOSE RUN BELOW THE TOOL, SO THE DTU CAN DRILL AND UNDERREAM AT THE SAME TIME. MUD FLOW CAN BE SPLIT BETWEEN THE CUTTER ARMS AND THE BIT OR BULLNOSE. IT RUNS WITH WATER, MUD, AIR, AERATED MUD OR ANY OTHER CIRCULATING MEDIUM.</a:t>
            </a:r>
          </a:p>
        </p:txBody>
      </p:sp>
      <p:sp>
        <p:nvSpPr>
          <p:cNvPr id="21" name="TextBox 20"/>
          <p:cNvSpPr txBox="1"/>
          <p:nvPr/>
        </p:nvSpPr>
        <p:spPr>
          <a:xfrm>
            <a:off x="711200" y="48260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029200"/>
          <a:ext cx="6134100" cy="1648460"/>
        </p:xfrm>
        <a:graphic>
          <a:graphicData uri="http://schemas.openxmlformats.org/drawingml/2006/table">
            <a:tbl>
              <a:tblPr/>
              <a:tblGrid>
                <a:gridCol w="457200"/>
                <a:gridCol w="609600"/>
                <a:gridCol w="660400"/>
                <a:gridCol w="457200"/>
                <a:gridCol w="482600"/>
                <a:gridCol w="736600"/>
                <a:gridCol w="533400"/>
                <a:gridCol w="533400"/>
                <a:gridCol w="508000"/>
                <a:gridCol w="711200"/>
                <a:gridCol w="444500"/>
              </a:tblGrid>
              <a:tr h="368300">
                <a:tc>
                  <a:txBody>
                    <a:bodyPr wrap="square"/>
                    <a:lstStyle/>
                    <a:p>
                      <a:pPr algn="ctr">
                        <a:lnSpc>
                          <a:spcPts val="880"/>
                        </a:lnSpc>
                      </a:pPr>
                      <a:r>
                        <a:rPr sz="720" b="1">
                          <a:solidFill>
                            <a:srgbClr val="FEFEFF"/>
                          </a:solidFill>
                          <a:latin typeface="Ubuntu Mono"/>
                          <a:ea typeface="Ubuntu Mono"/>
                          <a:cs typeface="Ubuntu Mono"/>
                          <a:sym typeface="Ubuntu Mono"/>
                        </a:rPr>
                        <a:t>Tool series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Std. opening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Optional opening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Body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Collapsed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Through casing Ø x lb/ft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Fishing neck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Fishing neck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Overall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Top pin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Wt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3600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5-1/2 - 6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 x 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170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5700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8-3/4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7 - 8-3/4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 x 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7200*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9 - 11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8-5/8 x 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770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8200*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10 - 14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9-5/8 x 53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5-3/4 or 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4-1/2 or 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9500*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12 - 15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11-3/4 x 71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11700*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17-1/2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14-3/4 - 20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13-3/8 x 92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1,670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15000*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17-1/2 - 26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17-1/2 - 26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16 x 75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 or 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 or 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17000*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32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24 - 32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18-5/8 x 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 or 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7-5/8 or 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22000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36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28 - 36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24-1/2 x 113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 or 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7-5/8 or 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3" name="TextBox 22"/>
          <p:cNvSpPr txBox="1"/>
          <p:nvPr/>
        </p:nvSpPr>
        <p:spPr>
          <a:xfrm>
            <a:off x="711200" y="6715759"/>
            <a:ext cx="6134100" cy="114300"/>
          </a:xfrm>
          <a:prstGeom prst="rect">
            <a:avLst/>
          </a:prstGeom>
          <a:noFill/>
        </p:spPr>
        <p:txBody>
          <a:bodyPr wrap="square" lIns="0" rIns="0" tIns="0" bIns="0">
            <a:spAutoFit/>
          </a:bodyPr>
          <a:lstStyle/>
          <a:p>
            <a:pPr algn="l">
              <a:spcAft>
                <a:spcPts val="0"/>
              </a:spcAft>
            </a:pPr>
            <a:r>
              <a:rPr sz="640" b="0">
                <a:solidFill>
                  <a:srgbClr val="444444"/>
                </a:solidFill>
                <a:latin typeface="Ubuntu Mono"/>
                <a:ea typeface="Ubuntu Mono"/>
                <a:cs typeface="Ubuntu Mono"/>
                <a:sym typeface="Ubuntu Mono"/>
              </a:rPr>
              <a:t>* Available with PDC Bearclaw cutters. Dimensions in inches, weights in lb (approximate). Optional opening diameters on request.</a:t>
            </a:r>
          </a:p>
        </p:txBody>
      </p:sp>
      <p:sp>
        <p:nvSpPr>
          <p:cNvPr id="24" name="TextBox 23"/>
          <p:cNvSpPr txBox="1"/>
          <p:nvPr/>
        </p:nvSpPr>
        <p:spPr>
          <a:xfrm>
            <a:off x="711200" y="6985000"/>
            <a:ext cx="3048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5" name="TextBox 24"/>
          <p:cNvSpPr txBox="1"/>
          <p:nvPr/>
        </p:nvSpPr>
        <p:spPr>
          <a:xfrm>
            <a:off x="711200" y="7188200"/>
            <a:ext cx="3098800" cy="127000"/>
          </a:xfrm>
          <a:prstGeom prst="rect">
            <a:avLst/>
          </a:prstGeom>
          <a:noFill/>
        </p:spPr>
        <p:txBody>
          <a:bodyPr wrap="square" lIns="0" rIns="0" tIns="0" bIns="0">
            <a:spAutoFit/>
          </a:bodyPr>
          <a:lstStyle/>
          <a:p>
            <a:pPr algn="l">
              <a:lnSpc>
                <a:spcPts val="919"/>
              </a:lnSpc>
              <a:spcAft>
                <a:spcPts val="22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Drill and underream in one run: </a:t>
            </a:r>
            <a:r>
              <a:rPr sz="720" b="0">
                <a:solidFill>
                  <a:srgbClr val="000000"/>
                </a:solidFill>
                <a:latin typeface="Ubuntu Mono"/>
                <a:ea typeface="Ubuntu Mono"/>
                <a:cs typeface="Ubuntu Mono"/>
                <a:sym typeface="Ubuntu Mono"/>
              </a:rPr>
              <a:t>bottom box connection for a bit or bullnose.</a:t>
            </a:r>
          </a:p>
          <a:p>
            <a:pPr algn="l">
              <a:lnSpc>
                <a:spcPts val="919"/>
              </a:lnSpc>
              <a:spcAft>
                <a:spcPts val="22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Flexible hydraulics: </a:t>
            </a:r>
            <a:r>
              <a:rPr sz="720" b="0">
                <a:solidFill>
                  <a:srgbClr val="000000"/>
                </a:solidFill>
                <a:latin typeface="Ubuntu Mono"/>
                <a:ea typeface="Ubuntu Mono"/>
                <a:cs typeface="Ubuntu Mono"/>
                <a:sym typeface="Ubuntu Mono"/>
              </a:rPr>
              <a:t>flow can be divided between the arms and the bit or bullnose; orifice jets are selected to suit the available hydraulics.</a:t>
            </a:r>
          </a:p>
          <a:p>
            <a:pPr algn="l">
              <a:lnSpc>
                <a:spcPts val="919"/>
              </a:lnSpc>
              <a:spcAft>
                <a:spcPts val="22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Cooling and cleaning: </a:t>
            </a:r>
            <a:r>
              <a:rPr sz="720" b="0">
                <a:solidFill>
                  <a:srgbClr val="000000"/>
                </a:solidFill>
                <a:latin typeface="Ubuntu Mono"/>
                <a:ea typeface="Ubuntu Mono"/>
                <a:cs typeface="Ubuntu Mono"/>
                <a:sym typeface="Ubuntu Mono"/>
              </a:rPr>
              <a:t>jet placement keeps the cutters cool and aids annular lift of cuttings.</a:t>
            </a:r>
          </a:p>
          <a:p>
            <a:pPr algn="l">
              <a:lnSpc>
                <a:spcPts val="919"/>
              </a:lnSpc>
              <a:spcAft>
                <a:spcPts val="22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Extra flow options: </a:t>
            </a:r>
            <a:r>
              <a:rPr sz="720" b="0">
                <a:solidFill>
                  <a:srgbClr val="000000"/>
                </a:solidFill>
                <a:latin typeface="Ubuntu Mono"/>
                <a:ea typeface="Ubuntu Mono"/>
                <a:cs typeface="Ubuntu Mono"/>
                <a:sym typeface="Ubuntu Mono"/>
              </a:rPr>
              <a:t>jetted bullnose and jetted top sub to divert more flow when needed.</a:t>
            </a:r>
          </a:p>
          <a:p>
            <a:pPr algn="l">
              <a:lnSpc>
                <a:spcPts val="919"/>
              </a:lnSpc>
              <a:spcAft>
                <a:spcPts val="220"/>
              </a:spcAft>
            </a:pPr>
            <a:r>
              <a:rPr sz="570" b="0">
                <a:solidFill>
                  <a:srgbClr val="01ADEE"/>
                </a:solidFill>
                <a:latin typeface="Ubuntu Mono"/>
                <a:ea typeface="Ubuntu Mono"/>
                <a:cs typeface="Ubuntu Mono"/>
                <a:sym typeface="Ubuntu Mono"/>
              </a:rPr>
              <a:t>■ </a:t>
            </a:r>
            <a:r>
              <a:rPr sz="720" b="1">
                <a:solidFill>
                  <a:srgbClr val="000000"/>
                </a:solidFill>
                <a:latin typeface="Ubuntu Mono"/>
                <a:ea typeface="Ubuntu Mono"/>
                <a:cs typeface="Ubuntu Mono"/>
                <a:sym typeface="Ubuntu Mono"/>
              </a:rPr>
              <a:t>Cutting structures: </a:t>
            </a:r>
            <a:r>
              <a:rPr sz="720" b="0">
                <a:solidFill>
                  <a:srgbClr val="000000"/>
                </a:solidFill>
                <a:latin typeface="Ubuntu Mono"/>
                <a:ea typeface="Ubuntu Mono"/>
                <a:cs typeface="Ubuntu Mono"/>
                <a:sym typeface="Ubuntu Mono"/>
              </a:rPr>
              <a:t>open-bearing milled tooth (standard), TCI or PDC Bearclaw.</a:t>
            </a:r>
          </a:p>
        </p:txBody>
      </p:sp>
      <p:sp>
        <p:nvSpPr>
          <p:cNvPr id="26" name="TextBox 25"/>
          <p:cNvSpPr txBox="1"/>
          <p:nvPr/>
        </p:nvSpPr>
        <p:spPr>
          <a:xfrm>
            <a:off x="711200" y="8763000"/>
            <a:ext cx="30988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PERFORMANCE PARAMETERS</a:t>
            </a:r>
          </a:p>
        </p:txBody>
      </p:sp>
      <p:graphicFrame>
        <p:nvGraphicFramePr>
          <p:cNvPr id="27" name="Table 26"/>
          <p:cNvGraphicFramePr>
            <a:graphicFrameLocks noGrp="1"/>
          </p:cNvGraphicFramePr>
          <p:nvPr/>
        </p:nvGraphicFramePr>
        <p:xfrm>
          <a:off x="711200" y="8953500"/>
          <a:ext cx="3098800" cy="944880"/>
        </p:xfrm>
        <a:graphic>
          <a:graphicData uri="http://schemas.openxmlformats.org/drawingml/2006/table">
            <a:tbl>
              <a:tblPr/>
              <a:tblGrid>
                <a:gridCol w="1422400"/>
                <a:gridCol w="1676400"/>
              </a:tblGrid>
              <a:tr h="157480">
                <a:tc>
                  <a:txBody>
                    <a:bodyPr wrap="square"/>
                    <a:lstStyle/>
                    <a:p>
                      <a:pPr algn="l">
                        <a:lnSpc>
                          <a:spcPts val="840"/>
                        </a:lnSpc>
                      </a:pPr>
                      <a:r>
                        <a:rPr sz="680" b="0">
                          <a:solidFill>
                            <a:srgbClr val="FEFEFF"/>
                          </a:solidFill>
                          <a:latin typeface="Ubuntu Mono"/>
                          <a:ea typeface="Ubuntu Mono"/>
                          <a:cs typeface="Ubuntu Mono"/>
                          <a:sym typeface="Ubuntu Mono"/>
                        </a:rPr>
                        <a:t>Rotary speed, reaching shoulder depth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40"/>
                        </a:lnSpc>
                      </a:pPr>
                      <a:r>
                        <a:rPr sz="680" b="0">
                          <a:solidFill>
                            <a:srgbClr val="000000"/>
                          </a:solidFill>
                          <a:latin typeface="Ubuntu Mono"/>
                          <a:ea typeface="Ubuntu Mono"/>
                          <a:cs typeface="Ubuntu Mono"/>
                          <a:sym typeface="Ubuntu Mono"/>
                        </a:rPr>
                        <a:t>30 - 50 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40"/>
                        </a:lnSpc>
                      </a:pPr>
                      <a:r>
                        <a:rPr sz="680" b="0">
                          <a:solidFill>
                            <a:srgbClr val="FEFEFF"/>
                          </a:solidFill>
                          <a:latin typeface="Ubuntu Mono"/>
                          <a:ea typeface="Ubuntu Mono"/>
                          <a:cs typeface="Ubuntu Mono"/>
                          <a:sym typeface="Ubuntu Mono"/>
                        </a:rPr>
                        <a:t>Rotary speed, cutting the shoulder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40"/>
                        </a:lnSpc>
                      </a:pPr>
                      <a:r>
                        <a:rPr sz="680" b="0">
                          <a:solidFill>
                            <a:srgbClr val="000000"/>
                          </a:solidFill>
                          <a:latin typeface="Ubuntu Mono"/>
                          <a:ea typeface="Ubuntu Mono"/>
                          <a:cs typeface="Ubuntu Mono"/>
                          <a:sym typeface="Ubuntu Mono"/>
                        </a:rPr>
                        <a:t>80 - 150 rpm max.</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7480">
                <a:tc>
                  <a:txBody>
                    <a:bodyPr wrap="square"/>
                    <a:lstStyle/>
                    <a:p>
                      <a:pPr algn="l">
                        <a:lnSpc>
                          <a:spcPts val="840"/>
                        </a:lnSpc>
                      </a:pPr>
                      <a:r>
                        <a:rPr sz="680" b="0">
                          <a:solidFill>
                            <a:srgbClr val="FEFEFF"/>
                          </a:solidFill>
                          <a:latin typeface="Ubuntu Mono"/>
                          <a:ea typeface="Ubuntu Mono"/>
                          <a:cs typeface="Ubuntu Mono"/>
                          <a:sym typeface="Ubuntu Mono"/>
                        </a:rPr>
                        <a:t>Rotary speed, underreaming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40"/>
                        </a:lnSpc>
                      </a:pPr>
                      <a:r>
                        <a:rPr sz="680" b="0">
                          <a:solidFill>
                            <a:srgbClr val="000000"/>
                          </a:solidFill>
                          <a:latin typeface="Ubuntu Mono"/>
                          <a:ea typeface="Ubuntu Mono"/>
                          <a:cs typeface="Ubuntu Mono"/>
                          <a:sym typeface="Ubuntu Mono"/>
                        </a:rPr>
                        <a:t>80 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40"/>
                        </a:lnSpc>
                      </a:pPr>
                      <a:r>
                        <a:rPr sz="680" b="0">
                          <a:solidFill>
                            <a:srgbClr val="FEFEFF"/>
                          </a:solidFill>
                          <a:latin typeface="Ubuntu Mono"/>
                          <a:ea typeface="Ubuntu Mono"/>
                          <a:cs typeface="Ubuntu Mono"/>
                          <a:sym typeface="Ubuntu Mono"/>
                        </a:rPr>
                        <a:t>Weight on tool</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40"/>
                        </a:lnSpc>
                      </a:pPr>
                      <a:r>
                        <a:rPr sz="680" b="0">
                          <a:solidFill>
                            <a:srgbClr val="000000"/>
                          </a:solidFill>
                          <a:latin typeface="Ubuntu Mono"/>
                          <a:ea typeface="Ubuntu Mono"/>
                          <a:cs typeface="Ubuntu Mono"/>
                          <a:sym typeface="Ubuntu Mono"/>
                        </a:rPr>
                        <a:t>1,000 lb per inch of body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7480">
                <a:tc>
                  <a:txBody>
                    <a:bodyPr wrap="square"/>
                    <a:lstStyle/>
                    <a:p>
                      <a:pPr algn="l">
                        <a:lnSpc>
                          <a:spcPts val="840"/>
                        </a:lnSpc>
                      </a:pPr>
                      <a:r>
                        <a:rPr sz="680" b="0">
                          <a:solidFill>
                            <a:srgbClr val="FEFEFF"/>
                          </a:solidFill>
                          <a:latin typeface="Ubuntu Mono"/>
                          <a:ea typeface="Ubuntu Mono"/>
                          <a:cs typeface="Ubuntu Mono"/>
                          <a:sym typeface="Ubuntu Mono"/>
                        </a:rPr>
                        <a:t>Stabilization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40"/>
                        </a:lnSpc>
                      </a:pPr>
                      <a:r>
                        <a:rPr sz="680" b="0">
                          <a:solidFill>
                            <a:srgbClr val="000000"/>
                          </a:solidFill>
                          <a:latin typeface="Ubuntu Mono"/>
                          <a:ea typeface="Ubuntu Mono"/>
                          <a:cs typeface="Ubuntu Mono"/>
                          <a:sym typeface="Ubuntu Mono"/>
                        </a:rPr>
                        <a:t>Full-gauge stabilizer 60 - 90 ft above and below</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40"/>
                        </a:lnSpc>
                      </a:pPr>
                      <a:r>
                        <a:rPr sz="680" b="0">
                          <a:solidFill>
                            <a:srgbClr val="FEFEFF"/>
                          </a:solidFill>
                          <a:latin typeface="Ubuntu Mono"/>
                          <a:ea typeface="Ubuntu Mono"/>
                          <a:cs typeface="Ubuntu Mono"/>
                          <a:sym typeface="Ubuntu Mono"/>
                        </a:rPr>
                        <a:t>Position in the BHA</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40"/>
                        </a:lnSpc>
                      </a:pPr>
                      <a:r>
                        <a:rPr sz="680" b="0">
                          <a:solidFill>
                            <a:srgbClr val="000000"/>
                          </a:solidFill>
                          <a:latin typeface="Ubuntu Mono"/>
                          <a:ea typeface="Ubuntu Mono"/>
                          <a:cs typeface="Ubuntu Mono"/>
                          <a:sym typeface="Ubuntu Mono"/>
                        </a:rPr>
                        <a:t>Middle of the drill collars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8" name="TextBox 27"/>
          <p:cNvSpPr txBox="1"/>
          <p:nvPr/>
        </p:nvSpPr>
        <p:spPr>
          <a:xfrm>
            <a:off x="4013200" y="6985000"/>
            <a:ext cx="2832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CUTTER OPTIONS</a:t>
            </a:r>
          </a:p>
        </p:txBody>
      </p:sp>
      <p:pic>
        <p:nvPicPr>
          <p:cNvPr id="29" name="Picture 28" descr="cutters_s.png"/>
          <p:cNvPicPr>
            <a:picLocks noChangeAspect="1"/>
          </p:cNvPicPr>
          <p:nvPr/>
        </p:nvPicPr>
        <p:blipFill>
          <a:blip r:embed="rId4"/>
          <a:stretch>
            <a:fillRect/>
          </a:stretch>
        </p:blipFill>
        <p:spPr>
          <a:xfrm>
            <a:off x="4013200" y="7188200"/>
            <a:ext cx="1365008" cy="2235200"/>
          </a:xfrm>
          <a:prstGeom prst="rect">
            <a:avLst/>
          </a:prstGeom>
        </p:spPr>
      </p:pic>
      <p:sp>
        <p:nvSpPr>
          <p:cNvPr id="30" name="TextBox 29"/>
          <p:cNvSpPr txBox="1"/>
          <p:nvPr/>
        </p:nvSpPr>
        <p:spPr>
          <a:xfrm>
            <a:off x="5435600" y="7188200"/>
            <a:ext cx="1409700" cy="127000"/>
          </a:xfrm>
          <a:prstGeom prst="rect">
            <a:avLst/>
          </a:prstGeom>
          <a:noFill/>
        </p:spPr>
        <p:txBody>
          <a:bodyPr wrap="square" lIns="0" rIns="0" tIns="0" bIns="0">
            <a:spAutoFit/>
          </a:bodyPr>
          <a:lstStyle/>
          <a:p>
            <a:pPr algn="l">
              <a:lnSpc>
                <a:spcPts val="760"/>
              </a:lnSpc>
              <a:spcAft>
                <a:spcPts val="0"/>
              </a:spcAft>
            </a:pPr>
            <a:r>
              <a:rPr sz="640" b="1">
                <a:solidFill>
                  <a:srgbClr val="194E9A"/>
                </a:solidFill>
                <a:latin typeface="Ubuntu Mono"/>
                <a:ea typeface="Ubuntu Mono"/>
                <a:cs typeface="Ubuntu Mono"/>
                <a:sym typeface="Ubuntu Mono"/>
              </a:rPr>
              <a:t>Gauge diameter tolerances, arms open</a:t>
            </a:r>
          </a:p>
        </p:txBody>
      </p:sp>
      <p:graphicFrame>
        <p:nvGraphicFramePr>
          <p:cNvPr id="31" name="Table 30"/>
          <p:cNvGraphicFramePr>
            <a:graphicFrameLocks noGrp="1"/>
          </p:cNvGraphicFramePr>
          <p:nvPr/>
        </p:nvGraphicFramePr>
        <p:xfrm>
          <a:off x="5435600" y="7442200"/>
          <a:ext cx="1409700" cy="698500"/>
        </p:xfrm>
        <a:graphic>
          <a:graphicData uri="http://schemas.openxmlformats.org/drawingml/2006/table">
            <a:tbl>
              <a:tblPr/>
              <a:tblGrid>
                <a:gridCol w="711200"/>
                <a:gridCol w="698500"/>
              </a:tblGrid>
              <a:tr h="139700">
                <a:tc>
                  <a:txBody>
                    <a:bodyPr wrap="square"/>
                    <a:lstStyle/>
                    <a:p>
                      <a:pPr algn="ctr">
                        <a:lnSpc>
                          <a:spcPts val="800"/>
                        </a:lnSpc>
                      </a:pPr>
                      <a:r>
                        <a:rPr sz="640" b="1">
                          <a:solidFill>
                            <a:srgbClr val="FEFEFF"/>
                          </a:solidFill>
                          <a:latin typeface="Ubuntu Mono"/>
                          <a:ea typeface="Ubuntu Mono"/>
                          <a:cs typeface="Ubuntu Mono"/>
                          <a:sym typeface="Ubuntu Mono"/>
                        </a:rPr>
                        <a:t>Size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Tolerance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39700">
                <a:tc>
                  <a:txBody>
                    <a:bodyPr wrap="square"/>
                    <a:lstStyle/>
                    <a:p>
                      <a:pPr algn="ctr">
                        <a:lnSpc>
                          <a:spcPts val="800"/>
                        </a:lnSpc>
                      </a:pPr>
                      <a:r>
                        <a:rPr sz="640" b="0">
                          <a:solidFill>
                            <a:srgbClr val="000000"/>
                          </a:solidFill>
                          <a:latin typeface="Ubuntu Mono"/>
                          <a:ea typeface="Ubuntu Mono"/>
                          <a:cs typeface="Ubuntu Mono"/>
                          <a:sym typeface="Ubuntu Mono"/>
                        </a:rPr>
                        <a:t>6 - 9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+1/16 - 0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00"/>
                        </a:lnSpc>
                      </a:pPr>
                      <a:r>
                        <a:rPr sz="640" b="0">
                          <a:solidFill>
                            <a:srgbClr val="000000"/>
                          </a:solidFill>
                          <a:latin typeface="Ubuntu Mono"/>
                          <a:ea typeface="Ubuntu Mono"/>
                          <a:cs typeface="Ubuntu Mono"/>
                          <a:sym typeface="Ubuntu Mono"/>
                        </a:rPr>
                        <a:t>9-1/2 - 13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+3/32 - 0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00"/>
                        </a:lnSpc>
                      </a:pPr>
                      <a:r>
                        <a:rPr sz="640" b="0">
                          <a:solidFill>
                            <a:srgbClr val="000000"/>
                          </a:solidFill>
                          <a:latin typeface="Ubuntu Mono"/>
                          <a:ea typeface="Ubuntu Mono"/>
                          <a:cs typeface="Ubuntu Mono"/>
                          <a:sym typeface="Ubuntu Mono"/>
                        </a:rPr>
                        <a:t>14 - 18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+1/8 - 0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00"/>
                        </a:lnSpc>
                      </a:pPr>
                      <a:r>
                        <a:rPr sz="640" b="0">
                          <a:solidFill>
                            <a:srgbClr val="000000"/>
                          </a:solidFill>
                          <a:latin typeface="Ubuntu Mono"/>
                          <a:ea typeface="Ubuntu Mono"/>
                          <a:cs typeface="Ubuntu Mono"/>
                          <a:sym typeface="Ubuntu Mono"/>
                        </a:rPr>
                        <a:t>20 - 30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+3/16 - 0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32" name="TextBox 31"/>
          <p:cNvSpPr txBox="1"/>
          <p:nvPr/>
        </p:nvSpPr>
        <p:spPr>
          <a:xfrm>
            <a:off x="5435600" y="8191500"/>
            <a:ext cx="1409700" cy="508000"/>
          </a:xfrm>
          <a:prstGeom prst="rect">
            <a:avLst/>
          </a:prstGeom>
          <a:noFill/>
        </p:spPr>
        <p:txBody>
          <a:bodyPr wrap="square" lIns="0" rIns="0" tIns="0" bIns="0">
            <a:spAutoFit/>
          </a:bodyPr>
          <a:lstStyle/>
          <a:p>
            <a:pPr algn="l">
              <a:lnSpc>
                <a:spcPts val="740"/>
              </a:lnSpc>
              <a:spcAft>
                <a:spcPts val="0"/>
              </a:spcAft>
            </a:pPr>
            <a:r>
              <a:rPr sz="620" b="0">
                <a:solidFill>
                  <a:srgbClr val="444444"/>
                </a:solidFill>
                <a:latin typeface="Ubuntu Mono"/>
                <a:ea typeface="Ubuntu Mono"/>
                <a:cs typeface="Ubuntu Mono"/>
                <a:sym typeface="Ubuntu Mono"/>
              </a:rPr>
              <a:t>Applies to arm sets of RTU, DTU, drag and XTU underreamers, all cutting structures.</a:t>
            </a:r>
          </a:p>
        </p:txBody>
      </p:sp>
      <p:sp>
        <p:nvSpPr>
          <p:cNvPr id="33" name="TextBox 32"/>
          <p:cNvSpPr txBox="1"/>
          <p:nvPr/>
        </p:nvSpPr>
        <p:spPr>
          <a:xfrm>
            <a:off x="4013200" y="9499600"/>
            <a:ext cx="2832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4" name="TextBox 33"/>
          <p:cNvSpPr txBox="1"/>
          <p:nvPr/>
        </p:nvSpPr>
        <p:spPr>
          <a:xfrm>
            <a:off x="4013200" y="9690100"/>
            <a:ext cx="2832100" cy="508000"/>
          </a:xfrm>
          <a:prstGeom prst="rect">
            <a:avLst/>
          </a:prstGeom>
          <a:noFill/>
        </p:spPr>
        <p:txBody>
          <a:bodyPr wrap="square" lIns="0" rIns="0" tIns="0" bIns="0">
            <a:spAutoFit/>
          </a:bodyPr>
          <a:lstStyle/>
          <a:p>
            <a:pPr algn="just">
              <a:lnSpc>
                <a:spcPts val="880"/>
              </a:lnSpc>
              <a:spcAft>
                <a:spcPts val="0"/>
              </a:spcAft>
            </a:pPr>
            <a:r>
              <a:rPr sz="690" b="0">
                <a:solidFill>
                  <a:srgbClr val="000000"/>
                </a:solidFill>
                <a:latin typeface="Ubuntu Mono"/>
                <a:ea typeface="Ubuntu Mono"/>
                <a:cs typeface="Ubuntu Mono"/>
                <a:sym typeface="Ubuntu Mono"/>
              </a:rPr>
              <a:t>Please specify: 1. tool series  2. top and bottom connections  3. fishing neck Ø  4. opening Ø  5. size and weight of casing to run through, if known  6. bullnose or bits (ordered separately)  7. cutting structure (milled tooth, TCI or PDC).</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HOLE OPENER</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ENLARGEMENT</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FIXED-DIAMETER HOLE OPENER</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FIXED-DIAMETER HOLE OPENER THAT ENLARGES A PREVIOUSLY DRILLED PILOT HOLE FROM THE SURFACE. THE CUTTERS ARE RIGIDLY ATTACHED TO THE BODY: THERE IS NO HYDRAULIC ACTUATION, AND THE TOOL ALWAYS CUTS AT ITS FULL GAUGE. USED MAINLY FOR SURFACE HOLES AND CONDUCTOR CASING, WHERE A BIGGER HOLE GIVES ENOUGH CLEARANCE TO RUN AND CEMENT THE CASING (FOR EXAMPLE, A 17-1/2 IN. HOLE OPENED TO RUN 13-3/8 IN. CASING). THE CHOICE OF CUTTERS LETS IT HANDLE SOFT TO HARD-ABRASIVE FORMATIONS. CUTTER SIZES FROM 26 TO 42 IN.</a:t>
            </a:r>
          </a:p>
        </p:txBody>
      </p:sp>
      <p:sp>
        <p:nvSpPr>
          <p:cNvPr id="21" name="TextBox 20"/>
          <p:cNvSpPr txBox="1"/>
          <p:nvPr/>
        </p:nvSpPr>
        <p:spPr>
          <a:xfrm>
            <a:off x="711200" y="49784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181600"/>
          <a:ext cx="6134094" cy="1648460"/>
        </p:xfrm>
        <a:graphic>
          <a:graphicData uri="http://schemas.openxmlformats.org/drawingml/2006/table">
            <a:tbl>
              <a:tblPr/>
              <a:tblGrid>
                <a:gridCol w="550143"/>
                <a:gridCol w="577650"/>
                <a:gridCol w="605157"/>
                <a:gridCol w="550143"/>
                <a:gridCol w="880229"/>
                <a:gridCol w="605157"/>
                <a:gridCol w="577650"/>
                <a:gridCol w="687679"/>
                <a:gridCol w="550143"/>
                <a:gridCol w="550143"/>
              </a:tblGrid>
              <a:tr h="368300">
                <a:tc>
                  <a:txBody>
                    <a:bodyPr wrap="square"/>
                    <a:lstStyle/>
                    <a:p>
                      <a:pPr algn="ctr">
                        <a:lnSpc>
                          <a:spcPts val="880"/>
                        </a:lnSpc>
                      </a:pPr>
                      <a:r>
                        <a:rPr sz="720" b="1">
                          <a:solidFill>
                            <a:srgbClr val="FEFEFF"/>
                          </a:solidFill>
                          <a:latin typeface="Ubuntu Mono"/>
                          <a:ea typeface="Ubuntu Mono"/>
                          <a:cs typeface="Ubuntu Mono"/>
                          <a:sym typeface="Ubuntu Mono"/>
                        </a:rPr>
                        <a:t>Std. opening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Min. pilot hole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Fishing neck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Fishing neck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Top pin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Bottom neck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Bottom neck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Bottom box API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Body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Min. bore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26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6-5/8 - 7-5/8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28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6-5/8 - 7-5/8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6-5/8 - 7-5/8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32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7-5/8 - 8-5/8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22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7-5/8 - 8-5/8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36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24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7-5/8 - 8-5/8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26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28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80"/>
                        </a:lnSpc>
                      </a:pPr>
                      <a:r>
                        <a:rPr sz="720" b="0">
                          <a:solidFill>
                            <a:srgbClr val="FEFEFF"/>
                          </a:solidFill>
                          <a:latin typeface="Ubuntu Mono"/>
                          <a:ea typeface="Ubuntu Mono"/>
                          <a:cs typeface="Ubuntu Mono"/>
                          <a:sym typeface="Ubuntu Mono"/>
                        </a:rPr>
                        <a:t>42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3" name="TextBox 22"/>
          <p:cNvSpPr txBox="1"/>
          <p:nvPr/>
        </p:nvSpPr>
        <p:spPr>
          <a:xfrm>
            <a:off x="711200" y="6868159"/>
            <a:ext cx="6134100" cy="114300"/>
          </a:xfrm>
          <a:prstGeom prst="rect">
            <a:avLst/>
          </a:prstGeom>
          <a:noFill/>
        </p:spPr>
        <p:txBody>
          <a:bodyPr wrap="square" lIns="0" rIns="0" tIns="0" bIns="0">
            <a:spAutoFit/>
          </a:bodyPr>
          <a:lstStyle/>
          <a:p>
            <a:pPr algn="l">
              <a:spcAft>
                <a:spcPts val="0"/>
              </a:spcAft>
            </a:pPr>
            <a:r>
              <a:rPr sz="620" b="0">
                <a:solidFill>
                  <a:srgbClr val="444444"/>
                </a:solidFill>
                <a:latin typeface="Ubuntu Mono"/>
                <a:ea typeface="Ubuntu Mono"/>
                <a:cs typeface="Ubuntu Mono"/>
                <a:sym typeface="Ubuntu Mono"/>
              </a:rPr>
              <a:t>Dimensions in inches, approximate. Intermediate sizes or sizes larger than 42 in. available on request.</a:t>
            </a:r>
          </a:p>
        </p:txBody>
      </p:sp>
      <p:pic>
        <p:nvPicPr>
          <p:cNvPr id="24" name="Picture 23" descr="hole_opener_blue.png"/>
          <p:cNvPicPr>
            <a:picLocks noChangeAspect="1"/>
          </p:cNvPicPr>
          <p:nvPr/>
        </p:nvPicPr>
        <p:blipFill>
          <a:blip r:embed="rId4"/>
          <a:stretch>
            <a:fillRect/>
          </a:stretch>
        </p:blipFill>
        <p:spPr>
          <a:xfrm>
            <a:off x="711200" y="7061200"/>
            <a:ext cx="1499016" cy="3048000"/>
          </a:xfrm>
          <a:prstGeom prst="rect">
            <a:avLst/>
          </a:prstGeom>
        </p:spPr>
      </p:pic>
      <p:sp>
        <p:nvSpPr>
          <p:cNvPr id="25" name="TextBox 24"/>
          <p:cNvSpPr txBox="1"/>
          <p:nvPr/>
        </p:nvSpPr>
        <p:spPr>
          <a:xfrm>
            <a:off x="2260600" y="7035800"/>
            <a:ext cx="1778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6" name="TextBox 25"/>
          <p:cNvSpPr txBox="1"/>
          <p:nvPr/>
        </p:nvSpPr>
        <p:spPr>
          <a:xfrm>
            <a:off x="2260600" y="7239000"/>
            <a:ext cx="1778000" cy="127000"/>
          </a:xfrm>
          <a:prstGeom prst="rect">
            <a:avLst/>
          </a:prstGeom>
          <a:noFill/>
        </p:spPr>
        <p:txBody>
          <a:bodyPr wrap="square" lIns="0" rIns="0" tIns="0" bIns="0">
            <a:spAutoFit/>
          </a:bodyPr>
          <a:lstStyle/>
          <a:p>
            <a:pPr algn="l">
              <a:lnSpc>
                <a:spcPts val="840"/>
              </a:lnSpc>
              <a:spcAft>
                <a:spcPts val="200"/>
              </a:spcAft>
            </a:pPr>
            <a:r>
              <a:rPr sz="530" b="0">
                <a:solidFill>
                  <a:srgbClr val="01ADEE"/>
                </a:solidFill>
                <a:latin typeface="Ubuntu Mono"/>
                <a:ea typeface="Ubuntu Mono"/>
                <a:cs typeface="Ubuntu Mono"/>
                <a:sym typeface="Ubuntu Mono"/>
              </a:rPr>
              <a:t>■ </a:t>
            </a:r>
            <a:r>
              <a:rPr sz="680" b="1">
                <a:solidFill>
                  <a:srgbClr val="000000"/>
                </a:solidFill>
                <a:latin typeface="Ubuntu Mono"/>
                <a:ea typeface="Ubuntu Mono"/>
                <a:cs typeface="Ubuntu Mono"/>
                <a:sym typeface="Ubuntu Mono"/>
              </a:rPr>
              <a:t>Fixed gauge: </a:t>
            </a:r>
            <a:r>
              <a:rPr sz="680" b="0">
                <a:solidFill>
                  <a:srgbClr val="000000"/>
                </a:solidFill>
                <a:latin typeface="Ubuntu Mono"/>
                <a:ea typeface="Ubuntu Mono"/>
                <a:cs typeface="Ubuntu Mono"/>
                <a:sym typeface="Ubuntu Mono"/>
              </a:rPr>
              <a:t>cutters rigidly mounted; no hydraulic actuation.</a:t>
            </a:r>
          </a:p>
          <a:p>
            <a:pPr algn="l">
              <a:lnSpc>
                <a:spcPts val="840"/>
              </a:lnSpc>
              <a:spcAft>
                <a:spcPts val="200"/>
              </a:spcAft>
            </a:pPr>
            <a:r>
              <a:rPr sz="530" b="0">
                <a:solidFill>
                  <a:srgbClr val="01ADEE"/>
                </a:solidFill>
                <a:latin typeface="Ubuntu Mono"/>
                <a:ea typeface="Ubuntu Mono"/>
                <a:cs typeface="Ubuntu Mono"/>
                <a:sym typeface="Ubuntu Mono"/>
              </a:rPr>
              <a:t>■ </a:t>
            </a:r>
            <a:r>
              <a:rPr sz="680" b="1">
                <a:solidFill>
                  <a:srgbClr val="000000"/>
                </a:solidFill>
                <a:latin typeface="Ubuntu Mono"/>
                <a:ea typeface="Ubuntu Mono"/>
                <a:cs typeface="Ubuntu Mono"/>
                <a:sym typeface="Ubuntu Mono"/>
              </a:rPr>
              <a:t>Demountable cutters: </a:t>
            </a:r>
            <a:r>
              <a:rPr sz="680" b="0">
                <a:solidFill>
                  <a:srgbClr val="000000"/>
                </a:solidFill>
                <a:latin typeface="Ubuntu Mono"/>
                <a:ea typeface="Ubuntu Mono"/>
                <a:cs typeface="Ubuntu Mono"/>
                <a:sym typeface="Ubuntu Mono"/>
              </a:rPr>
              <a:t>easily replaced on the rig floor.</a:t>
            </a:r>
          </a:p>
          <a:p>
            <a:pPr algn="l">
              <a:lnSpc>
                <a:spcPts val="840"/>
              </a:lnSpc>
              <a:spcAft>
                <a:spcPts val="200"/>
              </a:spcAft>
            </a:pPr>
            <a:r>
              <a:rPr sz="530" b="0">
                <a:solidFill>
                  <a:srgbClr val="01ADEE"/>
                </a:solidFill>
                <a:latin typeface="Ubuntu Mono"/>
                <a:ea typeface="Ubuntu Mono"/>
                <a:cs typeface="Ubuntu Mono"/>
                <a:sym typeface="Ubuntu Mono"/>
              </a:rPr>
              <a:t>■ </a:t>
            </a:r>
            <a:r>
              <a:rPr sz="680" b="1">
                <a:solidFill>
                  <a:srgbClr val="000000"/>
                </a:solidFill>
                <a:latin typeface="Ubuntu Mono"/>
                <a:ea typeface="Ubuntu Mono"/>
                <a:cs typeface="Ubuntu Mono"/>
                <a:sym typeface="Ubuntu Mono"/>
              </a:rPr>
              <a:t>Cutters: </a:t>
            </a:r>
            <a:r>
              <a:rPr sz="680" b="0">
                <a:solidFill>
                  <a:srgbClr val="000000"/>
                </a:solidFill>
                <a:latin typeface="Ubuntu Mono"/>
                <a:ea typeface="Ubuntu Mono"/>
                <a:cs typeface="Ubuntu Mono"/>
                <a:sym typeface="Ubuntu Mono"/>
              </a:rPr>
              <a:t>sealed-bearing milled tooth or tungsten carbide insert.</a:t>
            </a:r>
          </a:p>
          <a:p>
            <a:pPr algn="l">
              <a:lnSpc>
                <a:spcPts val="840"/>
              </a:lnSpc>
              <a:spcAft>
                <a:spcPts val="200"/>
              </a:spcAft>
            </a:pPr>
            <a:r>
              <a:rPr sz="530" b="0">
                <a:solidFill>
                  <a:srgbClr val="01ADEE"/>
                </a:solidFill>
                <a:latin typeface="Ubuntu Mono"/>
                <a:ea typeface="Ubuntu Mono"/>
                <a:cs typeface="Ubuntu Mono"/>
                <a:sym typeface="Ubuntu Mono"/>
              </a:rPr>
              <a:t>■ </a:t>
            </a:r>
            <a:r>
              <a:rPr sz="680" b="1">
                <a:solidFill>
                  <a:srgbClr val="000000"/>
                </a:solidFill>
                <a:latin typeface="Ubuntu Mono"/>
                <a:ea typeface="Ubuntu Mono"/>
                <a:cs typeface="Ubuntu Mono"/>
                <a:sym typeface="Ubuntu Mono"/>
              </a:rPr>
              <a:t>Long fishing necks: </a:t>
            </a:r>
            <a:r>
              <a:rPr sz="680" b="0">
                <a:solidFill>
                  <a:srgbClr val="000000"/>
                </a:solidFill>
                <a:latin typeface="Ubuntu Mono"/>
                <a:ea typeface="Ubuntu Mono"/>
                <a:cs typeface="Ubuntu Mono"/>
                <a:sym typeface="Ubuntu Mono"/>
              </a:rPr>
              <a:t>can be made up below the rotary table despite the large size.</a:t>
            </a:r>
          </a:p>
          <a:p>
            <a:pPr algn="l">
              <a:lnSpc>
                <a:spcPts val="840"/>
              </a:lnSpc>
              <a:spcAft>
                <a:spcPts val="200"/>
              </a:spcAft>
            </a:pPr>
            <a:r>
              <a:rPr sz="530" b="0">
                <a:solidFill>
                  <a:srgbClr val="01ADEE"/>
                </a:solidFill>
                <a:latin typeface="Ubuntu Mono"/>
                <a:ea typeface="Ubuntu Mono"/>
                <a:cs typeface="Ubuntu Mono"/>
                <a:sym typeface="Ubuntu Mono"/>
              </a:rPr>
              <a:t>■ </a:t>
            </a:r>
            <a:r>
              <a:rPr sz="680" b="1">
                <a:solidFill>
                  <a:srgbClr val="000000"/>
                </a:solidFill>
                <a:latin typeface="Ubuntu Mono"/>
                <a:ea typeface="Ubuntu Mono"/>
                <a:cs typeface="Ubuntu Mono"/>
                <a:sym typeface="Ubuntu Mono"/>
              </a:rPr>
              <a:t>Replaceable nozzles: </a:t>
            </a:r>
            <a:r>
              <a:rPr sz="680" b="0">
                <a:solidFill>
                  <a:srgbClr val="000000"/>
                </a:solidFill>
                <a:latin typeface="Ubuntu Mono"/>
                <a:ea typeface="Ubuntu Mono"/>
                <a:cs typeface="Ubuntu Mono"/>
                <a:sym typeface="Ubuntu Mono"/>
              </a:rPr>
              <a:t>effective hole cleaning.</a:t>
            </a:r>
          </a:p>
          <a:p>
            <a:pPr algn="l">
              <a:lnSpc>
                <a:spcPts val="840"/>
              </a:lnSpc>
              <a:spcAft>
                <a:spcPts val="200"/>
              </a:spcAft>
            </a:pPr>
            <a:r>
              <a:rPr sz="530" b="0">
                <a:solidFill>
                  <a:srgbClr val="01ADEE"/>
                </a:solidFill>
                <a:latin typeface="Ubuntu Mono"/>
                <a:ea typeface="Ubuntu Mono"/>
                <a:cs typeface="Ubuntu Mono"/>
                <a:sym typeface="Ubuntu Mono"/>
              </a:rPr>
              <a:t>■ </a:t>
            </a:r>
            <a:r>
              <a:rPr sz="680" b="1">
                <a:solidFill>
                  <a:srgbClr val="000000"/>
                </a:solidFill>
                <a:latin typeface="Ubuntu Mono"/>
                <a:ea typeface="Ubuntu Mono"/>
                <a:cs typeface="Ubuntu Mono"/>
                <a:sym typeface="Ubuntu Mono"/>
              </a:rPr>
              <a:t>Wide formation range: </a:t>
            </a:r>
            <a:r>
              <a:rPr sz="680" b="0">
                <a:solidFill>
                  <a:srgbClr val="000000"/>
                </a:solidFill>
                <a:latin typeface="Ubuntu Mono"/>
                <a:ea typeface="Ubuntu Mono"/>
                <a:cs typeface="Ubuntu Mono"/>
                <a:sym typeface="Ubuntu Mono"/>
              </a:rPr>
              <a:t>soft to hard-abrasive.</a:t>
            </a:r>
          </a:p>
        </p:txBody>
      </p:sp>
      <p:sp>
        <p:nvSpPr>
          <p:cNvPr id="27" name="TextBox 26"/>
          <p:cNvSpPr txBox="1"/>
          <p:nvPr/>
        </p:nvSpPr>
        <p:spPr>
          <a:xfrm>
            <a:off x="2260600" y="8813800"/>
            <a:ext cx="1778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NOZZLES AND CUTTERS</a:t>
            </a:r>
          </a:p>
        </p:txBody>
      </p:sp>
      <p:sp>
        <p:nvSpPr>
          <p:cNvPr id="28" name="TextBox 27"/>
          <p:cNvSpPr txBox="1"/>
          <p:nvPr/>
        </p:nvSpPr>
        <p:spPr>
          <a:xfrm>
            <a:off x="2260600" y="9017000"/>
            <a:ext cx="1778000" cy="127000"/>
          </a:xfrm>
          <a:prstGeom prst="rect">
            <a:avLst/>
          </a:prstGeom>
          <a:noFill/>
        </p:spPr>
        <p:txBody>
          <a:bodyPr wrap="square" lIns="0" rIns="0" tIns="0" bIns="0">
            <a:spAutoFit/>
          </a:bodyPr>
          <a:lstStyle/>
          <a:p>
            <a:pPr algn="l">
              <a:lnSpc>
                <a:spcPts val="840"/>
              </a:lnSpc>
              <a:spcAft>
                <a:spcPts val="200"/>
              </a:spcAft>
            </a:pPr>
            <a:r>
              <a:rPr sz="530" b="0">
                <a:solidFill>
                  <a:srgbClr val="01ADEE"/>
                </a:solidFill>
                <a:latin typeface="Ubuntu Mono"/>
                <a:ea typeface="Ubuntu Mono"/>
                <a:cs typeface="Ubuntu Mono"/>
                <a:sym typeface="Ubuntu Mono"/>
              </a:rPr>
              <a:t>■ </a:t>
            </a:r>
            <a:r>
              <a:rPr sz="680" b="1">
                <a:solidFill>
                  <a:srgbClr val="000000"/>
                </a:solidFill>
                <a:latin typeface="Ubuntu Mono"/>
                <a:ea typeface="Ubuntu Mono"/>
                <a:cs typeface="Ubuntu Mono"/>
                <a:sym typeface="Ubuntu Mono"/>
              </a:rPr>
              <a:t>Nozzles: </a:t>
            </a:r>
            <a:r>
              <a:rPr sz="680" b="0">
                <a:solidFill>
                  <a:srgbClr val="000000"/>
                </a:solidFill>
                <a:latin typeface="Ubuntu Mono"/>
                <a:ea typeface="Ubuntu Mono"/>
                <a:cs typeface="Ubuntu Mono"/>
                <a:sym typeface="Ubuntu Mono"/>
              </a:rPr>
              <a:t>threaded retainer holds the jet nozzle in its sleeve; O-ring seal.</a:t>
            </a:r>
          </a:p>
          <a:p>
            <a:pPr algn="l">
              <a:lnSpc>
                <a:spcPts val="840"/>
              </a:lnSpc>
              <a:spcAft>
                <a:spcPts val="200"/>
              </a:spcAft>
            </a:pPr>
            <a:r>
              <a:rPr sz="530" b="0">
                <a:solidFill>
                  <a:srgbClr val="01ADEE"/>
                </a:solidFill>
                <a:latin typeface="Ubuntu Mono"/>
                <a:ea typeface="Ubuntu Mono"/>
                <a:cs typeface="Ubuntu Mono"/>
                <a:sym typeface="Ubuntu Mono"/>
              </a:rPr>
              <a:t>■ </a:t>
            </a:r>
            <a:r>
              <a:rPr sz="680" b="1">
                <a:solidFill>
                  <a:srgbClr val="000000"/>
                </a:solidFill>
                <a:latin typeface="Ubuntu Mono"/>
                <a:ea typeface="Ubuntu Mono"/>
                <a:cs typeface="Ubuntu Mono"/>
                <a:sym typeface="Ubuntu Mono"/>
              </a:rPr>
              <a:t>Cutter sets: </a:t>
            </a:r>
            <a:r>
              <a:rPr sz="680" b="0">
                <a:solidFill>
                  <a:srgbClr val="000000"/>
                </a:solidFill>
                <a:latin typeface="Ubuntu Mono"/>
                <a:ea typeface="Ubuntu Mono"/>
                <a:cs typeface="Ubuntu Mono"/>
                <a:sym typeface="Ubuntu Mono"/>
              </a:rPr>
              <a:t>replacement sets include all parts needed.</a:t>
            </a:r>
          </a:p>
          <a:p>
            <a:pPr algn="l">
              <a:lnSpc>
                <a:spcPts val="840"/>
              </a:lnSpc>
              <a:spcAft>
                <a:spcPts val="200"/>
              </a:spcAft>
            </a:pPr>
            <a:r>
              <a:rPr sz="530" b="0">
                <a:solidFill>
                  <a:srgbClr val="01ADEE"/>
                </a:solidFill>
                <a:latin typeface="Ubuntu Mono"/>
                <a:ea typeface="Ubuntu Mono"/>
                <a:cs typeface="Ubuntu Mono"/>
                <a:sym typeface="Ubuntu Mono"/>
              </a:rPr>
              <a:t>■ </a:t>
            </a:r>
            <a:r>
              <a:rPr sz="680" b="1">
                <a:solidFill>
                  <a:srgbClr val="000000"/>
                </a:solidFill>
                <a:latin typeface="Ubuntu Mono"/>
                <a:ea typeface="Ubuntu Mono"/>
                <a:cs typeface="Ubuntu Mono"/>
                <a:sym typeface="Ubuntu Mono"/>
              </a:rPr>
              <a:t>Rebuild kits: </a:t>
            </a:r>
            <a:r>
              <a:rPr sz="680" b="0">
                <a:solidFill>
                  <a:srgbClr val="000000"/>
                </a:solidFill>
                <a:latin typeface="Ubuntu Mono"/>
                <a:ea typeface="Ubuntu Mono"/>
                <a:cs typeface="Ubuntu Mono"/>
                <a:sym typeface="Ubuntu Mono"/>
              </a:rPr>
              <a:t>cutter bearing rebuild kits on special order.</a:t>
            </a:r>
          </a:p>
        </p:txBody>
      </p:sp>
      <p:sp>
        <p:nvSpPr>
          <p:cNvPr id="29" name="TextBox 28"/>
          <p:cNvSpPr txBox="1"/>
          <p:nvPr/>
        </p:nvSpPr>
        <p:spPr>
          <a:xfrm>
            <a:off x="4089400" y="703580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OPERATING PARAMETERS</a:t>
            </a:r>
          </a:p>
        </p:txBody>
      </p:sp>
      <p:graphicFrame>
        <p:nvGraphicFramePr>
          <p:cNvPr id="30" name="Table 29"/>
          <p:cNvGraphicFramePr>
            <a:graphicFrameLocks noGrp="1"/>
          </p:cNvGraphicFramePr>
          <p:nvPr/>
        </p:nvGraphicFramePr>
        <p:xfrm>
          <a:off x="4089400" y="7226300"/>
          <a:ext cx="2755900" cy="698500"/>
        </p:xfrm>
        <a:graphic>
          <a:graphicData uri="http://schemas.openxmlformats.org/drawingml/2006/table">
            <a:tbl>
              <a:tblPr/>
              <a:tblGrid>
                <a:gridCol w="558800"/>
                <a:gridCol w="698500"/>
                <a:gridCol w="889000"/>
                <a:gridCol w="609600"/>
              </a:tblGrid>
              <a:tr h="139700">
                <a:tc>
                  <a:txBody>
                    <a:bodyPr wrap="square"/>
                    <a:lstStyle/>
                    <a:p>
                      <a:pPr algn="ctr">
                        <a:lnSpc>
                          <a:spcPts val="800"/>
                        </a:lnSpc>
                      </a:pPr>
                      <a:r>
                        <a:rPr sz="640" b="1">
                          <a:solidFill>
                            <a:srgbClr val="FEFEFF"/>
                          </a:solidFill>
                          <a:latin typeface="Ubuntu Mono"/>
                          <a:ea typeface="Ubuntu Mono"/>
                          <a:cs typeface="Ubuntu Mono"/>
                          <a:sym typeface="Ubuntu Mono"/>
                        </a:rPr>
                        <a:t>Formation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Cutter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Weight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39700">
                <a:tc>
                  <a:txBody>
                    <a:bodyPr wrap="square"/>
                    <a:lstStyle/>
                    <a:p>
                      <a:pPr algn="ctr">
                        <a:lnSpc>
                          <a:spcPts val="800"/>
                        </a:lnSpc>
                      </a:pPr>
                      <a:r>
                        <a:rPr sz="640" b="0">
                          <a:solidFill>
                            <a:srgbClr val="FEFEFF"/>
                          </a:solidFill>
                          <a:latin typeface="Ubuntu Mono"/>
                          <a:ea typeface="Ubuntu Mono"/>
                          <a:cs typeface="Ubuntu Mono"/>
                          <a:sym typeface="Ubuntu Mono"/>
                        </a:rPr>
                        <a:t>Soft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Milled tooth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15,000 - 25,000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125 - 150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00"/>
                        </a:lnSpc>
                      </a:pPr>
                      <a:r>
                        <a:rPr sz="640" b="0">
                          <a:solidFill>
                            <a:srgbClr val="FEFEFF"/>
                          </a:solidFill>
                          <a:latin typeface="Ubuntu Mono"/>
                          <a:ea typeface="Ubuntu Mono"/>
                          <a:cs typeface="Ubuntu Mono"/>
                          <a:sym typeface="Ubuntu Mono"/>
                        </a:rPr>
                        <a:t>Medium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Milled tooth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20,000 - 35,000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75 - 85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00"/>
                        </a:lnSpc>
                      </a:pPr>
                      <a:r>
                        <a:rPr sz="640" b="0">
                          <a:solidFill>
                            <a:srgbClr val="FEFEFF"/>
                          </a:solidFill>
                          <a:latin typeface="Ubuntu Mono"/>
                          <a:ea typeface="Ubuntu Mono"/>
                          <a:cs typeface="Ubuntu Mono"/>
                          <a:sym typeface="Ubuntu Mono"/>
                        </a:rPr>
                        <a:t>Hard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Button type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35,000 - 45,000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50 - 60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00"/>
                        </a:lnSpc>
                      </a:pPr>
                      <a:r>
                        <a:rPr sz="640" b="0">
                          <a:solidFill>
                            <a:srgbClr val="FEFEFF"/>
                          </a:solidFill>
                          <a:latin typeface="Ubuntu Mono"/>
                          <a:ea typeface="Ubuntu Mono"/>
                          <a:cs typeface="Ubuntu Mono"/>
                          <a:sym typeface="Ubuntu Mono"/>
                        </a:rPr>
                        <a:t>Extr. hard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TCI button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30,000 - 45,000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30 - 40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31" name="TextBox 30"/>
          <p:cNvSpPr txBox="1"/>
          <p:nvPr/>
        </p:nvSpPr>
        <p:spPr>
          <a:xfrm>
            <a:off x="4089400" y="7950200"/>
            <a:ext cx="2755900" cy="114300"/>
          </a:xfrm>
          <a:prstGeom prst="rect">
            <a:avLst/>
          </a:prstGeom>
          <a:noFill/>
        </p:spPr>
        <p:txBody>
          <a:bodyPr wrap="square" lIns="0" rIns="0" tIns="0" bIns="0">
            <a:spAutoFit/>
          </a:bodyPr>
          <a:lstStyle/>
          <a:p>
            <a:pPr algn="l">
              <a:lnSpc>
                <a:spcPts val="700"/>
              </a:lnSpc>
              <a:spcAft>
                <a:spcPts val="0"/>
              </a:spcAft>
            </a:pPr>
            <a:r>
              <a:rPr sz="600" b="0">
                <a:solidFill>
                  <a:srgbClr val="444444"/>
                </a:solidFill>
                <a:latin typeface="Ubuntu Mono"/>
                <a:ea typeface="Ubuntu Mono"/>
                <a:cs typeface="Ubuntu Mono"/>
                <a:sym typeface="Ubuntu Mono"/>
              </a:rPr>
              <a:t>Guideline for 19-3/4 - 26 in. holes; smaller sizes need less weight.</a:t>
            </a:r>
          </a:p>
        </p:txBody>
      </p:sp>
      <p:sp>
        <p:nvSpPr>
          <p:cNvPr id="32" name="TextBox 31"/>
          <p:cNvSpPr txBox="1"/>
          <p:nvPr/>
        </p:nvSpPr>
        <p:spPr>
          <a:xfrm>
            <a:off x="4089400" y="805180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GAUGE TOLERANCE (ARMS OPEN)</a:t>
            </a:r>
          </a:p>
        </p:txBody>
      </p:sp>
      <p:graphicFrame>
        <p:nvGraphicFramePr>
          <p:cNvPr id="33" name="Table 32"/>
          <p:cNvGraphicFramePr>
            <a:graphicFrameLocks noGrp="1"/>
          </p:cNvGraphicFramePr>
          <p:nvPr/>
        </p:nvGraphicFramePr>
        <p:xfrm>
          <a:off x="4089400" y="8242300"/>
          <a:ext cx="2755900" cy="558800"/>
        </p:xfrm>
        <a:graphic>
          <a:graphicData uri="http://schemas.openxmlformats.org/drawingml/2006/table">
            <a:tbl>
              <a:tblPr/>
              <a:tblGrid>
                <a:gridCol w="1016000"/>
                <a:gridCol w="863600"/>
                <a:gridCol w="876300"/>
              </a:tblGrid>
              <a:tr h="139700">
                <a:tc>
                  <a:txBody>
                    <a:bodyPr wrap="square"/>
                    <a:lstStyle/>
                    <a:p>
                      <a:pPr algn="ctr">
                        <a:lnSpc>
                          <a:spcPts val="800"/>
                        </a:lnSpc>
                      </a:pPr>
                      <a:r>
                        <a:rPr sz="640" b="1">
                          <a:solidFill>
                            <a:srgbClr val="FEFEFF"/>
                          </a:solidFill>
                          <a:latin typeface="Ubuntu Mono"/>
                          <a:ea typeface="Ubuntu Mono"/>
                          <a:cs typeface="Ubuntu Mono"/>
                          <a:sym typeface="Ubuntu Mono"/>
                        </a:rPr>
                        <a:t>Size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Plus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Minus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39700">
                <a:tc>
                  <a:txBody>
                    <a:bodyPr wrap="square"/>
                    <a:lstStyle/>
                    <a:p>
                      <a:pPr algn="ctr">
                        <a:lnSpc>
                          <a:spcPts val="800"/>
                        </a:lnSpc>
                      </a:pPr>
                      <a:r>
                        <a:rPr sz="640" b="0">
                          <a:solidFill>
                            <a:srgbClr val="000000"/>
                          </a:solidFill>
                          <a:latin typeface="Ubuntu Mono"/>
                          <a:ea typeface="Ubuntu Mono"/>
                          <a:cs typeface="Ubuntu Mono"/>
                          <a:sym typeface="Ubuntu Mono"/>
                        </a:rPr>
                        <a:t>18 - 26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- 1/16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00"/>
                        </a:lnSpc>
                      </a:pPr>
                      <a:r>
                        <a:rPr sz="640" b="0">
                          <a:solidFill>
                            <a:srgbClr val="000000"/>
                          </a:solidFill>
                          <a:latin typeface="Ubuntu Mono"/>
                          <a:ea typeface="Ubuntu Mono"/>
                          <a:cs typeface="Ubuntu Mono"/>
                          <a:sym typeface="Ubuntu Mono"/>
                        </a:rPr>
                        <a:t>27 - 42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+5/32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- 1/16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00"/>
                        </a:lnSpc>
                      </a:pPr>
                      <a:r>
                        <a:rPr sz="640" b="0">
                          <a:solidFill>
                            <a:srgbClr val="000000"/>
                          </a:solidFill>
                          <a:latin typeface="Ubuntu Mono"/>
                          <a:ea typeface="Ubuntu Mono"/>
                          <a:cs typeface="Ubuntu Mono"/>
                          <a:sym typeface="Ubuntu Mono"/>
                        </a:rPr>
                        <a:t>43 and larger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- 1/16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34" name="TextBox 33"/>
          <p:cNvSpPr txBox="1"/>
          <p:nvPr/>
        </p:nvSpPr>
        <p:spPr>
          <a:xfrm>
            <a:off x="4089400" y="8826500"/>
            <a:ext cx="2755900" cy="114300"/>
          </a:xfrm>
          <a:prstGeom prst="rect">
            <a:avLst/>
          </a:prstGeom>
          <a:noFill/>
        </p:spPr>
        <p:txBody>
          <a:bodyPr wrap="square" lIns="0" rIns="0" tIns="0" bIns="0">
            <a:spAutoFit/>
          </a:bodyPr>
          <a:lstStyle/>
          <a:p>
            <a:pPr algn="l">
              <a:lnSpc>
                <a:spcPts val="700"/>
              </a:lnSpc>
              <a:spcAft>
                <a:spcPts val="0"/>
              </a:spcAft>
            </a:pPr>
            <a:r>
              <a:rPr sz="600" b="0">
                <a:solidFill>
                  <a:srgbClr val="444444"/>
                </a:solidFill>
                <a:latin typeface="Ubuntu Mono"/>
                <a:ea typeface="Ubuntu Mono"/>
                <a:cs typeface="Ubuntu Mono"/>
                <a:sym typeface="Ubuntu Mono"/>
              </a:rPr>
              <a:t>Gauge as dressed, not ground; milled tooth and TCI.</a:t>
            </a:r>
          </a:p>
        </p:txBody>
      </p:sp>
      <p:sp>
        <p:nvSpPr>
          <p:cNvPr id="35" name="TextBox 34"/>
          <p:cNvSpPr txBox="1"/>
          <p:nvPr/>
        </p:nvSpPr>
        <p:spPr>
          <a:xfrm>
            <a:off x="4089400" y="892810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MASTER DRILLER (CONE ARM VERSION)</a:t>
            </a:r>
          </a:p>
        </p:txBody>
      </p:sp>
      <p:sp>
        <p:nvSpPr>
          <p:cNvPr id="36" name="TextBox 35"/>
          <p:cNvSpPr txBox="1"/>
          <p:nvPr/>
        </p:nvSpPr>
        <p:spPr>
          <a:xfrm>
            <a:off x="4089400" y="9118600"/>
            <a:ext cx="2755900" cy="762000"/>
          </a:xfrm>
          <a:prstGeom prst="rect">
            <a:avLst/>
          </a:prstGeom>
          <a:noFill/>
        </p:spPr>
        <p:txBody>
          <a:bodyPr wrap="square" lIns="0" rIns="0" tIns="0" bIns="0">
            <a:spAutoFit/>
          </a:bodyPr>
          <a:lstStyle/>
          <a:p>
            <a:pPr algn="just">
              <a:lnSpc>
                <a:spcPts val="780"/>
              </a:lnSpc>
              <a:spcAft>
                <a:spcPts val="0"/>
              </a:spcAft>
            </a:pPr>
            <a:r>
              <a:rPr sz="640" b="0">
                <a:solidFill>
                  <a:srgbClr val="000000"/>
                </a:solidFill>
                <a:latin typeface="Ubuntu Mono"/>
                <a:ea typeface="Ubuntu Mono"/>
                <a:cs typeface="Ubuntu Mono"/>
                <a:sym typeface="Ubuntu Mono"/>
              </a:rPr>
              <a:t>Cone-arm hole opener, up to 36 in.; one body takes several arm sizes. Bottom box for bit or bullnose. Milled tooth, TCI or PDC cones; soft to medium-hard formations. Body series 8200 to 15000: std. opening 12-1/4 to 36-5/8 in., min. pilot hole 8-1/2 to 24-5/8 in., body Ø 8-1/4 to 15-5/8 in., 640 - 1,900 lb.</a:t>
            </a:r>
          </a:p>
        </p:txBody>
      </p:sp>
      <p:sp>
        <p:nvSpPr>
          <p:cNvPr id="37" name="TextBox 36"/>
          <p:cNvSpPr txBox="1"/>
          <p:nvPr/>
        </p:nvSpPr>
        <p:spPr>
          <a:xfrm>
            <a:off x="4089400" y="975360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8" name="TextBox 37"/>
          <p:cNvSpPr txBox="1"/>
          <p:nvPr/>
        </p:nvSpPr>
        <p:spPr>
          <a:xfrm>
            <a:off x="4089400" y="9931400"/>
            <a:ext cx="2755900" cy="635000"/>
          </a:xfrm>
          <a:prstGeom prst="rect">
            <a:avLst/>
          </a:prstGeom>
          <a:noFill/>
        </p:spPr>
        <p:txBody>
          <a:bodyPr wrap="square" lIns="0" rIns="0" tIns="0" bIns="0">
            <a:spAutoFit/>
          </a:bodyPr>
          <a:lstStyle/>
          <a:p>
            <a:pPr algn="just">
              <a:lnSpc>
                <a:spcPts val="780"/>
              </a:lnSpc>
              <a:spcAft>
                <a:spcPts val="0"/>
              </a:spcAft>
            </a:pPr>
            <a:r>
              <a:rPr sz="640" b="0">
                <a:solidFill>
                  <a:srgbClr val="000000"/>
                </a:solidFill>
                <a:latin typeface="Ubuntu Mono"/>
                <a:ea typeface="Ubuntu Mono"/>
                <a:cs typeface="Ubuntu Mono"/>
                <a:sym typeface="Ubuntu Mono"/>
              </a:rPr>
              <a:t>Please specify: 1. pilot hole size  2. hole opening size  3. top and bottom connections if not standard  4. fishing neck diameter if not standard  5. cutter type (milled tooth or tungsten carbide insert) and formation (soft or medium).</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SPX</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ENLARGEMENT</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DRAG-TYPE UNDERREAMER, PDC CUTTERS</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DRAG-TYPE UNDERREAMER WITH SPX PDC CUTTERS ON THE CUTTING EDGE: THE HARDNESS AND WEAR RESISTANCE OF POLYCRYSTALLINE DIAMOND, BACKED BY THE STRENGTH OF CEMENTED TUNGSTEN CARBIDE. THE CUTTERS SHEAR THROUGH SOFT TO MEDIUM-HARD FORMATIONS FASTER THAN CONVENTIONAL TOOLS AND NEED LESS TOOL WEIGHT. USED IN POORLY CONSOLIDATED SOFT TO MEDIUM FORMATIONS WHERE LARGER DIAMETERS ARE REQUIRED FOR GRAVEL PACKING OR CEMENTING. A PILOT HOLE CAN BE ENLARGED UP TO THREE TIMES THE BODY DIAMETER IN A SINGLE TRIP.</a:t>
            </a:r>
          </a:p>
        </p:txBody>
      </p:sp>
      <p:sp>
        <p:nvSpPr>
          <p:cNvPr id="21" name="TextBox 20"/>
          <p:cNvSpPr txBox="1"/>
          <p:nvPr/>
        </p:nvSpPr>
        <p:spPr>
          <a:xfrm>
            <a:off x="711200" y="49530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156200"/>
          <a:ext cx="6134097" cy="1752600"/>
        </p:xfrm>
        <a:graphic>
          <a:graphicData uri="http://schemas.openxmlformats.org/drawingml/2006/table">
            <a:tbl>
              <a:tblPr/>
              <a:tblGrid>
                <a:gridCol w="434498"/>
                <a:gridCol w="408940"/>
                <a:gridCol w="485616"/>
                <a:gridCol w="1277937"/>
                <a:gridCol w="715645"/>
                <a:gridCol w="485616"/>
                <a:gridCol w="511175"/>
                <a:gridCol w="460057"/>
                <a:gridCol w="971232"/>
                <a:gridCol w="383381"/>
              </a:tblGrid>
              <a:tr h="482600">
                <a:tc>
                  <a:txBody>
                    <a:bodyPr wrap="square"/>
                    <a:lstStyle/>
                    <a:p>
                      <a:pPr algn="ctr">
                        <a:lnSpc>
                          <a:spcPts val="860"/>
                        </a:lnSpc>
                      </a:pPr>
                      <a:r>
                        <a:rPr sz="700" b="1">
                          <a:solidFill>
                            <a:srgbClr val="FEFEFF"/>
                          </a:solidFill>
                          <a:latin typeface="Ubuntu Mono"/>
                          <a:ea typeface="Ubuntu Mono"/>
                          <a:cs typeface="Ubuntu Mono"/>
                          <a:sym typeface="Ubuntu Mono"/>
                        </a:rPr>
                        <a:t>Tool series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Body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Min. pilot hole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Std. expanded Ø, SPX (PDC)</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Std. expanded Ø, tungsten carbide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Fishing neck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Fishing neck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Overall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Top pin API</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Wt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58750">
                <a:tc>
                  <a:txBody>
                    <a:bodyPr wrap="square"/>
                    <a:lstStyle/>
                    <a:p>
                      <a:pPr algn="ctr">
                        <a:lnSpc>
                          <a:spcPts val="860"/>
                        </a:lnSpc>
                      </a:pPr>
                      <a:r>
                        <a:rPr sz="700" b="0">
                          <a:solidFill>
                            <a:srgbClr val="FEFEFF"/>
                          </a:solidFill>
                          <a:latin typeface="Ubuntu Mono"/>
                          <a:ea typeface="Ubuntu Mono"/>
                          <a:cs typeface="Ubuntu Mono"/>
                          <a:sym typeface="Ubuntu Mono"/>
                        </a:rPr>
                        <a:t>3600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3-3/8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N/A</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3-3/8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26-1/2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2-3/8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tbc</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8750">
                <a:tc>
                  <a:txBody>
                    <a:bodyPr wrap="square"/>
                    <a:lstStyle/>
                    <a:p>
                      <a:pPr algn="ctr">
                        <a:lnSpc>
                          <a:spcPts val="860"/>
                        </a:lnSpc>
                      </a:pPr>
                      <a:r>
                        <a:rPr sz="700" b="0">
                          <a:solidFill>
                            <a:srgbClr val="FEFEFF"/>
                          </a:solidFill>
                          <a:latin typeface="Ubuntu Mono"/>
                          <a:ea typeface="Ubuntu Mono"/>
                          <a:cs typeface="Ubuntu Mono"/>
                          <a:sym typeface="Ubuntu Mono"/>
                        </a:rPr>
                        <a:t>4500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60"/>
                        </a:lnSpc>
                      </a:pPr>
                      <a:r>
                        <a:rPr sz="70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6-1/2, 6-3/4, 8-1/2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Upon request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4-1/4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69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3-1/2 IF</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230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8750">
                <a:tc>
                  <a:txBody>
                    <a:bodyPr wrap="square"/>
                    <a:lstStyle/>
                    <a:p>
                      <a:pPr algn="ctr">
                        <a:lnSpc>
                          <a:spcPts val="860"/>
                        </a:lnSpc>
                      </a:pPr>
                      <a:r>
                        <a:rPr sz="700" b="0">
                          <a:solidFill>
                            <a:srgbClr val="FEFEFF"/>
                          </a:solidFill>
                          <a:latin typeface="Ubuntu Mono"/>
                          <a:ea typeface="Ubuntu Mono"/>
                          <a:cs typeface="Ubuntu Mono"/>
                          <a:sym typeface="Ubuntu Mono"/>
                        </a:rPr>
                        <a:t>4700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Upon request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4-1/8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67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2-7/8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tbc</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8750">
                <a:tc>
                  <a:txBody>
                    <a:bodyPr wrap="square"/>
                    <a:lstStyle/>
                    <a:p>
                      <a:pPr algn="ctr">
                        <a:lnSpc>
                          <a:spcPts val="860"/>
                        </a:lnSpc>
                      </a:pPr>
                      <a:r>
                        <a:rPr sz="700" b="0">
                          <a:solidFill>
                            <a:srgbClr val="FEFEFF"/>
                          </a:solidFill>
                          <a:latin typeface="Ubuntu Mono"/>
                          <a:ea typeface="Ubuntu Mono"/>
                          <a:cs typeface="Ubuntu Mono"/>
                          <a:sym typeface="Ubuntu Mono"/>
                        </a:rPr>
                        <a:t>5700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60"/>
                        </a:lnSpc>
                      </a:pPr>
                      <a:r>
                        <a:rPr sz="700" b="0">
                          <a:solidFill>
                            <a:srgbClr val="000000"/>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7-1/2, 8, 8-1/2, 12, 13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70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3-1/2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350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8750">
                <a:tc>
                  <a:txBody>
                    <a:bodyPr wrap="square"/>
                    <a:lstStyle/>
                    <a:p>
                      <a:pPr algn="ctr">
                        <a:lnSpc>
                          <a:spcPts val="860"/>
                        </a:lnSpc>
                      </a:pPr>
                      <a:r>
                        <a:rPr sz="700" b="0">
                          <a:solidFill>
                            <a:srgbClr val="FEFEFF"/>
                          </a:solidFill>
                          <a:latin typeface="Ubuntu Mono"/>
                          <a:ea typeface="Ubuntu Mono"/>
                          <a:cs typeface="Ubuntu Mono"/>
                          <a:sym typeface="Ubuntu Mono"/>
                        </a:rPr>
                        <a:t>7200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7-1/4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10, 12-1/4, 13, 14, 15, 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22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4-1/2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750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8750">
                <a:tc>
                  <a:txBody>
                    <a:bodyPr wrap="square"/>
                    <a:lstStyle/>
                    <a:p>
                      <a:pPr algn="ctr">
                        <a:lnSpc>
                          <a:spcPts val="860"/>
                        </a:lnSpc>
                      </a:pPr>
                      <a:r>
                        <a:rPr sz="700" b="0">
                          <a:solidFill>
                            <a:srgbClr val="FEFEFF"/>
                          </a:solidFill>
                          <a:latin typeface="Ubuntu Mono"/>
                          <a:ea typeface="Ubuntu Mono"/>
                          <a:cs typeface="Ubuntu Mono"/>
                          <a:sym typeface="Ubuntu Mono"/>
                        </a:rPr>
                        <a:t>8200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60"/>
                        </a:lnSpc>
                      </a:pPr>
                      <a:r>
                        <a:rPr sz="700" b="0">
                          <a:solidFill>
                            <a:srgbClr val="000000"/>
                          </a:solidFill>
                          <a:latin typeface="Ubuntu Mono"/>
                          <a:ea typeface="Ubuntu Mono"/>
                          <a:cs typeface="Ubuntu Mono"/>
                          <a:sym typeface="Ubuntu Mono"/>
                        </a:rPr>
                        <a:t>8-1/4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8-1/2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10, 12-1/4, 14, 15, 16, 17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23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5-3/4 or 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4-1/2 or 6-5/8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tbc</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8750">
                <a:tc>
                  <a:txBody>
                    <a:bodyPr wrap="square"/>
                    <a:lstStyle/>
                    <a:p>
                      <a:pPr algn="ctr">
                        <a:lnSpc>
                          <a:spcPts val="860"/>
                        </a:lnSpc>
                      </a:pPr>
                      <a:r>
                        <a:rPr sz="700" b="0">
                          <a:solidFill>
                            <a:srgbClr val="FEFEFF"/>
                          </a:solidFill>
                          <a:latin typeface="Ubuntu Mono"/>
                          <a:ea typeface="Ubuntu Mono"/>
                          <a:cs typeface="Ubuntu Mono"/>
                          <a:sym typeface="Ubuntu Mono"/>
                        </a:rPr>
                        <a:t>9500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9-7/8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12-1/4, 17-1/2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28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6-5/8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tbc</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8750">
                <a:tc>
                  <a:txBody>
                    <a:bodyPr wrap="square"/>
                    <a:lstStyle/>
                    <a:p>
                      <a:pPr algn="ctr">
                        <a:lnSpc>
                          <a:spcPts val="860"/>
                        </a:lnSpc>
                      </a:pPr>
                      <a:r>
                        <a:rPr sz="700" b="0">
                          <a:solidFill>
                            <a:srgbClr val="FEFEFF"/>
                          </a:solidFill>
                          <a:latin typeface="Ubuntu Mono"/>
                          <a:ea typeface="Ubuntu Mono"/>
                          <a:cs typeface="Ubuntu Mono"/>
                          <a:sym typeface="Ubuntu Mono"/>
                        </a:rPr>
                        <a:t>11700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60"/>
                        </a:lnSpc>
                      </a:pPr>
                      <a:r>
                        <a:rPr sz="700" b="0">
                          <a:solidFill>
                            <a:srgbClr val="000000"/>
                          </a:solidFill>
                          <a:latin typeface="Ubuntu Mono"/>
                          <a:ea typeface="Ubuntu Mono"/>
                          <a:cs typeface="Ubuntu Mono"/>
                          <a:sym typeface="Ubuntu Mono"/>
                        </a:rPr>
                        <a:t>11-3/4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Upon request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36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8 or 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86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6-5/8 or 7-5/8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tbc</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3" name="TextBox 22"/>
          <p:cNvSpPr txBox="1"/>
          <p:nvPr/>
        </p:nvSpPr>
        <p:spPr>
          <a:xfrm>
            <a:off x="711200" y="6946900"/>
            <a:ext cx="6134100" cy="114300"/>
          </a:xfrm>
          <a:prstGeom prst="rect">
            <a:avLst/>
          </a:prstGeom>
          <a:noFill/>
        </p:spPr>
        <p:txBody>
          <a:bodyPr wrap="square" lIns="0" rIns="0" tIns="0" bIns="0">
            <a:spAutoFit/>
          </a:bodyPr>
          <a:lstStyle/>
          <a:p>
            <a:pPr algn="l">
              <a:spcAft>
                <a:spcPts val="0"/>
              </a:spcAft>
            </a:pPr>
            <a:r>
              <a:rPr sz="640" b="0">
                <a:solidFill>
                  <a:srgbClr val="444444"/>
                </a:solidFill>
                <a:latin typeface="Ubuntu Mono"/>
                <a:ea typeface="Ubuntu Mono"/>
                <a:cs typeface="Ubuntu Mono"/>
                <a:sym typeface="Ubuntu Mono"/>
              </a:rPr>
              <a:t>All dimensions in inches, weights in lb (approximate). Other expanded diameters, orifices and connections available on request.  tbc: to be confirmed.</a:t>
            </a:r>
          </a:p>
        </p:txBody>
      </p:sp>
      <p:sp>
        <p:nvSpPr>
          <p:cNvPr id="24" name="TextBox 23"/>
          <p:cNvSpPr txBox="1"/>
          <p:nvPr/>
        </p:nvSpPr>
        <p:spPr>
          <a:xfrm>
            <a:off x="711200" y="7213600"/>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5" name="TextBox 24"/>
          <p:cNvSpPr txBox="1"/>
          <p:nvPr/>
        </p:nvSpPr>
        <p:spPr>
          <a:xfrm>
            <a:off x="711200" y="7416800"/>
            <a:ext cx="3022600" cy="127000"/>
          </a:xfrm>
          <a:prstGeom prst="rect">
            <a:avLst/>
          </a:prstGeom>
          <a:noFill/>
        </p:spPr>
        <p:txBody>
          <a:bodyPr wrap="square" lIns="0" rIns="0" tIns="0" bIns="0">
            <a:spAutoFit/>
          </a:bodyPr>
          <a:lstStyle/>
          <a:p>
            <a:pPr algn="l">
              <a:lnSpc>
                <a:spcPts val="900"/>
              </a:lnSpc>
              <a:spcAft>
                <a:spcPts val="20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Self-cleaning arms: </a:t>
            </a:r>
            <a:r>
              <a:rPr sz="710" b="0">
                <a:solidFill>
                  <a:srgbClr val="000000"/>
                </a:solidFill>
                <a:latin typeface="Ubuntu Mono"/>
                <a:ea typeface="Ubuntu Mono"/>
                <a:cs typeface="Ubuntu Mono"/>
                <a:sym typeface="Ubuntu Mono"/>
              </a:rPr>
              <a:t>a circulation jet nozzle sends part of the flow out of each arm pocket, cleaning the cutting surfaces, improving cuttings removal and dissipating frictional heat.</a:t>
            </a:r>
          </a:p>
          <a:p>
            <a:pPr algn="l">
              <a:lnSpc>
                <a:spcPts val="900"/>
              </a:lnSpc>
              <a:spcAft>
                <a:spcPts val="20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Durable arms: </a:t>
            </a:r>
            <a:r>
              <a:rPr sz="710" b="0">
                <a:solidFill>
                  <a:srgbClr val="000000"/>
                </a:solidFill>
                <a:latin typeface="Ubuntu Mono"/>
                <a:ea typeface="Ubuntu Mono"/>
                <a:cs typeface="Ubuntu Mono"/>
                <a:sym typeface="Ubuntu Mono"/>
              </a:rPr>
              <a:t>dressed with long-wearing cutting-grade tungsten carbide.</a:t>
            </a:r>
          </a:p>
          <a:p>
            <a:pPr algn="l">
              <a:lnSpc>
                <a:spcPts val="900"/>
              </a:lnSpc>
              <a:spcAft>
                <a:spcPts val="20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Field serviceable: </a:t>
            </a:r>
            <a:r>
              <a:rPr sz="710" b="0">
                <a:solidFill>
                  <a:srgbClr val="000000"/>
                </a:solidFill>
                <a:latin typeface="Ubuntu Mono"/>
                <a:ea typeface="Ubuntu Mono"/>
                <a:cs typeface="Ubuntu Mono"/>
                <a:sym typeface="Ubuntu Mono"/>
              </a:rPr>
              <a:t>low-cost cutter arms and orifices can be replaced in the field.</a:t>
            </a:r>
          </a:p>
          <a:p>
            <a:pPr algn="l">
              <a:lnSpc>
                <a:spcPts val="900"/>
              </a:lnSpc>
              <a:spcAft>
                <a:spcPts val="20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Optional Flo-Tel: </a:t>
            </a:r>
            <a:r>
              <a:rPr sz="710" b="0">
                <a:solidFill>
                  <a:srgbClr val="000000"/>
                </a:solidFill>
                <a:latin typeface="Ubuntu Mono"/>
                <a:ea typeface="Ubuntu Mono"/>
                <a:cs typeface="Ubuntu Mono"/>
                <a:sym typeface="Ubuntu Mono"/>
              </a:rPr>
              <a:t>pump pressure drops by 200 - 250 psi when the arms are fully extended, confirming full-gauge underreaming.</a:t>
            </a:r>
          </a:p>
        </p:txBody>
      </p:sp>
      <p:sp>
        <p:nvSpPr>
          <p:cNvPr id="26" name="TextBox 25"/>
          <p:cNvSpPr txBox="1"/>
          <p:nvPr/>
        </p:nvSpPr>
        <p:spPr>
          <a:xfrm>
            <a:off x="3810000" y="721360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PERFORMANCE PARAMETERS</a:t>
            </a:r>
          </a:p>
        </p:txBody>
      </p:sp>
      <p:graphicFrame>
        <p:nvGraphicFramePr>
          <p:cNvPr id="27" name="Table 26"/>
          <p:cNvGraphicFramePr>
            <a:graphicFrameLocks noGrp="1"/>
          </p:cNvGraphicFramePr>
          <p:nvPr/>
        </p:nvGraphicFramePr>
        <p:xfrm>
          <a:off x="3810000" y="7416800"/>
          <a:ext cx="3035300" cy="960120"/>
        </p:xfrm>
        <a:graphic>
          <a:graphicData uri="http://schemas.openxmlformats.org/drawingml/2006/table">
            <a:tbl>
              <a:tblPr/>
              <a:tblGrid>
                <a:gridCol w="1320800"/>
                <a:gridCol w="1714500"/>
              </a:tblGrid>
              <a:tr h="160020">
                <a:tc>
                  <a:txBody>
                    <a:bodyPr wrap="square"/>
                    <a:lstStyle/>
                    <a:p>
                      <a:pPr algn="l">
                        <a:lnSpc>
                          <a:spcPts val="840"/>
                        </a:lnSpc>
                      </a:pPr>
                      <a:r>
                        <a:rPr sz="680" b="0">
                          <a:solidFill>
                            <a:srgbClr val="FEFEFF"/>
                          </a:solidFill>
                          <a:latin typeface="Ubuntu Mono"/>
                          <a:ea typeface="Ubuntu Mono"/>
                          <a:cs typeface="Ubuntu Mono"/>
                          <a:sym typeface="Ubuntu Mono"/>
                        </a:rPr>
                        <a:t>Rotary speed, cutting the shoulder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40"/>
                        </a:lnSpc>
                      </a:pPr>
                      <a:r>
                        <a:rPr sz="680" b="0">
                          <a:solidFill>
                            <a:srgbClr val="000000"/>
                          </a:solidFill>
                          <a:latin typeface="Ubuntu Mono"/>
                          <a:ea typeface="Ubuntu Mono"/>
                          <a:cs typeface="Ubuntu Mono"/>
                          <a:sym typeface="Ubuntu Mono"/>
                        </a:rPr>
                        <a:t>40 - 60 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0020">
                <a:tc>
                  <a:txBody>
                    <a:bodyPr wrap="square"/>
                    <a:lstStyle/>
                    <a:p>
                      <a:pPr algn="l">
                        <a:lnSpc>
                          <a:spcPts val="840"/>
                        </a:lnSpc>
                      </a:pPr>
                      <a:r>
                        <a:rPr sz="680" b="0">
                          <a:solidFill>
                            <a:srgbClr val="FEFEFF"/>
                          </a:solidFill>
                          <a:latin typeface="Ubuntu Mono"/>
                          <a:ea typeface="Ubuntu Mono"/>
                          <a:cs typeface="Ubuntu Mono"/>
                          <a:sym typeface="Ubuntu Mono"/>
                        </a:rPr>
                        <a:t>Flow rate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40"/>
                        </a:lnSpc>
                      </a:pPr>
                      <a:r>
                        <a:rPr sz="680" b="0">
                          <a:solidFill>
                            <a:srgbClr val="000000"/>
                          </a:solidFill>
                          <a:latin typeface="Ubuntu Mono"/>
                          <a:ea typeface="Ubuntu Mono"/>
                          <a:cs typeface="Ubuntu Mono"/>
                          <a:sym typeface="Ubuntu Mono"/>
                        </a:rPr>
                        <a:t>Increase gradually, 250 - 450 gpm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60020">
                <a:tc>
                  <a:txBody>
                    <a:bodyPr wrap="square"/>
                    <a:lstStyle/>
                    <a:p>
                      <a:pPr algn="l">
                        <a:lnSpc>
                          <a:spcPts val="840"/>
                        </a:lnSpc>
                      </a:pPr>
                      <a:r>
                        <a:rPr sz="680" b="0">
                          <a:solidFill>
                            <a:srgbClr val="FEFEFF"/>
                          </a:solidFill>
                          <a:latin typeface="Ubuntu Mono"/>
                          <a:ea typeface="Ubuntu Mono"/>
                          <a:cs typeface="Ubuntu Mono"/>
                          <a:sym typeface="Ubuntu Mono"/>
                        </a:rPr>
                        <a:t>Weight on tool</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40"/>
                        </a:lnSpc>
                      </a:pPr>
                      <a:r>
                        <a:rPr sz="680" b="0">
                          <a:solidFill>
                            <a:srgbClr val="000000"/>
                          </a:solidFill>
                          <a:latin typeface="Ubuntu Mono"/>
                          <a:ea typeface="Ubuntu Mono"/>
                          <a:cs typeface="Ubuntu Mono"/>
                          <a:sym typeface="Ubuntu Mono"/>
                        </a:rPr>
                        <a:t>Start at 3,000 lb, up to 10,000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0020">
                <a:tc>
                  <a:txBody>
                    <a:bodyPr wrap="square"/>
                    <a:lstStyle/>
                    <a:p>
                      <a:pPr algn="l">
                        <a:lnSpc>
                          <a:spcPts val="840"/>
                        </a:lnSpc>
                      </a:pPr>
                      <a:r>
                        <a:rPr sz="680" b="0">
                          <a:solidFill>
                            <a:srgbClr val="FEFEFF"/>
                          </a:solidFill>
                          <a:latin typeface="Ubuntu Mono"/>
                          <a:ea typeface="Ubuntu Mono"/>
                          <a:cs typeface="Ubuntu Mono"/>
                          <a:sym typeface="Ubuntu Mono"/>
                        </a:rPr>
                        <a:t>With Flo-Tel</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40"/>
                        </a:lnSpc>
                      </a:pPr>
                      <a:r>
                        <a:rPr sz="680" b="0">
                          <a:solidFill>
                            <a:srgbClr val="000000"/>
                          </a:solidFill>
                          <a:latin typeface="Ubuntu Mono"/>
                          <a:ea typeface="Ubuntu Mono"/>
                          <a:cs typeface="Ubuntu Mono"/>
                          <a:sym typeface="Ubuntu Mono"/>
                        </a:rPr>
                        <a:t>80 - 150 rpm at max. pump pressure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60020">
                <a:tc>
                  <a:txBody>
                    <a:bodyPr wrap="square"/>
                    <a:lstStyle/>
                    <a:p>
                      <a:pPr algn="l">
                        <a:lnSpc>
                          <a:spcPts val="840"/>
                        </a:lnSpc>
                      </a:pPr>
                      <a:r>
                        <a:rPr sz="680" b="0">
                          <a:solidFill>
                            <a:srgbClr val="FEFEFF"/>
                          </a:solidFill>
                          <a:latin typeface="Ubuntu Mono"/>
                          <a:ea typeface="Ubuntu Mono"/>
                          <a:cs typeface="Ubuntu Mono"/>
                          <a:sym typeface="Ubuntu Mono"/>
                        </a:rPr>
                        <a:t>Circulating medium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40"/>
                        </a:lnSpc>
                      </a:pPr>
                      <a:r>
                        <a:rPr sz="680" b="0">
                          <a:solidFill>
                            <a:srgbClr val="000000"/>
                          </a:solidFill>
                          <a:latin typeface="Ubuntu Mono"/>
                          <a:ea typeface="Ubuntu Mono"/>
                          <a:cs typeface="Ubuntu Mono"/>
                          <a:sym typeface="Ubuntu Mono"/>
                        </a:rPr>
                        <a:t>Water, mud, air, aerated mud, foam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0020">
                <a:tc>
                  <a:txBody>
                    <a:bodyPr wrap="square"/>
                    <a:lstStyle/>
                    <a:p>
                      <a:pPr algn="l">
                        <a:lnSpc>
                          <a:spcPts val="840"/>
                        </a:lnSpc>
                      </a:pPr>
                      <a:r>
                        <a:rPr sz="680" b="0">
                          <a:solidFill>
                            <a:srgbClr val="FEFEFF"/>
                          </a:solidFill>
                          <a:latin typeface="Ubuntu Mono"/>
                          <a:ea typeface="Ubuntu Mono"/>
                          <a:cs typeface="Ubuntu Mono"/>
                          <a:sym typeface="Ubuntu Mono"/>
                        </a:rPr>
                        <a:t>Max. enlargement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40"/>
                        </a:lnSpc>
                      </a:pPr>
                      <a:r>
                        <a:rPr sz="680" b="0">
                          <a:solidFill>
                            <a:srgbClr val="000000"/>
                          </a:solidFill>
                          <a:latin typeface="Ubuntu Mono"/>
                          <a:ea typeface="Ubuntu Mono"/>
                          <a:cs typeface="Ubuntu Mono"/>
                          <a:sym typeface="Ubuntu Mono"/>
                        </a:rPr>
                        <a:t>3 x body Ø in a single trip</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8" name="TextBox 27"/>
          <p:cNvSpPr txBox="1"/>
          <p:nvPr/>
        </p:nvSpPr>
        <p:spPr>
          <a:xfrm>
            <a:off x="711200" y="8686800"/>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ADVANTAGES</a:t>
            </a:r>
          </a:p>
        </p:txBody>
      </p:sp>
      <p:sp>
        <p:nvSpPr>
          <p:cNvPr id="29" name="TextBox 28"/>
          <p:cNvSpPr txBox="1"/>
          <p:nvPr/>
        </p:nvSpPr>
        <p:spPr>
          <a:xfrm>
            <a:off x="711200" y="8890000"/>
            <a:ext cx="3022600" cy="127000"/>
          </a:xfrm>
          <a:prstGeom prst="rect">
            <a:avLst/>
          </a:prstGeom>
          <a:noFill/>
        </p:spPr>
        <p:txBody>
          <a:bodyPr wrap="square" lIns="0" rIns="0" tIns="0" bIns="0">
            <a:spAutoFit/>
          </a:bodyPr>
          <a:lstStyle/>
          <a:p>
            <a:pPr algn="l">
              <a:lnSpc>
                <a:spcPts val="900"/>
              </a:lnSpc>
              <a:spcAft>
                <a:spcPts val="200"/>
              </a:spcAft>
            </a:pPr>
            <a:r>
              <a:rPr sz="560" b="0">
                <a:solidFill>
                  <a:srgbClr val="01ADEE"/>
                </a:solidFill>
                <a:latin typeface="Ubuntu Mono"/>
                <a:ea typeface="Ubuntu Mono"/>
                <a:cs typeface="Ubuntu Mono"/>
                <a:sym typeface="Ubuntu Mono"/>
              </a:rPr>
              <a:t>■ </a:t>
            </a:r>
            <a:r>
              <a:rPr sz="710" b="0">
                <a:solidFill>
                  <a:srgbClr val="000000"/>
                </a:solidFill>
                <a:latin typeface="Ubuntu Mono"/>
                <a:ea typeface="Ubuntu Mono"/>
                <a:cs typeface="Ubuntu Mono"/>
                <a:sym typeface="Ubuntu Mono"/>
              </a:rPr>
              <a:t>Faster penetration and more time on bottom</a:t>
            </a:r>
          </a:p>
          <a:p>
            <a:pPr algn="l">
              <a:lnSpc>
                <a:spcPts val="900"/>
              </a:lnSpc>
              <a:spcAft>
                <a:spcPts val="200"/>
              </a:spcAft>
            </a:pPr>
            <a:r>
              <a:rPr sz="560" b="0">
                <a:solidFill>
                  <a:srgbClr val="01ADEE"/>
                </a:solidFill>
                <a:latin typeface="Ubuntu Mono"/>
                <a:ea typeface="Ubuntu Mono"/>
                <a:cs typeface="Ubuntu Mono"/>
                <a:sym typeface="Ubuntu Mono"/>
              </a:rPr>
              <a:t>■ </a:t>
            </a:r>
            <a:r>
              <a:rPr sz="710" b="0">
                <a:solidFill>
                  <a:srgbClr val="000000"/>
                </a:solidFill>
                <a:latin typeface="Ubuntu Mono"/>
                <a:ea typeface="Ubuntu Mono"/>
                <a:cs typeface="Ubuntu Mono"/>
                <a:sym typeface="Ubuntu Mono"/>
              </a:rPr>
              <a:t>Less rig time and lower total cost per foot</a:t>
            </a:r>
          </a:p>
          <a:p>
            <a:pPr algn="l">
              <a:lnSpc>
                <a:spcPts val="900"/>
              </a:lnSpc>
              <a:spcAft>
                <a:spcPts val="200"/>
              </a:spcAft>
            </a:pPr>
            <a:r>
              <a:rPr sz="560" b="0">
                <a:solidFill>
                  <a:srgbClr val="01ADEE"/>
                </a:solidFill>
                <a:latin typeface="Ubuntu Mono"/>
                <a:ea typeface="Ubuntu Mono"/>
                <a:cs typeface="Ubuntu Mono"/>
                <a:sym typeface="Ubuntu Mono"/>
              </a:rPr>
              <a:t>■ </a:t>
            </a:r>
            <a:r>
              <a:rPr sz="710" b="0">
                <a:solidFill>
                  <a:srgbClr val="000000"/>
                </a:solidFill>
                <a:latin typeface="Ubuntu Mono"/>
                <a:ea typeface="Ubuntu Mono"/>
                <a:cs typeface="Ubuntu Mono"/>
                <a:sym typeface="Ubuntu Mono"/>
              </a:rPr>
              <a:t>Quick drilling through producing zones limits formation damage and hole-stability problems</a:t>
            </a:r>
          </a:p>
        </p:txBody>
      </p:sp>
      <p:sp>
        <p:nvSpPr>
          <p:cNvPr id="30" name="TextBox 29"/>
          <p:cNvSpPr txBox="1"/>
          <p:nvPr/>
        </p:nvSpPr>
        <p:spPr>
          <a:xfrm>
            <a:off x="3810000" y="868680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1" name="TextBox 30"/>
          <p:cNvSpPr txBox="1"/>
          <p:nvPr/>
        </p:nvSpPr>
        <p:spPr>
          <a:xfrm>
            <a:off x="3810000" y="8877300"/>
            <a:ext cx="3035300" cy="508000"/>
          </a:xfrm>
          <a:prstGeom prst="rect">
            <a:avLst/>
          </a:prstGeom>
          <a:noFill/>
        </p:spPr>
        <p:txBody>
          <a:bodyPr wrap="square" lIns="0" rIns="0" tIns="0" bIns="0">
            <a:spAutoFit/>
          </a:bodyPr>
          <a:lstStyle/>
          <a:p>
            <a:pPr algn="just">
              <a:lnSpc>
                <a:spcPts val="880"/>
              </a:lnSpc>
              <a:spcAft>
                <a:spcPts val="0"/>
              </a:spcAft>
            </a:pPr>
            <a:r>
              <a:rPr sz="690" b="0">
                <a:solidFill>
                  <a:srgbClr val="000000"/>
                </a:solidFill>
                <a:latin typeface="Ubuntu Mono"/>
                <a:ea typeface="Ubuntu Mono"/>
                <a:cs typeface="Ubuntu Mono"/>
                <a:sym typeface="Ubuntu Mono"/>
              </a:rPr>
              <a:t>Please specify: 1. tool series  2. top and bottom connections  3. fishing neck Ø  4. opening Ø  5. size and weight of casing to run through, if known  6. bullnose or bits (ordered separately)  7. cutting structure (milled tooth, TCI or PDC).</a:t>
            </a:r>
          </a:p>
        </p:txBody>
      </p:sp>
      <p:pic>
        <p:nvPicPr>
          <p:cNvPr id="32" name="Picture 31" descr="spx_tool_blue.png"/>
          <p:cNvPicPr>
            <a:picLocks noChangeAspect="1"/>
          </p:cNvPicPr>
          <p:nvPr/>
        </p:nvPicPr>
        <p:blipFill>
          <a:blip r:embed="rId4"/>
          <a:stretch>
            <a:fillRect/>
          </a:stretch>
        </p:blipFill>
        <p:spPr>
          <a:xfrm>
            <a:off x="711200" y="9626600"/>
            <a:ext cx="3810000" cy="693874"/>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INTENSIFIER</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JARRING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JAR INTENSIFIER, HYDRAULIC FLUID SPRING</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HYDRAULIC FLUID SPRING RUN WITH AN OIL JAR TO BOOST JARRING. AS THE STRING IS PULLED, A PISTON COMPRESSES A HIGHLY COMPRESSIBLE SILICONE FLUID AND STORES ENERGY JUST ABOVE THE DRILL COLLARS. WHEN THE JAR TRIPS, THIS ENERGY ACCELERATES THE COLLARS AND JAR UPWARD FOR A HIGH-IMPACT BLOW, LARGELY INDEPENDENT OF STRING DRAG OR DEPTH. IT ALSO CUSHIONS THE REBOUND AFTER EACH STROKE, AND ALLOWS FEWER DRILL COLLARS, ESPECIALLY IN SHALLOW HOLES.</a:t>
            </a:r>
          </a:p>
        </p:txBody>
      </p:sp>
      <p:sp>
        <p:nvSpPr>
          <p:cNvPr id="21" name="TextBox 20"/>
          <p:cNvSpPr txBox="1"/>
          <p:nvPr/>
        </p:nvSpPr>
        <p:spPr>
          <a:xfrm>
            <a:off x="711200" y="49784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181600"/>
          <a:ext cx="6134098" cy="2705100"/>
        </p:xfrm>
        <a:graphic>
          <a:graphicData uri="http://schemas.openxmlformats.org/drawingml/2006/table">
            <a:tbl>
              <a:tblPr/>
              <a:tblGrid>
                <a:gridCol w="567972"/>
                <a:gridCol w="567972"/>
                <a:gridCol w="851958"/>
                <a:gridCol w="1135944"/>
                <a:gridCol w="1079147"/>
                <a:gridCol w="1079147"/>
                <a:gridCol w="851958"/>
              </a:tblGrid>
              <a:tr h="330200">
                <a:tc>
                  <a:txBody>
                    <a:bodyPr wrap="square"/>
                    <a:lstStyle/>
                    <a:p>
                      <a:pPr algn="ctr">
                        <a:lnSpc>
                          <a:spcPts val="850"/>
                        </a:lnSpc>
                      </a:pPr>
                      <a:r>
                        <a:rPr sz="690" b="1">
                          <a:solidFill>
                            <a:srgbClr val="FEFEFF"/>
                          </a:solidFill>
                          <a:latin typeface="Ubuntu Mono"/>
                          <a:ea typeface="Ubuntu Mono"/>
                          <a:cs typeface="Ubuntu Mono"/>
                          <a:sym typeface="Ubuntu Mono"/>
                        </a:rPr>
                        <a:t>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50"/>
                        </a:lnSpc>
                      </a:pPr>
                      <a:r>
                        <a:rPr sz="690" b="1">
                          <a:solidFill>
                            <a:srgbClr val="FEFEFF"/>
                          </a:solidFill>
                          <a:latin typeface="Ubuntu Mono"/>
                          <a:ea typeface="Ubuntu Mono"/>
                          <a:cs typeface="Ubuntu Mono"/>
                          <a:sym typeface="Ubuntu Mono"/>
                        </a:rPr>
                        <a:t>I.D.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50"/>
                        </a:lnSpc>
                      </a:pPr>
                      <a:r>
                        <a:rPr sz="690" b="1">
                          <a:solidFill>
                            <a:srgbClr val="FEFEFF"/>
                          </a:solidFill>
                          <a:latin typeface="Ubuntu Mono"/>
                          <a:ea typeface="Ubuntu Mono"/>
                          <a:cs typeface="Ubuntu Mono"/>
                          <a:sym typeface="Ubuntu Mono"/>
                        </a:rPr>
                        <a:t>Total stroke to solid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50"/>
                        </a:lnSpc>
                      </a:pPr>
                      <a:r>
                        <a:rPr sz="690" b="1">
                          <a:solidFill>
                            <a:srgbClr val="FEFEFF"/>
                          </a:solidFill>
                          <a:latin typeface="Ubuntu Mono"/>
                          <a:ea typeface="Ubuntu Mono"/>
                          <a:cs typeface="Ubuntu Mono"/>
                          <a:sym typeface="Ubuntu Mono"/>
                        </a:rPr>
                        <a:t>Collar weight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50"/>
                        </a:lnSpc>
                      </a:pPr>
                      <a:r>
                        <a:rPr sz="690" b="1">
                          <a:solidFill>
                            <a:srgbClr val="FEFEFF"/>
                          </a:solidFill>
                          <a:latin typeface="Ubuntu Mono"/>
                          <a:ea typeface="Ubuntu Mono"/>
                          <a:cs typeface="Ubuntu Mono"/>
                          <a:sym typeface="Ubuntu Mono"/>
                        </a:rPr>
                        <a:t>Tensile at yield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50"/>
                        </a:lnSpc>
                      </a:pPr>
                      <a:r>
                        <a:rPr sz="690" b="1">
                          <a:solidFill>
                            <a:srgbClr val="FEFEFF"/>
                          </a:solidFill>
                          <a:latin typeface="Ubuntu Mono"/>
                          <a:ea typeface="Ubuntu Mono"/>
                          <a:cs typeface="Ubuntu Mono"/>
                          <a:sym typeface="Ubuntu Mono"/>
                        </a:rPr>
                        <a:t>Torque at yield (ft-lb)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50"/>
                        </a:lnSpc>
                      </a:pPr>
                      <a:r>
                        <a:rPr sz="690" b="1">
                          <a:solidFill>
                            <a:srgbClr val="FEFEFF"/>
                          </a:solidFill>
                          <a:latin typeface="Ubuntu Mono"/>
                          <a:ea typeface="Ubuntu Mono"/>
                          <a:cs typeface="Ubuntu Mono"/>
                          <a:sym typeface="Ubuntu Mono"/>
                        </a:rPr>
                        <a:t>Fluid volume (gal)</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39700">
                <a:tc>
                  <a:txBody>
                    <a:bodyPr wrap="square"/>
                    <a:lstStyle/>
                    <a:p>
                      <a:pPr algn="ctr">
                        <a:lnSpc>
                          <a:spcPts val="850"/>
                        </a:lnSpc>
                      </a:pPr>
                      <a:r>
                        <a:rPr sz="690" b="0">
                          <a:solidFill>
                            <a:srgbClr val="FEFEFF"/>
                          </a:solidFill>
                          <a:latin typeface="Ubuntu Mono"/>
                          <a:ea typeface="Ubuntu Mono"/>
                          <a:cs typeface="Ubuntu Mono"/>
                          <a:sym typeface="Ubuntu Mono"/>
                        </a:rPr>
                        <a:t>1-5/8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50"/>
                        </a:lnSpc>
                      </a:pPr>
                      <a:r>
                        <a:rPr sz="690" b="0">
                          <a:solidFill>
                            <a:srgbClr val="000000"/>
                          </a:solidFill>
                          <a:latin typeface="Ubuntu Mono"/>
                          <a:ea typeface="Ubuntu Mono"/>
                          <a:cs typeface="Ubuntu Mono"/>
                          <a:sym typeface="Ubuntu Mono"/>
                        </a:rPr>
                        <a:t>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1,100 - 1,400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43,200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260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0.13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50"/>
                        </a:lnSpc>
                      </a:pPr>
                      <a:r>
                        <a:rPr sz="690" b="0">
                          <a:solidFill>
                            <a:srgbClr val="FEFEFF"/>
                          </a:solidFill>
                          <a:latin typeface="Ubuntu Mono"/>
                          <a:ea typeface="Ubuntu Mono"/>
                          <a:cs typeface="Ubuntu Mono"/>
                          <a:sym typeface="Ubuntu Mono"/>
                        </a:rPr>
                        <a:t>1-13/16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50"/>
                        </a:lnSpc>
                      </a:pPr>
                      <a:r>
                        <a:rPr sz="690" b="0">
                          <a:solidFill>
                            <a:srgbClr val="000000"/>
                          </a:solidFill>
                          <a:latin typeface="Ubuntu Mono"/>
                          <a:ea typeface="Ubuntu Mono"/>
                          <a:cs typeface="Ubuntu Mono"/>
                          <a:sym typeface="Ubuntu Mono"/>
                        </a:rPr>
                        <a:t>5/16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1,360 - 1,800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59,400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340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0.195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50"/>
                        </a:lnSpc>
                      </a:pPr>
                      <a:r>
                        <a:rPr sz="690" b="0">
                          <a:solidFill>
                            <a:srgbClr val="FEFEFF"/>
                          </a:solidFill>
                          <a:latin typeface="Ubuntu Mono"/>
                          <a:ea typeface="Ubuntu Mono"/>
                          <a:cs typeface="Ubuntu Mono"/>
                          <a:sym typeface="Ubuntu Mono"/>
                        </a:rPr>
                        <a:t>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50"/>
                        </a:lnSpc>
                      </a:pPr>
                      <a:r>
                        <a:rPr sz="690" b="0">
                          <a:solidFill>
                            <a:srgbClr val="000000"/>
                          </a:solidFill>
                          <a:latin typeface="Ubuntu Mono"/>
                          <a:ea typeface="Ubuntu Mono"/>
                          <a:cs typeface="Ubuntu Mono"/>
                          <a:sym typeface="Ubuntu Mono"/>
                        </a:rPr>
                        <a:t>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1,560 - 2,100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118,500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1,800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0.211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50"/>
                        </a:lnSpc>
                      </a:pPr>
                      <a:r>
                        <a:rPr sz="690" b="0">
                          <a:solidFill>
                            <a:srgbClr val="FEFEFF"/>
                          </a:solidFill>
                          <a:latin typeface="Ubuntu Mono"/>
                          <a:ea typeface="Ubuntu Mono"/>
                          <a:cs typeface="Ubuntu Mono"/>
                          <a:sym typeface="Ubuntu Mono"/>
                        </a:rPr>
                        <a:t>2-29/32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50"/>
                        </a:lnSpc>
                      </a:pPr>
                      <a:r>
                        <a:rPr sz="690" b="0">
                          <a:solidFill>
                            <a:srgbClr val="000000"/>
                          </a:solidFill>
                          <a:latin typeface="Ubuntu Mono"/>
                          <a:ea typeface="Ubuntu Mono"/>
                          <a:cs typeface="Ubuntu Mono"/>
                          <a:sym typeface="Ubuntu Mono"/>
                        </a:rPr>
                        <a:t>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12-3/4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2,200 - 3,000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194,800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2,260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0.692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50"/>
                        </a:lnSpc>
                      </a:pPr>
                      <a:r>
                        <a:rPr sz="690" b="0">
                          <a:solidFill>
                            <a:srgbClr val="FEFEFF"/>
                          </a:solidFill>
                          <a:latin typeface="Ubuntu Mono"/>
                          <a:ea typeface="Ubuntu Mono"/>
                          <a:cs typeface="Ubuntu Mono"/>
                          <a:sym typeface="Ubuntu Mono"/>
                        </a:rPr>
                        <a:t>3-1/8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50"/>
                        </a:lnSpc>
                      </a:pPr>
                      <a:r>
                        <a:rPr sz="690" b="0">
                          <a:solidFill>
                            <a:srgbClr val="000000"/>
                          </a:solidFill>
                          <a:latin typeface="Ubuntu Mono"/>
                          <a:ea typeface="Ubuntu Mono"/>
                          <a:cs typeface="Ubuntu Mono"/>
                          <a:sym typeface="Ubuntu Mono"/>
                        </a:rPr>
                        <a:t>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8-3/4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2,400 - 3,300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229,200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4,068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0.375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50"/>
                        </a:lnSpc>
                      </a:pPr>
                      <a:r>
                        <a:rPr sz="690" b="0">
                          <a:solidFill>
                            <a:srgbClr val="FEFEFF"/>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50"/>
                        </a:lnSpc>
                      </a:pPr>
                      <a:r>
                        <a:rPr sz="690" b="0">
                          <a:solidFill>
                            <a:srgbClr val="000000"/>
                          </a:solidFill>
                          <a:latin typeface="Ubuntu Mono"/>
                          <a:ea typeface="Ubuntu Mono"/>
                          <a:cs typeface="Ubuntu Mono"/>
                          <a:sym typeface="Ubuntu Mono"/>
                        </a:rPr>
                        <a:t>1-1/4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8-1/4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4,200 - 5,700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345,000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7,640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0.82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50"/>
                        </a:lnSpc>
                      </a:pPr>
                      <a:r>
                        <a:rPr sz="690" b="0">
                          <a:solidFill>
                            <a:srgbClr val="FEFEFF"/>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50"/>
                        </a:lnSpc>
                      </a:pPr>
                      <a:r>
                        <a:rPr sz="690" b="0">
                          <a:solidFill>
                            <a:srgbClr val="000000"/>
                          </a:solidFill>
                          <a:latin typeface="Ubuntu Mono"/>
                          <a:ea typeface="Ubuntu Mono"/>
                          <a:cs typeface="Ubuntu Mono"/>
                          <a:sym typeface="Ubuntu Mono"/>
                        </a:rPr>
                        <a:t>1-1/2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7-7/8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3,400 - 4,600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299,700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5,340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0.63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50"/>
                        </a:lnSpc>
                      </a:pPr>
                      <a:r>
                        <a:rPr sz="690" b="0">
                          <a:solidFill>
                            <a:srgbClr val="FEFEFF"/>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50"/>
                        </a:lnSpc>
                      </a:pPr>
                      <a:r>
                        <a:rPr sz="690" b="0">
                          <a:solidFill>
                            <a:srgbClr val="000000"/>
                          </a:solidFill>
                          <a:latin typeface="Ubuntu Mono"/>
                          <a:ea typeface="Ubuntu Mono"/>
                          <a:cs typeface="Ubuntu Mono"/>
                          <a:sym typeface="Ubuntu Mono"/>
                        </a:rPr>
                        <a:t>1-7/8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3,500 - 4,700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179,500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2,980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0.613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50"/>
                        </a:lnSpc>
                      </a:pPr>
                      <a:r>
                        <a:rPr sz="690" b="0">
                          <a:solidFill>
                            <a:srgbClr val="FEFEFF"/>
                          </a:solidFill>
                          <a:latin typeface="Ubuntu Mono"/>
                          <a:ea typeface="Ubuntu Mono"/>
                          <a:cs typeface="Ubuntu Mono"/>
                          <a:sym typeface="Ubuntu Mono"/>
                        </a:rPr>
                        <a:t>4-1/4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50"/>
                        </a:lnSpc>
                      </a:pPr>
                      <a:r>
                        <a:rPr sz="690" b="0">
                          <a:solidFill>
                            <a:srgbClr val="000000"/>
                          </a:solidFill>
                          <a:latin typeface="Ubuntu Mono"/>
                          <a:ea typeface="Ubuntu Mono"/>
                          <a:cs typeface="Ubuntu Mono"/>
                          <a:sym typeface="Ubuntu Mono"/>
                        </a:rPr>
                        <a:t>1-15/16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3,500 - 4,700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430,300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9,920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0.92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50"/>
                        </a:lnSpc>
                      </a:pPr>
                      <a:r>
                        <a:rPr sz="690" b="0">
                          <a:solidFill>
                            <a:srgbClr val="FEFEFF"/>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50"/>
                        </a:lnSpc>
                      </a:pPr>
                      <a:r>
                        <a:rPr sz="69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10-3/8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3,600 - 4,900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375,000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11,160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1.15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50"/>
                        </a:lnSpc>
                      </a:pPr>
                      <a:r>
                        <a:rPr sz="690" b="0">
                          <a:solidFill>
                            <a:srgbClr val="FEFEFF"/>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50"/>
                        </a:lnSpc>
                      </a:pPr>
                      <a:r>
                        <a:rPr sz="690" b="0">
                          <a:solidFill>
                            <a:srgbClr val="000000"/>
                          </a:solidFill>
                          <a:latin typeface="Ubuntu Mono"/>
                          <a:ea typeface="Ubuntu Mono"/>
                          <a:cs typeface="Ubuntu Mono"/>
                          <a:sym typeface="Ubuntu Mono"/>
                        </a:rPr>
                        <a:t>1-1/2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8-7/8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6,300 - 8,500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591,900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18,420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50"/>
                        </a:lnSpc>
                      </a:pPr>
                      <a:r>
                        <a:rPr sz="690" b="0">
                          <a:solidFill>
                            <a:srgbClr val="FEFEFF"/>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50"/>
                        </a:lnSpc>
                      </a:pPr>
                      <a:r>
                        <a:rPr sz="690" b="0">
                          <a:solidFill>
                            <a:srgbClr val="000000"/>
                          </a:solidFill>
                          <a:latin typeface="Ubuntu Mono"/>
                          <a:ea typeface="Ubuntu Mono"/>
                          <a:cs typeface="Ubuntu Mono"/>
                          <a:sym typeface="Ubuntu Mono"/>
                        </a:rPr>
                        <a:t>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10-1/8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5,600 - 7,500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468,800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17,200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1.35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50"/>
                        </a:lnSpc>
                      </a:pPr>
                      <a:r>
                        <a:rPr sz="690" b="0">
                          <a:solidFill>
                            <a:srgbClr val="FEFEFF"/>
                          </a:solidFill>
                          <a:latin typeface="Ubuntu Mono"/>
                          <a:ea typeface="Ubuntu Mono"/>
                          <a:cs typeface="Ubuntu Mono"/>
                          <a:sym typeface="Ubuntu Mono"/>
                        </a:rPr>
                        <a:t>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50"/>
                        </a:lnSpc>
                      </a:pPr>
                      <a:r>
                        <a:rPr sz="690" b="0">
                          <a:solidFill>
                            <a:srgbClr val="000000"/>
                          </a:solidFill>
                          <a:latin typeface="Ubuntu Mono"/>
                          <a:ea typeface="Ubuntu Mono"/>
                          <a:cs typeface="Ubuntu Mono"/>
                          <a:sym typeface="Ubuntu Mono"/>
                        </a:rPr>
                        <a:t>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10,200 - 13,800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937,000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34,320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1.57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50"/>
                        </a:lnSpc>
                      </a:pPr>
                      <a:r>
                        <a:rPr sz="690" b="0">
                          <a:solidFill>
                            <a:srgbClr val="FEFEFF"/>
                          </a:solidFill>
                          <a:latin typeface="Ubuntu Mono"/>
                          <a:ea typeface="Ubuntu Mono"/>
                          <a:cs typeface="Ubuntu Mono"/>
                          <a:sym typeface="Ubuntu Mono"/>
                        </a:rPr>
                        <a:t>6-1/4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50"/>
                        </a:lnSpc>
                      </a:pPr>
                      <a:r>
                        <a:rPr sz="690" b="0">
                          <a:solidFill>
                            <a:srgbClr val="000000"/>
                          </a:solidFill>
                          <a:latin typeface="Ubuntu Mono"/>
                          <a:ea typeface="Ubuntu Mono"/>
                          <a:cs typeface="Ubuntu Mono"/>
                          <a:sym typeface="Ubuntu Mono"/>
                        </a:rPr>
                        <a:t>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13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11,800 - 16,000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917,400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40,680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4.24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50"/>
                        </a:lnSpc>
                      </a:pPr>
                      <a:r>
                        <a:rPr sz="690" b="0">
                          <a:solidFill>
                            <a:srgbClr val="FEFEFF"/>
                          </a:solidFill>
                          <a:latin typeface="Ubuntu Mono"/>
                          <a:ea typeface="Ubuntu Mono"/>
                          <a:cs typeface="Ubuntu Mono"/>
                          <a:sym typeface="Ubuntu Mono"/>
                        </a:rPr>
                        <a:t>6-3/4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50"/>
                        </a:lnSpc>
                      </a:pPr>
                      <a:r>
                        <a:rPr sz="69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13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13,000 - 17,500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1,013,800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48,660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3.45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50"/>
                        </a:lnSpc>
                      </a:pPr>
                      <a:r>
                        <a:rPr sz="690" b="0">
                          <a:solidFill>
                            <a:srgbClr val="FEFEFF"/>
                          </a:solidFill>
                          <a:latin typeface="Ubuntu Mono"/>
                          <a:ea typeface="Ubuntu Mono"/>
                          <a:cs typeface="Ubuntu Mono"/>
                          <a:sym typeface="Ubuntu Mono"/>
                        </a:rPr>
                        <a:t>7-3/4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50"/>
                        </a:lnSpc>
                      </a:pPr>
                      <a:r>
                        <a:rPr sz="690" b="0">
                          <a:solidFill>
                            <a:srgbClr val="000000"/>
                          </a:solidFill>
                          <a:latin typeface="Ubuntu Mono"/>
                          <a:ea typeface="Ubuntu Mono"/>
                          <a:cs typeface="Ubuntu Mono"/>
                          <a:sym typeface="Ubuntu Mono"/>
                        </a:rPr>
                        <a:t>3-1/16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13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11,000 - 15,000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1,587,900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64,020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50"/>
                        </a:lnSpc>
                      </a:pPr>
                      <a:r>
                        <a:rPr sz="690" b="0">
                          <a:solidFill>
                            <a:srgbClr val="000000"/>
                          </a:solidFill>
                          <a:latin typeface="Ubuntu Mono"/>
                          <a:ea typeface="Ubuntu Mono"/>
                          <a:cs typeface="Ubuntu Mono"/>
                          <a:sym typeface="Ubuntu Mono"/>
                        </a:rPr>
                        <a:t>4.65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50"/>
                        </a:lnSpc>
                      </a:pPr>
                      <a:r>
                        <a:rPr sz="690" b="0">
                          <a:solidFill>
                            <a:srgbClr val="FEFEFF"/>
                          </a:solidFill>
                          <a:latin typeface="Ubuntu Mono"/>
                          <a:ea typeface="Ubuntu Mono"/>
                          <a:cs typeface="Ubuntu Mono"/>
                          <a:sym typeface="Ubuntu Mono"/>
                        </a:rPr>
                        <a:t>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50"/>
                        </a:lnSpc>
                      </a:pPr>
                      <a:r>
                        <a:rPr sz="690" b="0">
                          <a:solidFill>
                            <a:srgbClr val="000000"/>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13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12,000 - 16,000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1,621,000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92,260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50"/>
                        </a:lnSpc>
                      </a:pPr>
                      <a:r>
                        <a:rPr sz="690" b="0">
                          <a:solidFill>
                            <a:srgbClr val="000000"/>
                          </a:solidFill>
                          <a:latin typeface="Ubuntu Mono"/>
                          <a:ea typeface="Ubuntu Mono"/>
                          <a:cs typeface="Ubuntu Mono"/>
                          <a:sym typeface="Ubuntu Mono"/>
                        </a:rPr>
                        <a:t>3.2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3" name="TextBox 22"/>
          <p:cNvSpPr txBox="1"/>
          <p:nvPr/>
        </p:nvSpPr>
        <p:spPr>
          <a:xfrm>
            <a:off x="711200" y="7924800"/>
            <a:ext cx="6134100" cy="203200"/>
          </a:xfrm>
          <a:prstGeom prst="rect">
            <a:avLst/>
          </a:prstGeom>
          <a:noFill/>
        </p:spPr>
        <p:txBody>
          <a:bodyPr wrap="square" lIns="0" rIns="0" tIns="0" bIns="0">
            <a:spAutoFit/>
          </a:bodyPr>
          <a:lstStyle/>
          <a:p>
            <a:pPr algn="l">
              <a:lnSpc>
                <a:spcPts val="740"/>
              </a:lnSpc>
              <a:spcAft>
                <a:spcPts val="0"/>
              </a:spcAft>
            </a:pPr>
            <a:r>
              <a:rPr sz="620" b="0">
                <a:solidFill>
                  <a:srgbClr val="444444"/>
                </a:solidFill>
                <a:latin typeface="Ubuntu Mono"/>
                <a:ea typeface="Ubuntu Mono"/>
                <a:cs typeface="Ubuntu Mono"/>
                <a:sym typeface="Ubuntu Mono"/>
              </a:rPr>
              <a:t>Dimensions in inches. Each intensifier is matched to a jar of the same O.D. x I.D.; connections as for the matching jar. Tensile strengths are calculated theoretical yield values (about +/-20%); torque at yield is theoretical. Figures are a guide only: apply a safety factor.</a:t>
            </a:r>
          </a:p>
        </p:txBody>
      </p:sp>
      <p:sp>
        <p:nvSpPr>
          <p:cNvPr id="24" name="TextBox 23"/>
          <p:cNvSpPr txBox="1"/>
          <p:nvPr/>
        </p:nvSpPr>
        <p:spPr>
          <a:xfrm>
            <a:off x="711200" y="8242300"/>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5" name="TextBox 24"/>
          <p:cNvSpPr txBox="1"/>
          <p:nvPr/>
        </p:nvSpPr>
        <p:spPr>
          <a:xfrm>
            <a:off x="711200" y="8432800"/>
            <a:ext cx="3022600" cy="127000"/>
          </a:xfrm>
          <a:prstGeom prst="rect">
            <a:avLst/>
          </a:prstGeom>
          <a:noFill/>
        </p:spPr>
        <p:txBody>
          <a:bodyPr wrap="square" lIns="0" rIns="0" tIns="0" bIns="0">
            <a:spAutoFit/>
          </a:bodyPr>
          <a:lstStyle/>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Energy storage: </a:t>
            </a:r>
            <a:r>
              <a:rPr sz="700" b="0">
                <a:solidFill>
                  <a:srgbClr val="000000"/>
                </a:solidFill>
                <a:latin typeface="Ubuntu Mono"/>
                <a:ea typeface="Ubuntu Mono"/>
                <a:cs typeface="Ubuntu Mono"/>
                <a:sym typeface="Ubuntu Mono"/>
              </a:rPr>
              <a:t>compressible silicone fluid acts as a spring above the collars.</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Splined mandrel: </a:t>
            </a:r>
            <a:r>
              <a:rPr sz="700" b="0">
                <a:solidFill>
                  <a:srgbClr val="000000"/>
                </a:solidFill>
                <a:latin typeface="Ubuntu Mono"/>
                <a:ea typeface="Ubuntu Mono"/>
                <a:cs typeface="Ubuntu Mono"/>
                <a:sym typeface="Ubuntu Mono"/>
              </a:rPr>
              <a:t>torque transmitted in either direction, open or closed.</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High-pressure seals: </a:t>
            </a:r>
            <a:r>
              <a:rPr sz="700" b="0">
                <a:solidFill>
                  <a:srgbClr val="000000"/>
                </a:solidFill>
                <a:latin typeface="Ubuntu Mono"/>
                <a:ea typeface="Ubuntu Mono"/>
                <a:cs typeface="Ubuntu Mono"/>
                <a:sym typeface="Ubuntu Mono"/>
              </a:rPr>
              <a:t>non-extrusion ring assemblies limit seal damage and wear.</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Safe to fill and use: </a:t>
            </a:r>
            <a:r>
              <a:rPr sz="700" b="0">
                <a:solidFill>
                  <a:srgbClr val="000000"/>
                </a:solidFill>
                <a:latin typeface="Ubuntu Mono"/>
                <a:ea typeface="Ubuntu Mono"/>
                <a:cs typeface="Ubuntu Mono"/>
                <a:sym typeface="Ubuntu Mono"/>
              </a:rPr>
              <a:t>fluid-filled, charged with a low-pressure hand pump only.</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Shock cushioning: </a:t>
            </a:r>
            <a:r>
              <a:rPr sz="700" b="0">
                <a:solidFill>
                  <a:srgbClr val="000000"/>
                </a:solidFill>
                <a:latin typeface="Ubuntu Mono"/>
                <a:ea typeface="Ubuntu Mono"/>
                <a:cs typeface="Ubuntu Mono"/>
                <a:sym typeface="Ubuntu Mono"/>
              </a:rPr>
              <a:t>absorbs rebound of the string after each jarring stroke.</a:t>
            </a:r>
          </a:p>
        </p:txBody>
      </p:sp>
      <p:sp>
        <p:nvSpPr>
          <p:cNvPr id="26" name="TextBox 25"/>
          <p:cNvSpPr txBox="1"/>
          <p:nvPr/>
        </p:nvSpPr>
        <p:spPr>
          <a:xfrm>
            <a:off x="3810000" y="824230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OPERATING NOTES</a:t>
            </a:r>
          </a:p>
        </p:txBody>
      </p:sp>
      <p:sp>
        <p:nvSpPr>
          <p:cNvPr id="27" name="TextBox 26"/>
          <p:cNvSpPr txBox="1"/>
          <p:nvPr/>
        </p:nvSpPr>
        <p:spPr>
          <a:xfrm>
            <a:off x="3810000" y="8432800"/>
            <a:ext cx="3035300" cy="127000"/>
          </a:xfrm>
          <a:prstGeom prst="rect">
            <a:avLst/>
          </a:prstGeom>
          <a:noFill/>
        </p:spPr>
        <p:txBody>
          <a:bodyPr wrap="square" lIns="0" rIns="0" tIns="0" bIns="0">
            <a:spAutoFit/>
          </a:bodyPr>
          <a:lstStyle/>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String order from the fish: </a:t>
            </a:r>
            <a:r>
              <a:rPr sz="700" b="0">
                <a:solidFill>
                  <a:srgbClr val="000000"/>
                </a:solidFill>
                <a:latin typeface="Ubuntu Mono"/>
                <a:ea typeface="Ubuntu Mono"/>
                <a:cs typeface="Ubuntu Mono"/>
                <a:sym typeface="Ubuntu Mono"/>
              </a:rPr>
              <a:t>fishing tool, jar, drill collars, intensifier, string.</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Stroke: </a:t>
            </a:r>
            <a:r>
              <a:rPr sz="700" b="0">
                <a:solidFill>
                  <a:srgbClr val="000000"/>
                </a:solidFill>
                <a:latin typeface="Ubuntu Mono"/>
                <a:ea typeface="Ubuntu Mono"/>
                <a:cs typeface="Ubuntu Mono"/>
                <a:sym typeface="Ubuntu Mono"/>
              </a:rPr>
              <a:t>6 to 13 in under pull, depending on size.</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No heavy weights above: </a:t>
            </a:r>
            <a:r>
              <a:rPr sz="700" b="0">
                <a:solidFill>
                  <a:srgbClr val="000000"/>
                </a:solidFill>
                <a:latin typeface="Ubuntu Mono"/>
                <a:ea typeface="Ubuntu Mono"/>
                <a:cs typeface="Ubuntu Mono"/>
                <a:sym typeface="Ubuntu Mono"/>
              </a:rPr>
              <a:t>no collars or heavy-weight for at least 1,000 ft above the intensifier.</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Hot holes: </a:t>
            </a:r>
            <a:r>
              <a:rPr sz="700" b="0">
                <a:solidFill>
                  <a:srgbClr val="000000"/>
                </a:solidFill>
                <a:latin typeface="Ubuntu Mono"/>
                <a:ea typeface="Ubuntu Mono"/>
                <a:cs typeface="Ubuntu Mono"/>
                <a:sym typeface="Ubuntu Mono"/>
              </a:rPr>
              <a:t>above 180 F (82 C) bottom-hole temperature, bleed a little fluid before running.</a:t>
            </a:r>
          </a:p>
        </p:txBody>
      </p:sp>
      <p:sp>
        <p:nvSpPr>
          <p:cNvPr id="28" name="TextBox 27"/>
          <p:cNvSpPr txBox="1"/>
          <p:nvPr/>
        </p:nvSpPr>
        <p:spPr>
          <a:xfrm>
            <a:off x="3810000" y="953770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29" name="TextBox 28"/>
          <p:cNvSpPr txBox="1"/>
          <p:nvPr/>
        </p:nvSpPr>
        <p:spPr>
          <a:xfrm>
            <a:off x="3810000" y="9728200"/>
            <a:ext cx="3035300" cy="508000"/>
          </a:xfrm>
          <a:prstGeom prst="rect">
            <a:avLst/>
          </a:prstGeom>
          <a:noFill/>
        </p:spPr>
        <p:txBody>
          <a:bodyPr wrap="square" lIns="0" rIns="0" tIns="0" bIns="0">
            <a:spAutoFit/>
          </a:bodyPr>
          <a:lstStyle/>
          <a:p>
            <a:pPr algn="just">
              <a:lnSpc>
                <a:spcPts val="860"/>
              </a:lnSpc>
              <a:spcAft>
                <a:spcPts val="0"/>
              </a:spcAft>
            </a:pPr>
            <a:r>
              <a:rPr sz="680" b="0">
                <a:solidFill>
                  <a:srgbClr val="000000"/>
                </a:solidFill>
                <a:latin typeface="Ubuntu Mono"/>
                <a:ea typeface="Ubuntu Mono"/>
                <a:cs typeface="Ubuntu Mono"/>
                <a:sym typeface="Ubuntu Mono"/>
              </a:rPr>
              <a:t>Please specify: 1. intensifier size and the jar it matches  2. connections and O.D., if not standard  3. spares: packing sets, piston assemblies, seal rings, fill plugs, service kit  4. special intensifier fluid.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JAR Z</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JARRING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HYDRAULIC OIL JAR, STRAIGHT PULL</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STRAIGHT-PULL HYDRAULIC OIL JAR FOR FISHING, DRILL STEM TESTING AND CORING. A METERING PISTON DELAYS THE STROKE WHILE THE OPERATOR TAKES STRETCH IN THE STRING, SO THE BLOW CAN BE SET FROM VERY LIGHT TO VERY HIGH IMPACT WITH NO ADJUSTMENT BEFORE OR AFTER THE RUN. THE HYDRAULIC SYSTEM IS CLOSED: OIL CANNOT ESCAPE AND WELL FLUIDS CANNOT ENTER. THE JAR RESETS WITH ONLY A FEW HUNDRED POUNDS OF WEIGHT AND TRANSMITS FULL TORQUE IN BOTH DIRECTIONS AT ALL TIMES.</a:t>
            </a:r>
          </a:p>
        </p:txBody>
      </p:sp>
      <p:sp>
        <p:nvSpPr>
          <p:cNvPr id="21" name="TextBox 20"/>
          <p:cNvSpPr txBox="1"/>
          <p:nvPr/>
        </p:nvSpPr>
        <p:spPr>
          <a:xfrm>
            <a:off x="711200" y="49784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181600"/>
          <a:ext cx="6134097" cy="2753360"/>
        </p:xfrm>
        <a:graphic>
          <a:graphicData uri="http://schemas.openxmlformats.org/drawingml/2006/table">
            <a:tbl>
              <a:tblPr/>
              <a:tblGrid>
                <a:gridCol w="648539"/>
                <a:gridCol w="486404"/>
                <a:gridCol w="486404"/>
                <a:gridCol w="540449"/>
                <a:gridCol w="945786"/>
                <a:gridCol w="702584"/>
                <a:gridCol w="756629"/>
                <a:gridCol w="702584"/>
                <a:gridCol w="864718"/>
              </a:tblGrid>
              <a:tr h="330200">
                <a:tc>
                  <a:txBody>
                    <a:bodyPr wrap="square"/>
                    <a:lstStyle/>
                    <a:p>
                      <a:pPr algn="ctr">
                        <a:lnSpc>
                          <a:spcPts val="840"/>
                        </a:lnSpc>
                      </a:pPr>
                      <a:r>
                        <a:rPr sz="680" b="1">
                          <a:solidFill>
                            <a:srgbClr val="FEFEFF"/>
                          </a:solidFill>
                          <a:latin typeface="Ubuntu Mono"/>
                          <a:ea typeface="Ubuntu Mono"/>
                          <a:cs typeface="Ubuntu Mono"/>
                          <a:sym typeface="Ubuntu Mono"/>
                        </a:rPr>
                        <a:t>Connection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I.D.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Total stroke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Test pull load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Max. jarring load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Tensile at yield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Torque at yield (ft-lb)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Collar weight above jar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Sucker rod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1-5/8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7-1/16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5,000 - 8,500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15,400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46,300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260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1,100 - 1,450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1-13/16 WFJ</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5/16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6,000 - 10,000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18,000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59,400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340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1,360 - 1,800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1-1/4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6-15/16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7,200 - 12,000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21,000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118,500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1,560 - 2,100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2-3/8 PH-6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2-29/32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11-7/16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12,600 - 19,000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35,400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194,800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2,260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2,200 - 3,000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2-3/8 EUE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3-1/16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11-9/16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12,000 - 16,000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27,800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160,200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2,200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2,300 - 3,100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2-3/8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3-1/8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11-13/16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15,000 - 23,000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32,400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229,200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4,060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2,400 - 3,300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2-7/8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11-13/16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18,000 - 26,000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56,500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345,000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7,640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4,200 - 5,700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2-3/8 IF</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12-1/8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15,000 - 26,000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46,000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299,700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5,340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3,400 - 4,600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2-3/8 EUE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10-1/8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15,000 - 26,000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46,500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179,500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2,980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3,500 - 4,700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2-7/8 IF</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4-1/4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1-15/16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11-13/16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18,000 - 28,000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46,700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430,300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9,920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3,500 - 4,700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2-7/8 EUE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18,000 - 28,000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49,000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375,000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11,160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3,600 - 4,900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3-1/2 FH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11-13/16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28,000 - 45,000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85,000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591,900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18,420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6,300 - 8,500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3-1/2 FH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13-5/16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28,000 - 45,000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74,500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468,800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17,200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5,600 - 7,500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4-1/2 FH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11-7/16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41,000 - 62,000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136,400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937,000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34,320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10,200 - 13,800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4-1/2 IF</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6-1/4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14-3/8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55,000 - 80,000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159,000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917,400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40,680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11,800 - 16,000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5-1/2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6-3/4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14-11/16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62,000 - 110,000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172,800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1,013,800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48,660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13,000 - 17,500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6-5/8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7-3/4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3-1/16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14-3/8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63,000 - 100,000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149,000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1,587,900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64,020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11,000 - 15,000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ctr">
                        <a:lnSpc>
                          <a:spcPts val="840"/>
                        </a:lnSpc>
                      </a:pPr>
                      <a:r>
                        <a:rPr sz="680" b="0">
                          <a:solidFill>
                            <a:srgbClr val="FEFEFF"/>
                          </a:solidFill>
                          <a:latin typeface="Ubuntu Mono"/>
                          <a:ea typeface="Ubuntu Mono"/>
                          <a:cs typeface="Ubuntu Mono"/>
                          <a:sym typeface="Ubuntu Mono"/>
                        </a:rPr>
                        <a:t>7-5/8 Reg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13-13/16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80,000 - 120,000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214,000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1,621,000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92,260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14,300 - 19,600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3" name="TextBox 22"/>
          <p:cNvSpPr txBox="1"/>
          <p:nvPr/>
        </p:nvSpPr>
        <p:spPr>
          <a:xfrm>
            <a:off x="711200" y="7973059"/>
            <a:ext cx="6134100" cy="203200"/>
          </a:xfrm>
          <a:prstGeom prst="rect">
            <a:avLst/>
          </a:prstGeom>
          <a:noFill/>
        </p:spPr>
        <p:txBody>
          <a:bodyPr wrap="square" lIns="0" rIns="0" tIns="0" bIns="0">
            <a:spAutoFit/>
          </a:bodyPr>
          <a:lstStyle/>
          <a:p>
            <a:pPr algn="l">
              <a:lnSpc>
                <a:spcPts val="740"/>
              </a:lnSpc>
              <a:spcAft>
                <a:spcPts val="0"/>
              </a:spcAft>
            </a:pPr>
            <a:r>
              <a:rPr sz="620" b="0">
                <a:solidFill>
                  <a:srgbClr val="444444"/>
                </a:solidFill>
                <a:latin typeface="Ubuntu Mono"/>
                <a:ea typeface="Ubuntu Mono"/>
                <a:cs typeface="Ubuntu Mono"/>
                <a:sym typeface="Ubuntu Mono"/>
              </a:rPr>
              <a:t>Dimensions in inches. Tensile strengths are calculated theoretical yield values (about +/-20%); torque at yield is the theoretical value, recommended operating torque is 50% of it. Figures are a guide only: apply a safety factor.</a:t>
            </a:r>
          </a:p>
        </p:txBody>
      </p:sp>
      <p:sp>
        <p:nvSpPr>
          <p:cNvPr id="24" name="TextBox 23"/>
          <p:cNvSpPr txBox="1"/>
          <p:nvPr/>
        </p:nvSpPr>
        <p:spPr>
          <a:xfrm>
            <a:off x="711200" y="8265159"/>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5" name="TextBox 24"/>
          <p:cNvSpPr txBox="1"/>
          <p:nvPr/>
        </p:nvSpPr>
        <p:spPr>
          <a:xfrm>
            <a:off x="711200" y="8455660"/>
            <a:ext cx="3022600" cy="127000"/>
          </a:xfrm>
          <a:prstGeom prst="rect">
            <a:avLst/>
          </a:prstGeom>
          <a:noFill/>
        </p:spPr>
        <p:txBody>
          <a:bodyPr wrap="square" lIns="0" rIns="0" tIns="0" bIns="0">
            <a:spAutoFit/>
          </a:bodyPr>
          <a:lstStyle/>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Adjustable blow: </a:t>
            </a:r>
            <a:r>
              <a:rPr sz="700" b="0">
                <a:solidFill>
                  <a:srgbClr val="000000"/>
                </a:solidFill>
                <a:latin typeface="Ubuntu Mono"/>
                <a:ea typeface="Ubuntu Mono"/>
                <a:cs typeface="Ubuntu Mono"/>
                <a:sym typeface="Ubuntu Mono"/>
              </a:rPr>
              <a:t>impact set by the stretch taken in the string, no prior adjustment.</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Closed hydraulic system: </a:t>
            </a:r>
            <a:r>
              <a:rPr sz="700" b="0">
                <a:solidFill>
                  <a:srgbClr val="000000"/>
                </a:solidFill>
                <a:latin typeface="Ubuntu Mono"/>
                <a:ea typeface="Ubuntu Mono"/>
                <a:cs typeface="Ubuntu Mono"/>
                <a:sym typeface="Ubuntu Mono"/>
              </a:rPr>
              <a:t>internal parts are constantly lubricated; no leakage in or out.</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Easy reset: </a:t>
            </a:r>
            <a:r>
              <a:rPr sz="700" b="0">
                <a:solidFill>
                  <a:srgbClr val="000000"/>
                </a:solidFill>
                <a:latin typeface="Ubuntu Mono"/>
                <a:ea typeface="Ubuntu Mono"/>
                <a:cs typeface="Ubuntu Mono"/>
                <a:sym typeface="Ubuntu Mono"/>
              </a:rPr>
              <a:t>large piston ports open on closing, so only friction weight is needed.</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Full torque: </a:t>
            </a:r>
            <a:r>
              <a:rPr sz="700" b="0">
                <a:solidFill>
                  <a:srgbClr val="000000"/>
                </a:solidFill>
                <a:latin typeface="Ubuntu Mono"/>
                <a:ea typeface="Ubuntu Mono"/>
                <a:cs typeface="Ubuntu Mono"/>
                <a:sym typeface="Ubuntu Mono"/>
              </a:rPr>
              <a:t>transmitted in either direction at any point of the stroke.</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Fast repeat blows: </a:t>
            </a:r>
            <a:r>
              <a:rPr sz="700" b="0">
                <a:solidFill>
                  <a:srgbClr val="000000"/>
                </a:solidFill>
                <a:latin typeface="Ubuntu Mono"/>
                <a:ea typeface="Ubuntu Mono"/>
                <a:cs typeface="Ubuntu Mono"/>
                <a:sym typeface="Ubuntu Mono"/>
              </a:rPr>
              <a:t>limited only by the time to raise and lower the string.</a:t>
            </a:r>
          </a:p>
        </p:txBody>
      </p:sp>
      <p:sp>
        <p:nvSpPr>
          <p:cNvPr id="26" name="TextBox 25"/>
          <p:cNvSpPr txBox="1"/>
          <p:nvPr/>
        </p:nvSpPr>
        <p:spPr>
          <a:xfrm>
            <a:off x="3810000" y="8265159"/>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OPERATING NOTES</a:t>
            </a:r>
          </a:p>
        </p:txBody>
      </p:sp>
      <p:sp>
        <p:nvSpPr>
          <p:cNvPr id="27" name="TextBox 26"/>
          <p:cNvSpPr txBox="1"/>
          <p:nvPr/>
        </p:nvSpPr>
        <p:spPr>
          <a:xfrm>
            <a:off x="3810000" y="8455660"/>
            <a:ext cx="3035300" cy="127000"/>
          </a:xfrm>
          <a:prstGeom prst="rect">
            <a:avLst/>
          </a:prstGeom>
          <a:noFill/>
        </p:spPr>
        <p:txBody>
          <a:bodyPr wrap="square" lIns="0" rIns="0" tIns="0" bIns="0">
            <a:spAutoFit/>
          </a:bodyPr>
          <a:lstStyle/>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Fishing: </a:t>
            </a:r>
            <a:r>
              <a:rPr sz="700" b="0">
                <a:solidFill>
                  <a:srgbClr val="000000"/>
                </a:solidFill>
                <a:latin typeface="Ubuntu Mono"/>
                <a:ea typeface="Ubuntu Mono"/>
                <a:cs typeface="Ubuntu Mono"/>
                <a:sym typeface="Ubuntu Mono"/>
              </a:rPr>
              <a:t>run directly below the drill collars; add a jar intensifier about four collars above the jar.</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Drill stem testing, coring: </a:t>
            </a:r>
            <a:r>
              <a:rPr sz="700" b="0">
                <a:solidFill>
                  <a:srgbClr val="000000"/>
                </a:solidFill>
                <a:latin typeface="Ubuntu Mono"/>
                <a:ea typeface="Ubuntu Mono"/>
                <a:cs typeface="Ubuntu Mono"/>
                <a:sym typeface="Ubuntu Mono"/>
              </a:rPr>
              <a:t>3 to 15 collars above the jar; does not interfere with test tools.</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Never exceed the maximum jarring load. </a:t>
            </a:r>
            <a:r>
              <a:rPr sz="700" b="0">
                <a:solidFill>
                  <a:srgbClr val="000000"/>
                </a:solidFill>
                <a:latin typeface="Ubuntu Mono"/>
                <a:ea typeface="Ubuntu Mono"/>
                <a:cs typeface="Ubuntu Mono"/>
                <a:sym typeface="Ubuntu Mono"/>
              </a:rPr>
              <a:t>Do not tong the threaded joints; tong at least 4 in away.</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First blow: </a:t>
            </a:r>
            <a:r>
              <a:rPr sz="700" b="0">
                <a:solidFill>
                  <a:srgbClr val="000000"/>
                </a:solidFill>
                <a:latin typeface="Ubuntu Mono"/>
                <a:ea typeface="Ubuntu Mono"/>
                <a:cs typeface="Ubuntu Mono"/>
                <a:sym typeface="Ubuntu Mono"/>
              </a:rPr>
              <a:t>can take seconds to minutes, depending on depth, stretch, temperature and hole condition.</a:t>
            </a:r>
          </a:p>
        </p:txBody>
      </p:sp>
      <p:sp>
        <p:nvSpPr>
          <p:cNvPr id="28" name="TextBox 27"/>
          <p:cNvSpPr txBox="1"/>
          <p:nvPr/>
        </p:nvSpPr>
        <p:spPr>
          <a:xfrm>
            <a:off x="3810000" y="968756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29" name="TextBox 28"/>
          <p:cNvSpPr txBox="1"/>
          <p:nvPr/>
        </p:nvSpPr>
        <p:spPr>
          <a:xfrm>
            <a:off x="3810000" y="9878060"/>
            <a:ext cx="3035300" cy="508000"/>
          </a:xfrm>
          <a:prstGeom prst="rect">
            <a:avLst/>
          </a:prstGeom>
          <a:noFill/>
        </p:spPr>
        <p:txBody>
          <a:bodyPr wrap="square" lIns="0" rIns="0" tIns="0" bIns="0">
            <a:spAutoFit/>
          </a:bodyPr>
          <a:lstStyle/>
          <a:p>
            <a:pPr algn="just">
              <a:lnSpc>
                <a:spcPts val="860"/>
              </a:lnSpc>
              <a:spcAft>
                <a:spcPts val="0"/>
              </a:spcAft>
            </a:pPr>
            <a:r>
              <a:rPr sz="680" b="0">
                <a:solidFill>
                  <a:srgbClr val="000000"/>
                </a:solidFill>
                <a:latin typeface="Ubuntu Mono"/>
                <a:ea typeface="Ubuntu Mono"/>
                <a:cs typeface="Ubuntu Mono"/>
                <a:sym typeface="Ubuntu Mono"/>
              </a:rPr>
              <a:t>Please specify: 1. jar size (O.D. x I.D.)  2. top and bottom connections, if not standard  3. spares: packing set, piston assembly, non-extrusion and seal protector rings, fill plugs  4. service kit and jar oil.</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BUMPER SUB</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JARRING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FISHING BUMPER SUB</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DURABLE FISHING BUMPER SUB MADE OF HEAT-TREATED ALLOY STEEL FOR SUSTAINED BUMPING WITH MINIMAL MAINTENANCE. RUN IN THE STRING JUST ABOVE THE FISHING TOOL OR SAFETY JOINT, IT LETS THE OPERATOR DELIVER SOLID DOWNWARD OR UPWARD BLOWS AT WILL, FOR EXAMPLE TO RELEASE A FISHING TOOL THAT CANNOT PULL THE FISH. A HEXAGONAL MANDREL SLIDES IN A MATCHING BODY, SO TORQUE IS TRANSMITTED OVER THE WHOLE STROKE. IT CAN ALSO ACT AS A FEED-OFF TOOL FOR INTERNAL PIPE CUTTING.</a:t>
            </a:r>
          </a:p>
        </p:txBody>
      </p:sp>
      <p:sp>
        <p:nvSpPr>
          <p:cNvPr id="21" name="TextBox 20"/>
          <p:cNvSpPr txBox="1"/>
          <p:nvPr/>
        </p:nvSpPr>
        <p:spPr>
          <a:xfrm>
            <a:off x="711200" y="49784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181600"/>
          <a:ext cx="2997199" cy="2286000"/>
        </p:xfrm>
        <a:graphic>
          <a:graphicData uri="http://schemas.openxmlformats.org/drawingml/2006/table">
            <a:tbl>
              <a:tblPr/>
              <a:tblGrid>
                <a:gridCol w="530754"/>
                <a:gridCol w="530754"/>
                <a:gridCol w="936625"/>
                <a:gridCol w="999066"/>
              </a:tblGrid>
              <a:tr h="330200">
                <a:tc>
                  <a:txBody>
                    <a:bodyPr wrap="square"/>
                    <a:lstStyle/>
                    <a:p>
                      <a:pPr algn="ctr">
                        <a:lnSpc>
                          <a:spcPts val="840"/>
                        </a:lnSpc>
                      </a:pPr>
                      <a:r>
                        <a:rPr sz="680" b="1">
                          <a:solidFill>
                            <a:srgbClr val="FEFEFF"/>
                          </a:solidFill>
                          <a:latin typeface="Ubuntu Mono"/>
                          <a:ea typeface="Ubuntu Mono"/>
                          <a:cs typeface="Ubuntu Mono"/>
                          <a:sym typeface="Ubuntu Mono"/>
                        </a:rPr>
                        <a:t>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I.D.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Tensile at yield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Torque at yield (ft-lb)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1-13/16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68,720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1,020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1-29/32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78,620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850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172,900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2,440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2-1/2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160,600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1,940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3-1/8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158,600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3,300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3-1/8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224,900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4,200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3-3/8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256,000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5,740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316,200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6,000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268,500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9,400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1-7/8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231,000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6,810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4-1/8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370,200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9,270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4-1/4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1-15/16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305,000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9,200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4-1/4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439,000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9,160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336,600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10,240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graphicFrame>
        <p:nvGraphicFramePr>
          <p:cNvPr id="23" name="Table 22"/>
          <p:cNvGraphicFramePr>
            <a:graphicFrameLocks noGrp="1"/>
          </p:cNvGraphicFramePr>
          <p:nvPr/>
        </p:nvGraphicFramePr>
        <p:xfrm>
          <a:off x="3848100" y="5181600"/>
          <a:ext cx="2997199" cy="2286000"/>
        </p:xfrm>
        <a:graphic>
          <a:graphicData uri="http://schemas.openxmlformats.org/drawingml/2006/table">
            <a:tbl>
              <a:tblPr/>
              <a:tblGrid>
                <a:gridCol w="530754"/>
                <a:gridCol w="530754"/>
                <a:gridCol w="936625"/>
                <a:gridCol w="999066"/>
              </a:tblGrid>
              <a:tr h="330200">
                <a:tc>
                  <a:txBody>
                    <a:bodyPr wrap="square"/>
                    <a:lstStyle/>
                    <a:p>
                      <a:pPr algn="ctr">
                        <a:lnSpc>
                          <a:spcPts val="840"/>
                        </a:lnSpc>
                      </a:pPr>
                      <a:r>
                        <a:rPr sz="680" b="1">
                          <a:solidFill>
                            <a:srgbClr val="FEFEFF"/>
                          </a:solidFill>
                          <a:latin typeface="Ubuntu Mono"/>
                          <a:ea typeface="Ubuntu Mono"/>
                          <a:cs typeface="Ubuntu Mono"/>
                          <a:sym typeface="Ubuntu Mono"/>
                        </a:rPr>
                        <a:t>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I.D.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Tensile at yield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Torque at yield (ft-lb)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4-5/8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1-7/8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442,000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13,440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4-5/8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465,900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12,280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1-1/2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581,100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13,800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465,900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8,200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613,400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22,070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723,600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26,850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767,000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29,490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6-1/8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768,600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30,840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6-1/4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864,400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38,000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6-1/2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864,400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42,000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6-3/4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2-3/4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871,000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37,600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7-3/4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1,060,000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50,400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1,060,000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54,600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40"/>
                        </a:lnSpc>
                      </a:pPr>
                      <a:r>
                        <a:rPr sz="680" b="0">
                          <a:solidFill>
                            <a:srgbClr val="FEFEFF"/>
                          </a:solidFill>
                          <a:latin typeface="Ubuntu Mono"/>
                          <a:ea typeface="Ubuntu Mono"/>
                          <a:cs typeface="Ubuntu Mono"/>
                          <a:sym typeface="Ubuntu Mono"/>
                        </a:rPr>
                        <a:t>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1,600,000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64,110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4" name="TextBox 23"/>
          <p:cNvSpPr txBox="1"/>
          <p:nvPr/>
        </p:nvSpPr>
        <p:spPr>
          <a:xfrm>
            <a:off x="711200" y="7505700"/>
            <a:ext cx="6134100" cy="304800"/>
          </a:xfrm>
          <a:prstGeom prst="rect">
            <a:avLst/>
          </a:prstGeom>
          <a:noFill/>
        </p:spPr>
        <p:txBody>
          <a:bodyPr wrap="square" lIns="0" rIns="0" tIns="0" bIns="0">
            <a:spAutoFit/>
          </a:bodyPr>
          <a:lstStyle/>
          <a:p>
            <a:pPr algn="l">
              <a:lnSpc>
                <a:spcPts val="740"/>
              </a:lnSpc>
              <a:spcAft>
                <a:spcPts val="0"/>
              </a:spcAft>
            </a:pPr>
            <a:r>
              <a:rPr sz="620" b="0">
                <a:solidFill>
                  <a:srgbClr val="444444"/>
                </a:solidFill>
                <a:latin typeface="Ubuntu Mono"/>
                <a:ea typeface="Ubuntu Mono"/>
                <a:cs typeface="Ubuntu Mono"/>
                <a:sym typeface="Ubuntu Mono"/>
              </a:rPr>
              <a:t>Dimensions in inches. Standard stroke 20 in; strokes of 30, 36, 42, 48 and 60 in also available (convert by changing mandrel and middle body only). Tensile strengths are calculated theoretical yield values (about +/-20%); same values typically apply to other strokes. Figures are a guide only: apply a safety factor.</a:t>
            </a:r>
          </a:p>
        </p:txBody>
      </p:sp>
      <p:sp>
        <p:nvSpPr>
          <p:cNvPr id="25" name="TextBox 24"/>
          <p:cNvSpPr txBox="1"/>
          <p:nvPr/>
        </p:nvSpPr>
        <p:spPr>
          <a:xfrm>
            <a:off x="711200" y="7924800"/>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6" name="TextBox 25"/>
          <p:cNvSpPr txBox="1"/>
          <p:nvPr/>
        </p:nvSpPr>
        <p:spPr>
          <a:xfrm>
            <a:off x="711200" y="8115300"/>
            <a:ext cx="3022600" cy="127000"/>
          </a:xfrm>
          <a:prstGeom prst="rect">
            <a:avLst/>
          </a:prstGeom>
          <a:noFill/>
        </p:spPr>
        <p:txBody>
          <a:bodyPr wrap="square" lIns="0" rIns="0" tIns="0" bIns="0">
            <a:spAutoFit/>
          </a:bodyPr>
          <a:lstStyle/>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Solid blows both ways: </a:t>
            </a:r>
            <a:r>
              <a:rPr sz="700" b="0">
                <a:solidFill>
                  <a:srgbClr val="000000"/>
                </a:solidFill>
                <a:latin typeface="Ubuntu Mono"/>
                <a:ea typeface="Ubuntu Mono"/>
                <a:cs typeface="Ubuntu Mono"/>
                <a:sym typeface="Ubuntu Mono"/>
              </a:rPr>
              <a:t>downward on closing, upward on opening against the knocker.</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Hexagonal mandrel: </a:t>
            </a:r>
            <a:r>
              <a:rPr sz="700" b="0">
                <a:solidFill>
                  <a:srgbClr val="000000"/>
                </a:solidFill>
                <a:latin typeface="Ubuntu Mono"/>
                <a:ea typeface="Ubuntu Mono"/>
                <a:cs typeface="Ubuntu Mono"/>
                <a:sym typeface="Ubuntu Mono"/>
              </a:rPr>
              <a:t>torque transmitted over the full stroke.</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Alloy steel body: </a:t>
            </a:r>
            <a:r>
              <a:rPr sz="700" b="0">
                <a:solidFill>
                  <a:srgbClr val="000000"/>
                </a:solidFill>
                <a:latin typeface="Ubuntu Mono"/>
                <a:ea typeface="Ubuntu Mono"/>
                <a:cs typeface="Ubuntu Mono"/>
                <a:sym typeface="Ubuntu Mono"/>
              </a:rPr>
              <a:t>heat-treated parts for bumping, tension and torque.</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Sealed knocker: </a:t>
            </a:r>
            <a:r>
              <a:rPr sz="700" b="0">
                <a:solidFill>
                  <a:srgbClr val="000000"/>
                </a:solidFill>
                <a:latin typeface="Ubuntu Mono"/>
                <a:ea typeface="Ubuntu Mono"/>
                <a:cs typeface="Ubuntu Mono"/>
                <a:sym typeface="Ubuntu Mono"/>
              </a:rPr>
              <a:t>packing rings seal mandrel to middle body; optional chevron packing.</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Low maintenance: </a:t>
            </a:r>
            <a:r>
              <a:rPr sz="700" b="0">
                <a:solidFill>
                  <a:srgbClr val="000000"/>
                </a:solidFill>
                <a:latin typeface="Ubuntu Mono"/>
                <a:ea typeface="Ubuntu Mono"/>
                <a:cs typeface="Ubuntu Mono"/>
                <a:sym typeface="Ubuntu Mono"/>
              </a:rPr>
              <a:t>wash and lubricate after use; check seals for wear.</a:t>
            </a:r>
          </a:p>
        </p:txBody>
      </p:sp>
      <p:sp>
        <p:nvSpPr>
          <p:cNvPr id="27" name="TextBox 26"/>
          <p:cNvSpPr txBox="1"/>
          <p:nvPr/>
        </p:nvSpPr>
        <p:spPr>
          <a:xfrm>
            <a:off x="3810000" y="792480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OPERATING NOTES</a:t>
            </a:r>
          </a:p>
        </p:txBody>
      </p:sp>
      <p:sp>
        <p:nvSpPr>
          <p:cNvPr id="28" name="TextBox 27"/>
          <p:cNvSpPr txBox="1"/>
          <p:nvPr/>
        </p:nvSpPr>
        <p:spPr>
          <a:xfrm>
            <a:off x="3810000" y="8115300"/>
            <a:ext cx="3035300" cy="127000"/>
          </a:xfrm>
          <a:prstGeom prst="rect">
            <a:avLst/>
          </a:prstGeom>
          <a:noFill/>
        </p:spPr>
        <p:txBody>
          <a:bodyPr wrap="square" lIns="0" rIns="0" tIns="0" bIns="0">
            <a:spAutoFit/>
          </a:bodyPr>
          <a:lstStyle/>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Bump down: </a:t>
            </a:r>
            <a:r>
              <a:rPr sz="700" b="0">
                <a:solidFill>
                  <a:srgbClr val="000000"/>
                </a:solidFill>
                <a:latin typeface="Ubuntu Mono"/>
                <a:ea typeface="Ubuntu Mono"/>
                <a:cs typeface="Ubuntu Mono"/>
                <a:sym typeface="Ubuntu Mono"/>
              </a:rPr>
              <a:t>pull to fully open plus stretch, then drop the string and brake before the sub closes for repeated blows, or drop freely for one solid blow.</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Jar up: </a:t>
            </a:r>
            <a:r>
              <a:rPr sz="700" b="0">
                <a:solidFill>
                  <a:srgbClr val="000000"/>
                </a:solidFill>
                <a:latin typeface="Ubuntu Mono"/>
                <a:ea typeface="Ubuntu Mono"/>
                <a:cs typeface="Ubuntu Mono"/>
                <a:sym typeface="Ubuntu Mono"/>
              </a:rPr>
              <a:t>take moderate stretch, drop by that stretch only and brake; the sub rebounds open and strikes the knocker.</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At surface: </a:t>
            </a:r>
            <a:r>
              <a:rPr sz="700" b="0">
                <a:solidFill>
                  <a:srgbClr val="000000"/>
                </a:solidFill>
                <a:latin typeface="Ubuntu Mono"/>
                <a:ea typeface="Ubuntu Mono"/>
                <a:cs typeface="Ubuntu Mono"/>
                <a:sym typeface="Ubuntu Mono"/>
              </a:rPr>
              <a:t>hold a sledge between body and mandrel shoulder, slack off and pull it out to release a fishing tool.</a:t>
            </a:r>
          </a:p>
        </p:txBody>
      </p:sp>
      <p:sp>
        <p:nvSpPr>
          <p:cNvPr id="29" name="TextBox 28"/>
          <p:cNvSpPr txBox="1"/>
          <p:nvPr/>
        </p:nvSpPr>
        <p:spPr>
          <a:xfrm>
            <a:off x="3810000" y="919480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0" name="TextBox 29"/>
          <p:cNvSpPr txBox="1"/>
          <p:nvPr/>
        </p:nvSpPr>
        <p:spPr>
          <a:xfrm>
            <a:off x="3810000" y="9385300"/>
            <a:ext cx="3035300" cy="508000"/>
          </a:xfrm>
          <a:prstGeom prst="rect">
            <a:avLst/>
          </a:prstGeom>
          <a:noFill/>
        </p:spPr>
        <p:txBody>
          <a:bodyPr wrap="square" lIns="0" rIns="0" tIns="0" bIns="0">
            <a:spAutoFit/>
          </a:bodyPr>
          <a:lstStyle/>
          <a:p>
            <a:pPr algn="just">
              <a:lnSpc>
                <a:spcPts val="860"/>
              </a:lnSpc>
              <a:spcAft>
                <a:spcPts val="0"/>
              </a:spcAft>
            </a:pPr>
            <a:r>
              <a:rPr sz="680" b="0">
                <a:solidFill>
                  <a:srgbClr val="000000"/>
                </a:solidFill>
                <a:latin typeface="Ubuntu Mono"/>
                <a:ea typeface="Ubuntu Mono"/>
                <a:cs typeface="Ubuntu Mono"/>
                <a:sym typeface="Ubuntu Mono"/>
              </a:rPr>
              <a:t>Please specify: 1. size (O.D. x I.D.)  2. connection size and type  3. length of stroke  4. recommended spares: 8 non-extrusion rings, 8 seal protector rings, 16 knocker seals.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Drilling Jar</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JARRING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DOUBLE-ACTING HYDRAULIC / MECHANICAL DRILLING JAR</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HYDRAULIC-DELAY JAR FOR BOTH UPSTROKE AND DOWNSTROKE, WITH A MECHANICAL LATCH, BUILT FOR COMPLEX DRILLING PROGRAMS. THE DOWNSTROKE DELAY MAKES IT EFFECTIVE IN DIRECTIONAL, HORIZONTAL AND EXTENDED-REACH WELLS. BECAUSE NO BLEED-THROUGH OPERATION IS NEEDED WHEN TAGGING OR PICKING UP OFF BOTTOM, IT CAN BE PLACED IN COMPRESSION IN THE DRILLSTRING. LATCH RELEASE SETTINGS ARE ADJUSTABLE.</a:t>
            </a:r>
          </a:p>
        </p:txBody>
      </p:sp>
      <p:sp>
        <p:nvSpPr>
          <p:cNvPr id="21" name="TextBox 20"/>
          <p:cNvSpPr txBox="1"/>
          <p:nvPr/>
        </p:nvSpPr>
        <p:spPr>
          <a:xfrm>
            <a:off x="711200" y="48260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016500"/>
          <a:ext cx="6134093" cy="2197100"/>
        </p:xfrm>
        <a:graphic>
          <a:graphicData uri="http://schemas.openxmlformats.org/drawingml/2006/table">
            <a:tbl>
              <a:tblPr/>
              <a:tblGrid>
                <a:gridCol w="1320253"/>
                <a:gridCol w="601730"/>
                <a:gridCol w="601730"/>
                <a:gridCol w="601730"/>
                <a:gridCol w="601730"/>
                <a:gridCol w="601730"/>
                <a:gridCol w="601730"/>
                <a:gridCol w="601730"/>
                <a:gridCol w="601730"/>
              </a:tblGrid>
              <a:tr h="177800">
                <a:tc>
                  <a:txBody>
                    <a:bodyPr wrap="square"/>
                    <a:lstStyle/>
                    <a:p>
                      <a:pPr algn="ctr">
                        <a:lnSpc>
                          <a:spcPts val="800"/>
                        </a:lnSpc>
                      </a:pPr>
                      <a:r>
                        <a:rPr sz="640" b="1">
                          <a:solidFill>
                            <a:srgbClr val="FEFEFF"/>
                          </a:solidFill>
                          <a:latin typeface="Ubuntu Mono"/>
                          <a:ea typeface="Ubuntu Mono"/>
                          <a:cs typeface="Ubuntu Mono"/>
                          <a:sym typeface="Ubuntu Mono"/>
                        </a:rPr>
                        <a:t>Tool O.D.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4-1/4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6-1/4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6-1/2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6-3/4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1">
                          <a:solidFill>
                            <a:srgbClr val="FEFEFF"/>
                          </a:solidFill>
                          <a:latin typeface="Ubuntu Mono"/>
                          <a:ea typeface="Ubuntu Mono"/>
                          <a:cs typeface="Ubuntu Mono"/>
                          <a:sym typeface="Ubuntu Mono"/>
                        </a:rPr>
                        <a:t>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Tool O.D. (mm)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108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121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159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165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171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203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241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Inside Ø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2-1/2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2-1/2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2-13/16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Max. hole Ø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6-1/4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7-7/8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12-1/4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17-1/2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Max. jar load (lbf)</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86,000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84,000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160,000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160,000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190,000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190,000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300,000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350,000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Tensile yield (lbf)</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350,000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362,000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755,000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755,000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823,000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1,000,000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1,000,000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1,225,000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Torsional yield (lbf-ft)**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11,500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11,500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37,500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37,500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44,500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70,000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73,500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95,000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Total stroke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17.5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Std up latch (lbf)</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35,000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40,000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90,000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90,000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90,000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90,000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95,000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100,000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Max. up latch (lbf)</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50,000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55,000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140,000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140,000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140,000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140,000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150,000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155,000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Std down latch (lbf)***</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15,750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18,000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40,500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40,500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40,500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40,500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42,750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45,000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Max. down latch (lbf)</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22,500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27,000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63,000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63,000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63,000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63,000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67,500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69,800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Pump open area (in²)</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5.4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6.5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9.6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9.6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14.2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15.9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Length, latched (ft)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22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19.8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23.0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Weight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00"/>
                        </a:lnSpc>
                      </a:pPr>
                      <a:r>
                        <a:rPr sz="640" b="0">
                          <a:solidFill>
                            <a:srgbClr val="000000"/>
                          </a:solidFill>
                          <a:latin typeface="Ubuntu Mono"/>
                          <a:ea typeface="Ubuntu Mono"/>
                          <a:cs typeface="Ubuntu Mono"/>
                          <a:sym typeface="Ubuntu Mono"/>
                        </a:rPr>
                        <a:t>730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850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2,000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2,100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2,300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2,500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3,100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00"/>
                        </a:lnSpc>
                      </a:pPr>
                      <a:r>
                        <a:rPr sz="640" b="0">
                          <a:solidFill>
                            <a:srgbClr val="000000"/>
                          </a:solidFill>
                          <a:latin typeface="Ubuntu Mono"/>
                          <a:ea typeface="Ubuntu Mono"/>
                          <a:cs typeface="Ubuntu Mono"/>
                          <a:sym typeface="Ubuntu Mono"/>
                        </a:rPr>
                        <a:t>5,200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4620">
                <a:tc>
                  <a:txBody>
                    <a:bodyPr wrap="square"/>
                    <a:lstStyle/>
                    <a:p>
                      <a:pPr algn="l">
                        <a:lnSpc>
                          <a:spcPts val="800"/>
                        </a:lnSpc>
                      </a:pPr>
                      <a:r>
                        <a:rPr sz="640" b="0">
                          <a:solidFill>
                            <a:srgbClr val="FEFEFF"/>
                          </a:solidFill>
                          <a:latin typeface="Ubuntu Mono"/>
                          <a:ea typeface="Ubuntu Mono"/>
                          <a:cs typeface="Ubuntu Mono"/>
                          <a:sym typeface="Ubuntu Mono"/>
                        </a:rPr>
                        <a:t>Ref.</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00"/>
                        </a:lnSpc>
                      </a:pPr>
                      <a:r>
                        <a:rPr sz="640" b="0">
                          <a:solidFill>
                            <a:srgbClr val="000000"/>
                          </a:solidFill>
                          <a:latin typeface="Ubuntu Mono"/>
                          <a:ea typeface="Ubuntu Mono"/>
                          <a:cs typeface="Ubuntu Mono"/>
                          <a:sym typeface="Ubuntu Mono"/>
                        </a:rPr>
                        <a:t>4525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431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442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428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440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480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411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00"/>
                        </a:lnSpc>
                      </a:pPr>
                      <a:r>
                        <a:rPr sz="640" b="0">
                          <a:solidFill>
                            <a:srgbClr val="000000"/>
                          </a:solidFill>
                          <a:latin typeface="Ubuntu Mono"/>
                          <a:ea typeface="Ubuntu Mono"/>
                          <a:cs typeface="Ubuntu Mono"/>
                          <a:sym typeface="Ubuntu Mono"/>
                        </a:rPr>
                        <a:t>437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3" name="TextBox 22"/>
          <p:cNvSpPr txBox="1"/>
          <p:nvPr/>
        </p:nvSpPr>
        <p:spPr>
          <a:xfrm>
            <a:off x="711200" y="7251700"/>
            <a:ext cx="6134100" cy="203200"/>
          </a:xfrm>
          <a:prstGeom prst="rect">
            <a:avLst/>
          </a:prstGeom>
          <a:noFill/>
        </p:spPr>
        <p:txBody>
          <a:bodyPr wrap="square" lIns="0" rIns="0" tIns="0" bIns="0">
            <a:spAutoFit/>
          </a:bodyPr>
          <a:lstStyle/>
          <a:p>
            <a:pPr algn="l">
              <a:lnSpc>
                <a:spcPts val="740"/>
              </a:lnSpc>
              <a:spcAft>
                <a:spcPts val="0"/>
              </a:spcAft>
            </a:pPr>
            <a:r>
              <a:rPr sz="620" b="0">
                <a:solidFill>
                  <a:srgbClr val="444444"/>
                </a:solidFill>
                <a:latin typeface="Ubuntu Mono"/>
                <a:ea typeface="Ubuntu Mono"/>
                <a:cs typeface="Ubuntu Mono"/>
                <a:sym typeface="Ubuntu Mono"/>
              </a:rPr>
              <a:t>* Hole openers not recommended.  ** Rating based on the yield of the body connections, independent of tool-joint connections.  *** Down latch setting is 45% of the up latch setting, tolerance +/- 5.</a:t>
            </a:r>
          </a:p>
        </p:txBody>
      </p:sp>
      <p:pic>
        <p:nvPicPr>
          <p:cNvPr id="24" name="Picture 23" descr="agentC_jar.png"/>
          <p:cNvPicPr>
            <a:picLocks noChangeAspect="1"/>
          </p:cNvPicPr>
          <p:nvPr/>
        </p:nvPicPr>
        <p:blipFill>
          <a:blip r:embed="rId4"/>
          <a:stretch>
            <a:fillRect/>
          </a:stretch>
        </p:blipFill>
        <p:spPr>
          <a:xfrm>
            <a:off x="965200" y="7531100"/>
            <a:ext cx="5626100" cy="248053"/>
          </a:xfrm>
          <a:prstGeom prst="rect">
            <a:avLst/>
          </a:prstGeom>
        </p:spPr>
      </p:pic>
      <p:sp>
        <p:nvSpPr>
          <p:cNvPr id="25" name="TextBox 24"/>
          <p:cNvSpPr txBox="1"/>
          <p:nvPr/>
        </p:nvSpPr>
        <p:spPr>
          <a:xfrm>
            <a:off x="711200" y="7906153"/>
            <a:ext cx="3048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6" name="TextBox 25"/>
          <p:cNvSpPr txBox="1"/>
          <p:nvPr/>
        </p:nvSpPr>
        <p:spPr>
          <a:xfrm>
            <a:off x="711200" y="8109353"/>
            <a:ext cx="3098800" cy="127000"/>
          </a:xfrm>
          <a:prstGeom prst="rect">
            <a:avLst/>
          </a:prstGeom>
          <a:noFill/>
        </p:spPr>
        <p:txBody>
          <a:bodyPr wrap="square" lIns="0" rIns="0" tIns="0" bIns="0">
            <a:spAutoFit/>
          </a:bodyPr>
          <a:lstStyle/>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Delay in both directions: </a:t>
            </a:r>
            <a:r>
              <a:rPr sz="700" b="0">
                <a:solidFill>
                  <a:srgbClr val="000000"/>
                </a:solidFill>
                <a:latin typeface="Ubuntu Mono"/>
                <a:ea typeface="Ubuntu Mono"/>
                <a:cs typeface="Ubuntu Mono"/>
                <a:sym typeface="Ubuntu Mono"/>
              </a:rPr>
              <a:t>hydraulic delay with mechanical latch, upstroke and downstroke.</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Adjustable latch: </a:t>
            </a:r>
            <a:r>
              <a:rPr sz="700" b="0">
                <a:solidFill>
                  <a:srgbClr val="000000"/>
                </a:solidFill>
                <a:latin typeface="Ubuntu Mono"/>
                <a:ea typeface="Ubuntu Mono"/>
                <a:cs typeface="Ubuntu Mono"/>
                <a:sym typeface="Ubuntu Mono"/>
              </a:rPr>
              <a:t>release settings can be changed up to the maximum values above.</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Jet-type metering device </a:t>
            </a:r>
            <a:r>
              <a:rPr sz="700" b="0">
                <a:solidFill>
                  <a:srgbClr val="000000"/>
                </a:solidFill>
                <a:latin typeface="Ubuntu Mono"/>
                <a:ea typeface="Ubuntu Mono"/>
                <a:cs typeface="Ubuntu Mono"/>
                <a:sym typeface="Ubuntu Mono"/>
              </a:rPr>
              <a:t>controls the hydraulic delay.</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Safe on the rig floor: </a:t>
            </a:r>
            <a:r>
              <a:rPr sz="700" b="0">
                <a:solidFill>
                  <a:srgbClr val="000000"/>
                </a:solidFill>
                <a:latin typeface="Ubuntu Mono"/>
                <a:ea typeface="Ubuntu Mono"/>
                <a:cs typeface="Ubuntu Mono"/>
                <a:sym typeface="Ubuntu Mono"/>
              </a:rPr>
              <a:t>no unexpected jarring while making connections or drilling.</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Simple to operate: </a:t>
            </a:r>
            <a:r>
              <a:rPr sz="700" b="0">
                <a:solidFill>
                  <a:srgbClr val="000000"/>
                </a:solidFill>
                <a:latin typeface="Ubuntu Mono"/>
                <a:ea typeface="Ubuntu Mono"/>
                <a:cs typeface="Ubuntu Mono"/>
                <a:sym typeface="Ubuntu Mono"/>
              </a:rPr>
              <a:t>no torque needed in the jarring procedure.</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Built for high friction: </a:t>
            </a:r>
            <a:r>
              <a:rPr sz="700" b="0">
                <a:solidFill>
                  <a:srgbClr val="000000"/>
                </a:solidFill>
                <a:latin typeface="Ubuntu Mono"/>
                <a:ea typeface="Ubuntu Mono"/>
                <a:cs typeface="Ubuntu Mono"/>
                <a:sym typeface="Ubuntu Mono"/>
              </a:rPr>
              <a:t>weight can be stacked before firing, even in horizontal sections.</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Consistent firing: </a:t>
            </a:r>
            <a:r>
              <a:rPr sz="700" b="0">
                <a:solidFill>
                  <a:srgbClr val="000000"/>
                </a:solidFill>
                <a:latin typeface="Ubuntu Mono"/>
                <a:ea typeface="Ubuntu Mono"/>
                <a:cs typeface="Ubuntu Mono"/>
                <a:sym typeface="Ubuntu Mono"/>
              </a:rPr>
              <a:t>continuous, repeatable jarring performance.</a:t>
            </a:r>
          </a:p>
        </p:txBody>
      </p:sp>
      <p:sp>
        <p:nvSpPr>
          <p:cNvPr id="27" name="TextBox 26"/>
          <p:cNvSpPr txBox="1"/>
          <p:nvPr/>
        </p:nvSpPr>
        <p:spPr>
          <a:xfrm>
            <a:off x="4013200" y="7906153"/>
            <a:ext cx="2832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OPERATING PARAMETERS</a:t>
            </a:r>
          </a:p>
        </p:txBody>
      </p:sp>
      <p:graphicFrame>
        <p:nvGraphicFramePr>
          <p:cNvPr id="28" name="Table 27"/>
          <p:cNvGraphicFramePr>
            <a:graphicFrameLocks noGrp="1"/>
          </p:cNvGraphicFramePr>
          <p:nvPr/>
        </p:nvGraphicFramePr>
        <p:xfrm>
          <a:off x="4013200" y="8096653"/>
          <a:ext cx="2832100" cy="944880"/>
        </p:xfrm>
        <a:graphic>
          <a:graphicData uri="http://schemas.openxmlformats.org/drawingml/2006/table">
            <a:tbl>
              <a:tblPr/>
              <a:tblGrid>
                <a:gridCol w="1066800"/>
                <a:gridCol w="1765300"/>
              </a:tblGrid>
              <a:tr h="157480">
                <a:tc>
                  <a:txBody>
                    <a:bodyPr wrap="square"/>
                    <a:lstStyle/>
                    <a:p>
                      <a:pPr algn="l">
                        <a:lnSpc>
                          <a:spcPts val="810"/>
                        </a:lnSpc>
                      </a:pPr>
                      <a:r>
                        <a:rPr sz="650" b="0">
                          <a:solidFill>
                            <a:srgbClr val="FEFEFF"/>
                          </a:solidFill>
                          <a:latin typeface="Ubuntu Mono"/>
                          <a:ea typeface="Ubuntu Mono"/>
                          <a:cs typeface="Ubuntu Mono"/>
                          <a:sym typeface="Ubuntu Mono"/>
                        </a:rPr>
                        <a:t>Placement in string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0"/>
                        </a:lnSpc>
                      </a:pPr>
                      <a:r>
                        <a:rPr sz="650" b="0">
                          <a:solidFill>
                            <a:srgbClr val="000000"/>
                          </a:solidFill>
                          <a:latin typeface="Ubuntu Mono"/>
                          <a:ea typeface="Ubuntu Mono"/>
                          <a:cs typeface="Ubuntu Mono"/>
                          <a:sym typeface="Ubuntu Mono"/>
                        </a:rPr>
                        <a:t>Tension, neutral or compression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10"/>
                        </a:lnSpc>
                      </a:pPr>
                      <a:r>
                        <a:rPr sz="650" b="0">
                          <a:solidFill>
                            <a:srgbClr val="FEFEFF"/>
                          </a:solidFill>
                          <a:latin typeface="Ubuntu Mono"/>
                          <a:ea typeface="Ubuntu Mono"/>
                          <a:cs typeface="Ubuntu Mono"/>
                          <a:sym typeface="Ubuntu Mono"/>
                        </a:rPr>
                        <a:t>Delay</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0"/>
                        </a:lnSpc>
                      </a:pPr>
                      <a:r>
                        <a:rPr sz="650" b="0">
                          <a:solidFill>
                            <a:srgbClr val="000000"/>
                          </a:solidFill>
                          <a:latin typeface="Ubuntu Mono"/>
                          <a:ea typeface="Ubuntu Mono"/>
                          <a:cs typeface="Ubuntu Mono"/>
                          <a:sym typeface="Ubuntu Mono"/>
                        </a:rPr>
                        <a:t>Hydraulic, up and down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7480">
                <a:tc>
                  <a:txBody>
                    <a:bodyPr wrap="square"/>
                    <a:lstStyle/>
                    <a:p>
                      <a:pPr algn="l">
                        <a:lnSpc>
                          <a:spcPts val="810"/>
                        </a:lnSpc>
                      </a:pPr>
                      <a:r>
                        <a:rPr sz="650" b="0">
                          <a:solidFill>
                            <a:srgbClr val="FEFEFF"/>
                          </a:solidFill>
                          <a:latin typeface="Ubuntu Mono"/>
                          <a:ea typeface="Ubuntu Mono"/>
                          <a:cs typeface="Ubuntu Mono"/>
                          <a:sym typeface="Ubuntu Mono"/>
                        </a:rPr>
                        <a:t>Torque for jarring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0"/>
                        </a:lnSpc>
                      </a:pPr>
                      <a:r>
                        <a:rPr sz="650" b="0">
                          <a:solidFill>
                            <a:srgbClr val="000000"/>
                          </a:solidFill>
                          <a:latin typeface="Ubuntu Mono"/>
                          <a:ea typeface="Ubuntu Mono"/>
                          <a:cs typeface="Ubuntu Mono"/>
                          <a:sym typeface="Ubuntu Mono"/>
                        </a:rPr>
                        <a:t>None required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10"/>
                        </a:lnSpc>
                      </a:pPr>
                      <a:r>
                        <a:rPr sz="650" b="0">
                          <a:solidFill>
                            <a:srgbClr val="FEFEFF"/>
                          </a:solidFill>
                          <a:latin typeface="Ubuntu Mono"/>
                          <a:ea typeface="Ubuntu Mono"/>
                          <a:cs typeface="Ubuntu Mono"/>
                          <a:sym typeface="Ubuntu Mono"/>
                        </a:rPr>
                        <a:t>Tagging / picking up</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0"/>
                        </a:lnSpc>
                      </a:pPr>
                      <a:r>
                        <a:rPr sz="650" b="0">
                          <a:solidFill>
                            <a:srgbClr val="000000"/>
                          </a:solidFill>
                          <a:latin typeface="Ubuntu Mono"/>
                          <a:ea typeface="Ubuntu Mono"/>
                          <a:cs typeface="Ubuntu Mono"/>
                          <a:sym typeface="Ubuntu Mono"/>
                        </a:rPr>
                        <a:t>No bleed-through needed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7480">
                <a:tc>
                  <a:txBody>
                    <a:bodyPr wrap="square"/>
                    <a:lstStyle/>
                    <a:p>
                      <a:pPr algn="l">
                        <a:lnSpc>
                          <a:spcPts val="810"/>
                        </a:lnSpc>
                      </a:pPr>
                      <a:r>
                        <a:rPr sz="650" b="0">
                          <a:solidFill>
                            <a:srgbClr val="FEFEFF"/>
                          </a:solidFill>
                          <a:latin typeface="Ubuntu Mono"/>
                          <a:ea typeface="Ubuntu Mono"/>
                          <a:cs typeface="Ubuntu Mono"/>
                          <a:sym typeface="Ubuntu Mono"/>
                        </a:rPr>
                        <a:t>Down latch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0"/>
                        </a:lnSpc>
                      </a:pPr>
                      <a:r>
                        <a:rPr sz="650" b="0">
                          <a:solidFill>
                            <a:srgbClr val="000000"/>
                          </a:solidFill>
                          <a:latin typeface="Ubuntu Mono"/>
                          <a:ea typeface="Ubuntu Mono"/>
                          <a:cs typeface="Ubuntu Mono"/>
                          <a:sym typeface="Ubuntu Mono"/>
                        </a:rPr>
                        <a:t>45% of up latch, +/- 5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7480">
                <a:tc>
                  <a:txBody>
                    <a:bodyPr wrap="square"/>
                    <a:lstStyle/>
                    <a:p>
                      <a:pPr algn="l">
                        <a:lnSpc>
                          <a:spcPts val="810"/>
                        </a:lnSpc>
                      </a:pPr>
                      <a:r>
                        <a:rPr sz="650" b="0">
                          <a:solidFill>
                            <a:srgbClr val="FEFEFF"/>
                          </a:solidFill>
                          <a:latin typeface="Ubuntu Mono"/>
                          <a:ea typeface="Ubuntu Mono"/>
                          <a:cs typeface="Ubuntu Mono"/>
                          <a:sym typeface="Ubuntu Mono"/>
                        </a:rPr>
                        <a:t>Hole openers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0"/>
                        </a:lnSpc>
                      </a:pPr>
                      <a:r>
                        <a:rPr sz="650" b="0">
                          <a:solidFill>
                            <a:srgbClr val="000000"/>
                          </a:solidFill>
                          <a:latin typeface="Ubuntu Mono"/>
                          <a:ea typeface="Ubuntu Mono"/>
                          <a:cs typeface="Ubuntu Mono"/>
                          <a:sym typeface="Ubuntu Mono"/>
                        </a:rPr>
                        <a:t>Not recommended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9" name="TextBox 28"/>
          <p:cNvSpPr txBox="1"/>
          <p:nvPr/>
        </p:nvSpPr>
        <p:spPr>
          <a:xfrm>
            <a:off x="4013200" y="9168533"/>
            <a:ext cx="2832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0" name="TextBox 29"/>
          <p:cNvSpPr txBox="1"/>
          <p:nvPr/>
        </p:nvSpPr>
        <p:spPr>
          <a:xfrm>
            <a:off x="4013200" y="9359033"/>
            <a:ext cx="2832100" cy="508000"/>
          </a:xfrm>
          <a:prstGeom prst="rect">
            <a:avLst/>
          </a:prstGeom>
          <a:noFill/>
        </p:spPr>
        <p:txBody>
          <a:bodyPr wrap="square" lIns="0" rIns="0" tIns="0" bIns="0">
            <a:spAutoFit/>
          </a:bodyPr>
          <a:lstStyle/>
          <a:p>
            <a:pPr algn="just">
              <a:lnSpc>
                <a:spcPts val="850"/>
              </a:lnSpc>
              <a:spcAft>
                <a:spcPts val="0"/>
              </a:spcAft>
            </a:pPr>
            <a:r>
              <a:rPr sz="670" b="0">
                <a:solidFill>
                  <a:srgbClr val="000000"/>
                </a:solidFill>
                <a:latin typeface="Ubuntu Mono"/>
                <a:ea typeface="Ubuntu Mono"/>
                <a:cs typeface="Ubuntu Mono"/>
                <a:sym typeface="Ubuntu Mono"/>
              </a:rPr>
              <a:t>Please specify: 1. tool O.D. and ref.  2. top and bottom connections  3. up and down latch release settings (standard or adjusted, within the maximum)  4. hole diameter and drilling program (directional, horizontal or extended reach).</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afetyJoint.png"/>
          <p:cNvPicPr>
            <a:picLocks noChangeAspect="1"/>
          </p:cNvPicPr>
          <p:nvPr/>
        </p:nvPicPr>
        <p:blipFill>
          <a:blip r:embed="rId2"/>
          <a:stretch>
            <a:fillRect/>
          </a:stretch>
        </p:blipFill>
        <p:spPr>
          <a:xfrm>
            <a:off x="0" y="0"/>
            <a:ext cx="7556500" cy="10693400"/>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DieCollar.png"/>
          <p:cNvPicPr>
            <a:picLocks noChangeAspect="1"/>
          </p:cNvPicPr>
          <p:nvPr/>
        </p:nvPicPr>
        <p:blipFill>
          <a:blip r:embed="rId2"/>
          <a:stretch>
            <a:fillRect/>
          </a:stretch>
        </p:blipFill>
        <p:spPr>
          <a:xfrm>
            <a:off x="0" y="0"/>
            <a:ext cx="7556500" cy="10693400"/>
          </a:xfrm>
          <a:prstGeom prst="rect">
            <a:avLst/>
          </a:prstGeom>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ook.png"/>
          <p:cNvPicPr>
            <a:picLocks noChangeAspect="1"/>
          </p:cNvPicPr>
          <p:nvPr/>
        </p:nvPicPr>
        <p:blipFill>
          <a:blip r:embed="rId2"/>
          <a:stretch>
            <a:fillRect/>
          </a:stretch>
        </p:blipFill>
        <p:spPr>
          <a:xfrm>
            <a:off x="0" y="0"/>
            <a:ext cx="7556500" cy="10693400"/>
          </a:xfrm>
          <a:prstGeom prst="rect">
            <a:avLst/>
          </a:prstGeom>
        </p:spPr>
      </p:pic>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Overshot</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FISHING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SERIES 150 RELEASING AND CIRCULATING OVERSHOT</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EXTERNAL-CATCH FISHING TOOL THAT ENGAGES, PACKS OFF AND PULLS TWISTED-OFF OR LOST TUBING, DRILL PIPE, COUPLINGS, TOOL JOINTS, CASING AND OTHER SMOOTH-O.D. FISH. A SPIRAL OR BASKET GRAPPLE GRIPS THE FISH OVER A LONG SECTION, SO HEAVY PULLING, TORSION AND JARRING LOADS ARE TAKEN WITHOUT DAMAGING THE TOOL OR THE FISH. ENGAGING AND RELEASING BOTH USE RIGHT-HAND ROTATION ONLY.</a:t>
            </a:r>
          </a:p>
        </p:txBody>
      </p:sp>
      <p:sp>
        <p:nvSpPr>
          <p:cNvPr id="21" name="TextBox 20"/>
          <p:cNvSpPr txBox="1"/>
          <p:nvPr/>
        </p:nvSpPr>
        <p:spPr>
          <a:xfrm>
            <a:off x="711200" y="4851400"/>
            <a:ext cx="3238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FULL STRENGTH SIZES</a:t>
            </a:r>
          </a:p>
        </p:txBody>
      </p:sp>
      <p:graphicFrame>
        <p:nvGraphicFramePr>
          <p:cNvPr id="22" name="Table 21"/>
          <p:cNvGraphicFramePr>
            <a:graphicFrameLocks noGrp="1"/>
          </p:cNvGraphicFramePr>
          <p:nvPr/>
        </p:nvGraphicFramePr>
        <p:xfrm>
          <a:off x="711200" y="5041900"/>
          <a:ext cx="3238498" cy="2021840"/>
        </p:xfrm>
        <a:graphic>
          <a:graphicData uri="http://schemas.openxmlformats.org/drawingml/2006/table">
            <a:tbl>
              <a:tblPr/>
              <a:tblGrid>
                <a:gridCol w="693964"/>
                <a:gridCol w="751794"/>
                <a:gridCol w="751794"/>
                <a:gridCol w="491558"/>
                <a:gridCol w="549388"/>
              </a:tblGrid>
              <a:tr h="304800">
                <a:tc>
                  <a:txBody>
                    <a:bodyPr wrap="square"/>
                    <a:lstStyle/>
                    <a:p>
                      <a:pPr algn="ctr">
                        <a:lnSpc>
                          <a:spcPts val="840"/>
                        </a:lnSpc>
                      </a:pPr>
                      <a:r>
                        <a:rPr sz="680" b="1">
                          <a:solidFill>
                            <a:srgbClr val="FEFEFF"/>
                          </a:solidFill>
                          <a:latin typeface="Ubuntu Mono"/>
                          <a:ea typeface="Ubuntu Mono"/>
                          <a:cs typeface="Ubuntu Mono"/>
                          <a:sym typeface="Ubuntu Mono"/>
                        </a:rPr>
                        <a:t>Overshot 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Max. catch, spiral</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Max. catch, basket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Type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1">
                          <a:solidFill>
                            <a:srgbClr val="FEFEFF"/>
                          </a:solidFill>
                          <a:latin typeface="Ubuntu Mono"/>
                          <a:ea typeface="Ubuntu Mono"/>
                          <a:cs typeface="Ubuntu Mono"/>
                          <a:sym typeface="Ubuntu Mono"/>
                        </a:rPr>
                        <a:t>Wt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32080">
                <a:tc>
                  <a:txBody>
                    <a:bodyPr wrap="square"/>
                    <a:lstStyle/>
                    <a:p>
                      <a:pPr algn="ctr">
                        <a:lnSpc>
                          <a:spcPts val="840"/>
                        </a:lnSpc>
                      </a:pPr>
                      <a:r>
                        <a:rPr sz="680" b="0">
                          <a:solidFill>
                            <a:srgbClr val="FEFEFF"/>
                          </a:solidFill>
                          <a:latin typeface="Ubuntu Mono"/>
                          <a:ea typeface="Ubuntu Mono"/>
                          <a:cs typeface="Ubuntu Mono"/>
                          <a:sym typeface="Ubuntu Mono"/>
                        </a:rPr>
                        <a:t>3-5/8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2-1/2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FS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55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2080">
                <a:tc>
                  <a:txBody>
                    <a:bodyPr wrap="square"/>
                    <a:lstStyle/>
                    <a:p>
                      <a:pPr algn="ctr">
                        <a:lnSpc>
                          <a:spcPts val="840"/>
                        </a:lnSpc>
                      </a:pPr>
                      <a:r>
                        <a:rPr sz="680" b="0">
                          <a:solidFill>
                            <a:srgbClr val="FEFEFF"/>
                          </a:solidFill>
                          <a:latin typeface="Ubuntu Mono"/>
                          <a:ea typeface="Ubuntu Mono"/>
                          <a:cs typeface="Ubuntu Mono"/>
                          <a:sym typeface="Ubuntu Mono"/>
                        </a:rPr>
                        <a:t>4-1/8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3-1/8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2-5/8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FS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70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2080">
                <a:tc>
                  <a:txBody>
                    <a:bodyPr wrap="square"/>
                    <a:lstStyle/>
                    <a:p>
                      <a:pPr algn="ctr">
                        <a:lnSpc>
                          <a:spcPts val="840"/>
                        </a:lnSpc>
                      </a:pPr>
                      <a:r>
                        <a:rPr sz="680" b="0">
                          <a:solidFill>
                            <a:srgbClr val="FEFEFF"/>
                          </a:solidFill>
                          <a:latin typeface="Ubuntu Mono"/>
                          <a:ea typeface="Ubuntu Mono"/>
                          <a:cs typeface="Ubuntu Mono"/>
                          <a:sym typeface="Ubuntu Mono"/>
                        </a:rPr>
                        <a:t>5-9/16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4-1/4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3-11/16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FS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2080">
                <a:tc>
                  <a:txBody>
                    <a:bodyPr wrap="square"/>
                    <a:lstStyle/>
                    <a:p>
                      <a:pPr algn="ctr">
                        <a:lnSpc>
                          <a:spcPts val="840"/>
                        </a:lnSpc>
                      </a:pPr>
                      <a:r>
                        <a:rPr sz="680" b="0">
                          <a:solidFill>
                            <a:srgbClr val="FEFEFF"/>
                          </a:solidFill>
                          <a:latin typeface="Ubuntu Mono"/>
                          <a:ea typeface="Ubuntu Mono"/>
                          <a:cs typeface="Ubuntu Mono"/>
                          <a:sym typeface="Ubuntu Mono"/>
                        </a:rPr>
                        <a:t>5-5/8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4-5/8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4-1/8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FS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130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2080">
                <a:tc>
                  <a:txBody>
                    <a:bodyPr wrap="square"/>
                    <a:lstStyle/>
                    <a:p>
                      <a:pPr algn="ctr">
                        <a:lnSpc>
                          <a:spcPts val="840"/>
                        </a:lnSpc>
                      </a:pPr>
                      <a:r>
                        <a:rPr sz="680" b="0">
                          <a:solidFill>
                            <a:srgbClr val="FEFEFF"/>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4-1/4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FS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138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2080">
                <a:tc>
                  <a:txBody>
                    <a:bodyPr wrap="square"/>
                    <a:lstStyle/>
                    <a:p>
                      <a:pPr algn="ctr">
                        <a:lnSpc>
                          <a:spcPts val="840"/>
                        </a:lnSpc>
                      </a:pPr>
                      <a:r>
                        <a:rPr sz="680" b="0">
                          <a:solidFill>
                            <a:srgbClr val="FEFEFF"/>
                          </a:solidFill>
                          <a:latin typeface="Ubuntu Mono"/>
                          <a:ea typeface="Ubuntu Mono"/>
                          <a:cs typeface="Ubuntu Mono"/>
                          <a:sym typeface="Ubuntu Mono"/>
                        </a:rPr>
                        <a:t>7-7/8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6-1/4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FS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261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2080">
                <a:tc>
                  <a:txBody>
                    <a:bodyPr wrap="square"/>
                    <a:lstStyle/>
                    <a:p>
                      <a:pPr algn="ctr">
                        <a:lnSpc>
                          <a:spcPts val="840"/>
                        </a:lnSpc>
                      </a:pPr>
                      <a:r>
                        <a:rPr sz="680" b="0">
                          <a:solidFill>
                            <a:srgbClr val="FEFEFF"/>
                          </a:solidFill>
                          <a:latin typeface="Ubuntu Mono"/>
                          <a:ea typeface="Ubuntu Mono"/>
                          <a:cs typeface="Ubuntu Mono"/>
                          <a:sym typeface="Ubuntu Mono"/>
                        </a:rPr>
                        <a:t>8-1/8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6-1/2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FS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274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2080">
                <a:tc>
                  <a:txBody>
                    <a:bodyPr wrap="square"/>
                    <a:lstStyle/>
                    <a:p>
                      <a:pPr algn="ctr">
                        <a:lnSpc>
                          <a:spcPts val="840"/>
                        </a:lnSpc>
                      </a:pPr>
                      <a:r>
                        <a:rPr sz="680" b="0">
                          <a:solidFill>
                            <a:srgbClr val="FEFEFF"/>
                          </a:solidFill>
                          <a:latin typeface="Ubuntu Mono"/>
                          <a:ea typeface="Ubuntu Mono"/>
                          <a:cs typeface="Ubuntu Mono"/>
                          <a:sym typeface="Ubuntu Mono"/>
                        </a:rPr>
                        <a:t>8-1/4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5-7/8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FS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280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2080">
                <a:tc>
                  <a:txBody>
                    <a:bodyPr wrap="square"/>
                    <a:lstStyle/>
                    <a:p>
                      <a:pPr algn="ctr">
                        <a:lnSpc>
                          <a:spcPts val="840"/>
                        </a:lnSpc>
                      </a:pPr>
                      <a:r>
                        <a:rPr sz="680" b="0">
                          <a:solidFill>
                            <a:srgbClr val="FEFEFF"/>
                          </a:solidFill>
                          <a:latin typeface="Ubuntu Mono"/>
                          <a:ea typeface="Ubuntu Mono"/>
                          <a:cs typeface="Ubuntu Mono"/>
                          <a:sym typeface="Ubuntu Mono"/>
                        </a:rPr>
                        <a:t>9-5/8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7-1/4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FS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337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2080">
                <a:tc>
                  <a:txBody>
                    <a:bodyPr wrap="square"/>
                    <a:lstStyle/>
                    <a:p>
                      <a:pPr algn="ctr">
                        <a:lnSpc>
                          <a:spcPts val="840"/>
                        </a:lnSpc>
                      </a:pPr>
                      <a:r>
                        <a:rPr sz="680" b="0">
                          <a:solidFill>
                            <a:srgbClr val="FEFEFF"/>
                          </a:solidFill>
                          <a:latin typeface="Ubuntu Mono"/>
                          <a:ea typeface="Ubuntu Mono"/>
                          <a:cs typeface="Ubuntu Mono"/>
                          <a:sym typeface="Ubuntu Mono"/>
                        </a:rPr>
                        <a:t>10-1/8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8-1/2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7-3/4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FS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358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2080">
                <a:tc>
                  <a:txBody>
                    <a:bodyPr wrap="square"/>
                    <a:lstStyle/>
                    <a:p>
                      <a:pPr algn="ctr">
                        <a:lnSpc>
                          <a:spcPts val="840"/>
                        </a:lnSpc>
                      </a:pPr>
                      <a:r>
                        <a:rPr sz="680" b="0">
                          <a:solidFill>
                            <a:srgbClr val="FEFEFF"/>
                          </a:solidFill>
                          <a:latin typeface="Ubuntu Mono"/>
                          <a:ea typeface="Ubuntu Mono"/>
                          <a:cs typeface="Ubuntu Mono"/>
                          <a:sym typeface="Ubuntu Mono"/>
                        </a:rPr>
                        <a:t>10-5/8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8-1/4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FS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401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2080">
                <a:tc>
                  <a:txBody>
                    <a:bodyPr wrap="square"/>
                    <a:lstStyle/>
                    <a:p>
                      <a:pPr algn="ctr">
                        <a:lnSpc>
                          <a:spcPts val="840"/>
                        </a:lnSpc>
                      </a:pPr>
                      <a:r>
                        <a:rPr sz="680" b="0">
                          <a:solidFill>
                            <a:srgbClr val="FEFEFF"/>
                          </a:solidFill>
                          <a:latin typeface="Ubuntu Mono"/>
                          <a:ea typeface="Ubuntu Mono"/>
                          <a:cs typeface="Ubuntu Mono"/>
                          <a:sym typeface="Ubuntu Mono"/>
                        </a:rPr>
                        <a:t>11-1/4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40"/>
                        </a:lnSpc>
                      </a:pPr>
                      <a:r>
                        <a:rPr sz="680" b="0">
                          <a:solidFill>
                            <a:srgbClr val="000000"/>
                          </a:solidFill>
                          <a:latin typeface="Ubuntu Mono"/>
                          <a:ea typeface="Ubuntu Mono"/>
                          <a:cs typeface="Ubuntu Mono"/>
                          <a:sym typeface="Ubuntu Mono"/>
                        </a:rPr>
                        <a:t>9-5/8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8-7/8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FS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40"/>
                        </a:lnSpc>
                      </a:pPr>
                      <a:r>
                        <a:rPr sz="680" b="0">
                          <a:solidFill>
                            <a:srgbClr val="000000"/>
                          </a:solidFill>
                          <a:latin typeface="Ubuntu Mono"/>
                          <a:ea typeface="Ubuntu Mono"/>
                          <a:cs typeface="Ubuntu Mono"/>
                          <a:sym typeface="Ubuntu Mono"/>
                        </a:rPr>
                        <a:t>520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2080">
                <a:tc>
                  <a:txBody>
                    <a:bodyPr wrap="square"/>
                    <a:lstStyle/>
                    <a:p>
                      <a:pPr algn="ctr">
                        <a:lnSpc>
                          <a:spcPts val="840"/>
                        </a:lnSpc>
                      </a:pPr>
                      <a:r>
                        <a:rPr sz="680" b="0">
                          <a:solidFill>
                            <a:srgbClr val="FEFEFF"/>
                          </a:solidFill>
                          <a:latin typeface="Ubuntu Mono"/>
                          <a:ea typeface="Ubuntu Mono"/>
                          <a:cs typeface="Ubuntu Mono"/>
                          <a:sym typeface="Ubuntu Mono"/>
                        </a:rPr>
                        <a:t>11-3/4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40"/>
                        </a:lnSpc>
                      </a:pPr>
                      <a:r>
                        <a:rPr sz="680" b="0">
                          <a:solidFill>
                            <a:srgbClr val="000000"/>
                          </a:solidFill>
                          <a:latin typeface="Ubuntu Mono"/>
                          <a:ea typeface="Ubuntu Mono"/>
                          <a:cs typeface="Ubuntu Mono"/>
                          <a:sym typeface="Ubuntu Mono"/>
                        </a:rPr>
                        <a:t>10-1/8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9-3/8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FS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40"/>
                        </a:lnSpc>
                      </a:pPr>
                      <a:r>
                        <a:rPr sz="680" b="0">
                          <a:solidFill>
                            <a:srgbClr val="000000"/>
                          </a:solidFill>
                          <a:latin typeface="Ubuntu Mono"/>
                          <a:ea typeface="Ubuntu Mono"/>
                          <a:cs typeface="Ubuntu Mono"/>
                          <a:sym typeface="Ubuntu Mono"/>
                        </a:rPr>
                        <a:t>642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3" name="TextBox 22"/>
          <p:cNvSpPr txBox="1"/>
          <p:nvPr/>
        </p:nvSpPr>
        <p:spPr>
          <a:xfrm>
            <a:off x="711200" y="7139940"/>
            <a:ext cx="3238500" cy="279400"/>
          </a:xfrm>
          <a:prstGeom prst="rect">
            <a:avLst/>
          </a:prstGeom>
          <a:noFill/>
        </p:spPr>
        <p:txBody>
          <a:bodyPr wrap="square" lIns="0" rIns="0" tIns="0" bIns="0">
            <a:spAutoFit/>
          </a:bodyPr>
          <a:lstStyle/>
          <a:p>
            <a:pPr algn="l">
              <a:lnSpc>
                <a:spcPts val="740"/>
              </a:lnSpc>
              <a:spcAft>
                <a:spcPts val="0"/>
              </a:spcAft>
            </a:pPr>
            <a:r>
              <a:rPr sz="620" b="0">
                <a:solidFill>
                  <a:srgbClr val="444444"/>
                </a:solidFill>
                <a:latin typeface="Ubuntu Mono"/>
                <a:ea typeface="Ubuntu Mono"/>
                <a:cs typeface="Ubuntu Mono"/>
                <a:sym typeface="Ubuntu Mono"/>
              </a:rPr>
              <a:t>* Assembly dressed with spiral parts. Inches. FS = full strength. Slim-hole and semi full strength types also exist; undersize parts fit smaller fish.</a:t>
            </a:r>
          </a:p>
        </p:txBody>
      </p:sp>
      <p:sp>
        <p:nvSpPr>
          <p:cNvPr id="24" name="TextBox 23"/>
          <p:cNvSpPr txBox="1"/>
          <p:nvPr/>
        </p:nvSpPr>
        <p:spPr>
          <a:xfrm>
            <a:off x="4089400" y="485140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WIDE CATCH VERSION</a:t>
            </a:r>
          </a:p>
        </p:txBody>
      </p:sp>
      <p:graphicFrame>
        <p:nvGraphicFramePr>
          <p:cNvPr id="25" name="Table 24"/>
          <p:cNvGraphicFramePr>
            <a:graphicFrameLocks noGrp="1"/>
          </p:cNvGraphicFramePr>
          <p:nvPr/>
        </p:nvGraphicFramePr>
        <p:xfrm>
          <a:off x="4089400" y="5041900"/>
          <a:ext cx="2755900" cy="1168400"/>
        </p:xfrm>
        <a:graphic>
          <a:graphicData uri="http://schemas.openxmlformats.org/drawingml/2006/table">
            <a:tbl>
              <a:tblPr/>
              <a:tblGrid>
                <a:gridCol w="482600"/>
                <a:gridCol w="482600"/>
                <a:gridCol w="584200"/>
                <a:gridCol w="609600"/>
                <a:gridCol w="596900"/>
              </a:tblGrid>
              <a:tr h="330200">
                <a:tc>
                  <a:txBody>
                    <a:bodyPr wrap="square"/>
                    <a:lstStyle/>
                    <a:p>
                      <a:pPr algn="ctr">
                        <a:lnSpc>
                          <a:spcPts val="819"/>
                        </a:lnSpc>
                      </a:pPr>
                      <a:r>
                        <a:rPr sz="660" b="1">
                          <a:solidFill>
                            <a:srgbClr val="FEFEFF"/>
                          </a:solidFill>
                          <a:latin typeface="Ubuntu Mono"/>
                          <a:ea typeface="Ubuntu Mono"/>
                          <a:cs typeface="Ubuntu Mono"/>
                          <a:sym typeface="Ubuntu Mono"/>
                        </a:rPr>
                        <a:t>Tool O.D.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Catch range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Max. catch, spiral</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Max. catch, basket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Load, spiral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39700">
                <a:tc>
                  <a:txBody>
                    <a:bodyPr wrap="square"/>
                    <a:lstStyle/>
                    <a:p>
                      <a:pPr algn="ctr">
                        <a:lnSpc>
                          <a:spcPts val="819"/>
                        </a:lnSpc>
                      </a:pPr>
                      <a:r>
                        <a:rPr sz="660" b="0">
                          <a:solidFill>
                            <a:srgbClr val="FEFEFF"/>
                          </a:solidFill>
                          <a:latin typeface="Ubuntu Mono"/>
                          <a:ea typeface="Ubuntu Mono"/>
                          <a:cs typeface="Ubuntu Mono"/>
                          <a:sym typeface="Ubuntu Mono"/>
                        </a:rPr>
                        <a:t>4-11/16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3-21/32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3-1/16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332,100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19"/>
                        </a:lnSpc>
                      </a:pPr>
                      <a:r>
                        <a:rPr sz="660" b="0">
                          <a:solidFill>
                            <a:srgbClr val="FEFEFF"/>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5/16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4-1/8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407,100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19"/>
                        </a:lnSpc>
                      </a:pPr>
                      <a:r>
                        <a:rPr sz="660" b="0">
                          <a:solidFill>
                            <a:srgbClr val="FEFEFF"/>
                          </a:solidFill>
                          <a:latin typeface="Ubuntu Mono"/>
                          <a:ea typeface="Ubuntu Mono"/>
                          <a:cs typeface="Ubuntu Mono"/>
                          <a:sym typeface="Ubuntu Mono"/>
                        </a:rPr>
                        <a:t>7-3/8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6-1/2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5-7/8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435,200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19"/>
                        </a:lnSpc>
                      </a:pPr>
                      <a:r>
                        <a:rPr sz="660" b="0">
                          <a:solidFill>
                            <a:srgbClr val="FEFEFF"/>
                          </a:solidFill>
                          <a:latin typeface="Ubuntu Mono"/>
                          <a:ea typeface="Ubuntu Mono"/>
                          <a:cs typeface="Ubuntu Mono"/>
                          <a:sym typeface="Ubuntu Mono"/>
                        </a:rPr>
                        <a:t>8-1/8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5/16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6-1/4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548,900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19"/>
                        </a:lnSpc>
                      </a:pPr>
                      <a:r>
                        <a:rPr sz="660" b="0">
                          <a:solidFill>
                            <a:srgbClr val="FEFEFF"/>
                          </a:solidFill>
                          <a:latin typeface="Ubuntu Mono"/>
                          <a:ea typeface="Ubuntu Mono"/>
                          <a:cs typeface="Ubuntu Mono"/>
                          <a:sym typeface="Ubuntu Mono"/>
                        </a:rPr>
                        <a:t>9-1/8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5/16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7-1/4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548,900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19"/>
                        </a:lnSpc>
                      </a:pPr>
                      <a:r>
                        <a:rPr sz="660" b="0">
                          <a:solidFill>
                            <a:srgbClr val="FEFEFF"/>
                          </a:solidFill>
                          <a:latin typeface="Ubuntu Mono"/>
                          <a:ea typeface="Ubuntu Mono"/>
                          <a:cs typeface="Ubuntu Mono"/>
                          <a:sym typeface="Ubuntu Mono"/>
                        </a:rPr>
                        <a:t>11-3/4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10-1/8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969,000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6" name="TextBox 25"/>
          <p:cNvSpPr txBox="1"/>
          <p:nvPr/>
        </p:nvSpPr>
        <p:spPr>
          <a:xfrm>
            <a:off x="4089400" y="6248400"/>
            <a:ext cx="2755900" cy="635000"/>
          </a:xfrm>
          <a:prstGeom prst="rect">
            <a:avLst/>
          </a:prstGeom>
          <a:noFill/>
        </p:spPr>
        <p:txBody>
          <a:bodyPr wrap="square" lIns="0" rIns="0" tIns="0" bIns="0">
            <a:spAutoFit/>
          </a:bodyPr>
          <a:lstStyle/>
          <a:p>
            <a:pPr algn="l">
              <a:lnSpc>
                <a:spcPts val="760"/>
              </a:lnSpc>
              <a:spcAft>
                <a:spcPts val="0"/>
              </a:spcAft>
            </a:pPr>
            <a:r>
              <a:rPr sz="630" b="0">
                <a:solidFill>
                  <a:srgbClr val="444444"/>
                </a:solidFill>
                <a:latin typeface="Ubuntu Mono"/>
                <a:ea typeface="Ubuntu Mono"/>
                <a:cs typeface="Ubuntu Mono"/>
                <a:sym typeface="Ubuntu Mono"/>
              </a:rPr>
              <a:t>Same design with an extended catch range, up to four times that of a standard overshot, to reach heavily worn fish. Standard or high-pressure seals, full flow through the fish, coarse top-sub threads with set screws, 18 in. fish neck. Can cut grapple inventory by up to 75%.</a:t>
            </a:r>
          </a:p>
        </p:txBody>
      </p:sp>
      <p:pic>
        <p:nvPicPr>
          <p:cNvPr id="27" name="Picture 26" descr="agentC_os.png"/>
          <p:cNvPicPr>
            <a:picLocks noChangeAspect="1"/>
          </p:cNvPicPr>
          <p:nvPr/>
        </p:nvPicPr>
        <p:blipFill>
          <a:blip r:embed="rId4"/>
          <a:stretch>
            <a:fillRect/>
          </a:stretch>
        </p:blipFill>
        <p:spPr>
          <a:xfrm>
            <a:off x="711200" y="7495540"/>
            <a:ext cx="513468" cy="2603500"/>
          </a:xfrm>
          <a:prstGeom prst="rect">
            <a:avLst/>
          </a:prstGeom>
        </p:spPr>
      </p:pic>
      <p:sp>
        <p:nvSpPr>
          <p:cNvPr id="28" name="TextBox 27"/>
          <p:cNvSpPr txBox="1"/>
          <p:nvPr/>
        </p:nvSpPr>
        <p:spPr>
          <a:xfrm>
            <a:off x="1498600" y="7470140"/>
            <a:ext cx="2730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9" name="TextBox 28"/>
          <p:cNvSpPr txBox="1"/>
          <p:nvPr/>
        </p:nvSpPr>
        <p:spPr>
          <a:xfrm>
            <a:off x="1498600" y="7673340"/>
            <a:ext cx="2540000" cy="127000"/>
          </a:xfrm>
          <a:prstGeom prst="rect">
            <a:avLst/>
          </a:prstGeom>
          <a:noFill/>
        </p:spPr>
        <p:txBody>
          <a:bodyPr wrap="square" lIns="0" rIns="0" tIns="0" bIns="0">
            <a:spAutoFit/>
          </a:bodyPr>
          <a:lstStyle/>
          <a:p>
            <a:pPr algn="l">
              <a:lnSpc>
                <a:spcPts val="860"/>
              </a:lnSpc>
              <a:spcAft>
                <a:spcPts val="200"/>
              </a:spcAft>
            </a:pPr>
            <a:r>
              <a:rPr sz="540" b="0">
                <a:solidFill>
                  <a:srgbClr val="01ADEE"/>
                </a:solidFill>
                <a:latin typeface="Ubuntu Mono"/>
                <a:ea typeface="Ubuntu Mono"/>
                <a:cs typeface="Ubuntu Mono"/>
                <a:sym typeface="Ubuntu Mono"/>
              </a:rPr>
              <a:t>■ </a:t>
            </a:r>
            <a:r>
              <a:rPr sz="690" b="1">
                <a:solidFill>
                  <a:srgbClr val="000000"/>
                </a:solidFill>
                <a:latin typeface="Ubuntu Mono"/>
                <a:ea typeface="Ubuntu Mono"/>
                <a:cs typeface="Ubuntu Mono"/>
                <a:sym typeface="Ubuntu Mono"/>
              </a:rPr>
              <a:t>Spiral or basket grapple: </a:t>
            </a:r>
            <a:r>
              <a:rPr sz="690" b="0">
                <a:solidFill>
                  <a:srgbClr val="000000"/>
                </a:solidFill>
                <a:latin typeface="Ubuntu Mono"/>
                <a:ea typeface="Ubuntu Mono"/>
                <a:cs typeface="Ubuntu Mono"/>
                <a:sym typeface="Ubuntu Mono"/>
              </a:rPr>
              <a:t>spiral for fish near maximum catch size, basket for smaller fish.</a:t>
            </a:r>
          </a:p>
          <a:p>
            <a:pPr algn="l">
              <a:lnSpc>
                <a:spcPts val="860"/>
              </a:lnSpc>
              <a:spcAft>
                <a:spcPts val="200"/>
              </a:spcAft>
            </a:pPr>
            <a:r>
              <a:rPr sz="540" b="0">
                <a:solidFill>
                  <a:srgbClr val="01ADEE"/>
                </a:solidFill>
                <a:latin typeface="Ubuntu Mono"/>
                <a:ea typeface="Ubuntu Mono"/>
                <a:cs typeface="Ubuntu Mono"/>
                <a:sym typeface="Ubuntu Mono"/>
              </a:rPr>
              <a:t>■ </a:t>
            </a:r>
            <a:r>
              <a:rPr sz="690" b="1">
                <a:solidFill>
                  <a:srgbClr val="000000"/>
                </a:solidFill>
                <a:latin typeface="Ubuntu Mono"/>
                <a:ea typeface="Ubuntu Mono"/>
                <a:cs typeface="Ubuntu Mono"/>
                <a:sym typeface="Ubuntu Mono"/>
              </a:rPr>
              <a:t>Pack-off: </a:t>
            </a:r>
            <a:r>
              <a:rPr sz="690" b="0">
                <a:solidFill>
                  <a:srgbClr val="000000"/>
                </a:solidFill>
                <a:latin typeface="Ubuntu Mono"/>
                <a:ea typeface="Ubuntu Mono"/>
                <a:cs typeface="Ubuntu Mono"/>
                <a:sym typeface="Ubuntu Mono"/>
              </a:rPr>
              <a:t>sleeve packer with spiral grapple; double-lip mill control packer (field-replaceable seals) with basket grapple.</a:t>
            </a:r>
          </a:p>
          <a:p>
            <a:pPr algn="l">
              <a:lnSpc>
                <a:spcPts val="860"/>
              </a:lnSpc>
              <a:spcAft>
                <a:spcPts val="200"/>
              </a:spcAft>
            </a:pPr>
            <a:r>
              <a:rPr sz="540" b="0">
                <a:solidFill>
                  <a:srgbClr val="01ADEE"/>
                </a:solidFill>
                <a:latin typeface="Ubuntu Mono"/>
                <a:ea typeface="Ubuntu Mono"/>
                <a:cs typeface="Ubuntu Mono"/>
                <a:sym typeface="Ubuntu Mono"/>
              </a:rPr>
              <a:t>■ </a:t>
            </a:r>
            <a:r>
              <a:rPr sz="690" b="1">
                <a:solidFill>
                  <a:srgbClr val="000000"/>
                </a:solidFill>
                <a:latin typeface="Ubuntu Mono"/>
                <a:ea typeface="Ubuntu Mono"/>
                <a:cs typeface="Ubuntu Mono"/>
                <a:sym typeface="Ubuntu Mono"/>
              </a:rPr>
              <a:t>Circulation </a:t>
            </a:r>
            <a:r>
              <a:rPr sz="690" b="0">
                <a:solidFill>
                  <a:srgbClr val="000000"/>
                </a:solidFill>
                <a:latin typeface="Ubuntu Mono"/>
                <a:ea typeface="Ubuntu Mono"/>
                <a:cs typeface="Ubuntu Mono"/>
                <a:sym typeface="Ubuntu Mono"/>
              </a:rPr>
              <a:t>through the fish to help free it.</a:t>
            </a:r>
          </a:p>
          <a:p>
            <a:pPr algn="l">
              <a:lnSpc>
                <a:spcPts val="860"/>
              </a:lnSpc>
              <a:spcAft>
                <a:spcPts val="200"/>
              </a:spcAft>
            </a:pPr>
            <a:r>
              <a:rPr sz="540" b="0">
                <a:solidFill>
                  <a:srgbClr val="01ADEE"/>
                </a:solidFill>
                <a:latin typeface="Ubuntu Mono"/>
                <a:ea typeface="Ubuntu Mono"/>
                <a:cs typeface="Ubuntu Mono"/>
                <a:sym typeface="Ubuntu Mono"/>
              </a:rPr>
              <a:t>■ </a:t>
            </a:r>
            <a:r>
              <a:rPr sz="690" b="1">
                <a:solidFill>
                  <a:srgbClr val="000000"/>
                </a:solidFill>
                <a:latin typeface="Ubuntu Mono"/>
                <a:ea typeface="Ubuntu Mono"/>
                <a:cs typeface="Ubuntu Mono"/>
                <a:sym typeface="Ubuntu Mono"/>
              </a:rPr>
              <a:t>Right-hand only: </a:t>
            </a:r>
            <a:r>
              <a:rPr sz="690" b="0">
                <a:solidFill>
                  <a:srgbClr val="000000"/>
                </a:solidFill>
                <a:latin typeface="Ubuntu Mono"/>
                <a:ea typeface="Ubuntu Mono"/>
                <a:cs typeface="Ubuntu Mono"/>
                <a:sym typeface="Ubuntu Mono"/>
              </a:rPr>
              <a:t>no left-hand rotation to engage or release.</a:t>
            </a:r>
          </a:p>
          <a:p>
            <a:pPr algn="l">
              <a:lnSpc>
                <a:spcPts val="860"/>
              </a:lnSpc>
              <a:spcAft>
                <a:spcPts val="200"/>
              </a:spcAft>
            </a:pPr>
            <a:r>
              <a:rPr sz="540" b="0">
                <a:solidFill>
                  <a:srgbClr val="01ADEE"/>
                </a:solidFill>
                <a:latin typeface="Ubuntu Mono"/>
                <a:ea typeface="Ubuntu Mono"/>
                <a:cs typeface="Ubuntu Mono"/>
                <a:sym typeface="Ubuntu Mono"/>
              </a:rPr>
              <a:t>■ </a:t>
            </a:r>
            <a:r>
              <a:rPr sz="690" b="1">
                <a:solidFill>
                  <a:srgbClr val="000000"/>
                </a:solidFill>
                <a:latin typeface="Ubuntu Mono"/>
                <a:ea typeface="Ubuntu Mono"/>
                <a:cs typeface="Ubuntu Mono"/>
                <a:sym typeface="Ubuntu Mono"/>
              </a:rPr>
              <a:t>Accessories: </a:t>
            </a:r>
            <a:r>
              <a:rPr sz="690" b="0">
                <a:solidFill>
                  <a:srgbClr val="000000"/>
                </a:solidFill>
                <a:latin typeface="Ubuntu Mono"/>
                <a:ea typeface="Ubuntu Mono"/>
                <a:cs typeface="Ubuntu Mono"/>
                <a:sym typeface="Ubuntu Mono"/>
              </a:rPr>
              <a:t>oversize, wall hook and mill guides, extension subs, lock rings; coarse-thread version for easier assembly.</a:t>
            </a:r>
          </a:p>
        </p:txBody>
      </p:sp>
      <p:sp>
        <p:nvSpPr>
          <p:cNvPr id="30" name="TextBox 29"/>
          <p:cNvSpPr txBox="1"/>
          <p:nvPr/>
        </p:nvSpPr>
        <p:spPr>
          <a:xfrm>
            <a:off x="4089400" y="747014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OPERATION</a:t>
            </a:r>
          </a:p>
        </p:txBody>
      </p:sp>
      <p:sp>
        <p:nvSpPr>
          <p:cNvPr id="31" name="TextBox 30"/>
          <p:cNvSpPr txBox="1"/>
          <p:nvPr/>
        </p:nvSpPr>
        <p:spPr>
          <a:xfrm>
            <a:off x="4089400" y="7673340"/>
            <a:ext cx="2755900" cy="127000"/>
          </a:xfrm>
          <a:prstGeom prst="rect">
            <a:avLst/>
          </a:prstGeom>
          <a:noFill/>
        </p:spPr>
        <p:txBody>
          <a:bodyPr wrap="square" lIns="0" rIns="0" tIns="0" bIns="0">
            <a:spAutoFit/>
          </a:bodyPr>
          <a:lstStyle/>
          <a:p>
            <a:pPr algn="l">
              <a:lnSpc>
                <a:spcPts val="860"/>
              </a:lnSpc>
              <a:spcAft>
                <a:spcPts val="200"/>
              </a:spcAft>
            </a:pPr>
            <a:r>
              <a:rPr sz="540" b="0">
                <a:solidFill>
                  <a:srgbClr val="01ADEE"/>
                </a:solidFill>
                <a:latin typeface="Ubuntu Mono"/>
                <a:ea typeface="Ubuntu Mono"/>
                <a:cs typeface="Ubuntu Mono"/>
                <a:sym typeface="Ubuntu Mono"/>
              </a:rPr>
              <a:t>■ </a:t>
            </a:r>
            <a:r>
              <a:rPr sz="690" b="1">
                <a:solidFill>
                  <a:srgbClr val="000000"/>
                </a:solidFill>
                <a:latin typeface="Ubuntu Mono"/>
                <a:ea typeface="Ubuntu Mono"/>
                <a:cs typeface="Ubuntu Mono"/>
                <a:sym typeface="Ubuntu Mono"/>
              </a:rPr>
              <a:t>Engage: </a:t>
            </a:r>
            <a:r>
              <a:rPr sz="690" b="0">
                <a:solidFill>
                  <a:srgbClr val="000000"/>
                </a:solidFill>
                <a:latin typeface="Ubuntu Mono"/>
                <a:ea typeface="Ubuntu Mono"/>
                <a:cs typeface="Ubuntu Mono"/>
                <a:sym typeface="Ubuntu Mono"/>
              </a:rPr>
              <a:t>rotate slowly right while lowering over the fish, let the twist slack out, then pull.</a:t>
            </a:r>
          </a:p>
          <a:p>
            <a:pPr algn="l">
              <a:lnSpc>
                <a:spcPts val="860"/>
              </a:lnSpc>
              <a:spcAft>
                <a:spcPts val="200"/>
              </a:spcAft>
            </a:pPr>
            <a:r>
              <a:rPr sz="540" b="0">
                <a:solidFill>
                  <a:srgbClr val="01ADEE"/>
                </a:solidFill>
                <a:latin typeface="Ubuntu Mono"/>
                <a:ea typeface="Ubuntu Mono"/>
                <a:cs typeface="Ubuntu Mono"/>
                <a:sym typeface="Ubuntu Mono"/>
              </a:rPr>
              <a:t>■ </a:t>
            </a:r>
            <a:r>
              <a:rPr sz="690" b="1">
                <a:solidFill>
                  <a:srgbClr val="000000"/>
                </a:solidFill>
                <a:latin typeface="Ubuntu Mono"/>
                <a:ea typeface="Ubuntu Mono"/>
                <a:cs typeface="Ubuntu Mono"/>
                <a:sym typeface="Ubuntu Mono"/>
              </a:rPr>
              <a:t>If the fish stays: </a:t>
            </a:r>
            <a:r>
              <a:rPr sz="690" b="0">
                <a:solidFill>
                  <a:srgbClr val="000000"/>
                </a:solidFill>
                <a:latin typeface="Ubuntu Mono"/>
                <a:ea typeface="Ubuntu Mono"/>
                <a:cs typeface="Ubuntu Mono"/>
                <a:sym typeface="Ubuntu Mono"/>
              </a:rPr>
              <a:t>start the pumps and keep an upward strain.</a:t>
            </a:r>
          </a:p>
          <a:p>
            <a:pPr algn="l">
              <a:lnSpc>
                <a:spcPts val="860"/>
              </a:lnSpc>
              <a:spcAft>
                <a:spcPts val="200"/>
              </a:spcAft>
            </a:pPr>
            <a:r>
              <a:rPr sz="540" b="0">
                <a:solidFill>
                  <a:srgbClr val="01ADEE"/>
                </a:solidFill>
                <a:latin typeface="Ubuntu Mono"/>
                <a:ea typeface="Ubuntu Mono"/>
                <a:cs typeface="Ubuntu Mono"/>
                <a:sym typeface="Ubuntu Mono"/>
              </a:rPr>
              <a:t>■ </a:t>
            </a:r>
            <a:r>
              <a:rPr sz="690" b="1">
                <a:solidFill>
                  <a:srgbClr val="000000"/>
                </a:solidFill>
                <a:latin typeface="Ubuntu Mono"/>
                <a:ea typeface="Ubuntu Mono"/>
                <a:cs typeface="Ubuntu Mono"/>
                <a:sym typeface="Ubuntu Mono"/>
              </a:rPr>
              <a:t>Release: </a:t>
            </a:r>
            <a:r>
              <a:rPr sz="690" b="0">
                <a:solidFill>
                  <a:srgbClr val="000000"/>
                </a:solidFill>
                <a:latin typeface="Ubuntu Mono"/>
                <a:ea typeface="Ubuntu Mono"/>
                <a:cs typeface="Ubuntu Mono"/>
                <a:sym typeface="Ubuntu Mono"/>
              </a:rPr>
              <a:t>bump down, then rotate right while slowly raising.</a:t>
            </a:r>
          </a:p>
          <a:p>
            <a:pPr algn="l">
              <a:lnSpc>
                <a:spcPts val="860"/>
              </a:lnSpc>
              <a:spcAft>
                <a:spcPts val="200"/>
              </a:spcAft>
            </a:pPr>
            <a:r>
              <a:rPr sz="540" b="0">
                <a:solidFill>
                  <a:srgbClr val="01ADEE"/>
                </a:solidFill>
                <a:latin typeface="Ubuntu Mono"/>
                <a:ea typeface="Ubuntu Mono"/>
                <a:cs typeface="Ubuntu Mono"/>
                <a:sym typeface="Ubuntu Mono"/>
              </a:rPr>
              <a:t>■ </a:t>
            </a:r>
            <a:r>
              <a:rPr sz="690" b="1">
                <a:solidFill>
                  <a:srgbClr val="000000"/>
                </a:solidFill>
                <a:latin typeface="Ubuntu Mono"/>
                <a:ea typeface="Ubuntu Mono"/>
                <a:cs typeface="Ubuntu Mono"/>
                <a:sym typeface="Ubuntu Mono"/>
              </a:rPr>
              <a:t>Precautions: </a:t>
            </a:r>
            <a:r>
              <a:rPr sz="690" b="0">
                <a:solidFill>
                  <a:srgbClr val="000000"/>
                </a:solidFill>
                <a:latin typeface="Ubuntu Mono"/>
                <a:ea typeface="Ubuntu Mono"/>
                <a:cs typeface="Ubuntu Mono"/>
                <a:sym typeface="Ubuntu Mono"/>
              </a:rPr>
              <a:t>stop the pumps before lowering over the fish; bump full string weight before releasing; no left-hand rotation without upward strain.</a:t>
            </a:r>
          </a:p>
        </p:txBody>
      </p:sp>
      <p:sp>
        <p:nvSpPr>
          <p:cNvPr id="32" name="TextBox 31"/>
          <p:cNvSpPr txBox="1"/>
          <p:nvPr/>
        </p:nvSpPr>
        <p:spPr>
          <a:xfrm>
            <a:off x="4089400" y="912114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3" name="TextBox 32"/>
          <p:cNvSpPr txBox="1"/>
          <p:nvPr/>
        </p:nvSpPr>
        <p:spPr>
          <a:xfrm>
            <a:off x="4089400" y="9311640"/>
            <a:ext cx="2755900" cy="508000"/>
          </a:xfrm>
          <a:prstGeom prst="rect">
            <a:avLst/>
          </a:prstGeom>
          <a:noFill/>
        </p:spPr>
        <p:txBody>
          <a:bodyPr wrap="square" lIns="0" rIns="0" tIns="0" bIns="0">
            <a:spAutoFit/>
          </a:bodyPr>
          <a:lstStyle/>
          <a:p>
            <a:pPr algn="just">
              <a:lnSpc>
                <a:spcPts val="850"/>
              </a:lnSpc>
              <a:spcAft>
                <a:spcPts val="0"/>
              </a:spcAft>
            </a:pPr>
            <a:r>
              <a:rPr sz="650" b="0">
                <a:solidFill>
                  <a:srgbClr val="000000"/>
                </a:solidFill>
                <a:latin typeface="Ubuntu Mono"/>
                <a:ea typeface="Ubuntu Mono"/>
                <a:cs typeface="Ubuntu Mono"/>
                <a:sym typeface="Ubuntu Mono"/>
              </a:rPr>
              <a:t>Please specify: 1. tool name and assembly number  2. size and type of fish  3. top connection  4. O.D. if other than standard. Spares (spiral): 3 packers, 2 grapples per size, 1 control. Spares (basket): 2 grapples, mill control packers per size.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aperTap.png"/>
          <p:cNvPicPr>
            <a:picLocks noChangeAspect="1"/>
          </p:cNvPicPr>
          <p:nvPr/>
        </p:nvPicPr>
        <p:blipFill>
          <a:blip r:embed="rId2"/>
          <a:stretch>
            <a:fillRect/>
          </a:stretch>
        </p:blipFill>
        <p:spPr>
          <a:xfrm>
            <a:off x="0" y="0"/>
            <a:ext cx="7556500" cy="10693400"/>
          </a:xfrm>
          <a:prstGeom prst="rect">
            <a:avLst/>
          </a:prstGeom>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Spear</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FISHING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FULL CIRCLE RELEASING SPEAR</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INTERNAL-CATCH FISHING SPEAR FOR TUBING, DRILL PIPE AND CASING OF ALL SIZES. FULL CIRCLE SLIPS AND THE TAPERS ON THE BODY SPREAD THE EXPANSION STRAIN OVER A LONG VERTICAL SECTION AND ALMOST THE WHOLE INNER CIRCUMFERENCE OF THE FISH, ALLOWING HEAVY PULLING AND JARRING WITHOUT DISTORTING IT. CAN BE RUN WITH INTERNAL CUTTERS FOR CUT-AND-PULL OPERATIONS.</a:t>
            </a:r>
          </a:p>
        </p:txBody>
      </p:sp>
      <p:sp>
        <p:nvSpPr>
          <p:cNvPr id="21" name="TextBox 20"/>
          <p:cNvSpPr txBox="1"/>
          <p:nvPr/>
        </p:nvSpPr>
        <p:spPr>
          <a:xfrm>
            <a:off x="711200" y="4800600"/>
            <a:ext cx="3048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DRILL PIPE AND TUBING</a:t>
            </a:r>
          </a:p>
        </p:txBody>
      </p:sp>
      <p:graphicFrame>
        <p:nvGraphicFramePr>
          <p:cNvPr id="22" name="Table 21"/>
          <p:cNvGraphicFramePr>
            <a:graphicFrameLocks noGrp="1"/>
          </p:cNvGraphicFramePr>
          <p:nvPr/>
        </p:nvGraphicFramePr>
        <p:xfrm>
          <a:off x="711200" y="4991100"/>
          <a:ext cx="3047999" cy="1727200"/>
        </p:xfrm>
        <a:graphic>
          <a:graphicData uri="http://schemas.openxmlformats.org/drawingml/2006/table">
            <a:tbl>
              <a:tblPr/>
              <a:tblGrid>
                <a:gridCol w="609600"/>
                <a:gridCol w="637309"/>
                <a:gridCol w="609600"/>
                <a:gridCol w="471054"/>
                <a:gridCol w="720436"/>
              </a:tblGrid>
              <a:tr h="330200">
                <a:tc>
                  <a:txBody>
                    <a:bodyPr wrap="square"/>
                    <a:lstStyle/>
                    <a:p>
                      <a:pPr algn="ctr">
                        <a:lnSpc>
                          <a:spcPts val="819"/>
                        </a:lnSpc>
                      </a:pPr>
                      <a:r>
                        <a:rPr sz="660" b="1">
                          <a:solidFill>
                            <a:srgbClr val="FEFEFF"/>
                          </a:solidFill>
                          <a:latin typeface="Ubuntu Mono"/>
                          <a:ea typeface="Ubuntu Mono"/>
                          <a:cs typeface="Ubuntu Mono"/>
                          <a:sym typeface="Ubuntu Mono"/>
                        </a:rPr>
                        <a:t>Spear size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Slips Ø retracted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Slip area (sq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Wt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Body yield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39700">
                <a:tc>
                  <a:txBody>
                    <a:bodyPr wrap="square"/>
                    <a:lstStyle/>
                    <a:p>
                      <a:pPr algn="ctr">
                        <a:lnSpc>
                          <a:spcPts val="819"/>
                        </a:lnSpc>
                      </a:pPr>
                      <a:r>
                        <a:rPr sz="660" b="0">
                          <a:solidFill>
                            <a:srgbClr val="FEFEFF"/>
                          </a:solidFill>
                          <a:latin typeface="Ubuntu Mono"/>
                          <a:ea typeface="Ubuntu Mono"/>
                          <a:cs typeface="Ubuntu Mono"/>
                          <a:sym typeface="Ubuntu Mono"/>
                        </a:rPr>
                        <a:t>2-3/8 DP</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1-11/16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55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32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56,400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19"/>
                        </a:lnSpc>
                      </a:pPr>
                      <a:r>
                        <a:rPr sz="660" b="0">
                          <a:solidFill>
                            <a:srgbClr val="FEFEFF"/>
                          </a:solidFill>
                          <a:latin typeface="Ubuntu Mono"/>
                          <a:ea typeface="Ubuntu Mono"/>
                          <a:cs typeface="Ubuntu Mono"/>
                          <a:sym typeface="Ubuntu Mono"/>
                        </a:rPr>
                        <a:t>2-3/8 Tbg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1-29/32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59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71,500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19"/>
                        </a:lnSpc>
                      </a:pPr>
                      <a:r>
                        <a:rPr sz="660" b="0">
                          <a:solidFill>
                            <a:srgbClr val="FEFEFF"/>
                          </a:solidFill>
                          <a:latin typeface="Ubuntu Mono"/>
                          <a:ea typeface="Ubuntu Mono"/>
                          <a:cs typeface="Ubuntu Mono"/>
                          <a:sym typeface="Ubuntu Mono"/>
                        </a:rPr>
                        <a:t>2-7/8 DP</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74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55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110,400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19"/>
                        </a:lnSpc>
                      </a:pPr>
                      <a:r>
                        <a:rPr sz="660" b="0">
                          <a:solidFill>
                            <a:srgbClr val="FEFEFF"/>
                          </a:solidFill>
                          <a:latin typeface="Ubuntu Mono"/>
                          <a:ea typeface="Ubuntu Mono"/>
                          <a:cs typeface="Ubuntu Mono"/>
                          <a:sym typeface="Ubuntu Mono"/>
                        </a:rPr>
                        <a:t>2-7/8 Tbg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2-5/16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87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134,000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19"/>
                        </a:lnSpc>
                      </a:pPr>
                      <a:r>
                        <a:rPr sz="660" b="0">
                          <a:solidFill>
                            <a:srgbClr val="FEFEFF"/>
                          </a:solidFill>
                          <a:latin typeface="Ubuntu Mono"/>
                          <a:ea typeface="Ubuntu Mono"/>
                          <a:cs typeface="Ubuntu Mono"/>
                          <a:sym typeface="Ubuntu Mono"/>
                        </a:rPr>
                        <a:t>3-1/2 DP</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2-7/16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95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71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172,000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19"/>
                        </a:lnSpc>
                      </a:pPr>
                      <a:r>
                        <a:rPr sz="660" b="0">
                          <a:solidFill>
                            <a:srgbClr val="FEFEFF"/>
                          </a:solidFill>
                          <a:latin typeface="Ubuntu Mono"/>
                          <a:ea typeface="Ubuntu Mono"/>
                          <a:cs typeface="Ubuntu Mono"/>
                          <a:sym typeface="Ubuntu Mono"/>
                        </a:rPr>
                        <a:t>3-1/2 Tbg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2-13/16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115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92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224,000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19"/>
                        </a:lnSpc>
                      </a:pPr>
                      <a:r>
                        <a:rPr sz="660" b="0">
                          <a:solidFill>
                            <a:srgbClr val="FEFEFF"/>
                          </a:solidFill>
                          <a:latin typeface="Ubuntu Mono"/>
                          <a:ea typeface="Ubuntu Mono"/>
                          <a:cs typeface="Ubuntu Mono"/>
                          <a:sym typeface="Ubuntu Mono"/>
                        </a:rPr>
                        <a:t>4 DP</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3-3/32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126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107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296,000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19"/>
                        </a:lnSpc>
                      </a:pPr>
                      <a:r>
                        <a:rPr sz="660" b="0">
                          <a:solidFill>
                            <a:srgbClr val="FEFEFF"/>
                          </a:solidFill>
                          <a:latin typeface="Ubuntu Mono"/>
                          <a:ea typeface="Ubuntu Mono"/>
                          <a:cs typeface="Ubuntu Mono"/>
                          <a:sym typeface="Ubuntu Mono"/>
                        </a:rPr>
                        <a:t>4 Tbg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3-5/16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135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127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275,000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19"/>
                        </a:lnSpc>
                      </a:pPr>
                      <a:r>
                        <a:rPr sz="660" b="0">
                          <a:solidFill>
                            <a:srgbClr val="FEFEFF"/>
                          </a:solidFill>
                          <a:latin typeface="Ubuntu Mono"/>
                          <a:ea typeface="Ubuntu Mono"/>
                          <a:cs typeface="Ubuntu Mono"/>
                          <a:sym typeface="Ubuntu Mono"/>
                        </a:rPr>
                        <a:t>4-1/2 DP</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3-15/32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318,000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19"/>
                        </a:lnSpc>
                      </a:pPr>
                      <a:r>
                        <a:rPr sz="660" b="0">
                          <a:solidFill>
                            <a:srgbClr val="FEFEFF"/>
                          </a:solidFill>
                          <a:latin typeface="Ubuntu Mono"/>
                          <a:ea typeface="Ubuntu Mono"/>
                          <a:cs typeface="Ubuntu Mono"/>
                          <a:sym typeface="Ubuntu Mono"/>
                        </a:rPr>
                        <a:t>5-1/2 DP</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265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270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628,000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3" name="TextBox 22"/>
          <p:cNvSpPr txBox="1"/>
          <p:nvPr/>
        </p:nvSpPr>
        <p:spPr>
          <a:xfrm>
            <a:off x="3797300" y="4800600"/>
            <a:ext cx="3048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CASING</a:t>
            </a:r>
          </a:p>
        </p:txBody>
      </p:sp>
      <p:graphicFrame>
        <p:nvGraphicFramePr>
          <p:cNvPr id="24" name="Table 23"/>
          <p:cNvGraphicFramePr>
            <a:graphicFrameLocks noGrp="1"/>
          </p:cNvGraphicFramePr>
          <p:nvPr/>
        </p:nvGraphicFramePr>
        <p:xfrm>
          <a:off x="3797300" y="4991100"/>
          <a:ext cx="3047997" cy="2006600"/>
        </p:xfrm>
        <a:graphic>
          <a:graphicData uri="http://schemas.openxmlformats.org/drawingml/2006/table">
            <a:tbl>
              <a:tblPr/>
              <a:tblGrid>
                <a:gridCol w="544285"/>
                <a:gridCol w="653142"/>
                <a:gridCol w="598714"/>
                <a:gridCol w="462642"/>
                <a:gridCol w="789214"/>
              </a:tblGrid>
              <a:tr h="330200">
                <a:tc>
                  <a:txBody>
                    <a:bodyPr wrap="square"/>
                    <a:lstStyle/>
                    <a:p>
                      <a:pPr algn="ctr">
                        <a:lnSpc>
                          <a:spcPts val="819"/>
                        </a:lnSpc>
                      </a:pPr>
                      <a:r>
                        <a:rPr sz="660" b="1">
                          <a:solidFill>
                            <a:srgbClr val="FEFEFF"/>
                          </a:solidFill>
                          <a:latin typeface="Ubuntu Mono"/>
                          <a:ea typeface="Ubuntu Mono"/>
                          <a:cs typeface="Ubuntu Mono"/>
                          <a:sym typeface="Ubuntu Mono"/>
                        </a:rPr>
                        <a:t>Spear size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Slips Ø retracted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Slip area (sq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Wt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1">
                          <a:solidFill>
                            <a:srgbClr val="FEFEFF"/>
                          </a:solidFill>
                          <a:latin typeface="Ubuntu Mono"/>
                          <a:ea typeface="Ubuntu Mono"/>
                          <a:cs typeface="Ubuntu Mono"/>
                          <a:sym typeface="Ubuntu Mono"/>
                        </a:rPr>
                        <a:t>Body yield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39700">
                <a:tc>
                  <a:txBody>
                    <a:bodyPr wrap="square"/>
                    <a:lstStyle/>
                    <a:p>
                      <a:pPr algn="ctr">
                        <a:lnSpc>
                          <a:spcPts val="819"/>
                        </a:lnSpc>
                      </a:pPr>
                      <a:r>
                        <a:rPr sz="660" b="0">
                          <a:solidFill>
                            <a:srgbClr val="FEFEFF"/>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3-25/32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210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132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376,000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19"/>
                        </a:lnSpc>
                      </a:pPr>
                      <a:r>
                        <a:rPr sz="660" b="0">
                          <a:solidFill>
                            <a:srgbClr val="FEFEFF"/>
                          </a:solidFill>
                          <a:latin typeface="Ubuntu Mono"/>
                          <a:ea typeface="Ubuntu Mono"/>
                          <a:cs typeface="Ubuntu Mono"/>
                          <a:sym typeface="Ubuntu Mono"/>
                        </a:rPr>
                        <a:t>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217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169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454,000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19"/>
                        </a:lnSpc>
                      </a:pPr>
                      <a:r>
                        <a:rPr sz="660" b="0">
                          <a:solidFill>
                            <a:srgbClr val="FEFEFF"/>
                          </a:solidFill>
                          <a:latin typeface="Ubuntu Mono"/>
                          <a:ea typeface="Ubuntu Mono"/>
                          <a:cs typeface="Ubuntu Mono"/>
                          <a:sym typeface="Ubuntu Mono"/>
                        </a:rPr>
                        <a:t>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4-1/2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265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226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628,000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19"/>
                        </a:lnSpc>
                      </a:pPr>
                      <a:r>
                        <a:rPr sz="660" b="0">
                          <a:solidFill>
                            <a:srgbClr val="FEFEFF"/>
                          </a:solidFill>
                          <a:latin typeface="Ubuntu Mono"/>
                          <a:ea typeface="Ubuntu Mono"/>
                          <a:cs typeface="Ubuntu Mono"/>
                          <a:sym typeface="Ubuntu Mono"/>
                        </a:rPr>
                        <a:t>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315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283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945,000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19"/>
                        </a:lnSpc>
                      </a:pPr>
                      <a:r>
                        <a:rPr sz="660" b="0">
                          <a:solidFill>
                            <a:srgbClr val="FEFEFF"/>
                          </a:solidFill>
                          <a:latin typeface="Ubuntu Mono"/>
                          <a:ea typeface="Ubuntu Mono"/>
                          <a:cs typeface="Ubuntu Mono"/>
                          <a:sym typeface="Ubuntu Mono"/>
                        </a:rPr>
                        <a:t>6-5/8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350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358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1,060,000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19"/>
                        </a:lnSpc>
                      </a:pPr>
                      <a:r>
                        <a:rPr sz="660" b="0">
                          <a:solidFill>
                            <a:srgbClr val="FEFEFF"/>
                          </a:solidFill>
                          <a:latin typeface="Ubuntu Mono"/>
                          <a:ea typeface="Ubuntu Mono"/>
                          <a:cs typeface="Ubuntu Mono"/>
                          <a:sym typeface="Ubuntu Mono"/>
                        </a:rPr>
                        <a:t>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5-3/4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365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398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1,228,000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19"/>
                        </a:lnSpc>
                      </a:pPr>
                      <a:r>
                        <a:rPr sz="660" b="0">
                          <a:solidFill>
                            <a:srgbClr val="FEFEFF"/>
                          </a:solidFill>
                          <a:latin typeface="Ubuntu Mono"/>
                          <a:ea typeface="Ubuntu Mono"/>
                          <a:cs typeface="Ubuntu Mono"/>
                          <a:sym typeface="Ubuntu Mono"/>
                        </a:rPr>
                        <a:t>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6-7/16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430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502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1,414,000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19"/>
                        </a:lnSpc>
                      </a:pPr>
                      <a:r>
                        <a:rPr sz="660" b="0">
                          <a:solidFill>
                            <a:srgbClr val="FEFEFF"/>
                          </a:solidFill>
                          <a:latin typeface="Ubuntu Mono"/>
                          <a:ea typeface="Ubuntu Mono"/>
                          <a:cs typeface="Ubuntu Mono"/>
                          <a:sym typeface="Ubuntu Mono"/>
                        </a:rPr>
                        <a:t>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7-1/4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485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652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1,761,000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19"/>
                        </a:lnSpc>
                      </a:pPr>
                      <a:r>
                        <a:rPr sz="660" b="0">
                          <a:solidFill>
                            <a:srgbClr val="FEFEFF"/>
                          </a:solidFill>
                          <a:latin typeface="Ubuntu Mono"/>
                          <a:ea typeface="Ubuntu Mono"/>
                          <a:cs typeface="Ubuntu Mono"/>
                          <a:sym typeface="Ubuntu Mono"/>
                        </a:rPr>
                        <a:t>9-5/8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8-3/16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580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833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2,324,000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19"/>
                        </a:lnSpc>
                      </a:pPr>
                      <a:r>
                        <a:rPr sz="660" b="0">
                          <a:solidFill>
                            <a:srgbClr val="FEFEFF"/>
                          </a:solidFill>
                          <a:latin typeface="Ubuntu Mono"/>
                          <a:ea typeface="Ubuntu Mono"/>
                          <a:cs typeface="Ubuntu Mono"/>
                          <a:sym typeface="Ubuntu Mono"/>
                        </a:rPr>
                        <a:t>10-3/4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690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1,240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3,300,000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39700">
                <a:tc>
                  <a:txBody>
                    <a:bodyPr wrap="square"/>
                    <a:lstStyle/>
                    <a:p>
                      <a:pPr algn="ctr">
                        <a:lnSpc>
                          <a:spcPts val="819"/>
                        </a:lnSpc>
                      </a:pPr>
                      <a:r>
                        <a:rPr sz="660" b="0">
                          <a:solidFill>
                            <a:srgbClr val="FEFEFF"/>
                          </a:solidFill>
                          <a:latin typeface="Ubuntu Mono"/>
                          <a:ea typeface="Ubuntu Mono"/>
                          <a:cs typeface="Ubuntu Mono"/>
                          <a:sym typeface="Ubuntu Mono"/>
                        </a:rPr>
                        <a:t>11-3/4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19"/>
                        </a:lnSpc>
                      </a:pPr>
                      <a:r>
                        <a:rPr sz="660" b="0">
                          <a:solidFill>
                            <a:srgbClr val="000000"/>
                          </a:solidFill>
                          <a:latin typeface="Ubuntu Mono"/>
                          <a:ea typeface="Ubuntu Mono"/>
                          <a:cs typeface="Ubuntu Mono"/>
                          <a:sym typeface="Ubuntu Mono"/>
                        </a:rPr>
                        <a:t>10-9/16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785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1,552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19"/>
                        </a:lnSpc>
                      </a:pPr>
                      <a:r>
                        <a:rPr sz="660" b="0">
                          <a:solidFill>
                            <a:srgbClr val="000000"/>
                          </a:solidFill>
                          <a:latin typeface="Ubuntu Mono"/>
                          <a:ea typeface="Ubuntu Mono"/>
                          <a:cs typeface="Ubuntu Mono"/>
                          <a:sym typeface="Ubuntu Mono"/>
                        </a:rPr>
                        <a:t>4,300,000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39700">
                <a:tc>
                  <a:txBody>
                    <a:bodyPr wrap="square"/>
                    <a:lstStyle/>
                    <a:p>
                      <a:pPr algn="ctr">
                        <a:lnSpc>
                          <a:spcPts val="819"/>
                        </a:lnSpc>
                      </a:pPr>
                      <a:r>
                        <a:rPr sz="660" b="0">
                          <a:solidFill>
                            <a:srgbClr val="FEFEFF"/>
                          </a:solidFill>
                          <a:latin typeface="Ubuntu Mono"/>
                          <a:ea typeface="Ubuntu Mono"/>
                          <a:cs typeface="Ubuntu Mono"/>
                          <a:sym typeface="Ubuntu Mono"/>
                        </a:rPr>
                        <a:t>13-3/8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19"/>
                        </a:lnSpc>
                      </a:pPr>
                      <a:r>
                        <a:rPr sz="660" b="0">
                          <a:solidFill>
                            <a:srgbClr val="000000"/>
                          </a:solidFill>
                          <a:latin typeface="Ubuntu Mono"/>
                          <a:ea typeface="Ubuntu Mono"/>
                          <a:cs typeface="Ubuntu Mono"/>
                          <a:sym typeface="Ubuntu Mono"/>
                        </a:rPr>
                        <a:t>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890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2,017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19"/>
                        </a:lnSpc>
                      </a:pPr>
                      <a:r>
                        <a:rPr sz="660" b="0">
                          <a:solidFill>
                            <a:srgbClr val="000000"/>
                          </a:solidFill>
                          <a:latin typeface="Ubuntu Mono"/>
                          <a:ea typeface="Ubuntu Mono"/>
                          <a:cs typeface="Ubuntu Mono"/>
                          <a:sym typeface="Ubuntu Mono"/>
                        </a:rPr>
                        <a:t>5,961,000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5" name="TextBox 24"/>
          <p:cNvSpPr txBox="1"/>
          <p:nvPr/>
        </p:nvSpPr>
        <p:spPr>
          <a:xfrm>
            <a:off x="711200" y="7099300"/>
            <a:ext cx="6134100" cy="203200"/>
          </a:xfrm>
          <a:prstGeom prst="rect">
            <a:avLst/>
          </a:prstGeom>
          <a:noFill/>
        </p:spPr>
        <p:txBody>
          <a:bodyPr wrap="square" lIns="0" rIns="0" tIns="0" bIns="0">
            <a:spAutoFit/>
          </a:bodyPr>
          <a:lstStyle/>
          <a:p>
            <a:pPr algn="l">
              <a:lnSpc>
                <a:spcPts val="740"/>
              </a:lnSpc>
              <a:spcAft>
                <a:spcPts val="0"/>
              </a:spcAft>
            </a:pPr>
            <a:r>
              <a:rPr sz="620" b="0">
                <a:solidFill>
                  <a:srgbClr val="444444"/>
                </a:solidFill>
                <a:latin typeface="Ubuntu Mono"/>
                <a:ea typeface="Ubuntu Mono"/>
                <a:cs typeface="Ubuntu Mono"/>
                <a:sym typeface="Ubuntu Mono"/>
              </a:rPr>
              <a:t>Dimensions in inches. DP: drill pipe, Tbg: tubing. Yield strengths are theoretical body values (accuracy about 20%), not the strength of the fish; jarring may multiply the pull load by 3 to 10. Each spear has 3 to 6 slips depending on size.</a:t>
            </a:r>
          </a:p>
        </p:txBody>
      </p:sp>
      <p:pic>
        <p:nvPicPr>
          <p:cNvPr id="26" name="Picture 25" descr="agentC_spear.png"/>
          <p:cNvPicPr>
            <a:picLocks noChangeAspect="1"/>
          </p:cNvPicPr>
          <p:nvPr/>
        </p:nvPicPr>
        <p:blipFill>
          <a:blip r:embed="rId4"/>
          <a:stretch>
            <a:fillRect/>
          </a:stretch>
        </p:blipFill>
        <p:spPr>
          <a:xfrm>
            <a:off x="762000" y="7429500"/>
            <a:ext cx="263882" cy="2603500"/>
          </a:xfrm>
          <a:prstGeom prst="rect">
            <a:avLst/>
          </a:prstGeom>
        </p:spPr>
      </p:pic>
      <p:sp>
        <p:nvSpPr>
          <p:cNvPr id="27" name="TextBox 26"/>
          <p:cNvSpPr txBox="1"/>
          <p:nvPr/>
        </p:nvSpPr>
        <p:spPr>
          <a:xfrm>
            <a:off x="1270000" y="7404100"/>
            <a:ext cx="2540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8" name="TextBox 27"/>
          <p:cNvSpPr txBox="1"/>
          <p:nvPr/>
        </p:nvSpPr>
        <p:spPr>
          <a:xfrm>
            <a:off x="1270000" y="7607300"/>
            <a:ext cx="2603500" cy="127000"/>
          </a:xfrm>
          <a:prstGeom prst="rect">
            <a:avLst/>
          </a:prstGeom>
          <a:noFill/>
        </p:spPr>
        <p:txBody>
          <a:bodyPr wrap="square" lIns="0" rIns="0" tIns="0" bIns="0">
            <a:spAutoFit/>
          </a:bodyPr>
          <a:lstStyle/>
          <a:p>
            <a:pPr algn="l">
              <a:lnSpc>
                <a:spcPts val="860"/>
              </a:lnSpc>
              <a:spcAft>
                <a:spcPts val="200"/>
              </a:spcAft>
            </a:pPr>
            <a:r>
              <a:rPr sz="540" b="0">
                <a:solidFill>
                  <a:srgbClr val="01ADEE"/>
                </a:solidFill>
                <a:latin typeface="Ubuntu Mono"/>
                <a:ea typeface="Ubuntu Mono"/>
                <a:cs typeface="Ubuntu Mono"/>
                <a:sym typeface="Ubuntu Mono"/>
              </a:rPr>
              <a:t>■ </a:t>
            </a:r>
            <a:r>
              <a:rPr sz="690" b="1">
                <a:solidFill>
                  <a:srgbClr val="000000"/>
                </a:solidFill>
                <a:latin typeface="Ubuntu Mono"/>
                <a:ea typeface="Ubuntu Mono"/>
                <a:cs typeface="Ubuntu Mono"/>
                <a:sym typeface="Ubuntu Mono"/>
              </a:rPr>
              <a:t>Full circle slips: </a:t>
            </a:r>
            <a:r>
              <a:rPr sz="690" b="0">
                <a:solidFill>
                  <a:srgbClr val="000000"/>
                </a:solidFill>
                <a:latin typeface="Ubuntu Mono"/>
                <a:ea typeface="Ubuntu Mono"/>
                <a:cs typeface="Ubuntu Mono"/>
                <a:sym typeface="Ubuntu Mono"/>
              </a:rPr>
              <a:t>large engagement area, low risk of rupturing the fish.</a:t>
            </a:r>
          </a:p>
          <a:p>
            <a:pPr algn="l">
              <a:lnSpc>
                <a:spcPts val="860"/>
              </a:lnSpc>
              <a:spcAft>
                <a:spcPts val="200"/>
              </a:spcAft>
            </a:pPr>
            <a:r>
              <a:rPr sz="540" b="0">
                <a:solidFill>
                  <a:srgbClr val="01ADEE"/>
                </a:solidFill>
                <a:latin typeface="Ubuntu Mono"/>
                <a:ea typeface="Ubuntu Mono"/>
                <a:cs typeface="Ubuntu Mono"/>
                <a:sym typeface="Ubuntu Mono"/>
              </a:rPr>
              <a:t>■ </a:t>
            </a:r>
            <a:r>
              <a:rPr sz="690" b="1">
                <a:solidFill>
                  <a:srgbClr val="000000"/>
                </a:solidFill>
                <a:latin typeface="Ubuntu Mono"/>
                <a:ea typeface="Ubuntu Mono"/>
                <a:cs typeface="Ubuntu Mono"/>
                <a:sym typeface="Ubuntu Mono"/>
              </a:rPr>
              <a:t>Friction grip: </a:t>
            </a:r>
            <a:r>
              <a:rPr sz="690" b="0">
                <a:solidFill>
                  <a:srgbClr val="000000"/>
                </a:solidFill>
                <a:latin typeface="Ubuntu Mono"/>
                <a:ea typeface="Ubuntu Mono"/>
                <a:cs typeface="Ubuntu Mono"/>
                <a:sym typeface="Ubuntu Mono"/>
              </a:rPr>
              <a:t>friction springs up to 3-1/2 in. nominal and 4 in. tubing; friction blocks on larger sizes and casing.</a:t>
            </a:r>
          </a:p>
          <a:p>
            <a:pPr algn="l">
              <a:lnSpc>
                <a:spcPts val="860"/>
              </a:lnSpc>
              <a:spcAft>
                <a:spcPts val="200"/>
              </a:spcAft>
            </a:pPr>
            <a:r>
              <a:rPr sz="540" b="0">
                <a:solidFill>
                  <a:srgbClr val="01ADEE"/>
                </a:solidFill>
                <a:latin typeface="Ubuntu Mono"/>
                <a:ea typeface="Ubuntu Mono"/>
                <a:cs typeface="Ubuntu Mono"/>
                <a:sym typeface="Ubuntu Mono"/>
              </a:rPr>
              <a:t>■ </a:t>
            </a:r>
            <a:r>
              <a:rPr sz="690" b="1">
                <a:solidFill>
                  <a:srgbClr val="000000"/>
                </a:solidFill>
                <a:latin typeface="Ubuntu Mono"/>
                <a:ea typeface="Ubuntu Mono"/>
                <a:cs typeface="Ubuntu Mono"/>
                <a:sym typeface="Ubuntu Mono"/>
              </a:rPr>
              <a:t>Safety ring: </a:t>
            </a:r>
            <a:r>
              <a:rPr sz="690" b="0">
                <a:solidFill>
                  <a:srgbClr val="000000"/>
                </a:solidFill>
                <a:latin typeface="Ubuntu Mono"/>
                <a:ea typeface="Ubuntu Mono"/>
                <a:cs typeface="Ubuntu Mono"/>
                <a:sym typeface="Ubuntu Mono"/>
              </a:rPr>
              <a:t>stops the spear entering a fish too small to release from.</a:t>
            </a:r>
          </a:p>
          <a:p>
            <a:pPr algn="l">
              <a:lnSpc>
                <a:spcPts val="860"/>
              </a:lnSpc>
              <a:spcAft>
                <a:spcPts val="200"/>
              </a:spcAft>
            </a:pPr>
            <a:r>
              <a:rPr sz="540" b="0">
                <a:solidFill>
                  <a:srgbClr val="01ADEE"/>
                </a:solidFill>
                <a:latin typeface="Ubuntu Mono"/>
                <a:ea typeface="Ubuntu Mono"/>
                <a:cs typeface="Ubuntu Mono"/>
                <a:sym typeface="Ubuntu Mono"/>
              </a:rPr>
              <a:t>■ </a:t>
            </a:r>
            <a:r>
              <a:rPr sz="690" b="1">
                <a:solidFill>
                  <a:srgbClr val="000000"/>
                </a:solidFill>
                <a:latin typeface="Ubuntu Mono"/>
                <a:ea typeface="Ubuntu Mono"/>
                <a:cs typeface="Ubuntu Mono"/>
                <a:sym typeface="Ubuntu Mono"/>
              </a:rPr>
              <a:t>Two release modes: </a:t>
            </a:r>
            <a:r>
              <a:rPr sz="690" b="0">
                <a:solidFill>
                  <a:srgbClr val="000000"/>
                </a:solidFill>
                <a:latin typeface="Ubuntu Mono"/>
                <a:ea typeface="Ubuntu Mono"/>
                <a:cs typeface="Ubuntu Mono"/>
                <a:sym typeface="Ubuntu Mono"/>
              </a:rPr>
              <a:t>bump down and rotate; left-hand wickers on the slips as back-up.</a:t>
            </a:r>
          </a:p>
          <a:p>
            <a:pPr algn="l">
              <a:lnSpc>
                <a:spcPts val="860"/>
              </a:lnSpc>
              <a:spcAft>
                <a:spcPts val="200"/>
              </a:spcAft>
            </a:pPr>
            <a:r>
              <a:rPr sz="540" b="0">
                <a:solidFill>
                  <a:srgbClr val="01ADEE"/>
                </a:solidFill>
                <a:latin typeface="Ubuntu Mono"/>
                <a:ea typeface="Ubuntu Mono"/>
                <a:cs typeface="Ubuntu Mono"/>
                <a:sym typeface="Ubuntu Mono"/>
              </a:rPr>
              <a:t>■ </a:t>
            </a:r>
            <a:r>
              <a:rPr sz="690" b="1">
                <a:solidFill>
                  <a:srgbClr val="000000"/>
                </a:solidFill>
                <a:latin typeface="Ubuntu Mono"/>
                <a:ea typeface="Ubuntu Mono"/>
                <a:cs typeface="Ubuntu Mono"/>
                <a:sym typeface="Ubuntu Mono"/>
              </a:rPr>
              <a:t>Circulation: </a:t>
            </a:r>
            <a:r>
              <a:rPr sz="690" b="0">
                <a:solidFill>
                  <a:srgbClr val="000000"/>
                </a:solidFill>
                <a:latin typeface="Ubuntu Mono"/>
                <a:ea typeface="Ubuntu Mono"/>
                <a:cs typeface="Ubuntu Mono"/>
                <a:sym typeface="Ubuntu Mono"/>
              </a:rPr>
              <a:t>safety ring packoff seals inside the fish.</a:t>
            </a:r>
          </a:p>
        </p:txBody>
      </p:sp>
      <p:sp>
        <p:nvSpPr>
          <p:cNvPr id="29" name="TextBox 28"/>
          <p:cNvSpPr txBox="1"/>
          <p:nvPr/>
        </p:nvSpPr>
        <p:spPr>
          <a:xfrm>
            <a:off x="1270000" y="8902700"/>
            <a:ext cx="25400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ACCESSORIES</a:t>
            </a:r>
          </a:p>
        </p:txBody>
      </p:sp>
      <p:sp>
        <p:nvSpPr>
          <p:cNvPr id="30" name="TextBox 29"/>
          <p:cNvSpPr txBox="1"/>
          <p:nvPr/>
        </p:nvSpPr>
        <p:spPr>
          <a:xfrm>
            <a:off x="1270000" y="9105900"/>
            <a:ext cx="2603500" cy="762000"/>
          </a:xfrm>
          <a:prstGeom prst="rect">
            <a:avLst/>
          </a:prstGeom>
          <a:noFill/>
        </p:spPr>
        <p:txBody>
          <a:bodyPr wrap="square" lIns="0" rIns="0" tIns="0" bIns="0">
            <a:spAutoFit/>
          </a:bodyPr>
          <a:lstStyle/>
          <a:p>
            <a:pPr algn="l">
              <a:lnSpc>
                <a:spcPts val="860"/>
              </a:lnSpc>
              <a:spcAft>
                <a:spcPts val="0"/>
              </a:spcAft>
            </a:pPr>
            <a:r>
              <a:rPr sz="690" b="0">
                <a:solidFill>
                  <a:srgbClr val="000000"/>
                </a:solidFill>
                <a:latin typeface="Ubuntu Mono"/>
                <a:ea typeface="Ubuntu Mono"/>
                <a:cs typeface="Ubuntu Mono"/>
                <a:sym typeface="Ubuntu Mono"/>
              </a:rPr>
              <a:t>Mill, side hill and sub-type nuts; 36 in. extensions (bored for circulation); skirts and guides for oversize holes; stop subs.</a:t>
            </a:r>
          </a:p>
        </p:txBody>
      </p:sp>
      <p:sp>
        <p:nvSpPr>
          <p:cNvPr id="31" name="TextBox 30"/>
          <p:cNvSpPr txBox="1"/>
          <p:nvPr/>
        </p:nvSpPr>
        <p:spPr>
          <a:xfrm>
            <a:off x="4089400" y="740410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OPERATION</a:t>
            </a:r>
          </a:p>
        </p:txBody>
      </p:sp>
      <p:sp>
        <p:nvSpPr>
          <p:cNvPr id="32" name="TextBox 31"/>
          <p:cNvSpPr txBox="1"/>
          <p:nvPr/>
        </p:nvSpPr>
        <p:spPr>
          <a:xfrm>
            <a:off x="4089400" y="7607300"/>
            <a:ext cx="2755900" cy="127000"/>
          </a:xfrm>
          <a:prstGeom prst="rect">
            <a:avLst/>
          </a:prstGeom>
          <a:noFill/>
        </p:spPr>
        <p:txBody>
          <a:bodyPr wrap="square" lIns="0" rIns="0" tIns="0" bIns="0">
            <a:spAutoFit/>
          </a:bodyPr>
          <a:lstStyle/>
          <a:p>
            <a:pPr algn="l">
              <a:lnSpc>
                <a:spcPts val="860"/>
              </a:lnSpc>
              <a:spcAft>
                <a:spcPts val="200"/>
              </a:spcAft>
            </a:pPr>
            <a:r>
              <a:rPr sz="540" b="0">
                <a:solidFill>
                  <a:srgbClr val="01ADEE"/>
                </a:solidFill>
                <a:latin typeface="Ubuntu Mono"/>
                <a:ea typeface="Ubuntu Mono"/>
                <a:cs typeface="Ubuntu Mono"/>
                <a:sym typeface="Ubuntu Mono"/>
              </a:rPr>
              <a:t>■ </a:t>
            </a:r>
            <a:r>
              <a:rPr sz="690" b="1">
                <a:solidFill>
                  <a:srgbClr val="000000"/>
                </a:solidFill>
                <a:latin typeface="Ubuntu Mono"/>
                <a:ea typeface="Ubuntu Mono"/>
                <a:cs typeface="Ubuntu Mono"/>
                <a:sym typeface="Ubuntu Mono"/>
              </a:rPr>
              <a:t>Engage: </a:t>
            </a:r>
            <a:r>
              <a:rPr sz="690" b="0">
                <a:solidFill>
                  <a:srgbClr val="000000"/>
                </a:solidFill>
                <a:latin typeface="Ubuntu Mono"/>
                <a:ea typeface="Ubuntu Mono"/>
                <a:cs typeface="Ubuntu Mono"/>
                <a:sym typeface="Ubuntu Mono"/>
              </a:rPr>
              <a:t>lower slowly into the fish, rotate at least 1/6 turn to the left, then pull.</a:t>
            </a:r>
          </a:p>
          <a:p>
            <a:pPr algn="l">
              <a:lnSpc>
                <a:spcPts val="860"/>
              </a:lnSpc>
              <a:spcAft>
                <a:spcPts val="200"/>
              </a:spcAft>
            </a:pPr>
            <a:r>
              <a:rPr sz="540" b="0">
                <a:solidFill>
                  <a:srgbClr val="01ADEE"/>
                </a:solidFill>
                <a:latin typeface="Ubuntu Mono"/>
                <a:ea typeface="Ubuntu Mono"/>
                <a:cs typeface="Ubuntu Mono"/>
                <a:sym typeface="Ubuntu Mono"/>
              </a:rPr>
              <a:t>■ </a:t>
            </a:r>
            <a:r>
              <a:rPr sz="690" b="1">
                <a:solidFill>
                  <a:srgbClr val="000000"/>
                </a:solidFill>
                <a:latin typeface="Ubuntu Mono"/>
                <a:ea typeface="Ubuntu Mono"/>
                <a:cs typeface="Ubuntu Mono"/>
                <a:sym typeface="Ubuntu Mono"/>
              </a:rPr>
              <a:t>Release: </a:t>
            </a:r>
            <a:r>
              <a:rPr sz="690" b="0">
                <a:solidFill>
                  <a:srgbClr val="000000"/>
                </a:solidFill>
                <a:latin typeface="Ubuntu Mono"/>
                <a:ea typeface="Ubuntu Mono"/>
                <a:cs typeface="Ubuntu Mono"/>
                <a:sym typeface="Ubuntu Mono"/>
              </a:rPr>
              <a:t>bump down full string weight, rotate at least 1/6 turn to the right and raise.</a:t>
            </a:r>
          </a:p>
          <a:p>
            <a:pPr algn="l">
              <a:lnSpc>
                <a:spcPts val="860"/>
              </a:lnSpc>
              <a:spcAft>
                <a:spcPts val="200"/>
              </a:spcAft>
            </a:pPr>
            <a:r>
              <a:rPr sz="540" b="0">
                <a:solidFill>
                  <a:srgbClr val="01ADEE"/>
                </a:solidFill>
                <a:latin typeface="Ubuntu Mono"/>
                <a:ea typeface="Ubuntu Mono"/>
                <a:cs typeface="Ubuntu Mono"/>
                <a:sym typeface="Ubuntu Mono"/>
              </a:rPr>
              <a:t>■ </a:t>
            </a:r>
            <a:r>
              <a:rPr sz="690" b="1">
                <a:solidFill>
                  <a:srgbClr val="000000"/>
                </a:solidFill>
                <a:latin typeface="Ubuntu Mono"/>
                <a:ea typeface="Ubuntu Mono"/>
                <a:cs typeface="Ubuntu Mono"/>
                <a:sym typeface="Ubuntu Mono"/>
              </a:rPr>
              <a:t>Deep or crooked holes: </a:t>
            </a:r>
            <a:r>
              <a:rPr sz="690" b="0">
                <a:solidFill>
                  <a:srgbClr val="000000"/>
                </a:solidFill>
                <a:latin typeface="Ubuntu Mono"/>
                <a:ea typeface="Ubuntu Mono"/>
                <a:cs typeface="Ubuntu Mono"/>
                <a:sym typeface="Ubuntu Mono"/>
              </a:rPr>
              <a:t>more rotation may be needed; it does no harm.</a:t>
            </a:r>
          </a:p>
          <a:p>
            <a:pPr algn="l">
              <a:lnSpc>
                <a:spcPts val="860"/>
              </a:lnSpc>
              <a:spcAft>
                <a:spcPts val="200"/>
              </a:spcAft>
            </a:pPr>
            <a:r>
              <a:rPr sz="540" b="0">
                <a:solidFill>
                  <a:srgbClr val="01ADEE"/>
                </a:solidFill>
                <a:latin typeface="Ubuntu Mono"/>
                <a:ea typeface="Ubuntu Mono"/>
                <a:cs typeface="Ubuntu Mono"/>
                <a:sym typeface="Ubuntu Mono"/>
              </a:rPr>
              <a:t>■ </a:t>
            </a:r>
            <a:r>
              <a:rPr sz="690" b="1">
                <a:solidFill>
                  <a:srgbClr val="000000"/>
                </a:solidFill>
                <a:latin typeface="Ubuntu Mono"/>
                <a:ea typeface="Ubuntu Mono"/>
                <a:cs typeface="Ubuntu Mono"/>
                <a:sym typeface="Ubuntu Mono"/>
              </a:rPr>
              <a:t>Always </a:t>
            </a:r>
            <a:r>
              <a:rPr sz="690" b="0">
                <a:solidFill>
                  <a:srgbClr val="000000"/>
                </a:solidFill>
                <a:latin typeface="Ubuntu Mono"/>
                <a:ea typeface="Ubuntu Mono"/>
                <a:cs typeface="Ubuntu Mono"/>
                <a:sym typeface="Ubuntu Mono"/>
              </a:rPr>
              <a:t>keep a heavy upward strain when rotating the fish, and bump down before releasing.</a:t>
            </a:r>
          </a:p>
        </p:txBody>
      </p:sp>
      <p:sp>
        <p:nvSpPr>
          <p:cNvPr id="33" name="TextBox 32"/>
          <p:cNvSpPr txBox="1"/>
          <p:nvPr/>
        </p:nvSpPr>
        <p:spPr>
          <a:xfrm>
            <a:off x="4089400" y="8724900"/>
            <a:ext cx="2755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4" name="TextBox 33"/>
          <p:cNvSpPr txBox="1"/>
          <p:nvPr/>
        </p:nvSpPr>
        <p:spPr>
          <a:xfrm>
            <a:off x="4089400" y="8915400"/>
            <a:ext cx="2755900" cy="508000"/>
          </a:xfrm>
          <a:prstGeom prst="rect">
            <a:avLst/>
          </a:prstGeom>
          <a:noFill/>
        </p:spPr>
        <p:txBody>
          <a:bodyPr wrap="square" lIns="0" rIns="0" tIns="0" bIns="0">
            <a:spAutoFit/>
          </a:bodyPr>
          <a:lstStyle/>
          <a:p>
            <a:pPr algn="just">
              <a:lnSpc>
                <a:spcPts val="850"/>
              </a:lnSpc>
              <a:spcAft>
                <a:spcPts val="0"/>
              </a:spcAft>
            </a:pPr>
            <a:r>
              <a:rPr sz="650" b="0">
                <a:solidFill>
                  <a:srgbClr val="000000"/>
                </a:solidFill>
                <a:latin typeface="Ubuntu Mono"/>
                <a:ea typeface="Ubuntu Mono"/>
                <a:cs typeface="Ubuntu Mono"/>
                <a:sym typeface="Ubuntu Mono"/>
              </a:rPr>
              <a:t>Please specify: 1. spear name and assembly number  2. size and type of top connection  3. size and weight of the pipe to be caught. Recommended spares: 2 sets of slips per fish size, 1 unitizer (or 2 friction block assemblies), 2 friction retainers, 1 stop, 1 safety ring per slip size.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Tang_TCatch.png"/>
          <p:cNvPicPr>
            <a:picLocks noChangeAspect="1"/>
          </p:cNvPicPr>
          <p:nvPr/>
        </p:nvPicPr>
        <p:blipFill>
          <a:blip r:embed="rId2"/>
          <a:stretch>
            <a:fillRect/>
          </a:stretch>
        </p:blipFill>
        <p:spPr>
          <a:xfrm>
            <a:off x="0" y="0"/>
            <a:ext cx="7556500" cy="10693400"/>
          </a:xfrm>
          <a:prstGeom prst="rect">
            <a:avLst/>
          </a:prstGeom>
        </p:spPr>
      </p:pic>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Dog_4-11-16.png"/>
          <p:cNvPicPr>
            <a:picLocks noChangeAspect="1"/>
          </p:cNvPicPr>
          <p:nvPr/>
        </p:nvPicPr>
        <p:blipFill>
          <a:blip r:embed="rId2"/>
          <a:stretch>
            <a:fillRect/>
          </a:stretch>
        </p:blipFill>
        <p:spPr>
          <a:xfrm>
            <a:off x="0" y="0"/>
            <a:ext cx="7556500" cy="10693400"/>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TDog_5-3-4.png"/>
          <p:cNvPicPr>
            <a:picLocks noChangeAspect="1"/>
          </p:cNvPicPr>
          <p:nvPr/>
        </p:nvPicPr>
        <p:blipFill>
          <a:blip r:embed="rId2"/>
          <a:stretch>
            <a:fillRect/>
          </a:stretch>
        </p:blipFill>
        <p:spPr>
          <a:xfrm>
            <a:off x="0" y="0"/>
            <a:ext cx="7556500" cy="10693400"/>
          </a:xfrm>
          <a:prstGeom prst="rect">
            <a:avLst/>
          </a:prstGeom>
        </p:spPr>
      </p:pic>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tabilizer.png"/>
          <p:cNvPicPr>
            <a:picLocks noChangeAspect="1"/>
          </p:cNvPicPr>
          <p:nvPr/>
        </p:nvPicPr>
        <p:blipFill>
          <a:blip r:embed="rId2"/>
          <a:stretch>
            <a:fillRect/>
          </a:stretch>
        </p:blipFill>
        <p:spPr>
          <a:xfrm>
            <a:off x="0" y="0"/>
            <a:ext cx="7556500" cy="10693400"/>
          </a:xfrm>
          <a:prstGeom prst="rect">
            <a:avLst/>
          </a:prstGeom>
        </p:spPr>
      </p:pic>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PDM</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DRILLING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POSITIVE DISPLACEMENT MOTOR WITH SLEEVE STABILIZER</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POSITIVE DISPLACEMENT MUD MOTOR (PDM) FOR DIRECTIONAL AND PERFORMANCE DRILLING, FROM 3-1/8 TO 9-5/8 IN. IN STOCK. THE MOTOR IS BUILT FROM A POWER SECTION (ROTOR AND STATOR), AN ADJUSTABLE OR FIXED BENT HOUSING, A DRIVESHAFT ASSEMBLY, A SEALED OR MUD-LUBRICATED BEARING ASSEMBLY AND THE BIT BOX. THE BEARING HOUSING CARRIES A THREAD FOR A SCREW-ON SLEEVE STABILIZER (STRAIGHT OR SPIRAL BLADE) OR OFFSET PAD, USED TO TUNE THE BUILD RATE AND TO REDUCE LATERAL VIBRATION. SPEED IS PROPORTIONAL TO FLOW, TORQUE TO DIFFERENTIAL PRESSURE.</a:t>
            </a:r>
          </a:p>
        </p:txBody>
      </p:sp>
      <p:sp>
        <p:nvSpPr>
          <p:cNvPr id="21" name="TextBox 20"/>
          <p:cNvSpPr txBox="1"/>
          <p:nvPr/>
        </p:nvSpPr>
        <p:spPr>
          <a:xfrm>
            <a:off x="711200" y="49784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181600"/>
          <a:ext cx="6134095" cy="2138680"/>
        </p:xfrm>
        <a:graphic>
          <a:graphicData uri="http://schemas.openxmlformats.org/drawingml/2006/table">
            <a:tbl>
              <a:tblPr/>
              <a:tblGrid>
                <a:gridCol w="721658"/>
                <a:gridCol w="471853"/>
                <a:gridCol w="471853"/>
                <a:gridCol w="666146"/>
                <a:gridCol w="721658"/>
                <a:gridCol w="777171"/>
                <a:gridCol w="749414"/>
                <a:gridCol w="777171"/>
                <a:gridCol w="777171"/>
              </a:tblGrid>
              <a:tr h="431800">
                <a:tc>
                  <a:txBody>
                    <a:bodyPr wrap="square"/>
                    <a:lstStyle/>
                    <a:p>
                      <a:pPr algn="ctr">
                        <a:lnSpc>
                          <a:spcPts val="860"/>
                        </a:lnSpc>
                      </a:pPr>
                      <a:r>
                        <a:rPr sz="700" b="1">
                          <a:solidFill>
                            <a:srgbClr val="FEFEFF"/>
                          </a:solidFill>
                          <a:latin typeface="Ubuntu Mono"/>
                          <a:ea typeface="Ubuntu Mono"/>
                          <a:cs typeface="Ubuntu Mono"/>
                          <a:sym typeface="Ubuntu Mono"/>
                        </a:rPr>
                        <a:t>Power section OD (in)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Lobes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Stages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Max. flow (gpm)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Max. bit speed (rpm)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Std. max diff. press. (psi)</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Std. torque (lb-ft)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High-power diff. press. (psi)</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High-power torque (lb-ft)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42240">
                <a:tc>
                  <a:txBody>
                    <a:bodyPr wrap="square"/>
                    <a:lstStyle/>
                    <a:p>
                      <a:pPr algn="ctr">
                        <a:lnSpc>
                          <a:spcPts val="860"/>
                        </a:lnSpc>
                      </a:pPr>
                      <a:r>
                        <a:rPr sz="700" b="0">
                          <a:solidFill>
                            <a:srgbClr val="FEFEFF"/>
                          </a:solidFill>
                          <a:latin typeface="Ubuntu Mono"/>
                          <a:ea typeface="Ubuntu Mono"/>
                          <a:cs typeface="Ubuntu Mono"/>
                          <a:sym typeface="Ubuntu Mono"/>
                        </a:rPr>
                        <a:t>3-3/8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188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460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782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690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1,170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60"/>
                        </a:lnSpc>
                      </a:pPr>
                      <a:r>
                        <a:rPr sz="700" b="0">
                          <a:solidFill>
                            <a:srgbClr val="FEFEFF"/>
                          </a:solidFill>
                          <a:latin typeface="Ubuntu Mono"/>
                          <a:ea typeface="Ubuntu Mono"/>
                          <a:cs typeface="Ubuntu Mono"/>
                          <a:sym typeface="Ubuntu Mono"/>
                        </a:rPr>
                        <a:t>3-3/4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60"/>
                        </a:lnSpc>
                      </a:pPr>
                      <a:r>
                        <a:rPr sz="700" b="0">
                          <a:solidFill>
                            <a:srgbClr val="000000"/>
                          </a:solidFill>
                          <a:latin typeface="Ubuntu Mono"/>
                          <a:ea typeface="Ubuntu Mono"/>
                          <a:cs typeface="Ubuntu Mono"/>
                          <a:sym typeface="Ubuntu Mono"/>
                        </a:rPr>
                        <a:t>6/7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440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1,314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660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1,970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60"/>
                        </a:lnSpc>
                      </a:pPr>
                      <a:r>
                        <a:rPr sz="700" b="0">
                          <a:solidFill>
                            <a:srgbClr val="FEFEFF"/>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2.6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300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79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390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3,500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590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5,250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60"/>
                        </a:lnSpc>
                      </a:pPr>
                      <a:r>
                        <a:rPr sz="700" b="0">
                          <a:solidFill>
                            <a:srgbClr val="FEFEFF"/>
                          </a:solidFill>
                          <a:latin typeface="Ubuntu Mono"/>
                          <a:ea typeface="Ubuntu Mono"/>
                          <a:cs typeface="Ubuntu Mono"/>
                          <a:sym typeface="Ubuntu Mono"/>
                        </a:rPr>
                        <a:t>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60"/>
                        </a:lnSpc>
                      </a:pPr>
                      <a:r>
                        <a:rPr sz="700" b="0">
                          <a:solidFill>
                            <a:srgbClr val="000000"/>
                          </a:solidFill>
                          <a:latin typeface="Ubuntu Mono"/>
                          <a:ea typeface="Ubuntu Mono"/>
                          <a:cs typeface="Ubuntu Mono"/>
                          <a:sym typeface="Ubuntu Mono"/>
                        </a:rPr>
                        <a:t>6/7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350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302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1,215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3,500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1,820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5,250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60"/>
                        </a:lnSpc>
                      </a:pPr>
                      <a:r>
                        <a:rPr sz="700" b="0">
                          <a:solidFill>
                            <a:srgbClr val="FEFEFF"/>
                          </a:solidFill>
                          <a:latin typeface="Ubuntu Mono"/>
                          <a:ea typeface="Ubuntu Mono"/>
                          <a:cs typeface="Ubuntu Mono"/>
                          <a:sym typeface="Ubuntu Mono"/>
                        </a:rPr>
                        <a:t>6-1/4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2.9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82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425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6,277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640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9,420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60"/>
                        </a:lnSpc>
                      </a:pPr>
                      <a:r>
                        <a:rPr sz="700" b="0">
                          <a:solidFill>
                            <a:srgbClr val="FEFEFF"/>
                          </a:solidFill>
                          <a:latin typeface="Ubuntu Mono"/>
                          <a:ea typeface="Ubuntu Mono"/>
                          <a:cs typeface="Ubuntu Mono"/>
                          <a:sym typeface="Ubuntu Mono"/>
                        </a:rPr>
                        <a:t>6-1/2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60"/>
                        </a:lnSpc>
                      </a:pPr>
                      <a:r>
                        <a:rPr sz="700" b="0">
                          <a:solidFill>
                            <a:srgbClr val="000000"/>
                          </a:solidFill>
                          <a:latin typeface="Ubuntu Mono"/>
                          <a:ea typeface="Ubuntu Mono"/>
                          <a:cs typeface="Ubuntu Mono"/>
                          <a:sym typeface="Ubuntu Mono"/>
                        </a:rPr>
                        <a:t>8/9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145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605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4,674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910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7,010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60"/>
                        </a:lnSpc>
                      </a:pPr>
                      <a:r>
                        <a:rPr sz="700" b="0">
                          <a:solidFill>
                            <a:srgbClr val="FEFEFF"/>
                          </a:solidFill>
                          <a:latin typeface="Ubuntu Mono"/>
                          <a:ea typeface="Ubuntu Mono"/>
                          <a:cs typeface="Ubuntu Mono"/>
                          <a:sym typeface="Ubuntu Mono"/>
                        </a:rPr>
                        <a:t>6-3/4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5.7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845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8,204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1,270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12,310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60"/>
                        </a:lnSpc>
                      </a:pPr>
                      <a:r>
                        <a:rPr sz="700" b="0">
                          <a:solidFill>
                            <a:srgbClr val="FEFEFF"/>
                          </a:solidFill>
                          <a:latin typeface="Ubuntu Mono"/>
                          <a:ea typeface="Ubuntu Mono"/>
                          <a:cs typeface="Ubuntu Mono"/>
                          <a:sym typeface="Ubuntu Mono"/>
                        </a:rPr>
                        <a:t>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60"/>
                        </a:lnSpc>
                      </a:pPr>
                      <a:r>
                        <a:rPr sz="700" b="0">
                          <a:solidFill>
                            <a:srgbClr val="000000"/>
                          </a:solidFill>
                          <a:latin typeface="Ubuntu Mono"/>
                          <a:ea typeface="Ubuntu Mono"/>
                          <a:cs typeface="Ubuntu Mono"/>
                          <a:sym typeface="Ubuntu Mono"/>
                        </a:rPr>
                        <a:t>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7.5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600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186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1,120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8,508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1,680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12,760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60"/>
                        </a:lnSpc>
                      </a:pPr>
                      <a:r>
                        <a:rPr sz="700" b="0">
                          <a:solidFill>
                            <a:srgbClr val="FEFEFF"/>
                          </a:solidFill>
                          <a:latin typeface="Ubuntu Mono"/>
                          <a:ea typeface="Ubuntu Mono"/>
                          <a:cs typeface="Ubuntu Mono"/>
                          <a:sym typeface="Ubuntu Mono"/>
                        </a:rPr>
                        <a:t>7-3/4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900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149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570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8,333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860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12,500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60"/>
                        </a:lnSpc>
                      </a:pPr>
                      <a:r>
                        <a:rPr sz="700" b="0">
                          <a:solidFill>
                            <a:srgbClr val="FEFEFF"/>
                          </a:solidFill>
                          <a:latin typeface="Ubuntu Mono"/>
                          <a:ea typeface="Ubuntu Mono"/>
                          <a:cs typeface="Ubuntu Mono"/>
                          <a:sym typeface="Ubuntu Mono"/>
                        </a:rPr>
                        <a:t>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60"/>
                        </a:lnSpc>
                      </a:pPr>
                      <a:r>
                        <a:rPr sz="700" b="0">
                          <a:solidFill>
                            <a:srgbClr val="000000"/>
                          </a:solidFill>
                          <a:latin typeface="Ubuntu Mono"/>
                          <a:ea typeface="Ubuntu Mono"/>
                          <a:cs typeface="Ubuntu Mono"/>
                          <a:sym typeface="Ubuntu Mono"/>
                        </a:rPr>
                        <a:t>6/7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900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159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715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9,618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1,070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14,430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42240">
                <a:tc>
                  <a:txBody>
                    <a:bodyPr wrap="square"/>
                    <a:lstStyle/>
                    <a:p>
                      <a:pPr algn="ctr">
                        <a:lnSpc>
                          <a:spcPts val="860"/>
                        </a:lnSpc>
                      </a:pPr>
                      <a:r>
                        <a:rPr sz="700" b="0">
                          <a:solidFill>
                            <a:srgbClr val="FEFEFF"/>
                          </a:solidFill>
                          <a:latin typeface="Ubuntu Mono"/>
                          <a:ea typeface="Ubuntu Mono"/>
                          <a:cs typeface="Ubuntu Mono"/>
                          <a:sym typeface="Ubuntu Mono"/>
                        </a:rPr>
                        <a:t>9-5/8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6/7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1,200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155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880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15,775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1,320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23,660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42240">
                <a:tc>
                  <a:txBody>
                    <a:bodyPr wrap="square"/>
                    <a:lstStyle/>
                    <a:p>
                      <a:pPr algn="ctr">
                        <a:lnSpc>
                          <a:spcPts val="860"/>
                        </a:lnSpc>
                      </a:pPr>
                      <a:r>
                        <a:rPr sz="700" b="0">
                          <a:solidFill>
                            <a:srgbClr val="FEFEFF"/>
                          </a:solidFill>
                          <a:latin typeface="Ubuntu Mono"/>
                          <a:ea typeface="Ubuntu Mono"/>
                          <a:cs typeface="Ubuntu Mono"/>
                          <a:sym typeface="Ubuntu Mono"/>
                        </a:rPr>
                        <a:t>11-1/4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60"/>
                        </a:lnSpc>
                      </a:pPr>
                      <a:r>
                        <a:rPr sz="700" b="0">
                          <a:solidFill>
                            <a:srgbClr val="000000"/>
                          </a:solidFill>
                          <a:latin typeface="Ubuntu Mono"/>
                          <a:ea typeface="Ubuntu Mono"/>
                          <a:cs typeface="Ubuntu Mono"/>
                          <a:sym typeface="Ubuntu Mono"/>
                        </a:rPr>
                        <a:t>6/7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5.6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1,800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162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820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19,377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1,230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29,070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3" name="TextBox 22"/>
          <p:cNvSpPr txBox="1"/>
          <p:nvPr/>
        </p:nvSpPr>
        <p:spPr>
          <a:xfrm>
            <a:off x="711200" y="7358380"/>
            <a:ext cx="6134100" cy="228600"/>
          </a:xfrm>
          <a:prstGeom prst="rect">
            <a:avLst/>
          </a:prstGeom>
          <a:noFill/>
        </p:spPr>
        <p:txBody>
          <a:bodyPr wrap="square" lIns="0" rIns="0" tIns="0" bIns="0">
            <a:spAutoFit/>
          </a:bodyPr>
          <a:lstStyle/>
          <a:p>
            <a:pPr algn="l">
              <a:lnSpc>
                <a:spcPts val="740"/>
              </a:lnSpc>
              <a:spcAft>
                <a:spcPts val="0"/>
              </a:spcAft>
            </a:pPr>
            <a:r>
              <a:rPr sz="620" b="0">
                <a:solidFill>
                  <a:srgbClr val="444444"/>
                </a:solidFill>
                <a:latin typeface="Ubuntu Mono"/>
                <a:ea typeface="Ubuntu Mono"/>
                <a:cs typeface="Ubuntu Mono"/>
                <a:sym typeface="Ubuntu Mono"/>
              </a:rPr>
              <a:t>One configuration per size: the highest-torque standard power section listed. Other lobe and stage combinations are available. High-power = enhanced elastomer power section (about 50% higher differential pressure). Values per manufacturer motor tables, for reference.</a:t>
            </a:r>
          </a:p>
        </p:txBody>
      </p:sp>
      <p:sp>
        <p:nvSpPr>
          <p:cNvPr id="24" name="TextBox 23"/>
          <p:cNvSpPr txBox="1"/>
          <p:nvPr/>
        </p:nvSpPr>
        <p:spPr>
          <a:xfrm>
            <a:off x="711200" y="7594600"/>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5" name="TextBox 24"/>
          <p:cNvSpPr txBox="1"/>
          <p:nvPr/>
        </p:nvSpPr>
        <p:spPr>
          <a:xfrm>
            <a:off x="711200" y="7797800"/>
            <a:ext cx="3022600" cy="127000"/>
          </a:xfrm>
          <a:prstGeom prst="rect">
            <a:avLst/>
          </a:prstGeom>
          <a:noFill/>
        </p:spPr>
        <p:txBody>
          <a:bodyPr wrap="square" lIns="0" rIns="0" tIns="0" bIns="0">
            <a:spAutoFit/>
          </a:bodyPr>
          <a:lstStyle/>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Modular motor: </a:t>
            </a:r>
            <a:r>
              <a:rPr sz="700" b="0">
                <a:solidFill>
                  <a:srgbClr val="000000"/>
                </a:solidFill>
                <a:latin typeface="Ubuntu Mono"/>
                <a:ea typeface="Ubuntu Mono"/>
                <a:cs typeface="Ubuntu Mono"/>
                <a:sym typeface="Ubuntu Mono"/>
              </a:rPr>
              <a:t>power section, bent housing, driveshaft, bearing assembly and bit box can be selected to suit the job.</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Adjustable bend: </a:t>
            </a:r>
            <a:r>
              <a:rPr sz="700" b="0">
                <a:solidFill>
                  <a:srgbClr val="000000"/>
                </a:solidFill>
                <a:latin typeface="Ubuntu Mono"/>
                <a:ea typeface="Ubuntu Mono"/>
                <a:cs typeface="Ubuntu Mono"/>
                <a:sym typeface="Ubuntu Mono"/>
              </a:rPr>
              <a:t>field-adjustable housing (2.38, 3 or 4 degrees) for a wide range of build rates; fixed housings on request.</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Sleeve stabilizer option: </a:t>
            </a:r>
            <a:r>
              <a:rPr sz="700" b="0">
                <a:solidFill>
                  <a:srgbClr val="000000"/>
                </a:solidFill>
                <a:latin typeface="Ubuntu Mono"/>
                <a:ea typeface="Ubuntu Mono"/>
                <a:cs typeface="Ubuntu Mono"/>
                <a:sym typeface="Ubuntu Mono"/>
              </a:rPr>
              <a:t>threaded bearing housing takes a screw-on straight or spiral blade sleeve, or an offset pad.</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Bearing assembly: </a:t>
            </a:r>
            <a:r>
              <a:rPr sz="700" b="0">
                <a:solidFill>
                  <a:srgbClr val="000000"/>
                </a:solidFill>
                <a:latin typeface="Ubuntu Mono"/>
                <a:ea typeface="Ubuntu Mono"/>
                <a:cs typeface="Ubuntu Mono"/>
                <a:sym typeface="Ubuntu Mono"/>
              </a:rPr>
              <a:t>oil sealed (100% of the flow to the bit) or mud lubricated.</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Driveshaft: </a:t>
            </a:r>
            <a:r>
              <a:rPr sz="700" b="0">
                <a:solidFill>
                  <a:srgbClr val="000000"/>
                </a:solidFill>
                <a:latin typeface="Ubuntu Mono"/>
                <a:ea typeface="Ubuntu Mono"/>
                <a:cs typeface="Ubuntu Mono"/>
                <a:sym typeface="Ubuntu Mono"/>
              </a:rPr>
              <a:t>conventional or high-torque version for the strongest power sections.</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Dump sub and rotor catch: </a:t>
            </a:r>
            <a:r>
              <a:rPr sz="700" b="0">
                <a:solidFill>
                  <a:srgbClr val="000000"/>
                </a:solidFill>
                <a:latin typeface="Ubuntu Mono"/>
                <a:ea typeface="Ubuntu Mono"/>
                <a:cs typeface="Ubuntu Mono"/>
                <a:sym typeface="Ubuntu Mono"/>
              </a:rPr>
              <a:t>bypass while tripping; retrieval of the motor after a housing failure.</a:t>
            </a:r>
          </a:p>
        </p:txBody>
      </p:sp>
      <p:sp>
        <p:nvSpPr>
          <p:cNvPr id="26" name="TextBox 25"/>
          <p:cNvSpPr txBox="1"/>
          <p:nvPr/>
        </p:nvSpPr>
        <p:spPr>
          <a:xfrm>
            <a:off x="3810000" y="759460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PERFORMANCE PARAMETERS</a:t>
            </a:r>
          </a:p>
        </p:txBody>
      </p:sp>
      <p:graphicFrame>
        <p:nvGraphicFramePr>
          <p:cNvPr id="27" name="Table 26"/>
          <p:cNvGraphicFramePr>
            <a:graphicFrameLocks noGrp="1"/>
          </p:cNvGraphicFramePr>
          <p:nvPr/>
        </p:nvGraphicFramePr>
        <p:xfrm>
          <a:off x="3810000" y="7785100"/>
          <a:ext cx="3035300" cy="952500"/>
        </p:xfrm>
        <a:graphic>
          <a:graphicData uri="http://schemas.openxmlformats.org/drawingml/2006/table">
            <a:tbl>
              <a:tblPr/>
              <a:tblGrid>
                <a:gridCol w="812800"/>
                <a:gridCol w="2222500"/>
              </a:tblGrid>
              <a:tr h="190500">
                <a:tc>
                  <a:txBody>
                    <a:bodyPr wrap="square"/>
                    <a:lstStyle/>
                    <a:p>
                      <a:pPr algn="l">
                        <a:lnSpc>
                          <a:spcPts val="819"/>
                        </a:lnSpc>
                      </a:pPr>
                      <a:r>
                        <a:rPr sz="660" b="0">
                          <a:solidFill>
                            <a:srgbClr val="FEFEFF"/>
                          </a:solidFill>
                          <a:latin typeface="Ubuntu Mono"/>
                          <a:ea typeface="Ubuntu Mono"/>
                          <a:cs typeface="Ubuntu Mono"/>
                          <a:sym typeface="Ubuntu Mono"/>
                        </a:rPr>
                        <a:t>Speed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9"/>
                        </a:lnSpc>
                      </a:pPr>
                      <a:r>
                        <a:rPr sz="660" b="0">
                          <a:solidFill>
                            <a:srgbClr val="000000"/>
                          </a:solidFill>
                          <a:latin typeface="Ubuntu Mono"/>
                          <a:ea typeface="Ubuntu Mono"/>
                          <a:cs typeface="Ubuntu Mono"/>
                          <a:sym typeface="Ubuntu Mono"/>
                        </a:rPr>
                        <a:t>Proportional to flow rate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90500">
                <a:tc>
                  <a:txBody>
                    <a:bodyPr wrap="square"/>
                    <a:lstStyle/>
                    <a:p>
                      <a:pPr algn="l">
                        <a:lnSpc>
                          <a:spcPts val="819"/>
                        </a:lnSpc>
                      </a:pPr>
                      <a:r>
                        <a:rPr sz="660" b="0">
                          <a:solidFill>
                            <a:srgbClr val="FEFEFF"/>
                          </a:solidFill>
                          <a:latin typeface="Ubuntu Mono"/>
                          <a:ea typeface="Ubuntu Mono"/>
                          <a:cs typeface="Ubuntu Mono"/>
                          <a:sym typeface="Ubuntu Mono"/>
                        </a:rPr>
                        <a:t>Torque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9"/>
                        </a:lnSpc>
                      </a:pPr>
                      <a:r>
                        <a:rPr sz="660" b="0">
                          <a:solidFill>
                            <a:srgbClr val="000000"/>
                          </a:solidFill>
                          <a:latin typeface="Ubuntu Mono"/>
                          <a:ea typeface="Ubuntu Mono"/>
                          <a:cs typeface="Ubuntu Mono"/>
                          <a:sym typeface="Ubuntu Mono"/>
                        </a:rPr>
                        <a:t>Proportional to differential pressure, independent of flow</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90500">
                <a:tc>
                  <a:txBody>
                    <a:bodyPr wrap="square"/>
                    <a:lstStyle/>
                    <a:p>
                      <a:pPr algn="l">
                        <a:lnSpc>
                          <a:spcPts val="819"/>
                        </a:lnSpc>
                      </a:pPr>
                      <a:r>
                        <a:rPr sz="660" b="0">
                          <a:solidFill>
                            <a:srgbClr val="FEFEFF"/>
                          </a:solidFill>
                          <a:latin typeface="Ubuntu Mono"/>
                          <a:ea typeface="Ubuntu Mono"/>
                          <a:cs typeface="Ubuntu Mono"/>
                          <a:sym typeface="Ubuntu Mono"/>
                        </a:rPr>
                        <a:t>More torque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9"/>
                        </a:lnSpc>
                      </a:pPr>
                      <a:r>
                        <a:rPr sz="660" b="0">
                          <a:solidFill>
                            <a:srgbClr val="000000"/>
                          </a:solidFill>
                          <a:latin typeface="Ubuntu Mono"/>
                          <a:ea typeface="Ubuntu Mono"/>
                          <a:cs typeface="Ubuntu Mono"/>
                          <a:sym typeface="Ubuntu Mono"/>
                        </a:rPr>
                        <a:t>More stages, enhanced elastomer or even-wall stator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90500">
                <a:tc>
                  <a:txBody>
                    <a:bodyPr wrap="square"/>
                    <a:lstStyle/>
                    <a:p>
                      <a:pPr algn="l">
                        <a:lnSpc>
                          <a:spcPts val="819"/>
                        </a:lnSpc>
                      </a:pPr>
                      <a:r>
                        <a:rPr sz="660" b="0">
                          <a:solidFill>
                            <a:srgbClr val="FEFEFF"/>
                          </a:solidFill>
                          <a:latin typeface="Ubuntu Mono"/>
                          <a:ea typeface="Ubuntu Mono"/>
                          <a:cs typeface="Ubuntu Mono"/>
                          <a:sym typeface="Ubuntu Mono"/>
                        </a:rPr>
                        <a:t>Stall</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19"/>
                        </a:lnSpc>
                      </a:pPr>
                      <a:r>
                        <a:rPr sz="660" b="0">
                          <a:solidFill>
                            <a:srgbClr val="000000"/>
                          </a:solidFill>
                          <a:latin typeface="Ubuntu Mono"/>
                          <a:ea typeface="Ubuntu Mono"/>
                          <a:cs typeface="Ubuntu Mono"/>
                          <a:sym typeface="Ubuntu Mono"/>
                        </a:rPr>
                        <a:t>Standpipe pressure rises, penetration stops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90500">
                <a:tc>
                  <a:txBody>
                    <a:bodyPr wrap="square"/>
                    <a:lstStyle/>
                    <a:p>
                      <a:pPr algn="l">
                        <a:lnSpc>
                          <a:spcPts val="819"/>
                        </a:lnSpc>
                      </a:pPr>
                      <a:r>
                        <a:rPr sz="660" b="0">
                          <a:solidFill>
                            <a:srgbClr val="FEFEFF"/>
                          </a:solidFill>
                          <a:latin typeface="Ubuntu Mono"/>
                          <a:ea typeface="Ubuntu Mono"/>
                          <a:cs typeface="Ubuntu Mono"/>
                          <a:sym typeface="Ubuntu Mono"/>
                        </a:rPr>
                        <a:t>If stalled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19"/>
                        </a:lnSpc>
                      </a:pPr>
                      <a:r>
                        <a:rPr sz="660" b="0">
                          <a:solidFill>
                            <a:srgbClr val="000000"/>
                          </a:solidFill>
                          <a:latin typeface="Ubuntu Mono"/>
                          <a:ea typeface="Ubuntu Mono"/>
                          <a:cs typeface="Ubuntu Mono"/>
                          <a:sym typeface="Ubuntu Mono"/>
                        </a:rPr>
                        <a:t>Stop rotation, slow or stop pumps, release torque slowly, lift off bottom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8" name="TextBox 27"/>
          <p:cNvSpPr txBox="1"/>
          <p:nvPr/>
        </p:nvSpPr>
        <p:spPr>
          <a:xfrm>
            <a:off x="3810000" y="891540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29" name="TextBox 28"/>
          <p:cNvSpPr txBox="1"/>
          <p:nvPr/>
        </p:nvSpPr>
        <p:spPr>
          <a:xfrm>
            <a:off x="3810000" y="9105900"/>
            <a:ext cx="3035300" cy="508000"/>
          </a:xfrm>
          <a:prstGeom prst="rect">
            <a:avLst/>
          </a:prstGeom>
          <a:noFill/>
        </p:spPr>
        <p:txBody>
          <a:bodyPr wrap="square" lIns="0" rIns="0" tIns="0" bIns="0">
            <a:spAutoFit/>
          </a:bodyPr>
          <a:lstStyle/>
          <a:p>
            <a:pPr algn="just">
              <a:lnSpc>
                <a:spcPts val="840"/>
              </a:lnSpc>
              <a:spcAft>
                <a:spcPts val="0"/>
              </a:spcAft>
            </a:pPr>
            <a:r>
              <a:rPr sz="670" b="0">
                <a:solidFill>
                  <a:srgbClr val="000000"/>
                </a:solidFill>
                <a:latin typeface="Ubuntu Mono"/>
                <a:ea typeface="Ubuntu Mono"/>
                <a:cs typeface="Ubuntu Mono"/>
                <a:sym typeface="Ubuntu Mono"/>
              </a:rPr>
              <a:t>Please specify: 1. motor OD and power section (lobes, stages, standard or high-power)  2. bearing type  3. housing angle  4. sleeve stabilizer type and size, or offset pad  5. top sub / dump sub and bit box connection  6. fluid, temperature and flow range.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BOOST MWD</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DRILLING</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MUD PULSE MWD SYSTEM</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BOOST IS A POSITIVE MUD PULSE MWD SYSTEM THAT SENDS SURVEYS, DIRECTIONAL TELEMETRY, GAMMA RAY AND OTHER SENSOR DATA TO SURFACE IN REAL TIME, USING PRESSURE SIGNALS IN THE WELLBORE. THE CORE SYSTEM INCLUDES PULSERS, ELECTRONICS, SENSORS AND BATTERIES, WITH MANY CONFIGURABLE OPTIONS. ADJUSTABLE MODULE PLACEMENT ALLOWS ALTERNATIVE SENSOR POSITIONS, AND DOWN-LINKING ALLOWS ADJUSTABLE LOGGING SEQUENCES.</a:t>
            </a:r>
          </a:p>
        </p:txBody>
      </p:sp>
      <p:sp>
        <p:nvSpPr>
          <p:cNvPr id="21" name="TextBox 20"/>
          <p:cNvSpPr txBox="1"/>
          <p:nvPr/>
        </p:nvSpPr>
        <p:spPr>
          <a:xfrm>
            <a:off x="711200" y="49784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a:t>
            </a:r>
          </a:p>
        </p:txBody>
      </p:sp>
      <p:graphicFrame>
        <p:nvGraphicFramePr>
          <p:cNvPr id="22" name="Table 21"/>
          <p:cNvGraphicFramePr>
            <a:graphicFrameLocks noGrp="1"/>
          </p:cNvGraphicFramePr>
          <p:nvPr/>
        </p:nvGraphicFramePr>
        <p:xfrm>
          <a:off x="711200" y="5168900"/>
          <a:ext cx="3009900" cy="2042160"/>
        </p:xfrm>
        <a:graphic>
          <a:graphicData uri="http://schemas.openxmlformats.org/drawingml/2006/table">
            <a:tbl>
              <a:tblPr/>
              <a:tblGrid>
                <a:gridCol w="1041400"/>
                <a:gridCol w="1968500"/>
              </a:tblGrid>
              <a:tr h="170180">
                <a:tc>
                  <a:txBody>
                    <a:bodyPr wrap="square"/>
                    <a:lstStyle/>
                    <a:p>
                      <a:pPr algn="l">
                        <a:lnSpc>
                          <a:spcPts val="860"/>
                        </a:lnSpc>
                      </a:pPr>
                      <a:r>
                        <a:rPr sz="700" b="0">
                          <a:solidFill>
                            <a:srgbClr val="FEFEFF"/>
                          </a:solidFill>
                          <a:latin typeface="Ubuntu Mono"/>
                          <a:ea typeface="Ubuntu Mono"/>
                          <a:cs typeface="Ubuntu Mono"/>
                          <a:sym typeface="Ubuntu Mono"/>
                        </a:rPr>
                        <a:t>Outside diameter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60"/>
                        </a:lnSpc>
                      </a:pPr>
                      <a:r>
                        <a:rPr sz="700" b="0">
                          <a:solidFill>
                            <a:srgbClr val="000000"/>
                          </a:solidFill>
                          <a:latin typeface="Ubuntu Mono"/>
                          <a:ea typeface="Ubuntu Mono"/>
                          <a:cs typeface="Ubuntu Mono"/>
                          <a:sym typeface="Ubuntu Mono"/>
                        </a:rPr>
                        <a:t>47.625 mm (1.875")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70180">
                <a:tc>
                  <a:txBody>
                    <a:bodyPr wrap="square"/>
                    <a:lstStyle/>
                    <a:p>
                      <a:pPr algn="l">
                        <a:lnSpc>
                          <a:spcPts val="860"/>
                        </a:lnSpc>
                      </a:pPr>
                      <a:r>
                        <a:rPr sz="700" b="0">
                          <a:solidFill>
                            <a:srgbClr val="FEFEFF"/>
                          </a:solidFill>
                          <a:latin typeface="Ubuntu Mono"/>
                          <a:ea typeface="Ubuntu Mono"/>
                          <a:cs typeface="Ubuntu Mono"/>
                          <a:sym typeface="Ubuntu Mono"/>
                        </a:rPr>
                        <a:t>Length, 1 battery</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60"/>
                        </a:lnSpc>
                      </a:pPr>
                      <a:r>
                        <a:rPr sz="700" b="0">
                          <a:solidFill>
                            <a:srgbClr val="000000"/>
                          </a:solidFill>
                          <a:latin typeface="Ubuntu Mono"/>
                          <a:ea typeface="Ubuntu Mono"/>
                          <a:cs typeface="Ubuntu Mono"/>
                          <a:sym typeface="Ubuntu Mono"/>
                        </a:rPr>
                        <a:t>5.28 m (17.3 ft)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70180">
                <a:tc>
                  <a:txBody>
                    <a:bodyPr wrap="square"/>
                    <a:lstStyle/>
                    <a:p>
                      <a:pPr algn="l">
                        <a:lnSpc>
                          <a:spcPts val="860"/>
                        </a:lnSpc>
                      </a:pPr>
                      <a:r>
                        <a:rPr sz="700" b="0">
                          <a:solidFill>
                            <a:srgbClr val="FEFEFF"/>
                          </a:solidFill>
                          <a:latin typeface="Ubuntu Mono"/>
                          <a:ea typeface="Ubuntu Mono"/>
                          <a:cs typeface="Ubuntu Mono"/>
                          <a:sym typeface="Ubuntu Mono"/>
                        </a:rPr>
                        <a:t>Length, 2 batteries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60"/>
                        </a:lnSpc>
                      </a:pPr>
                      <a:r>
                        <a:rPr sz="700" b="0">
                          <a:solidFill>
                            <a:srgbClr val="000000"/>
                          </a:solidFill>
                          <a:latin typeface="Ubuntu Mono"/>
                          <a:ea typeface="Ubuntu Mono"/>
                          <a:cs typeface="Ubuntu Mono"/>
                          <a:sym typeface="Ubuntu Mono"/>
                        </a:rPr>
                        <a:t>6.94 m (22.8 ft)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70180">
                <a:tc>
                  <a:txBody>
                    <a:bodyPr wrap="square"/>
                    <a:lstStyle/>
                    <a:p>
                      <a:pPr algn="l">
                        <a:lnSpc>
                          <a:spcPts val="860"/>
                        </a:lnSpc>
                      </a:pPr>
                      <a:r>
                        <a:rPr sz="700" b="0">
                          <a:solidFill>
                            <a:srgbClr val="FEFEFF"/>
                          </a:solidFill>
                          <a:latin typeface="Ubuntu Mono"/>
                          <a:ea typeface="Ubuntu Mono"/>
                          <a:cs typeface="Ubuntu Mono"/>
                          <a:sym typeface="Ubuntu Mono"/>
                        </a:rPr>
                        <a:t>Pressure rating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60"/>
                        </a:lnSpc>
                      </a:pPr>
                      <a:r>
                        <a:rPr sz="700" b="0">
                          <a:solidFill>
                            <a:srgbClr val="000000"/>
                          </a:solidFill>
                          <a:latin typeface="Ubuntu Mono"/>
                          <a:ea typeface="Ubuntu Mono"/>
                          <a:cs typeface="Ubuntu Mono"/>
                          <a:sym typeface="Ubuntu Mono"/>
                        </a:rPr>
                        <a:t>137,895 kPa (20,000 psi)</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70180">
                <a:tc>
                  <a:txBody>
                    <a:bodyPr wrap="square"/>
                    <a:lstStyle/>
                    <a:p>
                      <a:pPr algn="l">
                        <a:lnSpc>
                          <a:spcPts val="860"/>
                        </a:lnSpc>
                      </a:pPr>
                      <a:r>
                        <a:rPr sz="700" b="0">
                          <a:solidFill>
                            <a:srgbClr val="FEFEFF"/>
                          </a:solidFill>
                          <a:latin typeface="Ubuntu Mono"/>
                          <a:ea typeface="Ubuntu Mono"/>
                          <a:cs typeface="Ubuntu Mono"/>
                          <a:sym typeface="Ubuntu Mono"/>
                        </a:rPr>
                        <a:t>Operating temperature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60"/>
                        </a:lnSpc>
                      </a:pPr>
                      <a:r>
                        <a:rPr sz="700" b="0">
                          <a:solidFill>
                            <a:srgbClr val="000000"/>
                          </a:solidFill>
                          <a:latin typeface="Ubuntu Mono"/>
                          <a:ea typeface="Ubuntu Mono"/>
                          <a:cs typeface="Ubuntu Mono"/>
                          <a:sym typeface="Ubuntu Mono"/>
                        </a:rPr>
                        <a:t>-20 to +185 °C (-4 to 347 °F)</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70180">
                <a:tc>
                  <a:txBody>
                    <a:bodyPr wrap="square"/>
                    <a:lstStyle/>
                    <a:p>
                      <a:pPr algn="l">
                        <a:lnSpc>
                          <a:spcPts val="860"/>
                        </a:lnSpc>
                      </a:pPr>
                      <a:r>
                        <a:rPr sz="700" b="0">
                          <a:solidFill>
                            <a:srgbClr val="FEFEFF"/>
                          </a:solidFill>
                          <a:latin typeface="Ubuntu Mono"/>
                          <a:ea typeface="Ubuntu Mono"/>
                          <a:cs typeface="Ubuntu Mono"/>
                          <a:sym typeface="Ubuntu Mono"/>
                        </a:rPr>
                        <a:t>High-temp. version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60"/>
                        </a:lnSpc>
                      </a:pPr>
                      <a:r>
                        <a:rPr sz="700" b="0">
                          <a:solidFill>
                            <a:srgbClr val="000000"/>
                          </a:solidFill>
                          <a:latin typeface="Ubuntu Mono"/>
                          <a:ea typeface="Ubuntu Mono"/>
                          <a:cs typeface="Ubuntu Mono"/>
                          <a:sym typeface="Ubuntu Mono"/>
                        </a:rPr>
                        <a:t>200 °C available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70180">
                <a:tc>
                  <a:txBody>
                    <a:bodyPr wrap="square"/>
                    <a:lstStyle/>
                    <a:p>
                      <a:pPr algn="l">
                        <a:lnSpc>
                          <a:spcPts val="860"/>
                        </a:lnSpc>
                      </a:pPr>
                      <a:r>
                        <a:rPr sz="700" b="0">
                          <a:solidFill>
                            <a:srgbClr val="FEFEFF"/>
                          </a:solidFill>
                          <a:latin typeface="Ubuntu Mono"/>
                          <a:ea typeface="Ubuntu Mono"/>
                          <a:cs typeface="Ubuntu Mono"/>
                          <a:sym typeface="Ubuntu Mono"/>
                        </a:rPr>
                        <a:t>Rotary speed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60"/>
                        </a:lnSpc>
                      </a:pPr>
                      <a:r>
                        <a:rPr sz="700" b="0">
                          <a:solidFill>
                            <a:srgbClr val="000000"/>
                          </a:solidFill>
                          <a:latin typeface="Ubuntu Mono"/>
                          <a:ea typeface="Ubuntu Mono"/>
                          <a:cs typeface="Ubuntu Mono"/>
                          <a:sym typeface="Ubuntu Mono"/>
                        </a:rPr>
                        <a:t>60 rpm recommended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70180">
                <a:tc>
                  <a:txBody>
                    <a:bodyPr wrap="square"/>
                    <a:lstStyle/>
                    <a:p>
                      <a:pPr algn="l">
                        <a:lnSpc>
                          <a:spcPts val="860"/>
                        </a:lnSpc>
                      </a:pPr>
                      <a:r>
                        <a:rPr sz="700" b="0">
                          <a:solidFill>
                            <a:srgbClr val="FEFEFF"/>
                          </a:solidFill>
                          <a:latin typeface="Ubuntu Mono"/>
                          <a:ea typeface="Ubuntu Mono"/>
                          <a:cs typeface="Ubuntu Mono"/>
                          <a:sym typeface="Ubuntu Mono"/>
                        </a:rPr>
                        <a:t>Wireline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60"/>
                        </a:lnSpc>
                      </a:pPr>
                      <a:r>
                        <a:rPr sz="700" b="0">
                          <a:solidFill>
                            <a:srgbClr val="000000"/>
                          </a:solidFill>
                          <a:latin typeface="Ubuntu Mono"/>
                          <a:ea typeface="Ubuntu Mono"/>
                          <a:cs typeface="Ubuntu Mono"/>
                          <a:sym typeface="Ubuntu Mono"/>
                        </a:rPr>
                        <a:t>Retrievable, re-insertable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70180">
                <a:tc>
                  <a:txBody>
                    <a:bodyPr wrap="square"/>
                    <a:lstStyle/>
                    <a:p>
                      <a:pPr algn="l">
                        <a:lnSpc>
                          <a:spcPts val="860"/>
                        </a:lnSpc>
                      </a:pPr>
                      <a:r>
                        <a:rPr sz="700" b="0">
                          <a:solidFill>
                            <a:srgbClr val="FEFEFF"/>
                          </a:solidFill>
                          <a:latin typeface="Ubuntu Mono"/>
                          <a:ea typeface="Ubuntu Mono"/>
                          <a:cs typeface="Ubuntu Mono"/>
                          <a:sym typeface="Ubuntu Mono"/>
                        </a:rPr>
                        <a:t>Min. I.D. to retrieve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60"/>
                        </a:lnSpc>
                      </a:pPr>
                      <a:r>
                        <a:rPr sz="700" b="0">
                          <a:solidFill>
                            <a:srgbClr val="000000"/>
                          </a:solidFill>
                          <a:latin typeface="Ubuntu Mono"/>
                          <a:ea typeface="Ubuntu Mono"/>
                          <a:cs typeface="Ubuntu Mono"/>
                          <a:sym typeface="Ubuntu Mono"/>
                        </a:rPr>
                        <a:t>57 mm (2.25")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70180">
                <a:tc>
                  <a:txBody>
                    <a:bodyPr wrap="square"/>
                    <a:lstStyle/>
                    <a:p>
                      <a:pPr algn="l">
                        <a:lnSpc>
                          <a:spcPts val="860"/>
                        </a:lnSpc>
                      </a:pPr>
                      <a:r>
                        <a:rPr sz="700" b="0">
                          <a:solidFill>
                            <a:srgbClr val="FEFEFF"/>
                          </a:solidFill>
                          <a:latin typeface="Ubuntu Mono"/>
                          <a:ea typeface="Ubuntu Mono"/>
                          <a:cs typeface="Ubuntu Mono"/>
                          <a:sym typeface="Ubuntu Mono"/>
                        </a:rPr>
                        <a:t>Bend radius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60"/>
                        </a:lnSpc>
                      </a:pPr>
                      <a:r>
                        <a:rPr sz="700" b="0">
                          <a:solidFill>
                            <a:srgbClr val="000000"/>
                          </a:solidFill>
                          <a:latin typeface="Ubuntu Mono"/>
                          <a:ea typeface="Ubuntu Mono"/>
                          <a:cs typeface="Ubuntu Mono"/>
                          <a:sym typeface="Ubuntu Mono"/>
                        </a:rPr>
                        <a:t>20° / 10 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70180">
                <a:tc>
                  <a:txBody>
                    <a:bodyPr wrap="square"/>
                    <a:lstStyle/>
                    <a:p>
                      <a:pPr algn="l">
                        <a:lnSpc>
                          <a:spcPts val="860"/>
                        </a:lnSpc>
                      </a:pPr>
                      <a:r>
                        <a:rPr sz="700" b="0">
                          <a:solidFill>
                            <a:srgbClr val="FEFEFF"/>
                          </a:solidFill>
                          <a:latin typeface="Ubuntu Mono"/>
                          <a:ea typeface="Ubuntu Mono"/>
                          <a:cs typeface="Ubuntu Mono"/>
                          <a:sym typeface="Ubuntu Mono"/>
                        </a:rPr>
                        <a:t>Collar sizes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60"/>
                        </a:lnSpc>
                      </a:pPr>
                      <a:r>
                        <a:rPr sz="700" b="0">
                          <a:solidFill>
                            <a:srgbClr val="000000"/>
                          </a:solidFill>
                          <a:latin typeface="Ubuntu Mono"/>
                          <a:ea typeface="Ubuntu Mono"/>
                          <a:cs typeface="Ubuntu Mono"/>
                          <a:sym typeface="Ubuntu Mono"/>
                        </a:rPr>
                        <a:t>89 - 203 mm (3.5" - 8")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70180">
                <a:tc>
                  <a:txBody>
                    <a:bodyPr wrap="square"/>
                    <a:lstStyle/>
                    <a:p>
                      <a:pPr algn="l">
                        <a:lnSpc>
                          <a:spcPts val="860"/>
                        </a:lnSpc>
                      </a:pPr>
                      <a:r>
                        <a:rPr sz="700" b="0">
                          <a:solidFill>
                            <a:srgbClr val="FEFEFF"/>
                          </a:solidFill>
                          <a:latin typeface="Ubuntu Mono"/>
                          <a:ea typeface="Ubuntu Mono"/>
                          <a:cs typeface="Ubuntu Mono"/>
                          <a:sym typeface="Ubuntu Mono"/>
                        </a:rPr>
                        <a:t>Flow rate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60"/>
                        </a:lnSpc>
                      </a:pPr>
                      <a:r>
                        <a:rPr sz="700" b="0">
                          <a:solidFill>
                            <a:srgbClr val="000000"/>
                          </a:solidFill>
                          <a:latin typeface="Ubuntu Mono"/>
                          <a:ea typeface="Ubuntu Mono"/>
                          <a:cs typeface="Ubuntu Mono"/>
                          <a:sym typeface="Ubuntu Mono"/>
                        </a:rPr>
                        <a:t>0.28 - 4.45 m³/min (75 - 1,200 gpm)</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graphicFrame>
        <p:nvGraphicFramePr>
          <p:cNvPr id="23" name="Table 22"/>
          <p:cNvGraphicFramePr>
            <a:graphicFrameLocks noGrp="1"/>
          </p:cNvGraphicFramePr>
          <p:nvPr/>
        </p:nvGraphicFramePr>
        <p:xfrm>
          <a:off x="3835400" y="5168900"/>
          <a:ext cx="3009900" cy="2042160"/>
        </p:xfrm>
        <a:graphic>
          <a:graphicData uri="http://schemas.openxmlformats.org/drawingml/2006/table">
            <a:tbl>
              <a:tblPr/>
              <a:tblGrid>
                <a:gridCol w="1117600"/>
                <a:gridCol w="1892300"/>
              </a:tblGrid>
              <a:tr h="170180">
                <a:tc>
                  <a:txBody>
                    <a:bodyPr wrap="square"/>
                    <a:lstStyle/>
                    <a:p>
                      <a:pPr algn="l">
                        <a:lnSpc>
                          <a:spcPts val="860"/>
                        </a:lnSpc>
                      </a:pPr>
                      <a:r>
                        <a:rPr sz="700" b="0">
                          <a:solidFill>
                            <a:srgbClr val="FEFEFF"/>
                          </a:solidFill>
                          <a:latin typeface="Ubuntu Mono"/>
                          <a:ea typeface="Ubuntu Mono"/>
                          <a:cs typeface="Ubuntu Mono"/>
                          <a:sym typeface="Ubuntu Mono"/>
                        </a:rPr>
                        <a:t>Data transmission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60"/>
                        </a:lnSpc>
                      </a:pPr>
                      <a:r>
                        <a:rPr sz="700" b="0">
                          <a:solidFill>
                            <a:srgbClr val="000000"/>
                          </a:solidFill>
                          <a:latin typeface="Ubuntu Mono"/>
                          <a:ea typeface="Ubuntu Mono"/>
                          <a:cs typeface="Ubuntu Mono"/>
                          <a:sym typeface="Ubuntu Mono"/>
                        </a:rPr>
                        <a:t>Positive mud pulse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70180">
                <a:tc>
                  <a:txBody>
                    <a:bodyPr wrap="square"/>
                    <a:lstStyle/>
                    <a:p>
                      <a:pPr algn="l">
                        <a:lnSpc>
                          <a:spcPts val="860"/>
                        </a:lnSpc>
                      </a:pPr>
                      <a:r>
                        <a:rPr sz="700" b="0">
                          <a:solidFill>
                            <a:srgbClr val="FEFEFF"/>
                          </a:solidFill>
                          <a:latin typeface="Ubuntu Mono"/>
                          <a:ea typeface="Ubuntu Mono"/>
                          <a:cs typeface="Ubuntu Mono"/>
                          <a:sym typeface="Ubuntu Mono"/>
                        </a:rPr>
                        <a:t>Power supply</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60"/>
                        </a:lnSpc>
                      </a:pPr>
                      <a:r>
                        <a:rPr sz="700" b="0">
                          <a:solidFill>
                            <a:srgbClr val="000000"/>
                          </a:solidFill>
                          <a:latin typeface="Ubuntu Mono"/>
                          <a:ea typeface="Ubuntu Mono"/>
                          <a:cs typeface="Ubuntu Mono"/>
                          <a:sym typeface="Ubuntu Mono"/>
                        </a:rPr>
                        <a:t>Lithium 28 VDC / 3 A</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70180">
                <a:tc>
                  <a:txBody>
                    <a:bodyPr wrap="square"/>
                    <a:lstStyle/>
                    <a:p>
                      <a:pPr algn="l">
                        <a:lnSpc>
                          <a:spcPts val="860"/>
                        </a:lnSpc>
                      </a:pPr>
                      <a:r>
                        <a:rPr sz="700" b="0">
                          <a:solidFill>
                            <a:srgbClr val="FEFEFF"/>
                          </a:solidFill>
                          <a:latin typeface="Ubuntu Mono"/>
                          <a:ea typeface="Ubuntu Mono"/>
                          <a:cs typeface="Ubuntu Mono"/>
                          <a:sym typeface="Ubuntu Mono"/>
                        </a:rPr>
                        <a:t>Battery capacity</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60"/>
                        </a:lnSpc>
                      </a:pPr>
                      <a:r>
                        <a:rPr sz="700" b="0">
                          <a:solidFill>
                            <a:srgbClr val="000000"/>
                          </a:solidFill>
                          <a:latin typeface="Ubuntu Mono"/>
                          <a:ea typeface="Ubuntu Mono"/>
                          <a:cs typeface="Ubuntu Mono"/>
                          <a:sym typeface="Ubuntu Mono"/>
                        </a:rPr>
                        <a:t>400+ h (2 battery modules)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70180">
                <a:tc>
                  <a:txBody>
                    <a:bodyPr wrap="square"/>
                    <a:lstStyle/>
                    <a:p>
                      <a:pPr algn="l">
                        <a:lnSpc>
                          <a:spcPts val="860"/>
                        </a:lnSpc>
                      </a:pPr>
                      <a:r>
                        <a:rPr sz="700" b="0">
                          <a:solidFill>
                            <a:srgbClr val="FEFEFF"/>
                          </a:solidFill>
                          <a:latin typeface="Ubuntu Mono"/>
                          <a:ea typeface="Ubuntu Mono"/>
                          <a:cs typeface="Ubuntu Mono"/>
                          <a:sym typeface="Ubuntu Mono"/>
                        </a:rPr>
                        <a:t>Flow switch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60"/>
                        </a:lnSpc>
                      </a:pPr>
                      <a:r>
                        <a:rPr sz="700" b="0">
                          <a:solidFill>
                            <a:srgbClr val="000000"/>
                          </a:solidFill>
                          <a:latin typeface="Ubuntu Mono"/>
                          <a:ea typeface="Ubuntu Mono"/>
                          <a:cs typeface="Ubuntu Mono"/>
                          <a:sym typeface="Ubuntu Mono"/>
                        </a:rPr>
                        <a:t>Vibration, in pulser driver electronics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70180">
                <a:tc>
                  <a:txBody>
                    <a:bodyPr wrap="square"/>
                    <a:lstStyle/>
                    <a:p>
                      <a:pPr algn="l">
                        <a:lnSpc>
                          <a:spcPts val="860"/>
                        </a:lnSpc>
                      </a:pPr>
                      <a:r>
                        <a:rPr sz="700" b="0">
                          <a:solidFill>
                            <a:srgbClr val="FEFEFF"/>
                          </a:solidFill>
                          <a:latin typeface="Ubuntu Mono"/>
                          <a:ea typeface="Ubuntu Mono"/>
                          <a:cs typeface="Ubuntu Mono"/>
                          <a:sym typeface="Ubuntu Mono"/>
                        </a:rPr>
                        <a:t>Shock limit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60"/>
                        </a:lnSpc>
                      </a:pPr>
                      <a:r>
                        <a:rPr sz="700" b="0">
                          <a:solidFill>
                            <a:srgbClr val="000000"/>
                          </a:solidFill>
                          <a:latin typeface="Ubuntu Mono"/>
                          <a:ea typeface="Ubuntu Mono"/>
                          <a:cs typeface="Ubuntu Mono"/>
                          <a:sym typeface="Ubuntu Mono"/>
                        </a:rPr>
                        <a:t>500 g, 0.5 ms, half sine, all axes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70180">
                <a:tc>
                  <a:txBody>
                    <a:bodyPr wrap="square"/>
                    <a:lstStyle/>
                    <a:p>
                      <a:pPr algn="l">
                        <a:lnSpc>
                          <a:spcPts val="860"/>
                        </a:lnSpc>
                      </a:pPr>
                      <a:r>
                        <a:rPr sz="700" b="0">
                          <a:solidFill>
                            <a:srgbClr val="FEFEFF"/>
                          </a:solidFill>
                          <a:latin typeface="Ubuntu Mono"/>
                          <a:ea typeface="Ubuntu Mono"/>
                          <a:cs typeface="Ubuntu Mono"/>
                          <a:sym typeface="Ubuntu Mono"/>
                        </a:rPr>
                        <a:t>Vibration limit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60"/>
                        </a:lnSpc>
                      </a:pPr>
                      <a:r>
                        <a:rPr sz="700" b="0">
                          <a:solidFill>
                            <a:srgbClr val="000000"/>
                          </a:solidFill>
                          <a:latin typeface="Ubuntu Mono"/>
                          <a:ea typeface="Ubuntu Mono"/>
                          <a:cs typeface="Ubuntu Mono"/>
                          <a:sym typeface="Ubuntu Mono"/>
                        </a:rPr>
                        <a:t>5 - 30 Hz @ 1" d.a.; 30 - 500 Hz, 20 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70180">
                <a:tc>
                  <a:txBody>
                    <a:bodyPr wrap="square"/>
                    <a:lstStyle/>
                    <a:p>
                      <a:pPr algn="l">
                        <a:lnSpc>
                          <a:spcPts val="860"/>
                        </a:lnSpc>
                      </a:pPr>
                      <a:r>
                        <a:rPr sz="700" b="0">
                          <a:solidFill>
                            <a:srgbClr val="FEFEFF"/>
                          </a:solidFill>
                          <a:latin typeface="Ubuntu Mono"/>
                          <a:ea typeface="Ubuntu Mono"/>
                          <a:cs typeface="Ubuntu Mono"/>
                          <a:sym typeface="Ubuntu Mono"/>
                        </a:rPr>
                        <a:t>LCM tolerance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60"/>
                        </a:lnSpc>
                      </a:pPr>
                      <a:r>
                        <a:rPr sz="700" b="0">
                          <a:solidFill>
                            <a:srgbClr val="000000"/>
                          </a:solidFill>
                          <a:latin typeface="Ubuntu Mono"/>
                          <a:ea typeface="Ubuntu Mono"/>
                          <a:cs typeface="Ubuntu Mono"/>
                          <a:sym typeface="Ubuntu Mono"/>
                        </a:rPr>
                        <a:t>40 - 50 ppb, any size, premixed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70180">
                <a:tc>
                  <a:txBody>
                    <a:bodyPr wrap="square"/>
                    <a:lstStyle/>
                    <a:p>
                      <a:pPr algn="l">
                        <a:lnSpc>
                          <a:spcPts val="860"/>
                        </a:lnSpc>
                      </a:pPr>
                      <a:r>
                        <a:rPr sz="700" b="0">
                          <a:solidFill>
                            <a:srgbClr val="FEFEFF"/>
                          </a:solidFill>
                          <a:latin typeface="Ubuntu Mono"/>
                          <a:ea typeface="Ubuntu Mono"/>
                          <a:cs typeface="Ubuntu Mono"/>
                          <a:sym typeface="Ubuntu Mono"/>
                        </a:rPr>
                        <a:t>Pulse width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60"/>
                        </a:lnSpc>
                      </a:pPr>
                      <a:r>
                        <a:rPr sz="700" b="0">
                          <a:solidFill>
                            <a:srgbClr val="000000"/>
                          </a:solidFill>
                          <a:latin typeface="Ubuntu Mono"/>
                          <a:ea typeface="Ubuntu Mono"/>
                          <a:cs typeface="Ubuntu Mono"/>
                          <a:sym typeface="Ubuntu Mono"/>
                        </a:rPr>
                        <a:t>0.250 - 2.00 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70180">
                <a:tc>
                  <a:txBody>
                    <a:bodyPr wrap="square"/>
                    <a:lstStyle/>
                    <a:p>
                      <a:pPr algn="l">
                        <a:lnSpc>
                          <a:spcPts val="860"/>
                        </a:lnSpc>
                      </a:pPr>
                      <a:r>
                        <a:rPr sz="700" b="0">
                          <a:solidFill>
                            <a:srgbClr val="FEFEFF"/>
                          </a:solidFill>
                          <a:latin typeface="Ubuntu Mono"/>
                          <a:ea typeface="Ubuntu Mono"/>
                          <a:cs typeface="Ubuntu Mono"/>
                          <a:sym typeface="Ubuntu Mono"/>
                        </a:rPr>
                        <a:t>Transmission time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60"/>
                        </a:lnSpc>
                      </a:pPr>
                      <a:r>
                        <a:rPr sz="700" b="0">
                          <a:solidFill>
                            <a:srgbClr val="000000"/>
                          </a:solidFill>
                          <a:latin typeface="Ubuntu Mono"/>
                          <a:ea typeface="Ubuntu Mono"/>
                          <a:cs typeface="Ubuntu Mono"/>
                          <a:sym typeface="Ubuntu Mono"/>
                        </a:rPr>
                        <a:t>10 - 28 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70180">
                <a:tc>
                  <a:txBody>
                    <a:bodyPr wrap="square"/>
                    <a:lstStyle/>
                    <a:p>
                      <a:pPr algn="l">
                        <a:lnSpc>
                          <a:spcPts val="860"/>
                        </a:lnSpc>
                      </a:pPr>
                      <a:r>
                        <a:rPr sz="700" b="0">
                          <a:solidFill>
                            <a:srgbClr val="FEFEFF"/>
                          </a:solidFill>
                          <a:latin typeface="Ubuntu Mono"/>
                          <a:ea typeface="Ubuntu Mono"/>
                          <a:cs typeface="Ubuntu Mono"/>
                          <a:sym typeface="Ubuntu Mono"/>
                        </a:rPr>
                        <a:t>Internal memory</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60"/>
                        </a:lnSpc>
                      </a:pPr>
                      <a:r>
                        <a:rPr sz="700" b="0">
                          <a:solidFill>
                            <a:srgbClr val="000000"/>
                          </a:solidFill>
                          <a:latin typeface="Ubuntu Mono"/>
                          <a:ea typeface="Ubuntu Mono"/>
                          <a:cs typeface="Ubuntu Mono"/>
                          <a:sym typeface="Ubuntu Mono"/>
                        </a:rPr>
                        <a:t>24 MB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70180">
                <a:tc>
                  <a:txBody>
                    <a:bodyPr wrap="square"/>
                    <a:lstStyle/>
                    <a:p>
                      <a:pPr algn="l">
                        <a:lnSpc>
                          <a:spcPts val="860"/>
                        </a:lnSpc>
                      </a:pPr>
                      <a:r>
                        <a:rPr sz="700" b="0">
                          <a:solidFill>
                            <a:srgbClr val="FEFEFF"/>
                          </a:solidFill>
                          <a:latin typeface="Ubuntu Mono"/>
                          <a:ea typeface="Ubuntu Mono"/>
                          <a:cs typeface="Ubuntu Mono"/>
                          <a:sym typeface="Ubuntu Mono"/>
                        </a:rPr>
                        <a:t>Programmable sequences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60"/>
                        </a:lnSpc>
                      </a:pPr>
                      <a:r>
                        <a:rPr sz="700" b="0">
                          <a:solidFill>
                            <a:srgbClr val="000000"/>
                          </a:solidFill>
                          <a:latin typeface="Ubuntu Mono"/>
                          <a:ea typeface="Ubuntu Mono"/>
                          <a:cs typeface="Ubuntu Mono"/>
                          <a:sym typeface="Ubuntu Mono"/>
                        </a:rPr>
                        <a:t>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70180">
                <a:tc>
                  <a:txBody>
                    <a:bodyPr wrap="square"/>
                    <a:lstStyle/>
                    <a:p>
                      <a:pPr algn="l">
                        <a:lnSpc>
                          <a:spcPts val="860"/>
                        </a:lnSpc>
                      </a:pPr>
                      <a:r>
                        <a:rPr sz="700" b="0">
                          <a:solidFill>
                            <a:srgbClr val="FEFEFF"/>
                          </a:solidFill>
                          <a:latin typeface="Ubuntu Mono"/>
                          <a:ea typeface="Ubuntu Mono"/>
                          <a:cs typeface="Ubuntu Mono"/>
                          <a:sym typeface="Ubuntu Mono"/>
                        </a:rPr>
                        <a:t>Top or bottom mounted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60"/>
                        </a:lnSpc>
                      </a:pPr>
                      <a:r>
                        <a:rPr sz="700" b="0">
                          <a:solidFill>
                            <a:srgbClr val="000000"/>
                          </a:solidFill>
                          <a:latin typeface="Ubuntu Mono"/>
                          <a:ea typeface="Ubuntu Mono"/>
                          <a:cs typeface="Ubuntu Mono"/>
                          <a:sym typeface="Ubuntu Mono"/>
                        </a:rPr>
                        <a:t>Both positive pulse versions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4" name="TextBox 23"/>
          <p:cNvSpPr txBox="1"/>
          <p:nvPr/>
        </p:nvSpPr>
        <p:spPr>
          <a:xfrm>
            <a:off x="711200" y="7287259"/>
            <a:ext cx="6134100" cy="114300"/>
          </a:xfrm>
          <a:prstGeom prst="rect">
            <a:avLst/>
          </a:prstGeom>
          <a:noFill/>
        </p:spPr>
        <p:txBody>
          <a:bodyPr wrap="square" lIns="0" rIns="0" tIns="0" bIns="0">
            <a:spAutoFit/>
          </a:bodyPr>
          <a:lstStyle/>
          <a:p>
            <a:pPr algn="l">
              <a:spcAft>
                <a:spcPts val="0"/>
              </a:spcAft>
            </a:pPr>
            <a:r>
              <a:rPr sz="620" b="0">
                <a:solidFill>
                  <a:srgbClr val="444444"/>
                </a:solidFill>
                <a:latin typeface="Ubuntu Mono"/>
                <a:ea typeface="Ubuntu Mono"/>
                <a:cs typeface="Ubuntu Mono"/>
                <a:sym typeface="Ubuntu Mono"/>
              </a:rPr>
              <a:t>d.a.: double amplitude.  Standard tools are rated to 185 °C; high-temperature options are available.</a:t>
            </a:r>
          </a:p>
        </p:txBody>
      </p:sp>
      <p:sp>
        <p:nvSpPr>
          <p:cNvPr id="25" name="TextBox 24"/>
          <p:cNvSpPr txBox="1"/>
          <p:nvPr/>
        </p:nvSpPr>
        <p:spPr>
          <a:xfrm>
            <a:off x="711200" y="7465059"/>
            <a:ext cx="3009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SENSOR SPECIFICATIONS</a:t>
            </a:r>
          </a:p>
        </p:txBody>
      </p:sp>
      <p:graphicFrame>
        <p:nvGraphicFramePr>
          <p:cNvPr id="26" name="Table 25"/>
          <p:cNvGraphicFramePr>
            <a:graphicFrameLocks noGrp="1"/>
          </p:cNvGraphicFramePr>
          <p:nvPr/>
        </p:nvGraphicFramePr>
        <p:xfrm>
          <a:off x="711200" y="7655559"/>
          <a:ext cx="3009900" cy="1168400"/>
        </p:xfrm>
        <a:graphic>
          <a:graphicData uri="http://schemas.openxmlformats.org/drawingml/2006/table">
            <a:tbl>
              <a:tblPr/>
              <a:tblGrid>
                <a:gridCol w="787400"/>
                <a:gridCol w="787400"/>
                <a:gridCol w="723900"/>
                <a:gridCol w="711200"/>
              </a:tblGrid>
              <a:tr h="177800">
                <a:tc>
                  <a:txBody>
                    <a:bodyPr wrap="square"/>
                    <a:lstStyle/>
                    <a:p>
                      <a:pPr algn="ctr">
                        <a:lnSpc>
                          <a:spcPts val="860"/>
                        </a:lnSpc>
                      </a:pPr>
                      <a:r>
                        <a:rPr sz="700" b="1">
                          <a:solidFill>
                            <a:srgbClr val="FEFEFF"/>
                          </a:solidFill>
                          <a:latin typeface="Ubuntu Mono"/>
                          <a:ea typeface="Ubuntu Mono"/>
                          <a:cs typeface="Ubuntu Mono"/>
                          <a:sym typeface="Ubuntu Mono"/>
                        </a:rPr>
                        <a:t>Parameter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Range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Accuracy</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1">
                          <a:solidFill>
                            <a:srgbClr val="FEFEFF"/>
                          </a:solidFill>
                          <a:latin typeface="Ubuntu Mono"/>
                          <a:ea typeface="Ubuntu Mono"/>
                          <a:cs typeface="Ubuntu Mono"/>
                          <a:sym typeface="Ubuntu Mono"/>
                        </a:rPr>
                        <a:t>Spread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65100">
                <a:tc>
                  <a:txBody>
                    <a:bodyPr wrap="square"/>
                    <a:lstStyle/>
                    <a:p>
                      <a:pPr algn="ctr">
                        <a:lnSpc>
                          <a:spcPts val="860"/>
                        </a:lnSpc>
                      </a:pPr>
                      <a:r>
                        <a:rPr sz="700" b="0">
                          <a:solidFill>
                            <a:srgbClr val="FEFEFF"/>
                          </a:solidFill>
                          <a:latin typeface="Ubuntu Mono"/>
                          <a:ea typeface="Ubuntu Mono"/>
                          <a:cs typeface="Ubuntu Mono"/>
                          <a:sym typeface="Ubuntu Mono"/>
                        </a:rPr>
                        <a:t>Inclination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0 - 180°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 0.10°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0.20°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5100">
                <a:tc>
                  <a:txBody>
                    <a:bodyPr wrap="square"/>
                    <a:lstStyle/>
                    <a:p>
                      <a:pPr algn="ctr">
                        <a:lnSpc>
                          <a:spcPts val="860"/>
                        </a:lnSpc>
                      </a:pPr>
                      <a:r>
                        <a:rPr sz="700" b="0">
                          <a:solidFill>
                            <a:srgbClr val="FEFEFF"/>
                          </a:solidFill>
                          <a:latin typeface="Ubuntu Mono"/>
                          <a:ea typeface="Ubuntu Mono"/>
                          <a:cs typeface="Ubuntu Mono"/>
                          <a:sym typeface="Ubuntu Mono"/>
                        </a:rPr>
                        <a:t>Azimuth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60"/>
                        </a:lnSpc>
                      </a:pPr>
                      <a:r>
                        <a:rPr sz="700" b="0">
                          <a:solidFill>
                            <a:srgbClr val="000000"/>
                          </a:solidFill>
                          <a:latin typeface="Ubuntu Mono"/>
                          <a:ea typeface="Ubuntu Mono"/>
                          <a:cs typeface="Ubuntu Mono"/>
                          <a:sym typeface="Ubuntu Mono"/>
                        </a:rPr>
                        <a:t>0 - 360°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 0.50°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0.50°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65100">
                <a:tc>
                  <a:txBody>
                    <a:bodyPr wrap="square"/>
                    <a:lstStyle/>
                    <a:p>
                      <a:pPr algn="ctr">
                        <a:lnSpc>
                          <a:spcPts val="860"/>
                        </a:lnSpc>
                      </a:pPr>
                      <a:r>
                        <a:rPr sz="700" b="0">
                          <a:solidFill>
                            <a:srgbClr val="FEFEFF"/>
                          </a:solidFill>
                          <a:latin typeface="Ubuntu Mono"/>
                          <a:ea typeface="Ubuntu Mono"/>
                          <a:cs typeface="Ubuntu Mono"/>
                          <a:sym typeface="Ubuntu Mono"/>
                        </a:rPr>
                        <a:t>Tool face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0 - 360°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 0.20°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0.40°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5100">
                <a:tc>
                  <a:txBody>
                    <a:bodyPr wrap="square"/>
                    <a:lstStyle/>
                    <a:p>
                      <a:pPr algn="ctr">
                        <a:lnSpc>
                          <a:spcPts val="860"/>
                        </a:lnSpc>
                      </a:pPr>
                      <a:r>
                        <a:rPr sz="700" b="0">
                          <a:solidFill>
                            <a:srgbClr val="FEFEFF"/>
                          </a:solidFill>
                          <a:latin typeface="Ubuntu Mono"/>
                          <a:ea typeface="Ubuntu Mono"/>
                          <a:cs typeface="Ubuntu Mono"/>
                          <a:sym typeface="Ubuntu Mono"/>
                        </a:rPr>
                        <a:t>Dip angle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60"/>
                        </a:lnSpc>
                      </a:pPr>
                      <a:r>
                        <a:rPr sz="700" b="0">
                          <a:solidFill>
                            <a:srgbClr val="000000"/>
                          </a:solidFill>
                          <a:latin typeface="Ubuntu Mono"/>
                          <a:ea typeface="Ubuntu Mono"/>
                          <a:cs typeface="Ubuntu Mono"/>
                          <a:sym typeface="Ubuntu Mono"/>
                        </a:rPr>
                        <a:t>0 - ± 90°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 0.2°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0.40°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65100">
                <a:tc>
                  <a:txBody>
                    <a:bodyPr wrap="square"/>
                    <a:lstStyle/>
                    <a:p>
                      <a:pPr algn="ctr">
                        <a:lnSpc>
                          <a:spcPts val="860"/>
                        </a:lnSpc>
                      </a:pPr>
                      <a:r>
                        <a:rPr sz="700" b="0">
                          <a:solidFill>
                            <a:srgbClr val="FEFEFF"/>
                          </a:solidFill>
                          <a:latin typeface="Ubuntu Mono"/>
                          <a:ea typeface="Ubuntu Mono"/>
                          <a:cs typeface="Ubuntu Mono"/>
                          <a:sym typeface="Ubuntu Mono"/>
                        </a:rPr>
                        <a:t>Magnetic field</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60"/>
                        </a:lnSpc>
                      </a:pPr>
                      <a:r>
                        <a:rPr sz="700" b="0">
                          <a:solidFill>
                            <a:srgbClr val="000000"/>
                          </a:solidFill>
                          <a:latin typeface="Ubuntu Mono"/>
                          <a:ea typeface="Ubuntu Mono"/>
                          <a:cs typeface="Ubuntu Mono"/>
                          <a:sym typeface="Ubuntu Mono"/>
                        </a:rPr>
                        <a:t>0 - 100,000 nT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 125 nT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60"/>
                        </a:lnSpc>
                      </a:pPr>
                      <a:r>
                        <a:rPr sz="700" b="0">
                          <a:solidFill>
                            <a:srgbClr val="000000"/>
                          </a:solidFill>
                          <a:latin typeface="Ubuntu Mono"/>
                          <a:ea typeface="Ubuntu Mono"/>
                          <a:cs typeface="Ubuntu Mono"/>
                          <a:sym typeface="Ubuntu Mono"/>
                        </a:rPr>
                        <a:t>250 nT</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65100">
                <a:tc>
                  <a:txBody>
                    <a:bodyPr wrap="square"/>
                    <a:lstStyle/>
                    <a:p>
                      <a:pPr algn="ctr">
                        <a:lnSpc>
                          <a:spcPts val="860"/>
                        </a:lnSpc>
                      </a:pPr>
                      <a:r>
                        <a:rPr sz="700" b="0">
                          <a:solidFill>
                            <a:srgbClr val="FEFEFF"/>
                          </a:solidFill>
                          <a:latin typeface="Ubuntu Mono"/>
                          <a:ea typeface="Ubuntu Mono"/>
                          <a:cs typeface="Ubuntu Mono"/>
                          <a:sym typeface="Ubuntu Mono"/>
                        </a:rPr>
                        <a:t>Temperature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60"/>
                        </a:lnSpc>
                      </a:pPr>
                      <a:r>
                        <a:rPr sz="700" b="0">
                          <a:solidFill>
                            <a:srgbClr val="000000"/>
                          </a:solidFill>
                          <a:latin typeface="Ubuntu Mono"/>
                          <a:ea typeface="Ubuntu Mono"/>
                          <a:cs typeface="Ubuntu Mono"/>
                          <a:sym typeface="Ubuntu Mono"/>
                        </a:rPr>
                        <a:t>-35 - 200 °C</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 0.5 °C</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60"/>
                        </a:lnSpc>
                      </a:pPr>
                      <a:r>
                        <a:rPr sz="700" b="0">
                          <a:solidFill>
                            <a:srgbClr val="000000"/>
                          </a:solidFill>
                          <a:latin typeface="Ubuntu Mono"/>
                          <a:ea typeface="Ubuntu Mono"/>
                          <a:cs typeface="Ubuntu Mono"/>
                          <a:sym typeface="Ubuntu Mono"/>
                        </a:rPr>
                        <a:t>1.00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bl>
          </a:graphicData>
        </a:graphic>
      </p:graphicFrame>
      <p:sp>
        <p:nvSpPr>
          <p:cNvPr id="27" name="TextBox 26"/>
          <p:cNvSpPr txBox="1"/>
          <p:nvPr/>
        </p:nvSpPr>
        <p:spPr>
          <a:xfrm>
            <a:off x="711200" y="8950960"/>
            <a:ext cx="3009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TELEMETRY PARAMETERS</a:t>
            </a:r>
          </a:p>
        </p:txBody>
      </p:sp>
      <p:sp>
        <p:nvSpPr>
          <p:cNvPr id="28" name="TextBox 27"/>
          <p:cNvSpPr txBox="1"/>
          <p:nvPr/>
        </p:nvSpPr>
        <p:spPr>
          <a:xfrm>
            <a:off x="711200" y="9141460"/>
            <a:ext cx="3009900" cy="762000"/>
          </a:xfrm>
          <a:prstGeom prst="rect">
            <a:avLst/>
          </a:prstGeom>
          <a:noFill/>
        </p:spPr>
        <p:txBody>
          <a:bodyPr wrap="square" lIns="0" rIns="0" tIns="0" bIns="0">
            <a:spAutoFit/>
          </a:bodyPr>
          <a:lstStyle/>
          <a:p>
            <a:pPr algn="just">
              <a:lnSpc>
                <a:spcPts val="940"/>
              </a:lnSpc>
              <a:spcAft>
                <a:spcPts val="0"/>
              </a:spcAft>
            </a:pPr>
            <a:r>
              <a:rPr sz="720" b="0">
                <a:solidFill>
                  <a:srgbClr val="000000"/>
                </a:solidFill>
                <a:latin typeface="Ubuntu Mono"/>
                <a:ea typeface="Ubuntu Mono"/>
                <a:cs typeface="Ubuntu Mono"/>
                <a:sym typeface="Ubuntu Mono"/>
              </a:rPr>
              <a:t>Inclination, azimuth, magnetic, dip angle and gravity qualifiers, raw X, Y, Z survey, toolface, continuous inclination and azimuth, battery status, shock, vibration, RPM, stick-slip, temperature, generic variables, annular pressure, orbital gamma (360° available).</a:t>
            </a:r>
          </a:p>
        </p:txBody>
      </p:sp>
      <p:sp>
        <p:nvSpPr>
          <p:cNvPr id="29" name="TextBox 28"/>
          <p:cNvSpPr txBox="1"/>
          <p:nvPr/>
        </p:nvSpPr>
        <p:spPr>
          <a:xfrm>
            <a:off x="3835400" y="7465059"/>
            <a:ext cx="3009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30" name="TextBox 29"/>
          <p:cNvSpPr txBox="1"/>
          <p:nvPr/>
        </p:nvSpPr>
        <p:spPr>
          <a:xfrm>
            <a:off x="3835400" y="7668259"/>
            <a:ext cx="3009900" cy="127000"/>
          </a:xfrm>
          <a:prstGeom prst="rect">
            <a:avLst/>
          </a:prstGeom>
          <a:noFill/>
        </p:spPr>
        <p:txBody>
          <a:bodyPr wrap="square" lIns="0" rIns="0" tIns="0" bIns="0">
            <a:spAutoFit/>
          </a:bodyPr>
          <a:lstStyle/>
          <a:p>
            <a:pPr algn="l">
              <a:lnSpc>
                <a:spcPts val="900"/>
              </a:lnSpc>
              <a:spcAft>
                <a:spcPts val="24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Field-proven design: </a:t>
            </a:r>
            <a:r>
              <a:rPr sz="710" b="0">
                <a:solidFill>
                  <a:srgbClr val="000000"/>
                </a:solidFill>
                <a:latin typeface="Ubuntu Mono"/>
                <a:ea typeface="Ubuntu Mono"/>
                <a:cs typeface="Ubuntu Mono"/>
                <a:sym typeface="Ubuntu Mono"/>
              </a:rPr>
              <a:t>rugged and dependable, for aggressive drilling conditions.</a:t>
            </a:r>
          </a:p>
          <a:p>
            <a:pPr algn="l">
              <a:lnSpc>
                <a:spcPts val="900"/>
              </a:lnSpc>
              <a:spcAft>
                <a:spcPts val="24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Anti-plugging pulser: </a:t>
            </a:r>
            <a:r>
              <a:rPr sz="710" b="0">
                <a:solidFill>
                  <a:srgbClr val="000000"/>
                </a:solidFill>
                <a:latin typeface="Ubuntu Mono"/>
                <a:ea typeface="Ubuntu Mono"/>
                <a:cs typeface="Ubuntu Mono"/>
                <a:sym typeface="Ubuntu Mono"/>
              </a:rPr>
              <a:t>motor driven, performs well in LCM and high-solids mud.</a:t>
            </a:r>
          </a:p>
          <a:p>
            <a:pPr algn="l">
              <a:lnSpc>
                <a:spcPts val="900"/>
              </a:lnSpc>
              <a:spcAft>
                <a:spcPts val="24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Simple operation: </a:t>
            </a:r>
            <a:r>
              <a:rPr sz="710" b="0">
                <a:solidFill>
                  <a:srgbClr val="000000"/>
                </a:solidFill>
                <a:latin typeface="Ubuntu Mono"/>
                <a:ea typeface="Ubuntu Mono"/>
                <a:cs typeface="Ubuntu Mono"/>
                <a:sym typeface="Ubuntu Mono"/>
              </a:rPr>
              <a:t>wide range of flow rates and rotary speeds.</a:t>
            </a:r>
          </a:p>
          <a:p>
            <a:pPr algn="l">
              <a:lnSpc>
                <a:spcPts val="900"/>
              </a:lnSpc>
              <a:spcAft>
                <a:spcPts val="24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Ratcheting military connector: </a:t>
            </a:r>
            <a:r>
              <a:rPr sz="710" b="0">
                <a:solidFill>
                  <a:srgbClr val="000000"/>
                </a:solidFill>
                <a:latin typeface="Ubuntu Mono"/>
                <a:ea typeface="Ubuntu Mono"/>
                <a:cs typeface="Ubuntu Mono"/>
                <a:sym typeface="Ubuntu Mono"/>
              </a:rPr>
              <a:t>robust barrel-to-barrel inter-module link, easy to assemble and service.</a:t>
            </a:r>
          </a:p>
          <a:p>
            <a:pPr algn="l">
              <a:lnSpc>
                <a:spcPts val="900"/>
              </a:lnSpc>
              <a:spcAft>
                <a:spcPts val="24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Stable in the hole: </a:t>
            </a:r>
            <a:r>
              <a:rPr sz="710" b="0">
                <a:solidFill>
                  <a:srgbClr val="000000"/>
                </a:solidFill>
                <a:latin typeface="Ubuntu Mono"/>
                <a:ea typeface="Ubuntu Mono"/>
                <a:cs typeface="Ubuntu Mono"/>
                <a:sym typeface="Ubuntu Mono"/>
              </a:rPr>
              <a:t>precision-trimmed centralizers; shock mitigation absorbs vibration, reduces wear and improves MTBF.</a:t>
            </a:r>
          </a:p>
          <a:p>
            <a:pPr algn="l">
              <a:lnSpc>
                <a:spcPts val="900"/>
              </a:lnSpc>
              <a:spcAft>
                <a:spcPts val="240"/>
              </a:spcAft>
            </a:pPr>
            <a:r>
              <a:rPr sz="560" b="0">
                <a:solidFill>
                  <a:srgbClr val="01ADEE"/>
                </a:solidFill>
                <a:latin typeface="Ubuntu Mono"/>
                <a:ea typeface="Ubuntu Mono"/>
                <a:cs typeface="Ubuntu Mono"/>
                <a:sym typeface="Ubuntu Mono"/>
              </a:rPr>
              <a:t>■ </a:t>
            </a:r>
            <a:r>
              <a:rPr sz="710" b="1">
                <a:solidFill>
                  <a:srgbClr val="000000"/>
                </a:solidFill>
                <a:latin typeface="Ubuntu Mono"/>
                <a:ea typeface="Ubuntu Mono"/>
                <a:cs typeface="Ubuntu Mono"/>
                <a:sym typeface="Ubuntu Mono"/>
              </a:rPr>
              <a:t>Custom configuration: </a:t>
            </a:r>
            <a:r>
              <a:rPr sz="710" b="0">
                <a:solidFill>
                  <a:srgbClr val="000000"/>
                </a:solidFill>
                <a:latin typeface="Ubuntu Mono"/>
                <a:ea typeface="Ubuntu Mono"/>
                <a:cs typeface="Ubuntu Mono"/>
                <a:sym typeface="Ubuntu Mono"/>
              </a:rPr>
              <a:t>adjustable module placement, down-linking, configurable options.</a:t>
            </a:r>
          </a:p>
        </p:txBody>
      </p:sp>
      <p:sp>
        <p:nvSpPr>
          <p:cNvPr id="31" name="TextBox 30"/>
          <p:cNvSpPr txBox="1"/>
          <p:nvPr/>
        </p:nvSpPr>
        <p:spPr>
          <a:xfrm>
            <a:off x="3835400" y="9166860"/>
            <a:ext cx="30099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2" name="TextBox 31"/>
          <p:cNvSpPr txBox="1"/>
          <p:nvPr/>
        </p:nvSpPr>
        <p:spPr>
          <a:xfrm>
            <a:off x="3835400" y="9357360"/>
            <a:ext cx="3009900" cy="635000"/>
          </a:xfrm>
          <a:prstGeom prst="rect">
            <a:avLst/>
          </a:prstGeom>
          <a:noFill/>
        </p:spPr>
        <p:txBody>
          <a:bodyPr wrap="square" lIns="0" rIns="0" tIns="0" bIns="0">
            <a:spAutoFit/>
          </a:bodyPr>
          <a:lstStyle/>
          <a:p>
            <a:pPr algn="just">
              <a:lnSpc>
                <a:spcPts val="840"/>
              </a:lnSpc>
              <a:spcAft>
                <a:spcPts val="0"/>
              </a:spcAft>
            </a:pPr>
            <a:r>
              <a:rPr sz="660" b="0">
                <a:solidFill>
                  <a:srgbClr val="000000"/>
                </a:solidFill>
                <a:latin typeface="Ubuntu Mono"/>
                <a:ea typeface="Ubuntu Mono"/>
                <a:cs typeface="Ubuntu Mono"/>
                <a:sym typeface="Ubuntu Mono"/>
              </a:rPr>
              <a:t>Please specify: 1. collar size  2. top or bottom mounted version  3. 1 or 2 battery modules  4. temperature rating (185 °C standard, 200 °C option)  5. sensor options (e.g. orbital gamma) and logging sequences.</a:t>
            </a:r>
          </a:p>
        </p:txBody>
      </p:sp>
      <p:pic>
        <p:nvPicPr>
          <p:cNvPr id="33" name="Picture 32" descr="mwd_tool_blue.png"/>
          <p:cNvPicPr>
            <a:picLocks noChangeAspect="1"/>
          </p:cNvPicPr>
          <p:nvPr/>
        </p:nvPicPr>
        <p:blipFill>
          <a:blip r:embed="rId4"/>
          <a:stretch>
            <a:fillRect/>
          </a:stretch>
        </p:blipFill>
        <p:spPr>
          <a:xfrm>
            <a:off x="4724400" y="9687560"/>
            <a:ext cx="1168400" cy="673087"/>
          </a:xfrm>
          <a:prstGeom prst="rect">
            <a:avLst/>
          </a:prstGeom>
        </p:spPr>
      </p:pic>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name="Freeform 2" id="2"/>
          <p:cNvSpPr/>
          <p:nvPr/>
        </p:nvSpPr>
        <p:spPr>
          <a:xfrm flipH="false" flipV="false" rot="0">
            <a:off x="0" y="0"/>
            <a:ext cx="7560000" cy="10692000"/>
          </a:xfrm>
          <a:custGeom>
            <a:avLst/>
            <a:gdLst/>
            <a:ahLst/>
            <a:cxnLst/>
            <a:rect r="r" b="b" t="t" l="l"/>
            <a:pathLst>
              <a:path h="10692000" w="7560000">
                <a:moveTo>
                  <a:pt x="0" y="0"/>
                </a:moveTo>
                <a:lnTo>
                  <a:pt x="7560000" y="0"/>
                </a:lnTo>
                <a:lnTo>
                  <a:pt x="7560000" y="10692000"/>
                </a:lnTo>
                <a:lnTo>
                  <a:pt x="0" y="10692000"/>
                </a:lnTo>
                <a:lnTo>
                  <a:pt x="0" y="0"/>
                </a:lnTo>
                <a:close/>
              </a:path>
            </a:pathLst>
          </a:custGeom>
          <a:blipFill>
            <a:blip r:embed="rId2"/>
            <a:stretch>
              <a:fillRect l="-22226" t="-1069" r="-22226" b="-1069"/>
            </a:stretch>
          </a:blipFill>
        </p:spPr>
      </p:sp>
      <p:grpSp>
        <p:nvGrpSpPr>
          <p:cNvPr name="Group 3" id="3"/>
          <p:cNvGrpSpPr/>
          <p:nvPr/>
        </p:nvGrpSpPr>
        <p:grpSpPr>
          <a:xfrm rot="0">
            <a:off x="4198589" y="2749692"/>
            <a:ext cx="3376379" cy="837955"/>
            <a:chOff x="0" y="0"/>
            <a:chExt cx="1210018" cy="300304"/>
          </a:xfrm>
        </p:grpSpPr>
        <p:sp>
          <p:nvSpPr>
            <p:cNvPr name="Freeform 4" id="4"/>
            <p:cNvSpPr/>
            <p:nvPr/>
          </p:nvSpPr>
          <p:spPr>
            <a:xfrm flipH="false" flipV="false" rot="0">
              <a:off x="0" y="0"/>
              <a:ext cx="1210018" cy="300304"/>
            </a:xfrm>
            <a:custGeom>
              <a:avLst/>
              <a:gdLst/>
              <a:ahLst/>
              <a:cxnLst/>
              <a:rect r="r" b="b" t="t" l="l"/>
              <a:pathLst>
                <a:path h="300304" w="1210018">
                  <a:moveTo>
                    <a:pt x="0" y="0"/>
                  </a:moveTo>
                  <a:lnTo>
                    <a:pt x="1210018" y="0"/>
                  </a:lnTo>
                  <a:lnTo>
                    <a:pt x="1210018" y="300304"/>
                  </a:lnTo>
                  <a:lnTo>
                    <a:pt x="0" y="300304"/>
                  </a:lnTo>
                  <a:close/>
                </a:path>
              </a:pathLst>
            </a:custGeom>
            <a:solidFill>
              <a:srgbClr val="1CB2FE"/>
            </a:solidFill>
          </p:spPr>
        </p:sp>
        <p:sp>
          <p:nvSpPr>
            <p:cNvPr name="TextBox 5" id="5"/>
            <p:cNvSpPr txBox="true"/>
            <p:nvPr/>
          </p:nvSpPr>
          <p:spPr>
            <a:xfrm>
              <a:off x="0" y="0"/>
              <a:ext cx="1210018" cy="300304"/>
            </a:xfrm>
            <a:prstGeom prst="rect">
              <a:avLst/>
            </a:prstGeom>
          </p:spPr>
          <p:txBody>
            <a:bodyPr anchor="ctr" rtlCol="false" tIns="50800" lIns="50800" bIns="50800" rIns="50800"/>
            <a:lstStyle/>
            <a:p>
              <a:pPr algn="ctr">
                <a:lnSpc>
                  <a:spcPts val="1440"/>
                </a:lnSpc>
              </a:pPr>
            </a:p>
          </p:txBody>
        </p:sp>
      </p:grpSp>
      <p:grpSp>
        <p:nvGrpSpPr>
          <p:cNvPr name="Group 6" id="6"/>
          <p:cNvGrpSpPr/>
          <p:nvPr/>
        </p:nvGrpSpPr>
        <p:grpSpPr>
          <a:xfrm rot="0">
            <a:off x="-807385" y="2570502"/>
            <a:ext cx="6036246" cy="1196335"/>
            <a:chOff x="0" y="0"/>
            <a:chExt cx="3262422" cy="646585"/>
          </a:xfrm>
        </p:grpSpPr>
        <p:sp>
          <p:nvSpPr>
            <p:cNvPr name="Freeform 7" id="7"/>
            <p:cNvSpPr/>
            <p:nvPr/>
          </p:nvSpPr>
          <p:spPr>
            <a:xfrm flipH="false" flipV="false" rot="0">
              <a:off x="0" y="0"/>
              <a:ext cx="3262422" cy="646585"/>
            </a:xfrm>
            <a:custGeom>
              <a:avLst/>
              <a:gdLst/>
              <a:ahLst/>
              <a:cxnLst/>
              <a:rect r="r" b="b" t="t" l="l"/>
              <a:pathLst>
                <a:path h="646585" w="3262422">
                  <a:moveTo>
                    <a:pt x="3059222" y="0"/>
                  </a:moveTo>
                  <a:lnTo>
                    <a:pt x="0" y="0"/>
                  </a:lnTo>
                  <a:lnTo>
                    <a:pt x="203200" y="646585"/>
                  </a:lnTo>
                  <a:lnTo>
                    <a:pt x="3262422" y="646585"/>
                  </a:lnTo>
                  <a:lnTo>
                    <a:pt x="3059222" y="0"/>
                  </a:lnTo>
                  <a:close/>
                </a:path>
              </a:pathLst>
            </a:custGeom>
            <a:solidFill>
              <a:srgbClr val="0250A5"/>
            </a:solidFill>
          </p:spPr>
        </p:sp>
        <p:sp>
          <p:nvSpPr>
            <p:cNvPr name="TextBox 8" id="8"/>
            <p:cNvSpPr txBox="true"/>
            <p:nvPr/>
          </p:nvSpPr>
          <p:spPr>
            <a:xfrm>
              <a:off x="101600" y="0"/>
              <a:ext cx="3059222" cy="646585"/>
            </a:xfrm>
            <a:prstGeom prst="rect">
              <a:avLst/>
            </a:prstGeom>
          </p:spPr>
          <p:txBody>
            <a:bodyPr anchor="ctr" rtlCol="false" tIns="50800" lIns="50800" bIns="50800" rIns="50800"/>
            <a:lstStyle/>
            <a:p>
              <a:pPr algn="ctr">
                <a:lnSpc>
                  <a:spcPts val="1440"/>
                </a:lnSpc>
              </a:pPr>
            </a:p>
          </p:txBody>
        </p:sp>
      </p:grpSp>
      <p:sp>
        <p:nvSpPr>
          <p:cNvPr name="Freeform 10" id="10"/>
          <p:cNvSpPr/>
          <p:nvPr/>
        </p:nvSpPr>
        <p:spPr>
          <a:xfrm flipH="false" flipV="false" rot="0">
            <a:off x="5595542" y="2339157"/>
            <a:ext cx="1876410" cy="342260"/>
          </a:xfrm>
          <a:custGeom>
            <a:avLst/>
            <a:gdLst/>
            <a:ahLst/>
            <a:cxnLst/>
            <a:rect r="r" b="b" t="t" l="l"/>
            <a:pathLst>
              <a:path h="342260" w="1876410">
                <a:moveTo>
                  <a:pt x="0" y="0"/>
                </a:moveTo>
                <a:lnTo>
                  <a:pt x="1876410" y="0"/>
                </a:lnTo>
                <a:lnTo>
                  <a:pt x="1876410" y="342260"/>
                </a:lnTo>
                <a:lnTo>
                  <a:pt x="0" y="342260"/>
                </a:lnTo>
                <a:lnTo>
                  <a:pt x="0" y="0"/>
                </a:lnTo>
                <a:close/>
              </a:path>
            </a:pathLst>
          </a:custGeom>
          <a:blipFill>
            <a:blip r:embed="rId3"/>
            <a:stretch>
              <a:fillRect l="0" t="0" r="0" b="0"/>
            </a:stretch>
          </a:blipFill>
        </p:spPr>
      </p:sp>
      <p:sp>
        <p:nvSpPr>
          <p:cNvPr name="TextBox 16" id="16"/>
          <p:cNvSpPr txBox="true"/>
          <p:nvPr/>
        </p:nvSpPr>
        <p:spPr>
          <a:xfrm rot="0">
            <a:off x="710217" y="2667655"/>
            <a:ext cx="4433411" cy="554354"/>
          </a:xfrm>
          <a:prstGeom prst="rect">
            <a:avLst/>
          </a:prstGeom>
        </p:spPr>
        <p:txBody>
          <a:bodyPr anchor="t" rtlCol="false" tIns="0" lIns="0" bIns="0" rIns="0">
            <a:spAutoFit/>
          </a:bodyPr>
          <a:lstStyle/>
          <a:p>
            <a:pPr algn="l">
              <a:lnSpc>
                <a:spcPts val="4199"/>
              </a:lnSpc>
            </a:pPr>
            <a:r>
              <a:rPr lang="en-US" sz="4199">
                <a:solidFill>
                  <a:srgbClr val="FFFFFF"/>
                </a:solidFill>
                <a:latin typeface="Ubuntu Mono"/>
                <a:ea typeface="Ubuntu Mono"/>
                <a:cs typeface="Ubuntu Mono"/>
                <a:sym typeface="Ubuntu Mono"/>
              </a:rPr>
              <a:t>WHIPSTOCK</a:t>
            </a:r>
          </a:p>
        </p:txBody>
      </p:sp>
      <p:sp>
        <p:nvSpPr>
          <p:cNvPr name="TextBox 17" id="17"/>
          <p:cNvSpPr txBox="true"/>
          <p:nvPr/>
        </p:nvSpPr>
        <p:spPr>
          <a:xfrm rot="0">
            <a:off x="5145720" y="3053100"/>
            <a:ext cx="2326232" cy="240665"/>
          </a:xfrm>
          <a:prstGeom prst="rect">
            <a:avLst/>
          </a:prstGeom>
        </p:spPr>
        <p:txBody>
          <a:bodyPr anchor="t" rtlCol="false" tIns="0" lIns="0" bIns="0" rIns="0">
            <a:spAutoFit/>
          </a:bodyPr>
          <a:lstStyle/>
          <a:p>
            <a:pPr algn="ctr">
              <a:lnSpc>
                <a:spcPts val="1870"/>
              </a:lnSpc>
            </a:pPr>
            <a:r>
              <a:rPr lang="en-US" sz="1700">
                <a:solidFill>
                  <a:srgbClr val="FFFFFF"/>
                </a:solidFill>
                <a:latin typeface="Ubuntu Mono"/>
                <a:ea typeface="Ubuntu Mono"/>
                <a:cs typeface="Ubuntu Mono"/>
                <a:sym typeface="Ubuntu Mono"/>
              </a:rPr>
              <a:t>WHIPSTOCK</a:t>
            </a:r>
          </a:p>
        </p:txBody>
      </p:sp>
      <p:sp>
        <p:nvSpPr>
          <p:cNvPr id="18" name="TextBox 17"/>
          <p:cNvSpPr txBox="1"/>
          <p:nvPr/>
        </p:nvSpPr>
        <p:spPr>
          <a:xfrm>
            <a:off x="711200" y="3314700"/>
            <a:ext cx="4191000" cy="177800"/>
          </a:xfrm>
          <a:prstGeom prst="rect">
            <a:avLst/>
          </a:prstGeom>
          <a:noFill/>
        </p:spPr>
        <p:txBody>
          <a:bodyPr wrap="square" lIns="0" rIns="0" tIns="0" bIns="0">
            <a:spAutoFit/>
          </a:bodyPr>
          <a:lstStyle/>
          <a:p>
            <a:pPr algn="l">
              <a:spcAft>
                <a:spcPts val="0"/>
              </a:spcAft>
            </a:pPr>
            <a:r>
              <a:rPr sz="950" b="0" spc="30">
                <a:solidFill>
                  <a:srgbClr val="FFFFFF"/>
                </a:solidFill>
                <a:latin typeface="Ubuntu Mono"/>
                <a:ea typeface="Ubuntu Mono"/>
                <a:cs typeface="Ubuntu Mono"/>
                <a:sym typeface="Ubuntu Mono"/>
              </a:rPr>
              <a:t>RETRIEVABLE CASING SIDETRACK WHIPSTOCKS</a:t>
            </a:r>
          </a:p>
        </p:txBody>
      </p:sp>
      <p:sp>
        <p:nvSpPr>
          <p:cNvPr id="19" name="TextBox 18"/>
          <p:cNvSpPr txBox="1"/>
          <p:nvPr/>
        </p:nvSpPr>
        <p:spPr>
          <a:xfrm>
            <a:off x="711200" y="4013200"/>
            <a:ext cx="6134100" cy="177800"/>
          </a:xfrm>
          <a:prstGeom prst="rect">
            <a:avLst/>
          </a:prstGeom>
          <a:noFill/>
        </p:spPr>
        <p:txBody>
          <a:bodyPr wrap="square" lIns="0" rIns="0" tIns="0" bIns="0">
            <a:spAutoFit/>
          </a:bodyPr>
          <a:lstStyle/>
          <a:p>
            <a:pPr algn="l">
              <a:spcAft>
                <a:spcPts val="0"/>
              </a:spcAft>
            </a:pPr>
            <a:r>
              <a:rPr sz="1050" b="1" spc="35">
                <a:solidFill>
                  <a:srgbClr val="194E9A"/>
                </a:solidFill>
                <a:latin typeface="Ubuntu Mono"/>
                <a:ea typeface="Ubuntu Mono"/>
                <a:cs typeface="Ubuntu Mono"/>
                <a:sym typeface="Ubuntu Mono"/>
              </a:rPr>
              <a:t>GENERAL DESCRIPTION</a:t>
            </a:r>
          </a:p>
        </p:txBody>
      </p:sp>
      <p:sp>
        <p:nvSpPr>
          <p:cNvPr id="20" name="TextBox 19"/>
          <p:cNvSpPr txBox="1"/>
          <p:nvPr/>
        </p:nvSpPr>
        <p:spPr>
          <a:xfrm>
            <a:off x="711200" y="4229100"/>
            <a:ext cx="6134100" cy="762000"/>
          </a:xfrm>
          <a:prstGeom prst="rect">
            <a:avLst/>
          </a:prstGeom>
          <a:noFill/>
        </p:spPr>
        <p:txBody>
          <a:bodyPr wrap="square" lIns="0" rIns="0" tIns="0" bIns="0">
            <a:spAutoFit/>
          </a:bodyPr>
          <a:lstStyle/>
          <a:p>
            <a:pPr algn="just">
              <a:lnSpc>
                <a:spcPts val="1040"/>
              </a:lnSpc>
              <a:spcAft>
                <a:spcPts val="0"/>
              </a:spcAft>
            </a:pPr>
            <a:r>
              <a:rPr sz="760" b="0" spc="20">
                <a:solidFill>
                  <a:srgbClr val="000000"/>
                </a:solidFill>
                <a:latin typeface="Ubuntu Mono"/>
                <a:ea typeface="Ubuntu Mono"/>
                <a:cs typeface="Ubuntu Mono"/>
                <a:sym typeface="Ubuntu Mono"/>
              </a:rPr>
              <a:t>FAMILY OF RETRIEVABLE WHIPSTOCKS USED TO SIDETRACK OUT OF CASED HOLE, FOR RE-DRILLS, RE-ENTRIES AND MULTILATERAL WINDOWS. THE WHIPSTOCK IS RUN ON A STARTER MILL TOGETHER WITH ITS ANCHORING DEVICE, ORIENTED, SET, AND THE STARTER MILL IS SHEARED OFF THE WHIP; THE WINDOW IS THEN MILLED AND POLISHED ALONG THE WHIP FACE. THREE SETTING SYSTEMS ARE COVERED: A COMBINATION PACKER AND WHIPSTOCK (SET HYDRAULICALLY, SEALS THE HOLE), AN ANCHOR AND WHIPSTOCK (SET HYDRAULICALLY, NO SEAL) AND A MECHANICALLY SET BOTTOM-TRIP WHIPSTOCK. ALL HAVE A 3 DEGREE FACE ANGLE FOR POSITIVE KICK-OFF AND CAN BE RETRIEVED IN ONE TRIP. WINDOWS CAN BE MILLED THROUGH TWO STRINGS OF CASING.</a:t>
            </a:r>
          </a:p>
        </p:txBody>
      </p:sp>
      <p:sp>
        <p:nvSpPr>
          <p:cNvPr id="21" name="TextBox 20"/>
          <p:cNvSpPr txBox="1"/>
          <p:nvPr/>
        </p:nvSpPr>
        <p:spPr>
          <a:xfrm>
            <a:off x="711200" y="53086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 - PACKER TYPE</a:t>
            </a:r>
          </a:p>
        </p:txBody>
      </p:sp>
      <p:graphicFrame>
        <p:nvGraphicFramePr>
          <p:cNvPr id="22" name="Table 21"/>
          <p:cNvGraphicFramePr>
            <a:graphicFrameLocks noGrp="1"/>
          </p:cNvGraphicFramePr>
          <p:nvPr/>
        </p:nvGraphicFramePr>
        <p:xfrm>
          <a:off x="711200" y="5486400"/>
          <a:ext cx="6134092" cy="1092200"/>
        </p:xfrm>
        <a:graphic>
          <a:graphicData uri="http://schemas.openxmlformats.org/drawingml/2006/table">
            <a:tbl>
              <a:tblPr/>
              <a:tblGrid>
                <a:gridCol w="538078"/>
                <a:gridCol w="618790"/>
                <a:gridCol w="591886"/>
                <a:gridCol w="618790"/>
                <a:gridCol w="672598"/>
                <a:gridCol w="591886"/>
                <a:gridCol w="591886"/>
                <a:gridCol w="699502"/>
                <a:gridCol w="618790"/>
                <a:gridCol w="591886"/>
              </a:tblGrid>
              <a:tr h="330200">
                <a:tc>
                  <a:txBody>
                    <a:bodyPr wrap="square"/>
                    <a:lstStyle/>
                    <a:p>
                      <a:pPr algn="ctr">
                        <a:lnSpc>
                          <a:spcPts val="880"/>
                        </a:lnSpc>
                      </a:pPr>
                      <a:r>
                        <a:rPr sz="720" b="1">
                          <a:solidFill>
                            <a:srgbClr val="FEFEFF"/>
                          </a:solidFill>
                          <a:latin typeface="Ubuntu Mono"/>
                          <a:ea typeface="Ubuntu Mono"/>
                          <a:cs typeface="Ubuntu Mono"/>
                          <a:sym typeface="Ubuntu Mono"/>
                        </a:rPr>
                        <a:t>Casing size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Overall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Body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Packer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Whip face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Face angle (°)</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Wt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Bypass valve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Bypass valve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Valve wt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4-3/16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106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585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216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5-5/8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133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980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7-5/8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229</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5-15/16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146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150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9-5/8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261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178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2,500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46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6-3/4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240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13-3/8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338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11-3/4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251</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6,595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8-1/4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400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3" name="TextBox 22"/>
          <p:cNvSpPr txBox="1"/>
          <p:nvPr/>
        </p:nvSpPr>
        <p:spPr>
          <a:xfrm>
            <a:off x="711200" y="6680200"/>
            <a:ext cx="61341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TECHNICAL CHARACTERISTICS - MECHANICAL BOTTOM-TRIP TYPE</a:t>
            </a:r>
          </a:p>
        </p:txBody>
      </p:sp>
      <p:graphicFrame>
        <p:nvGraphicFramePr>
          <p:cNvPr id="24" name="Table 23"/>
          <p:cNvGraphicFramePr>
            <a:graphicFrameLocks noGrp="1"/>
          </p:cNvGraphicFramePr>
          <p:nvPr/>
        </p:nvGraphicFramePr>
        <p:xfrm>
          <a:off x="711200" y="6870700"/>
          <a:ext cx="6134099" cy="787400"/>
        </p:xfrm>
        <a:graphic>
          <a:graphicData uri="http://schemas.openxmlformats.org/drawingml/2006/table">
            <a:tbl>
              <a:tblPr/>
              <a:tblGrid>
                <a:gridCol w="868033"/>
                <a:gridCol w="954836"/>
                <a:gridCol w="810164"/>
                <a:gridCol w="868033"/>
                <a:gridCol w="954836"/>
                <a:gridCol w="868033"/>
                <a:gridCol w="810164"/>
              </a:tblGrid>
              <a:tr h="330200">
                <a:tc>
                  <a:txBody>
                    <a:bodyPr wrap="square"/>
                    <a:lstStyle/>
                    <a:p>
                      <a:pPr algn="ctr">
                        <a:lnSpc>
                          <a:spcPts val="880"/>
                        </a:lnSpc>
                      </a:pPr>
                      <a:r>
                        <a:rPr sz="720" b="1">
                          <a:solidFill>
                            <a:srgbClr val="FEFEFF"/>
                          </a:solidFill>
                          <a:latin typeface="Ubuntu Mono"/>
                          <a:ea typeface="Ubuntu Mono"/>
                          <a:cs typeface="Ubuntu Mono"/>
                          <a:sym typeface="Ubuntu Mono"/>
                        </a:rPr>
                        <a:t>Casing size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Overall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Body Ø</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Anchor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Whip face length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Face angle (°)</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1">
                          <a:solidFill>
                            <a:srgbClr val="FEFEFF"/>
                          </a:solidFill>
                          <a:latin typeface="Ubuntu Mono"/>
                          <a:ea typeface="Ubuntu Mono"/>
                          <a:cs typeface="Ubuntu Mono"/>
                          <a:sym typeface="Ubuntu Mono"/>
                        </a:rPr>
                        <a:t>Wt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5 - 5-1/2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142-3/8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4-5/16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35-1/8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570</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7</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ctr">
                        <a:lnSpc>
                          <a:spcPts val="880"/>
                        </a:lnSpc>
                      </a:pPr>
                      <a:r>
                        <a:rPr sz="720" b="0">
                          <a:solidFill>
                            <a:srgbClr val="000000"/>
                          </a:solidFill>
                          <a:latin typeface="Ubuntu Mono"/>
                          <a:ea typeface="Ubuntu Mono"/>
                          <a:cs typeface="Ubuntu Mono"/>
                          <a:sym typeface="Ubuntu Mono"/>
                        </a:rPr>
                        <a:t>172-1/8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5-7/16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38-1/8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95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c>
                  <a:txBody>
                    <a:bodyPr wrap="square"/>
                    <a:lstStyle/>
                    <a:p>
                      <a:pPr algn="ctr">
                        <a:lnSpc>
                          <a:spcPts val="880"/>
                        </a:lnSpc>
                      </a:pPr>
                      <a:r>
                        <a:rPr sz="720" b="0">
                          <a:solidFill>
                            <a:srgbClr val="000000"/>
                          </a:solidFill>
                          <a:latin typeface="Ubuntu Mono"/>
                          <a:ea typeface="Ubuntu Mono"/>
                          <a:cs typeface="Ubuntu Mono"/>
                          <a:sym typeface="Ubuntu Mono"/>
                        </a:rPr>
                        <a:t>875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52400">
                <a:tc>
                  <a:txBody>
                    <a:bodyPr wrap="square"/>
                    <a:lstStyle/>
                    <a:p>
                      <a:pPr algn="ctr">
                        <a:lnSpc>
                          <a:spcPts val="880"/>
                        </a:lnSpc>
                      </a:pPr>
                      <a:r>
                        <a:rPr sz="720" b="0">
                          <a:solidFill>
                            <a:srgbClr val="FEFEFF"/>
                          </a:solidFill>
                          <a:latin typeface="Ubuntu Mono"/>
                          <a:ea typeface="Ubuntu Mono"/>
                          <a:cs typeface="Ubuntu Mono"/>
                          <a:sym typeface="Ubuntu Mono"/>
                        </a:rPr>
                        <a:t>8-5/8</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ctr">
                        <a:lnSpc>
                          <a:spcPts val="880"/>
                        </a:lnSpc>
                      </a:pPr>
                      <a:r>
                        <a:rPr sz="720" b="0">
                          <a:solidFill>
                            <a:srgbClr val="000000"/>
                          </a:solidFill>
                          <a:latin typeface="Ubuntu Mono"/>
                          <a:ea typeface="Ubuntu Mono"/>
                          <a:cs typeface="Ubuntu Mono"/>
                          <a:sym typeface="Ubuntu Mono"/>
                        </a:rPr>
                        <a:t>189-1/2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7-7/16</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43-1/2</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124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3</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c>
                  <a:txBody>
                    <a:bodyPr wrap="square"/>
                    <a:lstStyle/>
                    <a:p>
                      <a:pPr algn="ctr">
                        <a:lnSpc>
                          <a:spcPts val="880"/>
                        </a:lnSpc>
                      </a:pPr>
                      <a:r>
                        <a:rPr sz="720" b="0">
                          <a:solidFill>
                            <a:srgbClr val="000000"/>
                          </a:solidFill>
                          <a:latin typeface="Ubuntu Mono"/>
                          <a:ea typeface="Ubuntu Mono"/>
                          <a:cs typeface="Ubuntu Mono"/>
                          <a:sym typeface="Ubuntu Mono"/>
                        </a:rPr>
                        <a:t>1,175</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25" name="TextBox 24"/>
          <p:cNvSpPr txBox="1"/>
          <p:nvPr/>
        </p:nvSpPr>
        <p:spPr>
          <a:xfrm>
            <a:off x="711200" y="7683500"/>
            <a:ext cx="6134100" cy="228600"/>
          </a:xfrm>
          <a:prstGeom prst="rect">
            <a:avLst/>
          </a:prstGeom>
          <a:noFill/>
        </p:spPr>
        <p:txBody>
          <a:bodyPr wrap="square" lIns="0" rIns="0" tIns="0" bIns="0">
            <a:spAutoFit/>
          </a:bodyPr>
          <a:lstStyle/>
          <a:p>
            <a:pPr algn="l">
              <a:lnSpc>
                <a:spcPts val="740"/>
              </a:lnSpc>
              <a:spcAft>
                <a:spcPts val="0"/>
              </a:spcAft>
            </a:pPr>
            <a:r>
              <a:rPr sz="620" b="0">
                <a:solidFill>
                  <a:srgbClr val="444444"/>
                </a:solidFill>
                <a:latin typeface="Ubuntu Mono"/>
                <a:ea typeface="Ubuntu Mono"/>
                <a:cs typeface="Ubuntu Mono"/>
                <a:sym typeface="Ubuntu Mono"/>
              </a:rPr>
              <a:t>Dimensions in inches, weights in lb (approximate). Packer type: bypass valve data listed separately. Bottom-trip type can also be set permanently; 7-5/8 and 9-5/8 sizes on request.</a:t>
            </a:r>
          </a:p>
        </p:txBody>
      </p:sp>
      <p:sp>
        <p:nvSpPr>
          <p:cNvPr id="26" name="TextBox 25"/>
          <p:cNvSpPr txBox="1"/>
          <p:nvPr/>
        </p:nvSpPr>
        <p:spPr>
          <a:xfrm>
            <a:off x="711200" y="8013700"/>
            <a:ext cx="29845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DESIGN FEATURES</a:t>
            </a:r>
          </a:p>
        </p:txBody>
      </p:sp>
      <p:sp>
        <p:nvSpPr>
          <p:cNvPr id="27" name="TextBox 26"/>
          <p:cNvSpPr txBox="1"/>
          <p:nvPr/>
        </p:nvSpPr>
        <p:spPr>
          <a:xfrm>
            <a:off x="711200" y="8216900"/>
            <a:ext cx="2984500" cy="127000"/>
          </a:xfrm>
          <a:prstGeom prst="rect">
            <a:avLst/>
          </a:prstGeom>
          <a:noFill/>
        </p:spPr>
        <p:txBody>
          <a:bodyPr wrap="square" lIns="0" rIns="0" tIns="0" bIns="0">
            <a:spAutoFit/>
          </a:bodyPr>
          <a:lstStyle/>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One trip: </a:t>
            </a:r>
            <a:r>
              <a:rPr sz="700" b="0">
                <a:solidFill>
                  <a:srgbClr val="000000"/>
                </a:solidFill>
                <a:latin typeface="Ubuntu Mono"/>
                <a:ea typeface="Ubuntu Mono"/>
                <a:cs typeface="Ubuntu Mono"/>
                <a:sym typeface="Ubuntu Mono"/>
              </a:rPr>
              <a:t>anchor or packer, starter mill and whip run together; retrieved in one trip.</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Anchor or packer: </a:t>
            </a:r>
            <a:r>
              <a:rPr sz="700" b="0">
                <a:solidFill>
                  <a:srgbClr val="000000"/>
                </a:solidFill>
                <a:latin typeface="Ubuntu Mono"/>
                <a:ea typeface="Ubuntu Mono"/>
                <a:cs typeface="Ubuntu Mono"/>
                <a:sym typeface="Ubuntu Mono"/>
              </a:rPr>
              <a:t>large slip area reduces casing stress; ratchet ring and anti-rotation keys hold the whip.</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Shear bolt: </a:t>
            </a:r>
            <a:r>
              <a:rPr sz="700" b="0">
                <a:solidFill>
                  <a:srgbClr val="000000"/>
                </a:solidFill>
                <a:latin typeface="Ubuntu Mono"/>
                <a:ea typeface="Ubuntu Mono"/>
                <a:cs typeface="Ubuntu Mono"/>
                <a:sym typeface="Ubuntu Mono"/>
              </a:rPr>
              <a:t>confirms the anchor is fully set before milling starts.</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Bottom-trip type: </a:t>
            </a:r>
            <a:r>
              <a:rPr sz="700" b="0">
                <a:solidFill>
                  <a:srgbClr val="000000"/>
                </a:solidFill>
                <a:latin typeface="Ubuntu Mono"/>
                <a:ea typeface="Ubuntu Mono"/>
                <a:cs typeface="Ubuntu Mono"/>
                <a:sym typeface="Ubuntu Mono"/>
              </a:rPr>
              <a:t>sets with 3,600 lb on a trigger rod; no hydraulic pressure; slips retract on retrieval.</a:t>
            </a:r>
          </a:p>
          <a:p>
            <a:pPr algn="l">
              <a:lnSpc>
                <a:spcPts val="880"/>
              </a:lnSpc>
              <a:spcAft>
                <a:spcPts val="200"/>
              </a:spcAft>
            </a:pPr>
            <a:r>
              <a:rPr sz="550" b="0">
                <a:solidFill>
                  <a:srgbClr val="01ADEE"/>
                </a:solidFill>
                <a:latin typeface="Ubuntu Mono"/>
                <a:ea typeface="Ubuntu Mono"/>
                <a:cs typeface="Ubuntu Mono"/>
                <a:sym typeface="Ubuntu Mono"/>
              </a:rPr>
              <a:t>■ </a:t>
            </a:r>
            <a:r>
              <a:rPr sz="700" b="1">
                <a:solidFill>
                  <a:srgbClr val="000000"/>
                </a:solidFill>
                <a:latin typeface="Ubuntu Mono"/>
                <a:ea typeface="Ubuntu Mono"/>
                <a:cs typeface="Ubuntu Mono"/>
                <a:sym typeface="Ubuntu Mono"/>
              </a:rPr>
              <a:t>Orientation: </a:t>
            </a:r>
            <a:r>
              <a:rPr sz="700" b="0">
                <a:solidFill>
                  <a:srgbClr val="000000"/>
                </a:solidFill>
                <a:latin typeface="Ubuntu Mono"/>
                <a:ea typeface="Ubuntu Mono"/>
                <a:cs typeface="Ubuntu Mono"/>
                <a:sym typeface="Ubuntu Mono"/>
              </a:rPr>
              <a:t>muleshoe sub, gyro or MWD.</a:t>
            </a:r>
          </a:p>
        </p:txBody>
      </p:sp>
      <p:sp>
        <p:nvSpPr>
          <p:cNvPr id="28" name="TextBox 27"/>
          <p:cNvSpPr txBox="1"/>
          <p:nvPr/>
        </p:nvSpPr>
        <p:spPr>
          <a:xfrm>
            <a:off x="3810000" y="801370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SETTING PARAMETERS</a:t>
            </a:r>
          </a:p>
        </p:txBody>
      </p:sp>
      <p:graphicFrame>
        <p:nvGraphicFramePr>
          <p:cNvPr id="29" name="Table 28"/>
          <p:cNvGraphicFramePr>
            <a:graphicFrameLocks noGrp="1"/>
          </p:cNvGraphicFramePr>
          <p:nvPr/>
        </p:nvGraphicFramePr>
        <p:xfrm>
          <a:off x="3810000" y="8204200"/>
          <a:ext cx="3035300" cy="952500"/>
        </p:xfrm>
        <a:graphic>
          <a:graphicData uri="http://schemas.openxmlformats.org/drawingml/2006/table">
            <a:tbl>
              <a:tblPr/>
              <a:tblGrid>
                <a:gridCol w="1397000"/>
                <a:gridCol w="1638300"/>
              </a:tblGrid>
              <a:tr h="190500">
                <a:tc>
                  <a:txBody>
                    <a:bodyPr wrap="square"/>
                    <a:lstStyle/>
                    <a:p>
                      <a:pPr algn="l">
                        <a:lnSpc>
                          <a:spcPts val="800"/>
                        </a:lnSpc>
                      </a:pPr>
                      <a:r>
                        <a:rPr sz="640" b="0">
                          <a:solidFill>
                            <a:srgbClr val="FEFEFF"/>
                          </a:solidFill>
                          <a:latin typeface="Ubuntu Mono"/>
                          <a:ea typeface="Ubuntu Mono"/>
                          <a:cs typeface="Ubuntu Mono"/>
                          <a:sym typeface="Ubuntu Mono"/>
                        </a:rPr>
                        <a:t>Hydraulic set (packer, anchor)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00"/>
                        </a:lnSpc>
                      </a:pPr>
                      <a:r>
                        <a:rPr sz="640" b="0">
                          <a:solidFill>
                            <a:srgbClr val="000000"/>
                          </a:solidFill>
                          <a:latin typeface="Ubuntu Mono"/>
                          <a:ea typeface="Ubuntu Mono"/>
                          <a:cs typeface="Ubuntu Mono"/>
                          <a:sym typeface="Ubuntu Mono"/>
                        </a:rPr>
                        <a:t>3,000 - 3,500 psi</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90500">
                <a:tc>
                  <a:txBody>
                    <a:bodyPr wrap="square"/>
                    <a:lstStyle/>
                    <a:p>
                      <a:pPr algn="l">
                        <a:lnSpc>
                          <a:spcPts val="800"/>
                        </a:lnSpc>
                      </a:pPr>
                      <a:r>
                        <a:rPr sz="640" b="0">
                          <a:solidFill>
                            <a:srgbClr val="FEFEFF"/>
                          </a:solidFill>
                          <a:latin typeface="Ubuntu Mono"/>
                          <a:ea typeface="Ubuntu Mono"/>
                          <a:cs typeface="Ubuntu Mono"/>
                          <a:sym typeface="Ubuntu Mono"/>
                        </a:rPr>
                        <a:t>Bottom-trip set, shear-down</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00"/>
                        </a:lnSpc>
                      </a:pPr>
                      <a:r>
                        <a:rPr sz="640" b="0">
                          <a:solidFill>
                            <a:srgbClr val="000000"/>
                          </a:solidFill>
                          <a:latin typeface="Ubuntu Mono"/>
                          <a:ea typeface="Ubuntu Mono"/>
                          <a:cs typeface="Ubuntu Mono"/>
                          <a:sym typeface="Ubuntu Mono"/>
                        </a:rPr>
                        <a:t>15,000 - 20,000 lb</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90500">
                <a:tc>
                  <a:txBody>
                    <a:bodyPr wrap="square"/>
                    <a:lstStyle/>
                    <a:p>
                      <a:pPr algn="l">
                        <a:lnSpc>
                          <a:spcPts val="800"/>
                        </a:lnSpc>
                      </a:pPr>
                      <a:r>
                        <a:rPr sz="640" b="0">
                          <a:solidFill>
                            <a:srgbClr val="FEFEFF"/>
                          </a:solidFill>
                          <a:latin typeface="Ubuntu Mono"/>
                          <a:ea typeface="Ubuntu Mono"/>
                          <a:cs typeface="Ubuntu Mono"/>
                          <a:sym typeface="Ubuntu Mono"/>
                        </a:rPr>
                        <a:t>Set depth</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00"/>
                        </a:lnSpc>
                      </a:pPr>
                      <a:r>
                        <a:rPr sz="640" b="0">
                          <a:solidFill>
                            <a:srgbClr val="000000"/>
                          </a:solidFill>
                          <a:latin typeface="Ubuntu Mono"/>
                          <a:ea typeface="Ubuntu Mono"/>
                          <a:cs typeface="Ubuntu Mono"/>
                          <a:sym typeface="Ubuntu Mono"/>
                        </a:rPr>
                        <a:t>2 - 6 ft above a casing collar</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r h="190500">
                <a:tc>
                  <a:txBody>
                    <a:bodyPr wrap="square"/>
                    <a:lstStyle/>
                    <a:p>
                      <a:pPr algn="l">
                        <a:lnSpc>
                          <a:spcPts val="800"/>
                        </a:lnSpc>
                      </a:pPr>
                      <a:r>
                        <a:rPr sz="640" b="0">
                          <a:solidFill>
                            <a:srgbClr val="FEFEFF"/>
                          </a:solidFill>
                          <a:latin typeface="Ubuntu Mono"/>
                          <a:ea typeface="Ubuntu Mono"/>
                          <a:cs typeface="Ubuntu Mono"/>
                          <a:sym typeface="Ubuntu Mono"/>
                        </a:rPr>
                        <a:t>Hole angle above 4°</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01ADEE"/>
                    </a:solidFill>
                  </a:tcPr>
                </a:tc>
                <a:tc>
                  <a:txBody>
                    <a:bodyPr wrap="square"/>
                    <a:lstStyle/>
                    <a:p>
                      <a:pPr algn="l">
                        <a:lnSpc>
                          <a:spcPts val="800"/>
                        </a:lnSpc>
                      </a:pPr>
                      <a:r>
                        <a:rPr sz="640" b="0">
                          <a:solidFill>
                            <a:srgbClr val="000000"/>
                          </a:solidFill>
                          <a:latin typeface="Ubuntu Mono"/>
                          <a:ea typeface="Ubuntu Mono"/>
                          <a:cs typeface="Ubuntu Mono"/>
                          <a:sym typeface="Ubuntu Mono"/>
                        </a:rPr>
                        <a:t>Set within 90° of high side</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EEF6FD"/>
                    </a:solidFill>
                  </a:tcPr>
                </a:tc>
              </a:tr>
              <a:tr h="190500">
                <a:tc>
                  <a:txBody>
                    <a:bodyPr wrap="square"/>
                    <a:lstStyle/>
                    <a:p>
                      <a:pPr algn="l">
                        <a:lnSpc>
                          <a:spcPts val="800"/>
                        </a:lnSpc>
                      </a:pPr>
                      <a:r>
                        <a:rPr sz="640" b="0">
                          <a:solidFill>
                            <a:srgbClr val="FEFEFF"/>
                          </a:solidFill>
                          <a:latin typeface="Ubuntu Mono"/>
                          <a:ea typeface="Ubuntu Mono"/>
                          <a:cs typeface="Ubuntu Mono"/>
                          <a:sym typeface="Ubuntu Mono"/>
                        </a:rPr>
                        <a:t>Window milling</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194E9A"/>
                    </a:solidFill>
                  </a:tcPr>
                </a:tc>
                <a:tc>
                  <a:txBody>
                    <a:bodyPr wrap="square"/>
                    <a:lstStyle/>
                    <a:p>
                      <a:pPr algn="l">
                        <a:lnSpc>
                          <a:spcPts val="800"/>
                        </a:lnSpc>
                      </a:pPr>
                      <a:r>
                        <a:rPr sz="640" b="0">
                          <a:solidFill>
                            <a:srgbClr val="000000"/>
                          </a:solidFill>
                          <a:latin typeface="Ubuntu Mono"/>
                          <a:ea typeface="Ubuntu Mono"/>
                          <a:cs typeface="Ubuntu Mono"/>
                          <a:sym typeface="Ubuntu Mono"/>
                        </a:rPr>
                        <a:t>Starter, window, watermelon mills</a:t>
                      </a:r>
                    </a:p>
                  </a:txBody>
                  <a:tcPr marL="27940" marR="27940" marT="15240" marB="15240" anchor="ctr">
                    <a:lnL w="4762" cap="flat" cmpd="sng" algn="ctr">
                      <a:solidFill>
                        <a:srgbClr val="000000"/>
                      </a:solidFill>
                      <a:prstDash val="solid"/>
                    </a:lnL>
                    <a:lnR w="4762" cap="flat" cmpd="sng" algn="ctr">
                      <a:solidFill>
                        <a:srgbClr val="000000"/>
                      </a:solidFill>
                      <a:prstDash val="solid"/>
                    </a:lnR>
                    <a:lnT w="4762" cap="flat" cmpd="sng" algn="ctr">
                      <a:solidFill>
                        <a:srgbClr val="000000"/>
                      </a:solidFill>
                      <a:prstDash val="solid"/>
                    </a:lnT>
                    <a:lnB w="4762" cap="flat" cmpd="sng" algn="ctr">
                      <a:solidFill>
                        <a:srgbClr val="000000"/>
                      </a:solidFill>
                      <a:prstDash val="solid"/>
                    </a:lnB>
                    <a:solidFill>
                      <a:srgbClr val="FFFFFF"/>
                    </a:solidFill>
                  </a:tcPr>
                </a:tc>
              </a:tr>
            </a:tbl>
          </a:graphicData>
        </a:graphic>
      </p:graphicFrame>
      <p:sp>
        <p:nvSpPr>
          <p:cNvPr id="30" name="TextBox 29"/>
          <p:cNvSpPr txBox="1"/>
          <p:nvPr/>
        </p:nvSpPr>
        <p:spPr>
          <a:xfrm>
            <a:off x="3810000" y="9258300"/>
            <a:ext cx="3035300" cy="177800"/>
          </a:xfrm>
          <a:prstGeom prst="rect">
            <a:avLst/>
          </a:prstGeom>
          <a:noFill/>
        </p:spPr>
        <p:txBody>
          <a:bodyPr wrap="square" lIns="0" rIns="0" tIns="0" bIns="0">
            <a:spAutoFit/>
          </a:bodyPr>
          <a:lstStyle/>
          <a:p>
            <a:pPr algn="ctr">
              <a:spcAft>
                <a:spcPts val="0"/>
              </a:spcAft>
            </a:pPr>
            <a:r>
              <a:rPr sz="1050" b="1" spc="20">
                <a:solidFill>
                  <a:srgbClr val="194E9A"/>
                </a:solidFill>
                <a:latin typeface="Ubuntu Mono"/>
                <a:ea typeface="Ubuntu Mono"/>
                <a:cs typeface="Ubuntu Mono"/>
                <a:sym typeface="Ubuntu Mono"/>
              </a:rPr>
              <a:t>HOW TO ORDER</a:t>
            </a:r>
          </a:p>
        </p:txBody>
      </p:sp>
      <p:sp>
        <p:nvSpPr>
          <p:cNvPr id="31" name="TextBox 30"/>
          <p:cNvSpPr txBox="1"/>
          <p:nvPr/>
        </p:nvSpPr>
        <p:spPr>
          <a:xfrm>
            <a:off x="3810000" y="9436100"/>
            <a:ext cx="3035300" cy="508000"/>
          </a:xfrm>
          <a:prstGeom prst="rect">
            <a:avLst/>
          </a:prstGeom>
          <a:noFill/>
        </p:spPr>
        <p:txBody>
          <a:bodyPr wrap="square" lIns="0" rIns="0" tIns="0" bIns="0">
            <a:spAutoFit/>
          </a:bodyPr>
          <a:lstStyle/>
          <a:p>
            <a:pPr algn="just">
              <a:lnSpc>
                <a:spcPts val="840"/>
              </a:lnSpc>
              <a:spcAft>
                <a:spcPts val="0"/>
              </a:spcAft>
            </a:pPr>
            <a:r>
              <a:rPr sz="660" b="0">
                <a:solidFill>
                  <a:srgbClr val="000000"/>
                </a:solidFill>
                <a:latin typeface="Ubuntu Mono"/>
                <a:ea typeface="Ubuntu Mono"/>
                <a:cs typeface="Ubuntu Mono"/>
                <a:sym typeface="Ubuntu Mono"/>
              </a:rPr>
              <a:t>Please specify: 1. casing size and weight  2. setting system (packer, anchor or bottom-trip)  3. connections  4. orientation method.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7556500" cy="3810000"/>
          </a:xfrm>
          <a:prstGeom prst="rect">
            <a:avLst/>
          </a:prstGeom>
          <a:solidFill>
            <a:srgbClr val="194E9A"/>
          </a:solidFill>
          <a:ln>
            <a:noFill/>
          </a:ln>
        </p:spPr>
        <p:txBody>
          <a:bodyPr rtlCol="0" anchor="ctr"/>
          <a:lstStyle/>
          <a:p>
            <a:pPr algn="ctr"/>
          </a:p>
        </p:txBody>
      </p:sp>
      <p:pic>
        <p:nvPicPr>
          <p:cNvPr id="3" name="Picture 2" descr="logo_white.png"/>
          <p:cNvPicPr>
            <a:picLocks noChangeAspect="1"/>
          </p:cNvPicPr>
          <p:nvPr/>
        </p:nvPicPr>
        <p:blipFill>
          <a:blip r:embed="rId2"/>
          <a:stretch>
            <a:fillRect/>
          </a:stretch>
        </p:blipFill>
        <p:spPr>
          <a:xfrm>
            <a:off x="457200" y="431800"/>
            <a:ext cx="2159000" cy="490151"/>
          </a:xfrm>
          <a:prstGeom prst="rect">
            <a:avLst/>
          </a:prstGeom>
        </p:spPr>
      </p:pic>
      <p:sp>
        <p:nvSpPr>
          <p:cNvPr id="4" name="TextBox 3"/>
          <p:cNvSpPr txBox="1"/>
          <p:nvPr/>
        </p:nvSpPr>
        <p:spPr>
          <a:xfrm>
            <a:off x="457200" y="1320800"/>
            <a:ext cx="6604000" cy="127000"/>
          </a:xfrm>
          <a:prstGeom prst="rect">
            <a:avLst/>
          </a:prstGeom>
          <a:noFill/>
        </p:spPr>
        <p:txBody>
          <a:bodyPr wrap="square" lIns="0" rIns="0" tIns="0" bIns="0" anchor="t">
            <a:spAutoFit/>
          </a:bodyPr>
          <a:lstStyle/>
          <a:p>
            <a:pPr algn="l">
              <a:lnSpc>
                <a:spcPts val="3600"/>
              </a:lnSpc>
              <a:spcAft>
                <a:spcPts val="600"/>
              </a:spcAft>
            </a:pPr>
            <a:r>
              <a:rPr sz="3000" b="1" i="0">
                <a:solidFill>
                  <a:srgbClr val="FFFFFF"/>
                </a:solidFill>
                <a:latin typeface="Ubuntu Mono"/>
                <a:ea typeface="Ubuntu Mono"/>
                <a:cs typeface="Ubuntu Mono"/>
                <a:sym typeface="Ubuntu Mono"/>
              </a:rPr>
              <a:t>TOOL CATALOGUE</a:t>
            </a:r>
          </a:p>
          <a:p>
            <a:pPr algn="l">
              <a:lnSpc>
                <a:spcPts val="3600"/>
              </a:lnSpc>
              <a:spcAft>
                <a:spcPts val="600"/>
              </a:spcAft>
            </a:pPr>
            <a:r>
              <a:rPr sz="1100" b="1" i="0">
                <a:solidFill>
                  <a:srgbClr val="1CB2FE"/>
                </a:solidFill>
                <a:latin typeface="Ubuntu Mono"/>
                <a:ea typeface="Ubuntu Mono"/>
                <a:cs typeface="Ubuntu Mono"/>
                <a:sym typeface="Ubuntu Mono"/>
              </a:rPr>
              <a:t>FISHING · MILLING · ENLARGEMENT · JARRING · DRILLING</a:t>
            </a:r>
          </a:p>
        </p:txBody>
      </p:sp>
      <p:sp>
        <p:nvSpPr>
          <p:cNvPr id="5" name="TextBox 4"/>
          <p:cNvSpPr txBox="1"/>
          <p:nvPr/>
        </p:nvSpPr>
        <p:spPr>
          <a:xfrm>
            <a:off x="457200" y="2413000"/>
            <a:ext cx="6604000" cy="127000"/>
          </a:xfrm>
          <a:prstGeom prst="rect">
            <a:avLst/>
          </a:prstGeom>
          <a:noFill/>
        </p:spPr>
        <p:txBody>
          <a:bodyPr wrap="square" lIns="0" rIns="0" tIns="0" bIns="0" anchor="t">
            <a:spAutoFit/>
          </a:bodyPr>
          <a:lstStyle/>
          <a:p>
            <a:pPr algn="l">
              <a:lnSpc>
                <a:spcPts val="1300"/>
              </a:lnSpc>
              <a:spcAft>
                <a:spcPts val="0"/>
              </a:spcAft>
            </a:pPr>
            <a:r>
              <a:rPr sz="950" b="0" i="0">
                <a:solidFill>
                  <a:srgbClr val="DCE9F6"/>
                </a:solidFill>
                <a:latin typeface="Ubuntu Mono"/>
                <a:ea typeface="Ubuntu Mono"/>
                <a:cs typeface="Ubuntu Mono"/>
                <a:sym typeface="Ubuntu Mono"/>
              </a:rPr>
              <a:t>Data sheets of the main downhole tools available from our stock in Lons, near Pau. Each tool has its own page: description, technical characteristics, design features, operating parameters and ordering information.</a:t>
            </a:r>
          </a:p>
        </p:txBody>
      </p:sp>
      <p:sp>
        <p:nvSpPr>
          <p:cNvPr id="6" name="Rectangle 5"/>
          <p:cNvSpPr/>
          <p:nvPr/>
        </p:nvSpPr>
        <p:spPr>
          <a:xfrm>
            <a:off x="457200" y="4089400"/>
            <a:ext cx="1587500" cy="736600"/>
          </a:xfrm>
          <a:prstGeom prst="rect">
            <a:avLst/>
          </a:prstGeom>
          <a:solidFill>
            <a:srgbClr val="194E9A"/>
          </a:solidFill>
          <a:ln>
            <a:noFill/>
          </a:ln>
        </p:spPr>
        <p:txBody>
          <a:bodyPr rtlCol="0" anchor="ctr"/>
          <a:lstStyle/>
          <a:p>
            <a:pPr algn="ctr"/>
          </a:p>
        </p:txBody>
      </p:sp>
      <p:sp>
        <p:nvSpPr>
          <p:cNvPr id="7" name="TextBox 6"/>
          <p:cNvSpPr txBox="1"/>
          <p:nvPr/>
        </p:nvSpPr>
        <p:spPr>
          <a:xfrm>
            <a:off x="457200" y="4207256"/>
            <a:ext cx="1587500" cy="127000"/>
          </a:xfrm>
          <a:prstGeom prst="rect">
            <a:avLst/>
          </a:prstGeom>
          <a:noFill/>
        </p:spPr>
        <p:txBody>
          <a:bodyPr wrap="square" lIns="0" rIns="0" tIns="0" bIns="0" anchor="t">
            <a:spAutoFit/>
          </a:bodyPr>
          <a:lstStyle/>
          <a:p>
            <a:pPr algn="ctr">
              <a:lnSpc>
                <a:spcPts val="2300"/>
              </a:lnSpc>
              <a:spcAft>
                <a:spcPts val="0"/>
              </a:spcAft>
            </a:pPr>
            <a:r>
              <a:rPr sz="2000" b="1" i="0">
                <a:solidFill>
                  <a:srgbClr val="FFFFFF"/>
                </a:solidFill>
                <a:latin typeface="Ubuntu Mono"/>
                <a:ea typeface="Ubuntu Mono"/>
                <a:cs typeface="Ubuntu Mono"/>
                <a:sym typeface="Ubuntu Mono"/>
              </a:rPr>
              <a:t>2,500</a:t>
            </a:r>
          </a:p>
        </p:txBody>
      </p:sp>
      <p:sp>
        <p:nvSpPr>
          <p:cNvPr id="8" name="TextBox 7"/>
          <p:cNvSpPr txBox="1"/>
          <p:nvPr/>
        </p:nvSpPr>
        <p:spPr>
          <a:xfrm>
            <a:off x="533400" y="4524756"/>
            <a:ext cx="1435100" cy="127000"/>
          </a:xfrm>
          <a:prstGeom prst="rect">
            <a:avLst/>
          </a:prstGeom>
          <a:noFill/>
        </p:spPr>
        <p:txBody>
          <a:bodyPr wrap="square" lIns="0" rIns="0" tIns="0" bIns="0" anchor="t">
            <a:spAutoFit/>
          </a:bodyPr>
          <a:lstStyle/>
          <a:p>
            <a:pPr algn="ctr">
              <a:lnSpc>
                <a:spcPts val="840"/>
              </a:lnSpc>
              <a:spcAft>
                <a:spcPts val="0"/>
              </a:spcAft>
            </a:pPr>
            <a:r>
              <a:rPr sz="690" b="0" i="0">
                <a:solidFill>
                  <a:srgbClr val="FFFFFF"/>
                </a:solidFill>
                <a:latin typeface="Ubuntu Mono"/>
                <a:ea typeface="Ubuntu Mono"/>
                <a:cs typeface="Ubuntu Mono"/>
                <a:sym typeface="Ubuntu Mono"/>
              </a:rPr>
              <a:t>tools in stock</a:t>
            </a:r>
          </a:p>
        </p:txBody>
      </p:sp>
      <p:sp>
        <p:nvSpPr>
          <p:cNvPr id="9" name="Rectangle 8"/>
          <p:cNvSpPr/>
          <p:nvPr/>
        </p:nvSpPr>
        <p:spPr>
          <a:xfrm>
            <a:off x="2146300" y="4089400"/>
            <a:ext cx="1587500" cy="736600"/>
          </a:xfrm>
          <a:prstGeom prst="rect">
            <a:avLst/>
          </a:prstGeom>
          <a:solidFill>
            <a:srgbClr val="0F7FCB"/>
          </a:solidFill>
          <a:ln>
            <a:noFill/>
          </a:ln>
        </p:spPr>
        <p:txBody>
          <a:bodyPr rtlCol="0" anchor="ctr"/>
          <a:lstStyle/>
          <a:p>
            <a:pPr algn="ctr"/>
          </a:p>
        </p:txBody>
      </p:sp>
      <p:sp>
        <p:nvSpPr>
          <p:cNvPr id="10" name="TextBox 9"/>
          <p:cNvSpPr txBox="1"/>
          <p:nvPr/>
        </p:nvSpPr>
        <p:spPr>
          <a:xfrm>
            <a:off x="2146300" y="4207256"/>
            <a:ext cx="1587500" cy="127000"/>
          </a:xfrm>
          <a:prstGeom prst="rect">
            <a:avLst/>
          </a:prstGeom>
          <a:noFill/>
        </p:spPr>
        <p:txBody>
          <a:bodyPr wrap="square" lIns="0" rIns="0" tIns="0" bIns="0" anchor="t">
            <a:spAutoFit/>
          </a:bodyPr>
          <a:lstStyle/>
          <a:p>
            <a:pPr algn="ctr">
              <a:lnSpc>
                <a:spcPts val="2300"/>
              </a:lnSpc>
              <a:spcAft>
                <a:spcPts val="0"/>
              </a:spcAft>
            </a:pPr>
            <a:r>
              <a:rPr sz="2000" b="1" i="0">
                <a:solidFill>
                  <a:srgbClr val="FFFFFF"/>
                </a:solidFill>
                <a:latin typeface="Ubuntu Mono"/>
                <a:ea typeface="Ubuntu Mono"/>
                <a:cs typeface="Ubuntu Mono"/>
                <a:sym typeface="Ubuntu Mono"/>
              </a:rPr>
              <a:t>24 / 48h</a:t>
            </a:r>
          </a:p>
        </p:txBody>
      </p:sp>
      <p:sp>
        <p:nvSpPr>
          <p:cNvPr id="11" name="TextBox 10"/>
          <p:cNvSpPr txBox="1"/>
          <p:nvPr/>
        </p:nvSpPr>
        <p:spPr>
          <a:xfrm>
            <a:off x="2222500" y="4524756"/>
            <a:ext cx="1435100" cy="127000"/>
          </a:xfrm>
          <a:prstGeom prst="rect">
            <a:avLst/>
          </a:prstGeom>
          <a:noFill/>
        </p:spPr>
        <p:txBody>
          <a:bodyPr wrap="square" lIns="0" rIns="0" tIns="0" bIns="0" anchor="t">
            <a:spAutoFit/>
          </a:bodyPr>
          <a:lstStyle/>
          <a:p>
            <a:pPr algn="ctr">
              <a:lnSpc>
                <a:spcPts val="840"/>
              </a:lnSpc>
              <a:spcAft>
                <a:spcPts val="0"/>
              </a:spcAft>
            </a:pPr>
            <a:r>
              <a:rPr sz="690" b="0" i="0">
                <a:solidFill>
                  <a:srgbClr val="FFFFFF"/>
                </a:solidFill>
                <a:latin typeface="Ubuntu Mono"/>
                <a:ea typeface="Ubuntu Mono"/>
                <a:cs typeface="Ubuntu Mono"/>
                <a:sym typeface="Ubuntu Mono"/>
              </a:rPr>
              <a:t>response time</a:t>
            </a:r>
          </a:p>
        </p:txBody>
      </p:sp>
      <p:sp>
        <p:nvSpPr>
          <p:cNvPr id="12" name="Rectangle 11"/>
          <p:cNvSpPr/>
          <p:nvPr/>
        </p:nvSpPr>
        <p:spPr>
          <a:xfrm>
            <a:off x="3835400" y="4089400"/>
            <a:ext cx="1587500" cy="736600"/>
          </a:xfrm>
          <a:prstGeom prst="rect">
            <a:avLst/>
          </a:prstGeom>
          <a:solidFill>
            <a:srgbClr val="2BAEF6"/>
          </a:solidFill>
          <a:ln>
            <a:noFill/>
          </a:ln>
        </p:spPr>
        <p:txBody>
          <a:bodyPr rtlCol="0" anchor="ctr"/>
          <a:lstStyle/>
          <a:p>
            <a:pPr algn="ctr"/>
          </a:p>
        </p:txBody>
      </p:sp>
      <p:sp>
        <p:nvSpPr>
          <p:cNvPr id="13" name="TextBox 12"/>
          <p:cNvSpPr txBox="1"/>
          <p:nvPr/>
        </p:nvSpPr>
        <p:spPr>
          <a:xfrm>
            <a:off x="3835400" y="4207256"/>
            <a:ext cx="1587500" cy="127000"/>
          </a:xfrm>
          <a:prstGeom prst="rect">
            <a:avLst/>
          </a:prstGeom>
          <a:noFill/>
        </p:spPr>
        <p:txBody>
          <a:bodyPr wrap="square" lIns="0" rIns="0" tIns="0" bIns="0" anchor="t">
            <a:spAutoFit/>
          </a:bodyPr>
          <a:lstStyle/>
          <a:p>
            <a:pPr algn="ctr">
              <a:lnSpc>
                <a:spcPts val="2300"/>
              </a:lnSpc>
              <a:spcAft>
                <a:spcPts val="0"/>
              </a:spcAft>
            </a:pPr>
            <a:r>
              <a:rPr sz="2000" b="1" i="0">
                <a:solidFill>
                  <a:srgbClr val="FFFFFF"/>
                </a:solidFill>
                <a:latin typeface="Ubuntu Mono"/>
                <a:ea typeface="Ubuntu Mono"/>
                <a:cs typeface="Ubuntu Mono"/>
                <a:sym typeface="Ubuntu Mono"/>
              </a:rPr>
              <a:t>40</a:t>
            </a:r>
          </a:p>
        </p:txBody>
      </p:sp>
      <p:sp>
        <p:nvSpPr>
          <p:cNvPr id="14" name="TextBox 13"/>
          <p:cNvSpPr txBox="1"/>
          <p:nvPr/>
        </p:nvSpPr>
        <p:spPr>
          <a:xfrm>
            <a:off x="3911600" y="4524756"/>
            <a:ext cx="1435100" cy="127000"/>
          </a:xfrm>
          <a:prstGeom prst="rect">
            <a:avLst/>
          </a:prstGeom>
          <a:noFill/>
        </p:spPr>
        <p:txBody>
          <a:bodyPr wrap="square" lIns="0" rIns="0" tIns="0" bIns="0" anchor="t">
            <a:spAutoFit/>
          </a:bodyPr>
          <a:lstStyle/>
          <a:p>
            <a:pPr algn="ctr">
              <a:lnSpc>
                <a:spcPts val="840"/>
              </a:lnSpc>
              <a:spcAft>
                <a:spcPts val="0"/>
              </a:spcAft>
            </a:pPr>
            <a:r>
              <a:rPr sz="690" b="0" i="0">
                <a:solidFill>
                  <a:srgbClr val="FFFFFF"/>
                </a:solidFill>
                <a:latin typeface="Ubuntu Mono"/>
                <a:ea typeface="Ubuntu Mono"/>
                <a:cs typeface="Ubuntu Mono"/>
                <a:sym typeface="Ubuntu Mono"/>
              </a:rPr>
              <a:t>data sheets</a:t>
            </a:r>
          </a:p>
        </p:txBody>
      </p:sp>
      <p:sp>
        <p:nvSpPr>
          <p:cNvPr id="15" name="Rectangle 14"/>
          <p:cNvSpPr/>
          <p:nvPr/>
        </p:nvSpPr>
        <p:spPr>
          <a:xfrm>
            <a:off x="5524500" y="4089400"/>
            <a:ext cx="1587500" cy="736600"/>
          </a:xfrm>
          <a:prstGeom prst="rect">
            <a:avLst/>
          </a:prstGeom>
          <a:solidFill>
            <a:srgbClr val="194E9A"/>
          </a:solidFill>
          <a:ln>
            <a:noFill/>
          </a:ln>
        </p:spPr>
        <p:txBody>
          <a:bodyPr rtlCol="0" anchor="ctr"/>
          <a:lstStyle/>
          <a:p>
            <a:pPr algn="ctr"/>
          </a:p>
        </p:txBody>
      </p:sp>
      <p:sp>
        <p:nvSpPr>
          <p:cNvPr id="16" name="TextBox 15"/>
          <p:cNvSpPr txBox="1"/>
          <p:nvPr/>
        </p:nvSpPr>
        <p:spPr>
          <a:xfrm>
            <a:off x="5524500" y="4207256"/>
            <a:ext cx="1587500" cy="127000"/>
          </a:xfrm>
          <a:prstGeom prst="rect">
            <a:avLst/>
          </a:prstGeom>
          <a:noFill/>
        </p:spPr>
        <p:txBody>
          <a:bodyPr wrap="square" lIns="0" rIns="0" tIns="0" bIns="0" anchor="t">
            <a:spAutoFit/>
          </a:bodyPr>
          <a:lstStyle/>
          <a:p>
            <a:pPr algn="ctr">
              <a:lnSpc>
                <a:spcPts val="2300"/>
              </a:lnSpc>
              <a:spcAft>
                <a:spcPts val="0"/>
              </a:spcAft>
            </a:pPr>
            <a:r>
              <a:rPr sz="2000" b="1" i="0">
                <a:solidFill>
                  <a:srgbClr val="FFFFFF"/>
                </a:solidFill>
                <a:latin typeface="Ubuntu Mono"/>
                <a:ea typeface="Ubuntu Mono"/>
                <a:cs typeface="Ubuntu Mono"/>
                <a:sym typeface="Ubuntu Mono"/>
              </a:rPr>
              <a:t>7</a:t>
            </a:r>
          </a:p>
        </p:txBody>
      </p:sp>
      <p:sp>
        <p:nvSpPr>
          <p:cNvPr id="17" name="TextBox 16"/>
          <p:cNvSpPr txBox="1"/>
          <p:nvPr/>
        </p:nvSpPr>
        <p:spPr>
          <a:xfrm>
            <a:off x="5600700" y="4524756"/>
            <a:ext cx="1435100" cy="127000"/>
          </a:xfrm>
          <a:prstGeom prst="rect">
            <a:avLst/>
          </a:prstGeom>
          <a:noFill/>
        </p:spPr>
        <p:txBody>
          <a:bodyPr wrap="square" lIns="0" rIns="0" tIns="0" bIns="0" anchor="t">
            <a:spAutoFit/>
          </a:bodyPr>
          <a:lstStyle/>
          <a:p>
            <a:pPr algn="ctr">
              <a:lnSpc>
                <a:spcPts val="840"/>
              </a:lnSpc>
              <a:spcAft>
                <a:spcPts val="0"/>
              </a:spcAft>
            </a:pPr>
            <a:r>
              <a:rPr sz="690" b="0" i="0">
                <a:solidFill>
                  <a:srgbClr val="FFFFFF"/>
                </a:solidFill>
                <a:latin typeface="Ubuntu Mono"/>
                <a:ea typeface="Ubuntu Mono"/>
                <a:cs typeface="Ubuntu Mono"/>
                <a:sym typeface="Ubuntu Mono"/>
              </a:rPr>
              <a:t>tool families</a:t>
            </a:r>
          </a:p>
        </p:txBody>
      </p:sp>
      <p:sp>
        <p:nvSpPr>
          <p:cNvPr id="18" name="TextBox 17"/>
          <p:cNvSpPr txBox="1"/>
          <p:nvPr/>
        </p:nvSpPr>
        <p:spPr>
          <a:xfrm>
            <a:off x="457200" y="5130800"/>
            <a:ext cx="3810000" cy="127000"/>
          </a:xfrm>
          <a:prstGeom prst="rect">
            <a:avLst/>
          </a:prstGeom>
          <a:noFill/>
        </p:spPr>
        <p:txBody>
          <a:bodyPr wrap="square" lIns="0" rIns="0" tIns="0" bIns="0" anchor="t">
            <a:spAutoFit/>
          </a:bodyPr>
          <a:lstStyle/>
          <a:p>
            <a:pPr algn="l">
              <a:spcAft>
                <a:spcPts val="0"/>
              </a:spcAft>
            </a:pPr>
            <a:r>
              <a:rPr sz="1100" b="1" i="0">
                <a:solidFill>
                  <a:srgbClr val="194E9A"/>
                </a:solidFill>
                <a:latin typeface="Ubuntu Mono"/>
                <a:ea typeface="Ubuntu Mono"/>
                <a:cs typeface="Ubuntu Mono"/>
                <a:sym typeface="Ubuntu Mono"/>
              </a:rPr>
              <a:t>ABOUT ENEDRIL</a:t>
            </a:r>
          </a:p>
        </p:txBody>
      </p:sp>
      <p:sp>
        <p:nvSpPr>
          <p:cNvPr id="19" name="Rectangle 18"/>
          <p:cNvSpPr/>
          <p:nvPr/>
        </p:nvSpPr>
        <p:spPr>
          <a:xfrm>
            <a:off x="457200" y="5359400"/>
            <a:ext cx="44450" cy="1168400"/>
          </a:xfrm>
          <a:prstGeom prst="rect">
            <a:avLst/>
          </a:prstGeom>
          <a:solidFill>
            <a:srgbClr val="0F7FCB"/>
          </a:solidFill>
          <a:ln>
            <a:noFill/>
          </a:ln>
        </p:spPr>
        <p:txBody>
          <a:bodyPr rtlCol="0" anchor="ctr"/>
          <a:lstStyle/>
          <a:p>
            <a:pPr algn="ctr"/>
          </a:p>
        </p:txBody>
      </p:sp>
      <p:sp>
        <p:nvSpPr>
          <p:cNvPr id="20" name="TextBox 19"/>
          <p:cNvSpPr txBox="1"/>
          <p:nvPr/>
        </p:nvSpPr>
        <p:spPr>
          <a:xfrm>
            <a:off x="635000" y="5359400"/>
            <a:ext cx="6464300" cy="127000"/>
          </a:xfrm>
          <a:prstGeom prst="rect">
            <a:avLst/>
          </a:prstGeom>
          <a:noFill/>
        </p:spPr>
        <p:txBody>
          <a:bodyPr wrap="square" lIns="0" rIns="0" tIns="0" bIns="0" anchor="t">
            <a:spAutoFit/>
          </a:bodyPr>
          <a:lstStyle/>
          <a:p>
            <a:pPr algn="l">
              <a:lnSpc>
                <a:spcPts val="1200"/>
              </a:lnSpc>
              <a:spcAft>
                <a:spcPts val="0"/>
              </a:spcAft>
            </a:pPr>
            <a:r>
              <a:rPr sz="860" b="0" i="0">
                <a:solidFill>
                  <a:srgbClr val="0B1B2E"/>
                </a:solidFill>
                <a:latin typeface="Ubuntu Mono"/>
                <a:ea typeface="Ubuntu Mono"/>
                <a:cs typeface="Ubuntu Mono"/>
                <a:sym typeface="Ubuntu Mono"/>
              </a:rPr>
              <a:t>Enedril (formerly Mustang Oil Services) is an independent French company founded in 2013 and specialised in directional drilling, fishing and well intervention for geothermal, oil &amp; gas and underground gas storage projects, in France and abroad. Run since 2022 by Fabien and Alexis, the company continues its activities with a new dynamic, and became Enedril in 2025.</a:t>
            </a:r>
          </a:p>
        </p:txBody>
      </p:sp>
      <p:sp>
        <p:nvSpPr>
          <p:cNvPr id="21" name="TextBox 20"/>
          <p:cNvSpPr txBox="1"/>
          <p:nvPr/>
        </p:nvSpPr>
        <p:spPr>
          <a:xfrm>
            <a:off x="457200" y="6731000"/>
            <a:ext cx="3810000" cy="127000"/>
          </a:xfrm>
          <a:prstGeom prst="rect">
            <a:avLst/>
          </a:prstGeom>
          <a:noFill/>
        </p:spPr>
        <p:txBody>
          <a:bodyPr wrap="square" lIns="0" rIns="0" tIns="0" bIns="0" anchor="t">
            <a:spAutoFit/>
          </a:bodyPr>
          <a:lstStyle/>
          <a:p>
            <a:pPr algn="l">
              <a:spcAft>
                <a:spcPts val="0"/>
              </a:spcAft>
            </a:pPr>
            <a:r>
              <a:rPr sz="1100" b="1" i="0">
                <a:solidFill>
                  <a:srgbClr val="194E9A"/>
                </a:solidFill>
                <a:latin typeface="Ubuntu Mono"/>
                <a:ea typeface="Ubuntu Mono"/>
                <a:cs typeface="Ubuntu Mono"/>
                <a:sym typeface="Ubuntu Mono"/>
              </a:rPr>
              <a:t>HOW TO ORDER A TOOL</a:t>
            </a:r>
          </a:p>
        </p:txBody>
      </p:sp>
      <p:sp>
        <p:nvSpPr>
          <p:cNvPr id="22" name="TextBox 21"/>
          <p:cNvSpPr txBox="1"/>
          <p:nvPr/>
        </p:nvSpPr>
        <p:spPr>
          <a:xfrm>
            <a:off x="457200" y="6985000"/>
            <a:ext cx="6642100" cy="127000"/>
          </a:xfrm>
          <a:prstGeom prst="rect">
            <a:avLst/>
          </a:prstGeom>
          <a:noFill/>
        </p:spPr>
        <p:txBody>
          <a:bodyPr wrap="square" lIns="0" rIns="0" tIns="0" bIns="0" anchor="t">
            <a:spAutoFit/>
          </a:bodyPr>
          <a:lstStyle/>
          <a:p>
            <a:pPr algn="l">
              <a:lnSpc>
                <a:spcPts val="1200"/>
              </a:lnSpc>
              <a:spcAft>
                <a:spcPts val="400"/>
              </a:spcAft>
            </a:pPr>
            <a:r>
              <a:rPr sz="680" b="0" i="0">
                <a:solidFill>
                  <a:srgbClr val="1CB2FE"/>
                </a:solidFill>
                <a:latin typeface="Ubuntu Mono"/>
                <a:ea typeface="Ubuntu Mono"/>
                <a:cs typeface="Ubuntu Mono"/>
                <a:sym typeface="Ubuntu Mono"/>
              </a:rPr>
              <a:t>■ </a:t>
            </a:r>
            <a:r>
              <a:rPr sz="860" b="0" i="0">
                <a:solidFill>
                  <a:srgbClr val="0B1B2E"/>
                </a:solidFill>
                <a:latin typeface="Ubuntu Mono"/>
                <a:ea typeface="Ubuntu Mono"/>
                <a:cs typeface="Ubuntu Mono"/>
                <a:sym typeface="Ubuntu Mono"/>
              </a:rPr>
              <a:t>Find the tool in the summary (next page) or by family. </a:t>
            </a:r>
            <a:r>
              <a:rPr sz="860" b="1" i="0">
                <a:solidFill>
                  <a:srgbClr val="0B1B2E"/>
                </a:solidFill>
                <a:latin typeface="Ubuntu Mono"/>
                <a:ea typeface="Ubuntu Mono"/>
                <a:cs typeface="Ubuntu Mono"/>
                <a:sym typeface="Ubuntu Mono"/>
              </a:rPr>
              <a:t>Each sheet ends with a "How to order" box.</a:t>
            </a:r>
          </a:p>
          <a:p>
            <a:pPr algn="l">
              <a:lnSpc>
                <a:spcPts val="1200"/>
              </a:lnSpc>
              <a:spcAft>
                <a:spcPts val="400"/>
              </a:spcAft>
            </a:pPr>
            <a:r>
              <a:rPr sz="680" b="0" i="0">
                <a:solidFill>
                  <a:srgbClr val="1CB2FE"/>
                </a:solidFill>
                <a:latin typeface="Ubuntu Mono"/>
                <a:ea typeface="Ubuntu Mono"/>
                <a:cs typeface="Ubuntu Mono"/>
                <a:sym typeface="Ubuntu Mono"/>
              </a:rPr>
              <a:t>■ </a:t>
            </a:r>
            <a:r>
              <a:rPr sz="860" b="0" i="0">
                <a:solidFill>
                  <a:srgbClr val="0B1B2E"/>
                </a:solidFill>
                <a:latin typeface="Ubuntu Mono"/>
                <a:ea typeface="Ubuntu Mono"/>
                <a:cs typeface="Ubuntu Mono"/>
                <a:sym typeface="Ubuntu Mono"/>
              </a:rPr>
              <a:t>Tell us the tool type, size or series, top and bottom connections and the casing or hole size.</a:t>
            </a:r>
          </a:p>
          <a:p>
            <a:pPr algn="l">
              <a:lnSpc>
                <a:spcPts val="1200"/>
              </a:lnSpc>
              <a:spcAft>
                <a:spcPts val="400"/>
              </a:spcAft>
            </a:pPr>
            <a:r>
              <a:rPr sz="680" b="0" i="0">
                <a:solidFill>
                  <a:srgbClr val="1CB2FE"/>
                </a:solidFill>
                <a:latin typeface="Ubuntu Mono"/>
                <a:ea typeface="Ubuntu Mono"/>
                <a:cs typeface="Ubuntu Mono"/>
                <a:sym typeface="Ubuntu Mono"/>
              </a:rPr>
              <a:t>■ </a:t>
            </a:r>
            <a:r>
              <a:rPr sz="860" b="0" i="0">
                <a:solidFill>
                  <a:srgbClr val="0B1B2E"/>
                </a:solidFill>
                <a:latin typeface="Ubuntu Mono"/>
                <a:ea typeface="Ubuntu Mono"/>
                <a:cs typeface="Ubuntu Mono"/>
                <a:sym typeface="Ubuntu Mono"/>
              </a:rPr>
              <a:t>Dimensions are given in inches and loads in lb unless stated: values are indicative. Other sizes and special versions are available on request.</a:t>
            </a:r>
          </a:p>
          <a:p>
            <a:pPr algn="l">
              <a:lnSpc>
                <a:spcPts val="1200"/>
              </a:lnSpc>
              <a:spcAft>
                <a:spcPts val="400"/>
              </a:spcAft>
            </a:pPr>
            <a:r>
              <a:rPr sz="680" b="0" i="0">
                <a:solidFill>
                  <a:srgbClr val="1CB2FE"/>
                </a:solidFill>
                <a:latin typeface="Ubuntu Mono"/>
                <a:ea typeface="Ubuntu Mono"/>
                <a:cs typeface="Ubuntu Mono"/>
                <a:sym typeface="Ubuntu Mono"/>
              </a:rPr>
              <a:t>■ </a:t>
            </a:r>
            <a:r>
              <a:rPr sz="860" b="0" i="0">
                <a:solidFill>
                  <a:srgbClr val="0B1B2E"/>
                </a:solidFill>
                <a:latin typeface="Ubuntu Mono"/>
                <a:ea typeface="Ubuntu Mono"/>
                <a:cs typeface="Ubuntu Mono"/>
                <a:sym typeface="Ubuntu Mono"/>
              </a:rPr>
              <a:t>Fishing response within 24 to 48 hours across metropolitan France.</a:t>
            </a:r>
          </a:p>
        </p:txBody>
      </p:sp>
      <p:sp>
        <p:nvSpPr>
          <p:cNvPr id="23" name="Rectangle 22"/>
          <p:cNvSpPr/>
          <p:nvPr/>
        </p:nvSpPr>
        <p:spPr>
          <a:xfrm>
            <a:off x="457200" y="8763000"/>
            <a:ext cx="6642100" cy="1168400"/>
          </a:xfrm>
          <a:prstGeom prst="rect">
            <a:avLst/>
          </a:prstGeom>
          <a:solidFill>
            <a:srgbClr val="194E9A"/>
          </a:solidFill>
          <a:ln>
            <a:noFill/>
          </a:ln>
        </p:spPr>
        <p:txBody>
          <a:bodyPr rtlCol="0" anchor="ctr"/>
          <a:lstStyle/>
          <a:p>
            <a:pPr algn="ctr"/>
          </a:p>
        </p:txBody>
      </p:sp>
      <p:sp>
        <p:nvSpPr>
          <p:cNvPr id="24" name="TextBox 23"/>
          <p:cNvSpPr txBox="1"/>
          <p:nvPr/>
        </p:nvSpPr>
        <p:spPr>
          <a:xfrm>
            <a:off x="660400" y="8763000"/>
            <a:ext cx="6235700" cy="1168400"/>
          </a:xfrm>
          <a:prstGeom prst="rect">
            <a:avLst/>
          </a:prstGeom>
          <a:noFill/>
        </p:spPr>
        <p:txBody>
          <a:bodyPr wrap="square" lIns="0" rIns="0" tIns="0" bIns="0" anchor="ctr">
            <a:spAutoFit/>
          </a:bodyPr>
          <a:lstStyle/>
          <a:p>
            <a:pPr algn="l">
              <a:lnSpc>
                <a:spcPts val="1400"/>
              </a:lnSpc>
              <a:spcAft>
                <a:spcPts val="200"/>
              </a:spcAft>
            </a:pPr>
            <a:r>
              <a:rPr sz="840" b="1" i="0">
                <a:solidFill>
                  <a:srgbClr val="1CB2FE"/>
                </a:solidFill>
                <a:latin typeface="Ubuntu Mono"/>
                <a:ea typeface="Ubuntu Mono"/>
                <a:cs typeface="Ubuntu Mono"/>
                <a:sym typeface="Ubuntu Mono"/>
              </a:rPr>
              <a:t>CONTACT</a:t>
            </a:r>
          </a:p>
          <a:p>
            <a:pPr algn="l">
              <a:lnSpc>
                <a:spcPts val="1400"/>
              </a:lnSpc>
              <a:spcAft>
                <a:spcPts val="200"/>
              </a:spcAft>
            </a:pPr>
            <a:r>
              <a:rPr sz="1000" b="1" i="0">
                <a:solidFill>
                  <a:srgbClr val="FFFFFF"/>
                </a:solidFill>
                <a:latin typeface="Ubuntu Mono"/>
                <a:ea typeface="Ubuntu Mono"/>
                <a:cs typeface="Ubuntu Mono"/>
                <a:sym typeface="Ubuntu Mono"/>
              </a:rPr>
              <a:t>Enedril · 3 avenue des Lacs, 64140 Lons (France)</a:t>
            </a:r>
          </a:p>
          <a:p>
            <a:pPr algn="l">
              <a:lnSpc>
                <a:spcPts val="1400"/>
              </a:lnSpc>
              <a:spcAft>
                <a:spcPts val="200"/>
              </a:spcAft>
            </a:pPr>
            <a:r>
              <a:rPr sz="1000" b="1" i="0">
                <a:solidFill>
                  <a:srgbClr val="FFFFFF"/>
                </a:solidFill>
                <a:latin typeface="Ubuntu Mono"/>
                <a:ea typeface="Ubuntu Mono"/>
                <a:cs typeface="Ubuntu Mono"/>
                <a:sym typeface="Ubuntu Mono"/>
              </a:rPr>
              <a:t>info@enedril.fr · +33 (0)5 59 04 50 45 · www.enedril.com</a:t>
            </a:r>
          </a:p>
        </p:txBody>
      </p:sp>
      <p:sp>
        <p:nvSpPr>
          <p:cNvPr id="25" name="Rectangle 24"/>
          <p:cNvSpPr/>
          <p:nvPr/>
        </p:nvSpPr>
        <p:spPr>
          <a:xfrm>
            <a:off x="457200" y="10388600"/>
            <a:ext cx="6642100" cy="10160"/>
          </a:xfrm>
          <a:prstGeom prst="rect">
            <a:avLst/>
          </a:prstGeom>
          <a:solidFill>
            <a:srgbClr val="B9CCE0"/>
          </a:solidFill>
          <a:ln>
            <a:noFill/>
          </a:ln>
        </p:spPr>
        <p:txBody>
          <a:bodyPr rtlCol="0" anchor="ctr"/>
          <a:lstStyle/>
          <a:p>
            <a:pPr algn="ctr"/>
          </a:p>
        </p:txBody>
      </p:sp>
      <p:sp>
        <p:nvSpPr>
          <p:cNvPr id="26" name="TextBox 25"/>
          <p:cNvSpPr txBox="1"/>
          <p:nvPr/>
        </p:nvSpPr>
        <p:spPr>
          <a:xfrm>
            <a:off x="457200" y="10464800"/>
            <a:ext cx="5080000" cy="127000"/>
          </a:xfrm>
          <a:prstGeom prst="rect">
            <a:avLst/>
          </a:prstGeom>
          <a:noFill/>
        </p:spPr>
        <p:txBody>
          <a:bodyPr wrap="square" lIns="0" rIns="0" tIns="0" bIns="0" anchor="t">
            <a:spAutoFit/>
          </a:bodyPr>
          <a:lstStyle/>
          <a:p>
            <a:pPr algn="l">
              <a:spcAft>
                <a:spcPts val="0"/>
              </a:spcAft>
            </a:pPr>
            <a:r>
              <a:rPr sz="640" b="0" i="0">
                <a:solidFill>
                  <a:srgbClr val="5A6B7F"/>
                </a:solidFill>
                <a:latin typeface="Ubuntu Mono"/>
                <a:ea typeface="Ubuntu Mono"/>
                <a:cs typeface="Ubuntu Mono"/>
                <a:sym typeface="Ubuntu Mono"/>
              </a:rPr>
              <a:t>Enedril · Fishing and Drilling Solutions · 3 avenue des lacs, 64140 Lons (France) · info@enedril.fr · +33 (0)5 59 04 50 45</a:t>
            </a:r>
          </a:p>
        </p:txBody>
      </p:sp>
      <p:sp>
        <p:nvSpPr>
          <p:cNvPr id="27" name="TextBox 26"/>
          <p:cNvSpPr txBox="1"/>
          <p:nvPr/>
        </p:nvSpPr>
        <p:spPr>
          <a:xfrm>
            <a:off x="6604000" y="10464800"/>
            <a:ext cx="495300" cy="127000"/>
          </a:xfrm>
          <a:prstGeom prst="rect">
            <a:avLst/>
          </a:prstGeom>
          <a:noFill/>
        </p:spPr>
        <p:txBody>
          <a:bodyPr wrap="square" lIns="0" rIns="0" tIns="0" bIns="0" anchor="t">
            <a:spAutoFit/>
          </a:bodyPr>
          <a:lstStyle/>
          <a:p>
            <a:pPr algn="r">
              <a:spcAft>
                <a:spcPts val="0"/>
              </a:spcAft>
            </a:pPr>
            <a:r>
              <a:rPr sz="800" b="0" i="0">
                <a:solidFill>
                  <a:srgbClr val="194E9A"/>
                </a:solidFill>
                <a:latin typeface="Ubuntu Mono"/>
                <a:ea typeface="Ubuntu Mono"/>
                <a:cs typeface="Ubuntu Mono"/>
                <a:sym typeface="Ubuntu Mono"/>
              </a:rPr>
              <a:t>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logo.png"/>
          <p:cNvPicPr>
            <a:picLocks noChangeAspect="1"/>
          </p:cNvPicPr>
          <p:nvPr/>
        </p:nvPicPr>
        <p:blipFill>
          <a:blip r:embed="rId2"/>
          <a:stretch>
            <a:fillRect/>
          </a:stretch>
        </p:blipFill>
        <p:spPr>
          <a:xfrm>
            <a:off x="5600700" y="279400"/>
            <a:ext cx="1498600" cy="336115"/>
          </a:xfrm>
          <a:prstGeom prst="rect">
            <a:avLst/>
          </a:prstGeom>
        </p:spPr>
      </p:pic>
      <p:sp>
        <p:nvSpPr>
          <p:cNvPr id="3" name="TextBox 2"/>
          <p:cNvSpPr txBox="1"/>
          <p:nvPr/>
        </p:nvSpPr>
        <p:spPr>
          <a:xfrm>
            <a:off x="457200" y="558800"/>
            <a:ext cx="5588000" cy="127000"/>
          </a:xfrm>
          <a:prstGeom prst="rect">
            <a:avLst/>
          </a:prstGeom>
          <a:noFill/>
        </p:spPr>
        <p:txBody>
          <a:bodyPr wrap="square" lIns="0" rIns="0" tIns="0" bIns="0" anchor="t">
            <a:spAutoFit/>
          </a:bodyPr>
          <a:lstStyle/>
          <a:p>
            <a:pPr algn="l">
              <a:lnSpc>
                <a:spcPts val="3000"/>
              </a:lnSpc>
              <a:spcAft>
                <a:spcPts val="0"/>
              </a:spcAft>
            </a:pPr>
            <a:r>
              <a:rPr sz="2700" b="1" i="0">
                <a:solidFill>
                  <a:srgbClr val="1CB2FE"/>
                </a:solidFill>
                <a:latin typeface="Ubuntu Mono"/>
                <a:ea typeface="Ubuntu Mono"/>
                <a:cs typeface="Ubuntu Mono"/>
                <a:sym typeface="Ubuntu Mono"/>
              </a:rPr>
              <a:t>SUMMARY</a:t>
            </a:r>
          </a:p>
        </p:txBody>
      </p:sp>
      <p:sp>
        <p:nvSpPr>
          <p:cNvPr id="4" name="Rectangle 3"/>
          <p:cNvSpPr/>
          <p:nvPr/>
        </p:nvSpPr>
        <p:spPr>
          <a:xfrm>
            <a:off x="457200" y="1270000"/>
            <a:ext cx="3149600" cy="279400"/>
          </a:xfrm>
          <a:prstGeom prst="rect">
            <a:avLst/>
          </a:prstGeom>
          <a:solidFill>
            <a:srgbClr val="194E9A"/>
          </a:solidFill>
          <a:ln>
            <a:noFill/>
          </a:ln>
        </p:spPr>
        <p:txBody>
          <a:bodyPr rtlCol="0" anchor="ctr"/>
          <a:lstStyle/>
          <a:p>
            <a:pPr algn="ctr"/>
          </a:p>
        </p:txBody>
      </p:sp>
      <p:sp>
        <p:nvSpPr>
          <p:cNvPr id="5" name="TextBox 4"/>
          <p:cNvSpPr txBox="1"/>
          <p:nvPr/>
        </p:nvSpPr>
        <p:spPr>
          <a:xfrm>
            <a:off x="558800" y="1320800"/>
            <a:ext cx="2946400" cy="127000"/>
          </a:xfrm>
          <a:prstGeom prst="rect">
            <a:avLst/>
          </a:prstGeom>
          <a:noFill/>
        </p:spPr>
        <p:txBody>
          <a:bodyPr wrap="square" lIns="0" rIns="0" tIns="0" bIns="0" anchor="t">
            <a:spAutoFit/>
          </a:bodyPr>
          <a:lstStyle/>
          <a:p>
            <a:pPr algn="l">
              <a:spcAft>
                <a:spcPts val="0"/>
              </a:spcAft>
            </a:pPr>
            <a:r>
              <a:rPr sz="900" b="1" i="0">
                <a:solidFill>
                  <a:srgbClr val="FFFFFF"/>
                </a:solidFill>
                <a:latin typeface="Ubuntu Mono"/>
                <a:ea typeface="Ubuntu Mono"/>
                <a:cs typeface="Ubuntu Mono"/>
                <a:sym typeface="Ubuntu Mono"/>
              </a:rPr>
              <a:t>CLEANING AND JUNK RECOVERY</a:t>
            </a:r>
          </a:p>
        </p:txBody>
      </p:sp>
      <p:sp>
        <p:nvSpPr>
          <p:cNvPr id="6" name="TextBox 5">
            <a:hlinkClick action="ppaction://hlinksldjump" r:id="rId3"/>
          </p:cNvPr>
          <p:cNvSpPr txBox="1"/>
          <p:nvPr/>
        </p:nvSpPr>
        <p:spPr>
          <a:xfrm>
            <a:off x="533400" y="16256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Scraper</a:t>
            </a:r>
          </a:p>
        </p:txBody>
      </p:sp>
      <p:sp>
        <p:nvSpPr>
          <p:cNvPr id="7" name="TextBox 6"/>
          <p:cNvSpPr txBox="1"/>
          <p:nvPr/>
        </p:nvSpPr>
        <p:spPr>
          <a:xfrm>
            <a:off x="2997200" y="16256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3</a:t>
            </a:r>
          </a:p>
        </p:txBody>
      </p:sp>
      <p:sp>
        <p:nvSpPr>
          <p:cNvPr id="8" name="Rectangle 7"/>
          <p:cNvSpPr/>
          <p:nvPr/>
        </p:nvSpPr>
        <p:spPr>
          <a:xfrm>
            <a:off x="533400" y="1809750"/>
            <a:ext cx="2997200" cy="6350"/>
          </a:xfrm>
          <a:prstGeom prst="rect">
            <a:avLst/>
          </a:prstGeom>
          <a:solidFill>
            <a:srgbClr val="D5E1EE"/>
          </a:solidFill>
          <a:ln>
            <a:noFill/>
          </a:ln>
        </p:spPr>
        <p:txBody>
          <a:bodyPr rtlCol="0" anchor="ctr"/>
          <a:lstStyle/>
          <a:p>
            <a:pPr algn="ctr"/>
          </a:p>
        </p:txBody>
      </p:sp>
      <p:sp>
        <p:nvSpPr>
          <p:cNvPr id="9" name="TextBox 8">
            <a:hlinkClick action="ppaction://hlinksldjump" r:id="rId4"/>
          </p:cNvPr>
          <p:cNvSpPr txBox="1"/>
          <p:nvPr/>
        </p:nvSpPr>
        <p:spPr>
          <a:xfrm>
            <a:off x="533400" y="18669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Impression Block (LIB)</a:t>
            </a:r>
          </a:p>
        </p:txBody>
      </p:sp>
      <p:sp>
        <p:nvSpPr>
          <p:cNvPr id="10" name="TextBox 9"/>
          <p:cNvSpPr txBox="1"/>
          <p:nvPr/>
        </p:nvSpPr>
        <p:spPr>
          <a:xfrm>
            <a:off x="2997200" y="18669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4</a:t>
            </a:r>
          </a:p>
        </p:txBody>
      </p:sp>
      <p:sp>
        <p:nvSpPr>
          <p:cNvPr id="11" name="Rectangle 10"/>
          <p:cNvSpPr/>
          <p:nvPr/>
        </p:nvSpPr>
        <p:spPr>
          <a:xfrm>
            <a:off x="533400" y="2051050"/>
            <a:ext cx="2997200" cy="6350"/>
          </a:xfrm>
          <a:prstGeom prst="rect">
            <a:avLst/>
          </a:prstGeom>
          <a:solidFill>
            <a:srgbClr val="D5E1EE"/>
          </a:solidFill>
          <a:ln>
            <a:noFill/>
          </a:ln>
        </p:spPr>
        <p:txBody>
          <a:bodyPr rtlCol="0" anchor="ctr"/>
          <a:lstStyle/>
          <a:p>
            <a:pPr algn="ctr"/>
          </a:p>
        </p:txBody>
      </p:sp>
      <p:sp>
        <p:nvSpPr>
          <p:cNvPr id="12" name="TextBox 11">
            <a:hlinkClick action="ppaction://hlinksldjump" r:id="rId5"/>
          </p:cNvPr>
          <p:cNvSpPr txBox="1"/>
          <p:nvPr/>
        </p:nvSpPr>
        <p:spPr>
          <a:xfrm>
            <a:off x="533400" y="21082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Circulating Sub</a:t>
            </a:r>
          </a:p>
        </p:txBody>
      </p:sp>
      <p:sp>
        <p:nvSpPr>
          <p:cNvPr id="13" name="TextBox 12"/>
          <p:cNvSpPr txBox="1"/>
          <p:nvPr/>
        </p:nvSpPr>
        <p:spPr>
          <a:xfrm>
            <a:off x="2997200" y="21082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5</a:t>
            </a:r>
          </a:p>
        </p:txBody>
      </p:sp>
      <p:sp>
        <p:nvSpPr>
          <p:cNvPr id="14" name="Rectangle 13"/>
          <p:cNvSpPr/>
          <p:nvPr/>
        </p:nvSpPr>
        <p:spPr>
          <a:xfrm>
            <a:off x="533400" y="2292350"/>
            <a:ext cx="2997200" cy="6350"/>
          </a:xfrm>
          <a:prstGeom prst="rect">
            <a:avLst/>
          </a:prstGeom>
          <a:solidFill>
            <a:srgbClr val="D5E1EE"/>
          </a:solidFill>
          <a:ln>
            <a:noFill/>
          </a:ln>
        </p:spPr>
        <p:txBody>
          <a:bodyPr rtlCol="0" anchor="ctr"/>
          <a:lstStyle/>
          <a:p>
            <a:pPr algn="ctr"/>
          </a:p>
        </p:txBody>
      </p:sp>
      <p:sp>
        <p:nvSpPr>
          <p:cNvPr id="15" name="TextBox 14">
            <a:hlinkClick action="ppaction://hlinksldjump" r:id="rId6"/>
          </p:cNvPr>
          <p:cNvSpPr txBox="1"/>
          <p:nvPr/>
        </p:nvSpPr>
        <p:spPr>
          <a:xfrm>
            <a:off x="533400" y="23495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RCJB</a:t>
            </a:r>
          </a:p>
        </p:txBody>
      </p:sp>
      <p:sp>
        <p:nvSpPr>
          <p:cNvPr id="16" name="TextBox 15"/>
          <p:cNvSpPr txBox="1"/>
          <p:nvPr/>
        </p:nvSpPr>
        <p:spPr>
          <a:xfrm>
            <a:off x="2997200" y="23495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6</a:t>
            </a:r>
          </a:p>
        </p:txBody>
      </p:sp>
      <p:sp>
        <p:nvSpPr>
          <p:cNvPr id="17" name="Rectangle 16"/>
          <p:cNvSpPr/>
          <p:nvPr/>
        </p:nvSpPr>
        <p:spPr>
          <a:xfrm>
            <a:off x="533400" y="2533650"/>
            <a:ext cx="2997200" cy="6350"/>
          </a:xfrm>
          <a:prstGeom prst="rect">
            <a:avLst/>
          </a:prstGeom>
          <a:solidFill>
            <a:srgbClr val="D5E1EE"/>
          </a:solidFill>
          <a:ln>
            <a:noFill/>
          </a:ln>
        </p:spPr>
        <p:txBody>
          <a:bodyPr rtlCol="0" anchor="ctr"/>
          <a:lstStyle/>
          <a:p>
            <a:pPr algn="ctr"/>
          </a:p>
        </p:txBody>
      </p:sp>
      <p:sp>
        <p:nvSpPr>
          <p:cNvPr id="18" name="TextBox 17">
            <a:hlinkClick action="ppaction://hlinksldjump" r:id="rId7"/>
          </p:cNvPr>
          <p:cNvSpPr txBox="1"/>
          <p:nvPr/>
        </p:nvSpPr>
        <p:spPr>
          <a:xfrm>
            <a:off x="533400" y="25908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Junk Basket</a:t>
            </a:r>
          </a:p>
        </p:txBody>
      </p:sp>
      <p:sp>
        <p:nvSpPr>
          <p:cNvPr id="19" name="TextBox 18"/>
          <p:cNvSpPr txBox="1"/>
          <p:nvPr/>
        </p:nvSpPr>
        <p:spPr>
          <a:xfrm>
            <a:off x="2997200" y="25908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7</a:t>
            </a:r>
          </a:p>
        </p:txBody>
      </p:sp>
      <p:sp>
        <p:nvSpPr>
          <p:cNvPr id="20" name="Rectangle 19"/>
          <p:cNvSpPr/>
          <p:nvPr/>
        </p:nvSpPr>
        <p:spPr>
          <a:xfrm>
            <a:off x="533400" y="2774950"/>
            <a:ext cx="2997200" cy="6350"/>
          </a:xfrm>
          <a:prstGeom prst="rect">
            <a:avLst/>
          </a:prstGeom>
          <a:solidFill>
            <a:srgbClr val="D5E1EE"/>
          </a:solidFill>
          <a:ln>
            <a:noFill/>
          </a:ln>
        </p:spPr>
        <p:txBody>
          <a:bodyPr rtlCol="0" anchor="ctr"/>
          <a:lstStyle/>
          <a:p>
            <a:pPr algn="ctr"/>
          </a:p>
        </p:txBody>
      </p:sp>
      <p:sp>
        <p:nvSpPr>
          <p:cNvPr id="21" name="TextBox 20">
            <a:hlinkClick action="ppaction://hlinksldjump" r:id="rId8"/>
          </p:cNvPr>
          <p:cNvSpPr txBox="1"/>
          <p:nvPr/>
        </p:nvSpPr>
        <p:spPr>
          <a:xfrm>
            <a:off x="533400" y="28321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Venturi Basket</a:t>
            </a:r>
          </a:p>
        </p:txBody>
      </p:sp>
      <p:sp>
        <p:nvSpPr>
          <p:cNvPr id="22" name="TextBox 21"/>
          <p:cNvSpPr txBox="1"/>
          <p:nvPr/>
        </p:nvSpPr>
        <p:spPr>
          <a:xfrm>
            <a:off x="2997200" y="28321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8</a:t>
            </a:r>
          </a:p>
        </p:txBody>
      </p:sp>
      <p:sp>
        <p:nvSpPr>
          <p:cNvPr id="23" name="Rectangle 22"/>
          <p:cNvSpPr/>
          <p:nvPr/>
        </p:nvSpPr>
        <p:spPr>
          <a:xfrm>
            <a:off x="533400" y="3016250"/>
            <a:ext cx="2997200" cy="6350"/>
          </a:xfrm>
          <a:prstGeom prst="rect">
            <a:avLst/>
          </a:prstGeom>
          <a:solidFill>
            <a:srgbClr val="D5E1EE"/>
          </a:solidFill>
          <a:ln>
            <a:noFill/>
          </a:ln>
        </p:spPr>
        <p:txBody>
          <a:bodyPr rtlCol="0" anchor="ctr"/>
          <a:lstStyle/>
          <a:p>
            <a:pPr algn="ctr"/>
          </a:p>
        </p:txBody>
      </p:sp>
      <p:sp>
        <p:nvSpPr>
          <p:cNvPr id="24" name="TextBox 23">
            <a:hlinkClick action="ppaction://hlinksldjump" r:id="rId9"/>
          </p:cNvPr>
          <p:cNvSpPr txBox="1"/>
          <p:nvPr/>
        </p:nvSpPr>
        <p:spPr>
          <a:xfrm>
            <a:off x="533400" y="30734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Fishing Magnet</a:t>
            </a:r>
          </a:p>
        </p:txBody>
      </p:sp>
      <p:sp>
        <p:nvSpPr>
          <p:cNvPr id="25" name="TextBox 24"/>
          <p:cNvSpPr txBox="1"/>
          <p:nvPr/>
        </p:nvSpPr>
        <p:spPr>
          <a:xfrm>
            <a:off x="2997200" y="30734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9</a:t>
            </a:r>
          </a:p>
        </p:txBody>
      </p:sp>
      <p:sp>
        <p:nvSpPr>
          <p:cNvPr id="26" name="Rectangle 25"/>
          <p:cNvSpPr/>
          <p:nvPr/>
        </p:nvSpPr>
        <p:spPr>
          <a:xfrm>
            <a:off x="533400" y="3257550"/>
            <a:ext cx="2997200" cy="6350"/>
          </a:xfrm>
          <a:prstGeom prst="rect">
            <a:avLst/>
          </a:prstGeom>
          <a:solidFill>
            <a:srgbClr val="D5E1EE"/>
          </a:solidFill>
          <a:ln>
            <a:noFill/>
          </a:ln>
        </p:spPr>
        <p:txBody>
          <a:bodyPr rtlCol="0" anchor="ctr"/>
          <a:lstStyle/>
          <a:p>
            <a:pPr algn="ctr"/>
          </a:p>
        </p:txBody>
      </p:sp>
      <p:sp>
        <p:nvSpPr>
          <p:cNvPr id="27" name="TextBox 26">
            <a:hlinkClick action="ppaction://hlinksldjump" r:id="rId10"/>
          </p:cNvPr>
          <p:cNvSpPr txBox="1"/>
          <p:nvPr/>
        </p:nvSpPr>
        <p:spPr>
          <a:xfrm>
            <a:off x="533400" y="33147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String Magnet</a:t>
            </a:r>
          </a:p>
        </p:txBody>
      </p:sp>
      <p:sp>
        <p:nvSpPr>
          <p:cNvPr id="28" name="TextBox 27"/>
          <p:cNvSpPr txBox="1"/>
          <p:nvPr/>
        </p:nvSpPr>
        <p:spPr>
          <a:xfrm>
            <a:off x="2997200" y="33147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10</a:t>
            </a:r>
          </a:p>
        </p:txBody>
      </p:sp>
      <p:sp>
        <p:nvSpPr>
          <p:cNvPr id="29" name="Rectangle 28"/>
          <p:cNvSpPr/>
          <p:nvPr/>
        </p:nvSpPr>
        <p:spPr>
          <a:xfrm>
            <a:off x="533400" y="3498850"/>
            <a:ext cx="2997200" cy="6350"/>
          </a:xfrm>
          <a:prstGeom prst="rect">
            <a:avLst/>
          </a:prstGeom>
          <a:solidFill>
            <a:srgbClr val="D5E1EE"/>
          </a:solidFill>
          <a:ln>
            <a:noFill/>
          </a:ln>
        </p:spPr>
        <p:txBody>
          <a:bodyPr rtlCol="0" anchor="ctr"/>
          <a:lstStyle/>
          <a:p>
            <a:pPr algn="ctr"/>
          </a:p>
        </p:txBody>
      </p:sp>
      <p:sp>
        <p:nvSpPr>
          <p:cNvPr id="30" name="Rectangle 29"/>
          <p:cNvSpPr/>
          <p:nvPr/>
        </p:nvSpPr>
        <p:spPr>
          <a:xfrm>
            <a:off x="457200" y="3708400"/>
            <a:ext cx="3149600" cy="279400"/>
          </a:xfrm>
          <a:prstGeom prst="rect">
            <a:avLst/>
          </a:prstGeom>
          <a:solidFill>
            <a:srgbClr val="0F7FCB"/>
          </a:solidFill>
          <a:ln>
            <a:noFill/>
          </a:ln>
        </p:spPr>
        <p:txBody>
          <a:bodyPr rtlCol="0" anchor="ctr"/>
          <a:lstStyle/>
          <a:p>
            <a:pPr algn="ctr"/>
          </a:p>
        </p:txBody>
      </p:sp>
      <p:sp>
        <p:nvSpPr>
          <p:cNvPr id="31" name="TextBox 30"/>
          <p:cNvSpPr txBox="1"/>
          <p:nvPr/>
        </p:nvSpPr>
        <p:spPr>
          <a:xfrm>
            <a:off x="558800" y="3759200"/>
            <a:ext cx="2946400" cy="127000"/>
          </a:xfrm>
          <a:prstGeom prst="rect">
            <a:avLst/>
          </a:prstGeom>
          <a:noFill/>
        </p:spPr>
        <p:txBody>
          <a:bodyPr wrap="square" lIns="0" rIns="0" tIns="0" bIns="0" anchor="t">
            <a:spAutoFit/>
          </a:bodyPr>
          <a:lstStyle/>
          <a:p>
            <a:pPr algn="l">
              <a:spcAft>
                <a:spcPts val="0"/>
              </a:spcAft>
            </a:pPr>
            <a:r>
              <a:rPr sz="900" b="1" i="0">
                <a:solidFill>
                  <a:srgbClr val="FFFFFF"/>
                </a:solidFill>
                <a:latin typeface="Ubuntu Mono"/>
                <a:ea typeface="Ubuntu Mono"/>
                <a:cs typeface="Ubuntu Mono"/>
                <a:sym typeface="Ubuntu Mono"/>
              </a:rPr>
              <a:t>CUTTING</a:t>
            </a:r>
          </a:p>
        </p:txBody>
      </p:sp>
      <p:sp>
        <p:nvSpPr>
          <p:cNvPr id="32" name="TextBox 31">
            <a:hlinkClick action="ppaction://hlinksldjump" r:id="rId11"/>
          </p:cNvPr>
          <p:cNvSpPr txBox="1"/>
          <p:nvPr/>
        </p:nvSpPr>
        <p:spPr>
          <a:xfrm>
            <a:off x="533400" y="40640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Hydraulic External Cutter (HEC)</a:t>
            </a:r>
          </a:p>
        </p:txBody>
      </p:sp>
      <p:sp>
        <p:nvSpPr>
          <p:cNvPr id="33" name="TextBox 32"/>
          <p:cNvSpPr txBox="1"/>
          <p:nvPr/>
        </p:nvSpPr>
        <p:spPr>
          <a:xfrm>
            <a:off x="2997200" y="40640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11</a:t>
            </a:r>
          </a:p>
        </p:txBody>
      </p:sp>
      <p:sp>
        <p:nvSpPr>
          <p:cNvPr id="34" name="Rectangle 33"/>
          <p:cNvSpPr/>
          <p:nvPr/>
        </p:nvSpPr>
        <p:spPr>
          <a:xfrm>
            <a:off x="533400" y="4248150"/>
            <a:ext cx="2997200" cy="6350"/>
          </a:xfrm>
          <a:prstGeom prst="rect">
            <a:avLst/>
          </a:prstGeom>
          <a:solidFill>
            <a:srgbClr val="D5E1EE"/>
          </a:solidFill>
          <a:ln>
            <a:noFill/>
          </a:ln>
        </p:spPr>
        <p:txBody>
          <a:bodyPr rtlCol="0" anchor="ctr"/>
          <a:lstStyle/>
          <a:p>
            <a:pPr algn="ctr"/>
          </a:p>
        </p:txBody>
      </p:sp>
      <p:sp>
        <p:nvSpPr>
          <p:cNvPr id="35" name="TextBox 34">
            <a:hlinkClick action="ppaction://hlinksldjump" r:id="rId12"/>
          </p:cNvPr>
          <p:cNvSpPr txBox="1"/>
          <p:nvPr/>
        </p:nvSpPr>
        <p:spPr>
          <a:xfrm>
            <a:off x="533400" y="43053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Pipe Cutter</a:t>
            </a:r>
          </a:p>
        </p:txBody>
      </p:sp>
      <p:sp>
        <p:nvSpPr>
          <p:cNvPr id="36" name="TextBox 35"/>
          <p:cNvSpPr txBox="1"/>
          <p:nvPr/>
        </p:nvSpPr>
        <p:spPr>
          <a:xfrm>
            <a:off x="2997200" y="43053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12</a:t>
            </a:r>
          </a:p>
        </p:txBody>
      </p:sp>
      <p:sp>
        <p:nvSpPr>
          <p:cNvPr id="37" name="Rectangle 36"/>
          <p:cNvSpPr/>
          <p:nvPr/>
        </p:nvSpPr>
        <p:spPr>
          <a:xfrm>
            <a:off x="533400" y="4489450"/>
            <a:ext cx="2997200" cy="6350"/>
          </a:xfrm>
          <a:prstGeom prst="rect">
            <a:avLst/>
          </a:prstGeom>
          <a:solidFill>
            <a:srgbClr val="D5E1EE"/>
          </a:solidFill>
          <a:ln>
            <a:noFill/>
          </a:ln>
        </p:spPr>
        <p:txBody>
          <a:bodyPr rtlCol="0" anchor="ctr"/>
          <a:lstStyle/>
          <a:p>
            <a:pPr algn="ctr"/>
          </a:p>
        </p:txBody>
      </p:sp>
      <p:sp>
        <p:nvSpPr>
          <p:cNvPr id="38" name="TextBox 37">
            <a:hlinkClick action="ppaction://hlinksldjump" r:id="rId13"/>
          </p:cNvPr>
          <p:cNvSpPr txBox="1"/>
          <p:nvPr/>
        </p:nvSpPr>
        <p:spPr>
          <a:xfrm>
            <a:off x="533400" y="45466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Section Mill</a:t>
            </a:r>
          </a:p>
        </p:txBody>
      </p:sp>
      <p:sp>
        <p:nvSpPr>
          <p:cNvPr id="39" name="TextBox 38"/>
          <p:cNvSpPr txBox="1"/>
          <p:nvPr/>
        </p:nvSpPr>
        <p:spPr>
          <a:xfrm>
            <a:off x="2997200" y="45466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13</a:t>
            </a:r>
          </a:p>
        </p:txBody>
      </p:sp>
      <p:sp>
        <p:nvSpPr>
          <p:cNvPr id="40" name="Rectangle 39"/>
          <p:cNvSpPr/>
          <p:nvPr/>
        </p:nvSpPr>
        <p:spPr>
          <a:xfrm>
            <a:off x="533400" y="4730750"/>
            <a:ext cx="2997200" cy="6350"/>
          </a:xfrm>
          <a:prstGeom prst="rect">
            <a:avLst/>
          </a:prstGeom>
          <a:solidFill>
            <a:srgbClr val="D5E1EE"/>
          </a:solidFill>
          <a:ln>
            <a:noFill/>
          </a:ln>
        </p:spPr>
        <p:txBody>
          <a:bodyPr rtlCol="0" anchor="ctr"/>
          <a:lstStyle/>
          <a:p>
            <a:pPr algn="ctr"/>
          </a:p>
        </p:txBody>
      </p:sp>
      <p:sp>
        <p:nvSpPr>
          <p:cNvPr id="41" name="Rectangle 40"/>
          <p:cNvSpPr/>
          <p:nvPr/>
        </p:nvSpPr>
        <p:spPr>
          <a:xfrm>
            <a:off x="457200" y="4940300"/>
            <a:ext cx="3149600" cy="279400"/>
          </a:xfrm>
          <a:prstGeom prst="rect">
            <a:avLst/>
          </a:prstGeom>
          <a:solidFill>
            <a:srgbClr val="2BAEF6"/>
          </a:solidFill>
          <a:ln>
            <a:noFill/>
          </a:ln>
        </p:spPr>
        <p:txBody>
          <a:bodyPr rtlCol="0" anchor="ctr"/>
          <a:lstStyle/>
          <a:p>
            <a:pPr algn="ctr"/>
          </a:p>
        </p:txBody>
      </p:sp>
      <p:sp>
        <p:nvSpPr>
          <p:cNvPr id="42" name="TextBox 41"/>
          <p:cNvSpPr txBox="1"/>
          <p:nvPr/>
        </p:nvSpPr>
        <p:spPr>
          <a:xfrm>
            <a:off x="558800" y="4991100"/>
            <a:ext cx="2946400" cy="127000"/>
          </a:xfrm>
          <a:prstGeom prst="rect">
            <a:avLst/>
          </a:prstGeom>
          <a:noFill/>
        </p:spPr>
        <p:txBody>
          <a:bodyPr wrap="square" lIns="0" rIns="0" tIns="0" bIns="0" anchor="t">
            <a:spAutoFit/>
          </a:bodyPr>
          <a:lstStyle/>
          <a:p>
            <a:pPr algn="l">
              <a:spcAft>
                <a:spcPts val="0"/>
              </a:spcAft>
            </a:pPr>
            <a:r>
              <a:rPr sz="900" b="1" i="0">
                <a:solidFill>
                  <a:srgbClr val="FFFFFF"/>
                </a:solidFill>
                <a:latin typeface="Ubuntu Mono"/>
                <a:ea typeface="Ubuntu Mono"/>
                <a:cs typeface="Ubuntu Mono"/>
                <a:sym typeface="Ubuntu Mono"/>
              </a:rPr>
              <a:t>MILLING</a:t>
            </a:r>
          </a:p>
        </p:txBody>
      </p:sp>
      <p:sp>
        <p:nvSpPr>
          <p:cNvPr id="43" name="TextBox 42">
            <a:hlinkClick action="ppaction://hlinksldjump" r:id="rId14"/>
          </p:cNvPr>
          <p:cNvSpPr txBox="1"/>
          <p:nvPr/>
        </p:nvSpPr>
        <p:spPr>
          <a:xfrm>
            <a:off x="533400" y="52959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Economill</a:t>
            </a:r>
          </a:p>
        </p:txBody>
      </p:sp>
      <p:sp>
        <p:nvSpPr>
          <p:cNvPr id="44" name="TextBox 43"/>
          <p:cNvSpPr txBox="1"/>
          <p:nvPr/>
        </p:nvSpPr>
        <p:spPr>
          <a:xfrm>
            <a:off x="2997200" y="52959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14</a:t>
            </a:r>
          </a:p>
        </p:txBody>
      </p:sp>
      <p:sp>
        <p:nvSpPr>
          <p:cNvPr id="45" name="Rectangle 44"/>
          <p:cNvSpPr/>
          <p:nvPr/>
        </p:nvSpPr>
        <p:spPr>
          <a:xfrm>
            <a:off x="533400" y="5480050"/>
            <a:ext cx="2997200" cy="6350"/>
          </a:xfrm>
          <a:prstGeom prst="rect">
            <a:avLst/>
          </a:prstGeom>
          <a:solidFill>
            <a:srgbClr val="D5E1EE"/>
          </a:solidFill>
          <a:ln>
            <a:noFill/>
          </a:ln>
        </p:spPr>
        <p:txBody>
          <a:bodyPr rtlCol="0" anchor="ctr"/>
          <a:lstStyle/>
          <a:p>
            <a:pPr algn="ctr"/>
          </a:p>
        </p:txBody>
      </p:sp>
      <p:sp>
        <p:nvSpPr>
          <p:cNvPr id="46" name="TextBox 45">
            <a:hlinkClick action="ppaction://hlinksldjump" r:id="rId15"/>
          </p:cNvPr>
          <p:cNvSpPr txBox="1"/>
          <p:nvPr/>
        </p:nvSpPr>
        <p:spPr>
          <a:xfrm>
            <a:off x="533400" y="55372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Junk Mill</a:t>
            </a:r>
          </a:p>
        </p:txBody>
      </p:sp>
      <p:sp>
        <p:nvSpPr>
          <p:cNvPr id="47" name="TextBox 46"/>
          <p:cNvSpPr txBox="1"/>
          <p:nvPr/>
        </p:nvSpPr>
        <p:spPr>
          <a:xfrm>
            <a:off x="2997200" y="55372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15</a:t>
            </a:r>
          </a:p>
        </p:txBody>
      </p:sp>
      <p:sp>
        <p:nvSpPr>
          <p:cNvPr id="48" name="Rectangle 47"/>
          <p:cNvSpPr/>
          <p:nvPr/>
        </p:nvSpPr>
        <p:spPr>
          <a:xfrm>
            <a:off x="533400" y="5721350"/>
            <a:ext cx="2997200" cy="6350"/>
          </a:xfrm>
          <a:prstGeom prst="rect">
            <a:avLst/>
          </a:prstGeom>
          <a:solidFill>
            <a:srgbClr val="D5E1EE"/>
          </a:solidFill>
          <a:ln>
            <a:noFill/>
          </a:ln>
        </p:spPr>
        <p:txBody>
          <a:bodyPr rtlCol="0" anchor="ctr"/>
          <a:lstStyle/>
          <a:p>
            <a:pPr algn="ctr"/>
          </a:p>
        </p:txBody>
      </p:sp>
      <p:sp>
        <p:nvSpPr>
          <p:cNvPr id="49" name="TextBox 48">
            <a:hlinkClick action="ppaction://hlinksldjump" r:id="rId16"/>
          </p:cNvPr>
          <p:cNvSpPr txBox="1"/>
          <p:nvPr/>
        </p:nvSpPr>
        <p:spPr>
          <a:xfrm>
            <a:off x="533400" y="57785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Super Junk Mill</a:t>
            </a:r>
          </a:p>
        </p:txBody>
      </p:sp>
      <p:sp>
        <p:nvSpPr>
          <p:cNvPr id="50" name="TextBox 49"/>
          <p:cNvSpPr txBox="1"/>
          <p:nvPr/>
        </p:nvSpPr>
        <p:spPr>
          <a:xfrm>
            <a:off x="2997200" y="57785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16</a:t>
            </a:r>
          </a:p>
        </p:txBody>
      </p:sp>
      <p:sp>
        <p:nvSpPr>
          <p:cNvPr id="51" name="Rectangle 50"/>
          <p:cNvSpPr/>
          <p:nvPr/>
        </p:nvSpPr>
        <p:spPr>
          <a:xfrm>
            <a:off x="533400" y="5962650"/>
            <a:ext cx="2997200" cy="6350"/>
          </a:xfrm>
          <a:prstGeom prst="rect">
            <a:avLst/>
          </a:prstGeom>
          <a:solidFill>
            <a:srgbClr val="D5E1EE"/>
          </a:solidFill>
          <a:ln>
            <a:noFill/>
          </a:ln>
        </p:spPr>
        <p:txBody>
          <a:bodyPr rtlCol="0" anchor="ctr"/>
          <a:lstStyle/>
          <a:p>
            <a:pPr algn="ctr"/>
          </a:p>
        </p:txBody>
      </p:sp>
      <p:sp>
        <p:nvSpPr>
          <p:cNvPr id="52" name="TextBox 51">
            <a:hlinkClick action="ppaction://hlinksldjump" r:id="rId17"/>
          </p:cNvPr>
          <p:cNvSpPr txBox="1"/>
          <p:nvPr/>
        </p:nvSpPr>
        <p:spPr>
          <a:xfrm>
            <a:off x="533400" y="60198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Viper Pilot Mill</a:t>
            </a:r>
          </a:p>
        </p:txBody>
      </p:sp>
      <p:sp>
        <p:nvSpPr>
          <p:cNvPr id="53" name="TextBox 52"/>
          <p:cNvSpPr txBox="1"/>
          <p:nvPr/>
        </p:nvSpPr>
        <p:spPr>
          <a:xfrm>
            <a:off x="2997200" y="60198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17</a:t>
            </a:r>
          </a:p>
        </p:txBody>
      </p:sp>
      <p:sp>
        <p:nvSpPr>
          <p:cNvPr id="54" name="Rectangle 53"/>
          <p:cNvSpPr/>
          <p:nvPr/>
        </p:nvSpPr>
        <p:spPr>
          <a:xfrm>
            <a:off x="533400" y="6203950"/>
            <a:ext cx="2997200" cy="6350"/>
          </a:xfrm>
          <a:prstGeom prst="rect">
            <a:avLst/>
          </a:prstGeom>
          <a:solidFill>
            <a:srgbClr val="D5E1EE"/>
          </a:solidFill>
          <a:ln>
            <a:noFill/>
          </a:ln>
        </p:spPr>
        <p:txBody>
          <a:bodyPr rtlCol="0" anchor="ctr"/>
          <a:lstStyle/>
          <a:p>
            <a:pPr algn="ctr"/>
          </a:p>
        </p:txBody>
      </p:sp>
      <p:sp>
        <p:nvSpPr>
          <p:cNvPr id="55" name="TextBox 54">
            <a:hlinkClick action="ppaction://hlinksldjump" r:id="rId18"/>
          </p:cNvPr>
          <p:cNvSpPr txBox="1"/>
          <p:nvPr/>
        </p:nvSpPr>
        <p:spPr>
          <a:xfrm>
            <a:off x="533400" y="62611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Pilot Mill</a:t>
            </a:r>
          </a:p>
        </p:txBody>
      </p:sp>
      <p:sp>
        <p:nvSpPr>
          <p:cNvPr id="56" name="TextBox 55"/>
          <p:cNvSpPr txBox="1"/>
          <p:nvPr/>
        </p:nvSpPr>
        <p:spPr>
          <a:xfrm>
            <a:off x="2997200" y="62611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18</a:t>
            </a:r>
          </a:p>
        </p:txBody>
      </p:sp>
      <p:sp>
        <p:nvSpPr>
          <p:cNvPr id="57" name="Rectangle 56"/>
          <p:cNvSpPr/>
          <p:nvPr/>
        </p:nvSpPr>
        <p:spPr>
          <a:xfrm>
            <a:off x="533400" y="6445250"/>
            <a:ext cx="2997200" cy="6350"/>
          </a:xfrm>
          <a:prstGeom prst="rect">
            <a:avLst/>
          </a:prstGeom>
          <a:solidFill>
            <a:srgbClr val="D5E1EE"/>
          </a:solidFill>
          <a:ln>
            <a:noFill/>
          </a:ln>
        </p:spPr>
        <p:txBody>
          <a:bodyPr rtlCol="0" anchor="ctr"/>
          <a:lstStyle/>
          <a:p>
            <a:pPr algn="ctr"/>
          </a:p>
        </p:txBody>
      </p:sp>
      <p:sp>
        <p:nvSpPr>
          <p:cNvPr id="58" name="TextBox 57">
            <a:hlinkClick action="ppaction://hlinksldjump" r:id="rId19"/>
          </p:cNvPr>
          <p:cNvSpPr txBox="1"/>
          <p:nvPr/>
        </p:nvSpPr>
        <p:spPr>
          <a:xfrm>
            <a:off x="533400" y="65024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String Mill</a:t>
            </a:r>
          </a:p>
        </p:txBody>
      </p:sp>
      <p:sp>
        <p:nvSpPr>
          <p:cNvPr id="59" name="TextBox 58"/>
          <p:cNvSpPr txBox="1"/>
          <p:nvPr/>
        </p:nvSpPr>
        <p:spPr>
          <a:xfrm>
            <a:off x="2997200" y="65024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19</a:t>
            </a:r>
          </a:p>
        </p:txBody>
      </p:sp>
      <p:sp>
        <p:nvSpPr>
          <p:cNvPr id="60" name="Rectangle 59"/>
          <p:cNvSpPr/>
          <p:nvPr/>
        </p:nvSpPr>
        <p:spPr>
          <a:xfrm>
            <a:off x="533400" y="6686550"/>
            <a:ext cx="2997200" cy="6350"/>
          </a:xfrm>
          <a:prstGeom prst="rect">
            <a:avLst/>
          </a:prstGeom>
          <a:solidFill>
            <a:srgbClr val="D5E1EE"/>
          </a:solidFill>
          <a:ln>
            <a:noFill/>
          </a:ln>
        </p:spPr>
        <p:txBody>
          <a:bodyPr rtlCol="0" anchor="ctr"/>
          <a:lstStyle/>
          <a:p>
            <a:pPr algn="ctr"/>
          </a:p>
        </p:txBody>
      </p:sp>
      <p:sp>
        <p:nvSpPr>
          <p:cNvPr id="61" name="TextBox 60">
            <a:hlinkClick action="ppaction://hlinksldjump" r:id="rId20"/>
          </p:cNvPr>
          <p:cNvSpPr txBox="1"/>
          <p:nvPr/>
        </p:nvSpPr>
        <p:spPr>
          <a:xfrm>
            <a:off x="533400" y="67437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Taper Mill</a:t>
            </a:r>
          </a:p>
        </p:txBody>
      </p:sp>
      <p:sp>
        <p:nvSpPr>
          <p:cNvPr id="62" name="TextBox 61"/>
          <p:cNvSpPr txBox="1"/>
          <p:nvPr/>
        </p:nvSpPr>
        <p:spPr>
          <a:xfrm>
            <a:off x="2997200" y="67437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20</a:t>
            </a:r>
          </a:p>
        </p:txBody>
      </p:sp>
      <p:sp>
        <p:nvSpPr>
          <p:cNvPr id="63" name="Rectangle 62"/>
          <p:cNvSpPr/>
          <p:nvPr/>
        </p:nvSpPr>
        <p:spPr>
          <a:xfrm>
            <a:off x="533400" y="6927850"/>
            <a:ext cx="2997200" cy="6350"/>
          </a:xfrm>
          <a:prstGeom prst="rect">
            <a:avLst/>
          </a:prstGeom>
          <a:solidFill>
            <a:srgbClr val="D5E1EE"/>
          </a:solidFill>
          <a:ln>
            <a:noFill/>
          </a:ln>
        </p:spPr>
        <p:txBody>
          <a:bodyPr rtlCol="0" anchor="ctr"/>
          <a:lstStyle/>
          <a:p>
            <a:pPr algn="ctr"/>
          </a:p>
        </p:txBody>
      </p:sp>
      <p:sp>
        <p:nvSpPr>
          <p:cNvPr id="64" name="TextBox 63">
            <a:hlinkClick action="ppaction://hlinksldjump" r:id="rId21"/>
          </p:cNvPr>
          <p:cNvSpPr txBox="1"/>
          <p:nvPr/>
        </p:nvSpPr>
        <p:spPr>
          <a:xfrm>
            <a:off x="533400" y="69850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Washover Shoe</a:t>
            </a:r>
          </a:p>
        </p:txBody>
      </p:sp>
      <p:sp>
        <p:nvSpPr>
          <p:cNvPr id="65" name="TextBox 64"/>
          <p:cNvSpPr txBox="1"/>
          <p:nvPr/>
        </p:nvSpPr>
        <p:spPr>
          <a:xfrm>
            <a:off x="2997200" y="69850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21</a:t>
            </a:r>
          </a:p>
        </p:txBody>
      </p:sp>
      <p:sp>
        <p:nvSpPr>
          <p:cNvPr id="66" name="Rectangle 65"/>
          <p:cNvSpPr/>
          <p:nvPr/>
        </p:nvSpPr>
        <p:spPr>
          <a:xfrm>
            <a:off x="533400" y="7169150"/>
            <a:ext cx="2997200" cy="6350"/>
          </a:xfrm>
          <a:prstGeom prst="rect">
            <a:avLst/>
          </a:prstGeom>
          <a:solidFill>
            <a:srgbClr val="D5E1EE"/>
          </a:solidFill>
          <a:ln>
            <a:noFill/>
          </a:ln>
        </p:spPr>
        <p:txBody>
          <a:bodyPr rtlCol="0" anchor="ctr"/>
          <a:lstStyle/>
          <a:p>
            <a:pPr algn="ctr"/>
          </a:p>
        </p:txBody>
      </p:sp>
      <p:sp>
        <p:nvSpPr>
          <p:cNvPr id="67" name="Rectangle 66"/>
          <p:cNvSpPr/>
          <p:nvPr/>
        </p:nvSpPr>
        <p:spPr>
          <a:xfrm>
            <a:off x="3949700" y="1270000"/>
            <a:ext cx="3149600" cy="279400"/>
          </a:xfrm>
          <a:prstGeom prst="rect">
            <a:avLst/>
          </a:prstGeom>
          <a:solidFill>
            <a:srgbClr val="194E9A"/>
          </a:solidFill>
          <a:ln>
            <a:noFill/>
          </a:ln>
        </p:spPr>
        <p:txBody>
          <a:bodyPr rtlCol="0" anchor="ctr"/>
          <a:lstStyle/>
          <a:p>
            <a:pPr algn="ctr"/>
          </a:p>
        </p:txBody>
      </p:sp>
      <p:sp>
        <p:nvSpPr>
          <p:cNvPr id="68" name="TextBox 67"/>
          <p:cNvSpPr txBox="1"/>
          <p:nvPr/>
        </p:nvSpPr>
        <p:spPr>
          <a:xfrm>
            <a:off x="4051300" y="1320800"/>
            <a:ext cx="2946400" cy="127000"/>
          </a:xfrm>
          <a:prstGeom prst="rect">
            <a:avLst/>
          </a:prstGeom>
          <a:noFill/>
        </p:spPr>
        <p:txBody>
          <a:bodyPr wrap="square" lIns="0" rIns="0" tIns="0" bIns="0" anchor="t">
            <a:spAutoFit/>
          </a:bodyPr>
          <a:lstStyle/>
          <a:p>
            <a:pPr algn="l">
              <a:spcAft>
                <a:spcPts val="0"/>
              </a:spcAft>
            </a:pPr>
            <a:r>
              <a:rPr sz="900" b="1" i="0">
                <a:solidFill>
                  <a:srgbClr val="FFFFFF"/>
                </a:solidFill>
                <a:latin typeface="Ubuntu Mono"/>
                <a:ea typeface="Ubuntu Mono"/>
                <a:cs typeface="Ubuntu Mono"/>
                <a:sym typeface="Ubuntu Mono"/>
              </a:rPr>
              <a:t>HOLE ENLARGEMENT</a:t>
            </a:r>
          </a:p>
        </p:txBody>
      </p:sp>
      <p:sp>
        <p:nvSpPr>
          <p:cNvPr id="69" name="TextBox 68">
            <a:hlinkClick action="ppaction://hlinksldjump" r:id="rId22"/>
          </p:cNvPr>
          <p:cNvSpPr txBox="1"/>
          <p:nvPr/>
        </p:nvSpPr>
        <p:spPr>
          <a:xfrm>
            <a:off x="4025900" y="16256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RTU</a:t>
            </a:r>
          </a:p>
        </p:txBody>
      </p:sp>
      <p:sp>
        <p:nvSpPr>
          <p:cNvPr id="70" name="TextBox 69"/>
          <p:cNvSpPr txBox="1"/>
          <p:nvPr/>
        </p:nvSpPr>
        <p:spPr>
          <a:xfrm>
            <a:off x="6489700" y="16256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22</a:t>
            </a:r>
          </a:p>
        </p:txBody>
      </p:sp>
      <p:sp>
        <p:nvSpPr>
          <p:cNvPr id="71" name="Rectangle 70"/>
          <p:cNvSpPr/>
          <p:nvPr/>
        </p:nvSpPr>
        <p:spPr>
          <a:xfrm>
            <a:off x="4025900" y="1809750"/>
            <a:ext cx="2997200" cy="6350"/>
          </a:xfrm>
          <a:prstGeom prst="rect">
            <a:avLst/>
          </a:prstGeom>
          <a:solidFill>
            <a:srgbClr val="D5E1EE"/>
          </a:solidFill>
          <a:ln>
            <a:noFill/>
          </a:ln>
        </p:spPr>
        <p:txBody>
          <a:bodyPr rtlCol="0" anchor="ctr"/>
          <a:lstStyle/>
          <a:p>
            <a:pPr algn="ctr"/>
          </a:p>
        </p:txBody>
      </p:sp>
      <p:sp>
        <p:nvSpPr>
          <p:cNvPr id="72" name="TextBox 71">
            <a:hlinkClick action="ppaction://hlinksldjump" r:id="rId23"/>
          </p:cNvPr>
          <p:cNvSpPr txBox="1"/>
          <p:nvPr/>
        </p:nvSpPr>
        <p:spPr>
          <a:xfrm>
            <a:off x="4025900" y="18669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DTU</a:t>
            </a:r>
          </a:p>
        </p:txBody>
      </p:sp>
      <p:sp>
        <p:nvSpPr>
          <p:cNvPr id="73" name="TextBox 72"/>
          <p:cNvSpPr txBox="1"/>
          <p:nvPr/>
        </p:nvSpPr>
        <p:spPr>
          <a:xfrm>
            <a:off x="6489700" y="18669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23</a:t>
            </a:r>
          </a:p>
        </p:txBody>
      </p:sp>
      <p:sp>
        <p:nvSpPr>
          <p:cNvPr id="74" name="Rectangle 73"/>
          <p:cNvSpPr/>
          <p:nvPr/>
        </p:nvSpPr>
        <p:spPr>
          <a:xfrm>
            <a:off x="4025900" y="2051050"/>
            <a:ext cx="2997200" cy="6350"/>
          </a:xfrm>
          <a:prstGeom prst="rect">
            <a:avLst/>
          </a:prstGeom>
          <a:solidFill>
            <a:srgbClr val="D5E1EE"/>
          </a:solidFill>
          <a:ln>
            <a:noFill/>
          </a:ln>
        </p:spPr>
        <p:txBody>
          <a:bodyPr rtlCol="0" anchor="ctr"/>
          <a:lstStyle/>
          <a:p>
            <a:pPr algn="ctr"/>
          </a:p>
        </p:txBody>
      </p:sp>
      <p:sp>
        <p:nvSpPr>
          <p:cNvPr id="75" name="TextBox 74">
            <a:hlinkClick action="ppaction://hlinksldjump" r:id="rId24"/>
          </p:cNvPr>
          <p:cNvSpPr txBox="1"/>
          <p:nvPr/>
        </p:nvSpPr>
        <p:spPr>
          <a:xfrm>
            <a:off x="4025900" y="21082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Hole Opener</a:t>
            </a:r>
          </a:p>
        </p:txBody>
      </p:sp>
      <p:sp>
        <p:nvSpPr>
          <p:cNvPr id="76" name="TextBox 75"/>
          <p:cNvSpPr txBox="1"/>
          <p:nvPr/>
        </p:nvSpPr>
        <p:spPr>
          <a:xfrm>
            <a:off x="6489700" y="21082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24</a:t>
            </a:r>
          </a:p>
        </p:txBody>
      </p:sp>
      <p:sp>
        <p:nvSpPr>
          <p:cNvPr id="77" name="Rectangle 76"/>
          <p:cNvSpPr/>
          <p:nvPr/>
        </p:nvSpPr>
        <p:spPr>
          <a:xfrm>
            <a:off x="4025900" y="2292350"/>
            <a:ext cx="2997200" cy="6350"/>
          </a:xfrm>
          <a:prstGeom prst="rect">
            <a:avLst/>
          </a:prstGeom>
          <a:solidFill>
            <a:srgbClr val="D5E1EE"/>
          </a:solidFill>
          <a:ln>
            <a:noFill/>
          </a:ln>
        </p:spPr>
        <p:txBody>
          <a:bodyPr rtlCol="0" anchor="ctr"/>
          <a:lstStyle/>
          <a:p>
            <a:pPr algn="ctr"/>
          </a:p>
        </p:txBody>
      </p:sp>
      <p:sp>
        <p:nvSpPr>
          <p:cNvPr id="78" name="TextBox 77">
            <a:hlinkClick action="ppaction://hlinksldjump" r:id="rId25"/>
          </p:cNvPr>
          <p:cNvSpPr txBox="1"/>
          <p:nvPr/>
        </p:nvSpPr>
        <p:spPr>
          <a:xfrm>
            <a:off x="4025900" y="23495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SPX</a:t>
            </a:r>
          </a:p>
        </p:txBody>
      </p:sp>
      <p:sp>
        <p:nvSpPr>
          <p:cNvPr id="79" name="TextBox 78"/>
          <p:cNvSpPr txBox="1"/>
          <p:nvPr/>
        </p:nvSpPr>
        <p:spPr>
          <a:xfrm>
            <a:off x="6489700" y="23495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25</a:t>
            </a:r>
          </a:p>
        </p:txBody>
      </p:sp>
      <p:sp>
        <p:nvSpPr>
          <p:cNvPr id="80" name="Rectangle 79"/>
          <p:cNvSpPr/>
          <p:nvPr/>
        </p:nvSpPr>
        <p:spPr>
          <a:xfrm>
            <a:off x="4025900" y="2533650"/>
            <a:ext cx="2997200" cy="6350"/>
          </a:xfrm>
          <a:prstGeom prst="rect">
            <a:avLst/>
          </a:prstGeom>
          <a:solidFill>
            <a:srgbClr val="D5E1EE"/>
          </a:solidFill>
          <a:ln>
            <a:noFill/>
          </a:ln>
        </p:spPr>
        <p:txBody>
          <a:bodyPr rtlCol="0" anchor="ctr"/>
          <a:lstStyle/>
          <a:p>
            <a:pPr algn="ctr"/>
          </a:p>
        </p:txBody>
      </p:sp>
      <p:sp>
        <p:nvSpPr>
          <p:cNvPr id="81" name="Rectangle 80"/>
          <p:cNvSpPr/>
          <p:nvPr/>
        </p:nvSpPr>
        <p:spPr>
          <a:xfrm>
            <a:off x="3949700" y="2743200"/>
            <a:ext cx="3149600" cy="279400"/>
          </a:xfrm>
          <a:prstGeom prst="rect">
            <a:avLst/>
          </a:prstGeom>
          <a:solidFill>
            <a:srgbClr val="0F7FCB"/>
          </a:solidFill>
          <a:ln>
            <a:noFill/>
          </a:ln>
        </p:spPr>
        <p:txBody>
          <a:bodyPr rtlCol="0" anchor="ctr"/>
          <a:lstStyle/>
          <a:p>
            <a:pPr algn="ctr"/>
          </a:p>
        </p:txBody>
      </p:sp>
      <p:sp>
        <p:nvSpPr>
          <p:cNvPr id="82" name="TextBox 81"/>
          <p:cNvSpPr txBox="1"/>
          <p:nvPr/>
        </p:nvSpPr>
        <p:spPr>
          <a:xfrm>
            <a:off x="4051300" y="2794000"/>
            <a:ext cx="2946400" cy="127000"/>
          </a:xfrm>
          <a:prstGeom prst="rect">
            <a:avLst/>
          </a:prstGeom>
          <a:noFill/>
        </p:spPr>
        <p:txBody>
          <a:bodyPr wrap="square" lIns="0" rIns="0" tIns="0" bIns="0" anchor="t">
            <a:spAutoFit/>
          </a:bodyPr>
          <a:lstStyle/>
          <a:p>
            <a:pPr algn="l">
              <a:spcAft>
                <a:spcPts val="0"/>
              </a:spcAft>
            </a:pPr>
            <a:r>
              <a:rPr sz="900" b="1" i="0">
                <a:solidFill>
                  <a:srgbClr val="FFFFFF"/>
                </a:solidFill>
                <a:latin typeface="Ubuntu Mono"/>
                <a:ea typeface="Ubuntu Mono"/>
                <a:cs typeface="Ubuntu Mono"/>
                <a:sym typeface="Ubuntu Mono"/>
              </a:rPr>
              <a:t>JARRING AND IMPACT</a:t>
            </a:r>
          </a:p>
        </p:txBody>
      </p:sp>
      <p:sp>
        <p:nvSpPr>
          <p:cNvPr id="83" name="TextBox 82">
            <a:hlinkClick action="ppaction://hlinksldjump" r:id="rId26"/>
          </p:cNvPr>
          <p:cNvSpPr txBox="1"/>
          <p:nvPr/>
        </p:nvSpPr>
        <p:spPr>
          <a:xfrm>
            <a:off x="4025900" y="30988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Intensifier</a:t>
            </a:r>
          </a:p>
        </p:txBody>
      </p:sp>
      <p:sp>
        <p:nvSpPr>
          <p:cNvPr id="84" name="TextBox 83"/>
          <p:cNvSpPr txBox="1"/>
          <p:nvPr/>
        </p:nvSpPr>
        <p:spPr>
          <a:xfrm>
            <a:off x="6489700" y="30988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26</a:t>
            </a:r>
          </a:p>
        </p:txBody>
      </p:sp>
      <p:sp>
        <p:nvSpPr>
          <p:cNvPr id="85" name="Rectangle 84"/>
          <p:cNvSpPr/>
          <p:nvPr/>
        </p:nvSpPr>
        <p:spPr>
          <a:xfrm>
            <a:off x="4025900" y="3282950"/>
            <a:ext cx="2997200" cy="6350"/>
          </a:xfrm>
          <a:prstGeom prst="rect">
            <a:avLst/>
          </a:prstGeom>
          <a:solidFill>
            <a:srgbClr val="D5E1EE"/>
          </a:solidFill>
          <a:ln>
            <a:noFill/>
          </a:ln>
        </p:spPr>
        <p:txBody>
          <a:bodyPr rtlCol="0" anchor="ctr"/>
          <a:lstStyle/>
          <a:p>
            <a:pPr algn="ctr"/>
          </a:p>
        </p:txBody>
      </p:sp>
      <p:sp>
        <p:nvSpPr>
          <p:cNvPr id="86" name="TextBox 85">
            <a:hlinkClick action="ppaction://hlinksldjump" r:id="rId27"/>
          </p:cNvPr>
          <p:cNvSpPr txBox="1"/>
          <p:nvPr/>
        </p:nvSpPr>
        <p:spPr>
          <a:xfrm>
            <a:off x="4025900" y="33401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Jar Z</a:t>
            </a:r>
          </a:p>
        </p:txBody>
      </p:sp>
      <p:sp>
        <p:nvSpPr>
          <p:cNvPr id="87" name="TextBox 86"/>
          <p:cNvSpPr txBox="1"/>
          <p:nvPr/>
        </p:nvSpPr>
        <p:spPr>
          <a:xfrm>
            <a:off x="6489700" y="33401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27</a:t>
            </a:r>
          </a:p>
        </p:txBody>
      </p:sp>
      <p:sp>
        <p:nvSpPr>
          <p:cNvPr id="88" name="Rectangle 87"/>
          <p:cNvSpPr/>
          <p:nvPr/>
        </p:nvSpPr>
        <p:spPr>
          <a:xfrm>
            <a:off x="4025900" y="3524250"/>
            <a:ext cx="2997200" cy="6350"/>
          </a:xfrm>
          <a:prstGeom prst="rect">
            <a:avLst/>
          </a:prstGeom>
          <a:solidFill>
            <a:srgbClr val="D5E1EE"/>
          </a:solidFill>
          <a:ln>
            <a:noFill/>
          </a:ln>
        </p:spPr>
        <p:txBody>
          <a:bodyPr rtlCol="0" anchor="ctr"/>
          <a:lstStyle/>
          <a:p>
            <a:pPr algn="ctr"/>
          </a:p>
        </p:txBody>
      </p:sp>
      <p:sp>
        <p:nvSpPr>
          <p:cNvPr id="89" name="TextBox 88">
            <a:hlinkClick action="ppaction://hlinksldjump" r:id="rId28"/>
          </p:cNvPr>
          <p:cNvSpPr txBox="1"/>
          <p:nvPr/>
        </p:nvSpPr>
        <p:spPr>
          <a:xfrm>
            <a:off x="4025900" y="35814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Bumper Sub</a:t>
            </a:r>
          </a:p>
        </p:txBody>
      </p:sp>
      <p:sp>
        <p:nvSpPr>
          <p:cNvPr id="90" name="TextBox 89"/>
          <p:cNvSpPr txBox="1"/>
          <p:nvPr/>
        </p:nvSpPr>
        <p:spPr>
          <a:xfrm>
            <a:off x="6489700" y="35814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28</a:t>
            </a:r>
          </a:p>
        </p:txBody>
      </p:sp>
      <p:sp>
        <p:nvSpPr>
          <p:cNvPr id="91" name="Rectangle 90"/>
          <p:cNvSpPr/>
          <p:nvPr/>
        </p:nvSpPr>
        <p:spPr>
          <a:xfrm>
            <a:off x="4025900" y="3765550"/>
            <a:ext cx="2997200" cy="6350"/>
          </a:xfrm>
          <a:prstGeom prst="rect">
            <a:avLst/>
          </a:prstGeom>
          <a:solidFill>
            <a:srgbClr val="D5E1EE"/>
          </a:solidFill>
          <a:ln>
            <a:noFill/>
          </a:ln>
        </p:spPr>
        <p:txBody>
          <a:bodyPr rtlCol="0" anchor="ctr"/>
          <a:lstStyle/>
          <a:p>
            <a:pPr algn="ctr"/>
          </a:p>
        </p:txBody>
      </p:sp>
      <p:sp>
        <p:nvSpPr>
          <p:cNvPr id="92" name="TextBox 91">
            <a:hlinkClick action="ppaction://hlinksldjump" r:id="rId29"/>
          </p:cNvPr>
          <p:cNvSpPr txBox="1"/>
          <p:nvPr/>
        </p:nvSpPr>
        <p:spPr>
          <a:xfrm>
            <a:off x="4025900" y="38227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Drilling Jar</a:t>
            </a:r>
          </a:p>
        </p:txBody>
      </p:sp>
      <p:sp>
        <p:nvSpPr>
          <p:cNvPr id="93" name="TextBox 92"/>
          <p:cNvSpPr txBox="1"/>
          <p:nvPr/>
        </p:nvSpPr>
        <p:spPr>
          <a:xfrm>
            <a:off x="6489700" y="38227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29</a:t>
            </a:r>
          </a:p>
        </p:txBody>
      </p:sp>
      <p:sp>
        <p:nvSpPr>
          <p:cNvPr id="94" name="Rectangle 93"/>
          <p:cNvSpPr/>
          <p:nvPr/>
        </p:nvSpPr>
        <p:spPr>
          <a:xfrm>
            <a:off x="4025900" y="4006850"/>
            <a:ext cx="2997200" cy="6350"/>
          </a:xfrm>
          <a:prstGeom prst="rect">
            <a:avLst/>
          </a:prstGeom>
          <a:solidFill>
            <a:srgbClr val="D5E1EE"/>
          </a:solidFill>
          <a:ln>
            <a:noFill/>
          </a:ln>
        </p:spPr>
        <p:txBody>
          <a:bodyPr rtlCol="0" anchor="ctr"/>
          <a:lstStyle/>
          <a:p>
            <a:pPr algn="ctr"/>
          </a:p>
        </p:txBody>
      </p:sp>
      <p:sp>
        <p:nvSpPr>
          <p:cNvPr id="95" name="TextBox 94">
            <a:hlinkClick action="ppaction://hlinksldjump" r:id="rId30"/>
          </p:cNvPr>
          <p:cNvSpPr txBox="1"/>
          <p:nvPr/>
        </p:nvSpPr>
        <p:spPr>
          <a:xfrm>
            <a:off x="4025900" y="40640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Safety Joint</a:t>
            </a:r>
          </a:p>
        </p:txBody>
      </p:sp>
      <p:sp>
        <p:nvSpPr>
          <p:cNvPr id="96" name="TextBox 95"/>
          <p:cNvSpPr txBox="1"/>
          <p:nvPr/>
        </p:nvSpPr>
        <p:spPr>
          <a:xfrm>
            <a:off x="6489700" y="40640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30</a:t>
            </a:r>
          </a:p>
        </p:txBody>
      </p:sp>
      <p:sp>
        <p:nvSpPr>
          <p:cNvPr id="97" name="Rectangle 96"/>
          <p:cNvSpPr/>
          <p:nvPr/>
        </p:nvSpPr>
        <p:spPr>
          <a:xfrm>
            <a:off x="4025900" y="4248150"/>
            <a:ext cx="2997200" cy="6350"/>
          </a:xfrm>
          <a:prstGeom prst="rect">
            <a:avLst/>
          </a:prstGeom>
          <a:solidFill>
            <a:srgbClr val="D5E1EE"/>
          </a:solidFill>
          <a:ln>
            <a:noFill/>
          </a:ln>
        </p:spPr>
        <p:txBody>
          <a:bodyPr rtlCol="0" anchor="ctr"/>
          <a:lstStyle/>
          <a:p>
            <a:pPr algn="ctr"/>
          </a:p>
        </p:txBody>
      </p:sp>
      <p:sp>
        <p:nvSpPr>
          <p:cNvPr id="98" name="Rectangle 97"/>
          <p:cNvSpPr/>
          <p:nvPr/>
        </p:nvSpPr>
        <p:spPr>
          <a:xfrm>
            <a:off x="3949700" y="4457700"/>
            <a:ext cx="3149600" cy="279400"/>
          </a:xfrm>
          <a:prstGeom prst="rect">
            <a:avLst/>
          </a:prstGeom>
          <a:solidFill>
            <a:srgbClr val="2BAEF6"/>
          </a:solidFill>
          <a:ln>
            <a:noFill/>
          </a:ln>
        </p:spPr>
        <p:txBody>
          <a:bodyPr rtlCol="0" anchor="ctr"/>
          <a:lstStyle/>
          <a:p>
            <a:pPr algn="ctr"/>
          </a:p>
        </p:txBody>
      </p:sp>
      <p:sp>
        <p:nvSpPr>
          <p:cNvPr id="99" name="TextBox 98"/>
          <p:cNvSpPr txBox="1"/>
          <p:nvPr/>
        </p:nvSpPr>
        <p:spPr>
          <a:xfrm>
            <a:off x="4051300" y="4508500"/>
            <a:ext cx="2946400" cy="127000"/>
          </a:xfrm>
          <a:prstGeom prst="rect">
            <a:avLst/>
          </a:prstGeom>
          <a:noFill/>
        </p:spPr>
        <p:txBody>
          <a:bodyPr wrap="square" lIns="0" rIns="0" tIns="0" bIns="0" anchor="t">
            <a:spAutoFit/>
          </a:bodyPr>
          <a:lstStyle/>
          <a:p>
            <a:pPr algn="l">
              <a:spcAft>
                <a:spcPts val="0"/>
              </a:spcAft>
            </a:pPr>
            <a:r>
              <a:rPr sz="900" b="1" i="0">
                <a:solidFill>
                  <a:srgbClr val="FFFFFF"/>
                </a:solidFill>
                <a:latin typeface="Ubuntu Mono"/>
                <a:ea typeface="Ubuntu Mono"/>
                <a:cs typeface="Ubuntu Mono"/>
                <a:sym typeface="Ubuntu Mono"/>
              </a:rPr>
              <a:t>CATCHING TOOLS</a:t>
            </a:r>
          </a:p>
        </p:txBody>
      </p:sp>
      <p:sp>
        <p:nvSpPr>
          <p:cNvPr id="100" name="TextBox 99">
            <a:hlinkClick action="ppaction://hlinksldjump" r:id="rId31"/>
          </p:cNvPr>
          <p:cNvSpPr txBox="1"/>
          <p:nvPr/>
        </p:nvSpPr>
        <p:spPr>
          <a:xfrm>
            <a:off x="4025900" y="48133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Die Collar</a:t>
            </a:r>
          </a:p>
        </p:txBody>
      </p:sp>
      <p:sp>
        <p:nvSpPr>
          <p:cNvPr id="101" name="TextBox 100"/>
          <p:cNvSpPr txBox="1"/>
          <p:nvPr/>
        </p:nvSpPr>
        <p:spPr>
          <a:xfrm>
            <a:off x="6489700" y="48133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31</a:t>
            </a:r>
          </a:p>
        </p:txBody>
      </p:sp>
      <p:sp>
        <p:nvSpPr>
          <p:cNvPr id="102" name="Rectangle 101"/>
          <p:cNvSpPr/>
          <p:nvPr/>
        </p:nvSpPr>
        <p:spPr>
          <a:xfrm>
            <a:off x="4025900" y="4997450"/>
            <a:ext cx="2997200" cy="6350"/>
          </a:xfrm>
          <a:prstGeom prst="rect">
            <a:avLst/>
          </a:prstGeom>
          <a:solidFill>
            <a:srgbClr val="D5E1EE"/>
          </a:solidFill>
          <a:ln>
            <a:noFill/>
          </a:ln>
        </p:spPr>
        <p:txBody>
          <a:bodyPr rtlCol="0" anchor="ctr"/>
          <a:lstStyle/>
          <a:p>
            <a:pPr algn="ctr"/>
          </a:p>
        </p:txBody>
      </p:sp>
      <p:sp>
        <p:nvSpPr>
          <p:cNvPr id="103" name="TextBox 102">
            <a:hlinkClick action="ppaction://hlinksldjump" r:id="rId32"/>
          </p:cNvPr>
          <p:cNvSpPr txBox="1"/>
          <p:nvPr/>
        </p:nvSpPr>
        <p:spPr>
          <a:xfrm>
            <a:off x="4025900" y="50546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Hook</a:t>
            </a:r>
          </a:p>
        </p:txBody>
      </p:sp>
      <p:sp>
        <p:nvSpPr>
          <p:cNvPr id="104" name="TextBox 103"/>
          <p:cNvSpPr txBox="1"/>
          <p:nvPr/>
        </p:nvSpPr>
        <p:spPr>
          <a:xfrm>
            <a:off x="6489700" y="50546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32</a:t>
            </a:r>
          </a:p>
        </p:txBody>
      </p:sp>
      <p:sp>
        <p:nvSpPr>
          <p:cNvPr id="105" name="Rectangle 104"/>
          <p:cNvSpPr/>
          <p:nvPr/>
        </p:nvSpPr>
        <p:spPr>
          <a:xfrm>
            <a:off x="4025900" y="5238750"/>
            <a:ext cx="2997200" cy="6350"/>
          </a:xfrm>
          <a:prstGeom prst="rect">
            <a:avLst/>
          </a:prstGeom>
          <a:solidFill>
            <a:srgbClr val="D5E1EE"/>
          </a:solidFill>
          <a:ln>
            <a:noFill/>
          </a:ln>
        </p:spPr>
        <p:txBody>
          <a:bodyPr rtlCol="0" anchor="ctr"/>
          <a:lstStyle/>
          <a:p>
            <a:pPr algn="ctr"/>
          </a:p>
        </p:txBody>
      </p:sp>
      <p:sp>
        <p:nvSpPr>
          <p:cNvPr id="106" name="TextBox 105">
            <a:hlinkClick action="ppaction://hlinksldjump" r:id="rId33"/>
          </p:cNvPr>
          <p:cNvSpPr txBox="1"/>
          <p:nvPr/>
        </p:nvSpPr>
        <p:spPr>
          <a:xfrm>
            <a:off x="4025900" y="52959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Overshot</a:t>
            </a:r>
          </a:p>
        </p:txBody>
      </p:sp>
      <p:sp>
        <p:nvSpPr>
          <p:cNvPr id="107" name="TextBox 106"/>
          <p:cNvSpPr txBox="1"/>
          <p:nvPr/>
        </p:nvSpPr>
        <p:spPr>
          <a:xfrm>
            <a:off x="6489700" y="52959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33</a:t>
            </a:r>
          </a:p>
        </p:txBody>
      </p:sp>
      <p:sp>
        <p:nvSpPr>
          <p:cNvPr id="108" name="Rectangle 107"/>
          <p:cNvSpPr/>
          <p:nvPr/>
        </p:nvSpPr>
        <p:spPr>
          <a:xfrm>
            <a:off x="4025900" y="5480050"/>
            <a:ext cx="2997200" cy="6350"/>
          </a:xfrm>
          <a:prstGeom prst="rect">
            <a:avLst/>
          </a:prstGeom>
          <a:solidFill>
            <a:srgbClr val="D5E1EE"/>
          </a:solidFill>
          <a:ln>
            <a:noFill/>
          </a:ln>
        </p:spPr>
        <p:txBody>
          <a:bodyPr rtlCol="0" anchor="ctr"/>
          <a:lstStyle/>
          <a:p>
            <a:pPr algn="ctr"/>
          </a:p>
        </p:txBody>
      </p:sp>
      <p:sp>
        <p:nvSpPr>
          <p:cNvPr id="109" name="TextBox 108">
            <a:hlinkClick action="ppaction://hlinksldjump" r:id="rId34"/>
          </p:cNvPr>
          <p:cNvSpPr txBox="1"/>
          <p:nvPr/>
        </p:nvSpPr>
        <p:spPr>
          <a:xfrm>
            <a:off x="4025900" y="55372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Taper Tap</a:t>
            </a:r>
          </a:p>
        </p:txBody>
      </p:sp>
      <p:sp>
        <p:nvSpPr>
          <p:cNvPr id="110" name="TextBox 109"/>
          <p:cNvSpPr txBox="1"/>
          <p:nvPr/>
        </p:nvSpPr>
        <p:spPr>
          <a:xfrm>
            <a:off x="6489700" y="55372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34</a:t>
            </a:r>
          </a:p>
        </p:txBody>
      </p:sp>
      <p:sp>
        <p:nvSpPr>
          <p:cNvPr id="111" name="Rectangle 110"/>
          <p:cNvSpPr/>
          <p:nvPr/>
        </p:nvSpPr>
        <p:spPr>
          <a:xfrm>
            <a:off x="4025900" y="5721350"/>
            <a:ext cx="2997200" cy="6350"/>
          </a:xfrm>
          <a:prstGeom prst="rect">
            <a:avLst/>
          </a:prstGeom>
          <a:solidFill>
            <a:srgbClr val="D5E1EE"/>
          </a:solidFill>
          <a:ln>
            <a:noFill/>
          </a:ln>
        </p:spPr>
        <p:txBody>
          <a:bodyPr rtlCol="0" anchor="ctr"/>
          <a:lstStyle/>
          <a:p>
            <a:pPr algn="ctr"/>
          </a:p>
        </p:txBody>
      </p:sp>
      <p:sp>
        <p:nvSpPr>
          <p:cNvPr id="112" name="TextBox 111">
            <a:hlinkClick action="ppaction://hlinksldjump" r:id="rId35"/>
          </p:cNvPr>
          <p:cNvSpPr txBox="1"/>
          <p:nvPr/>
        </p:nvSpPr>
        <p:spPr>
          <a:xfrm>
            <a:off x="4025900" y="57785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Spear</a:t>
            </a:r>
          </a:p>
        </p:txBody>
      </p:sp>
      <p:sp>
        <p:nvSpPr>
          <p:cNvPr id="113" name="TextBox 112"/>
          <p:cNvSpPr txBox="1"/>
          <p:nvPr/>
        </p:nvSpPr>
        <p:spPr>
          <a:xfrm>
            <a:off x="6489700" y="57785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35</a:t>
            </a:r>
          </a:p>
        </p:txBody>
      </p:sp>
      <p:sp>
        <p:nvSpPr>
          <p:cNvPr id="114" name="Rectangle 113"/>
          <p:cNvSpPr/>
          <p:nvPr/>
        </p:nvSpPr>
        <p:spPr>
          <a:xfrm>
            <a:off x="4025900" y="5962650"/>
            <a:ext cx="2997200" cy="6350"/>
          </a:xfrm>
          <a:prstGeom prst="rect">
            <a:avLst/>
          </a:prstGeom>
          <a:solidFill>
            <a:srgbClr val="D5E1EE"/>
          </a:solidFill>
          <a:ln>
            <a:noFill/>
          </a:ln>
        </p:spPr>
        <p:txBody>
          <a:bodyPr rtlCol="0" anchor="ctr"/>
          <a:lstStyle/>
          <a:p>
            <a:pPr algn="ctr"/>
          </a:p>
        </p:txBody>
      </p:sp>
      <p:sp>
        <p:nvSpPr>
          <p:cNvPr id="115" name="TextBox 114">
            <a:hlinkClick action="ppaction://hlinksldjump" r:id="rId36"/>
          </p:cNvPr>
          <p:cNvSpPr txBox="1"/>
          <p:nvPr/>
        </p:nvSpPr>
        <p:spPr>
          <a:xfrm>
            <a:off x="4025900" y="60198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T-Tang (T catch)</a:t>
            </a:r>
          </a:p>
        </p:txBody>
      </p:sp>
      <p:sp>
        <p:nvSpPr>
          <p:cNvPr id="116" name="TextBox 115"/>
          <p:cNvSpPr txBox="1"/>
          <p:nvPr/>
        </p:nvSpPr>
        <p:spPr>
          <a:xfrm>
            <a:off x="6489700" y="60198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36</a:t>
            </a:r>
          </a:p>
        </p:txBody>
      </p:sp>
      <p:sp>
        <p:nvSpPr>
          <p:cNvPr id="117" name="Rectangle 116"/>
          <p:cNvSpPr/>
          <p:nvPr/>
        </p:nvSpPr>
        <p:spPr>
          <a:xfrm>
            <a:off x="4025900" y="6203950"/>
            <a:ext cx="2997200" cy="6350"/>
          </a:xfrm>
          <a:prstGeom prst="rect">
            <a:avLst/>
          </a:prstGeom>
          <a:solidFill>
            <a:srgbClr val="D5E1EE"/>
          </a:solidFill>
          <a:ln>
            <a:noFill/>
          </a:ln>
        </p:spPr>
        <p:txBody>
          <a:bodyPr rtlCol="0" anchor="ctr"/>
          <a:lstStyle/>
          <a:p>
            <a:pPr algn="ctr"/>
          </a:p>
        </p:txBody>
      </p:sp>
      <p:sp>
        <p:nvSpPr>
          <p:cNvPr id="118" name="TextBox 117">
            <a:hlinkClick action="ppaction://hlinksldjump" r:id="rId37"/>
          </p:cNvPr>
          <p:cNvSpPr txBox="1"/>
          <p:nvPr/>
        </p:nvSpPr>
        <p:spPr>
          <a:xfrm>
            <a:off x="4025900" y="62611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T-Dog 4-11/16</a:t>
            </a:r>
          </a:p>
        </p:txBody>
      </p:sp>
      <p:sp>
        <p:nvSpPr>
          <p:cNvPr id="119" name="TextBox 118"/>
          <p:cNvSpPr txBox="1"/>
          <p:nvPr/>
        </p:nvSpPr>
        <p:spPr>
          <a:xfrm>
            <a:off x="6489700" y="62611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37</a:t>
            </a:r>
          </a:p>
        </p:txBody>
      </p:sp>
      <p:sp>
        <p:nvSpPr>
          <p:cNvPr id="120" name="Rectangle 119"/>
          <p:cNvSpPr/>
          <p:nvPr/>
        </p:nvSpPr>
        <p:spPr>
          <a:xfrm>
            <a:off x="4025900" y="6445250"/>
            <a:ext cx="2997200" cy="6350"/>
          </a:xfrm>
          <a:prstGeom prst="rect">
            <a:avLst/>
          </a:prstGeom>
          <a:solidFill>
            <a:srgbClr val="D5E1EE"/>
          </a:solidFill>
          <a:ln>
            <a:noFill/>
          </a:ln>
        </p:spPr>
        <p:txBody>
          <a:bodyPr rtlCol="0" anchor="ctr"/>
          <a:lstStyle/>
          <a:p>
            <a:pPr algn="ctr"/>
          </a:p>
        </p:txBody>
      </p:sp>
      <p:sp>
        <p:nvSpPr>
          <p:cNvPr id="121" name="TextBox 120">
            <a:hlinkClick action="ppaction://hlinksldjump" r:id="rId38"/>
          </p:cNvPr>
          <p:cNvSpPr txBox="1"/>
          <p:nvPr/>
        </p:nvSpPr>
        <p:spPr>
          <a:xfrm>
            <a:off x="4025900" y="65024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T-Dog 5-3/4</a:t>
            </a:r>
          </a:p>
        </p:txBody>
      </p:sp>
      <p:sp>
        <p:nvSpPr>
          <p:cNvPr id="122" name="TextBox 121"/>
          <p:cNvSpPr txBox="1"/>
          <p:nvPr/>
        </p:nvSpPr>
        <p:spPr>
          <a:xfrm>
            <a:off x="6489700" y="65024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38</a:t>
            </a:r>
          </a:p>
        </p:txBody>
      </p:sp>
      <p:sp>
        <p:nvSpPr>
          <p:cNvPr id="123" name="Rectangle 122"/>
          <p:cNvSpPr/>
          <p:nvPr/>
        </p:nvSpPr>
        <p:spPr>
          <a:xfrm>
            <a:off x="4025900" y="6686550"/>
            <a:ext cx="2997200" cy="6350"/>
          </a:xfrm>
          <a:prstGeom prst="rect">
            <a:avLst/>
          </a:prstGeom>
          <a:solidFill>
            <a:srgbClr val="D5E1EE"/>
          </a:solidFill>
          <a:ln>
            <a:noFill/>
          </a:ln>
        </p:spPr>
        <p:txBody>
          <a:bodyPr rtlCol="0" anchor="ctr"/>
          <a:lstStyle/>
          <a:p>
            <a:pPr algn="ctr"/>
          </a:p>
        </p:txBody>
      </p:sp>
      <p:sp>
        <p:nvSpPr>
          <p:cNvPr id="124" name="Rectangle 123"/>
          <p:cNvSpPr/>
          <p:nvPr/>
        </p:nvSpPr>
        <p:spPr>
          <a:xfrm>
            <a:off x="3949700" y="6896100"/>
            <a:ext cx="3149600" cy="279400"/>
          </a:xfrm>
          <a:prstGeom prst="rect">
            <a:avLst/>
          </a:prstGeom>
          <a:solidFill>
            <a:srgbClr val="194E9A"/>
          </a:solidFill>
          <a:ln>
            <a:noFill/>
          </a:ln>
        </p:spPr>
        <p:txBody>
          <a:bodyPr rtlCol="0" anchor="ctr"/>
          <a:lstStyle/>
          <a:p>
            <a:pPr algn="ctr"/>
          </a:p>
        </p:txBody>
      </p:sp>
      <p:sp>
        <p:nvSpPr>
          <p:cNvPr id="125" name="TextBox 124"/>
          <p:cNvSpPr txBox="1"/>
          <p:nvPr/>
        </p:nvSpPr>
        <p:spPr>
          <a:xfrm>
            <a:off x="4051300" y="6946900"/>
            <a:ext cx="2946400" cy="127000"/>
          </a:xfrm>
          <a:prstGeom prst="rect">
            <a:avLst/>
          </a:prstGeom>
          <a:noFill/>
        </p:spPr>
        <p:txBody>
          <a:bodyPr wrap="square" lIns="0" rIns="0" tIns="0" bIns="0" anchor="t">
            <a:spAutoFit/>
          </a:bodyPr>
          <a:lstStyle/>
          <a:p>
            <a:pPr algn="l">
              <a:spcAft>
                <a:spcPts val="0"/>
              </a:spcAft>
            </a:pPr>
            <a:r>
              <a:rPr sz="900" b="1" i="0">
                <a:solidFill>
                  <a:srgbClr val="FFFFFF"/>
                </a:solidFill>
                <a:latin typeface="Ubuntu Mono"/>
                <a:ea typeface="Ubuntu Mono"/>
                <a:cs typeface="Ubuntu Mono"/>
                <a:sym typeface="Ubuntu Mono"/>
              </a:rPr>
              <a:t>DRILLING AND DIRECTIONAL</a:t>
            </a:r>
          </a:p>
        </p:txBody>
      </p:sp>
      <p:sp>
        <p:nvSpPr>
          <p:cNvPr id="126" name="TextBox 125">
            <a:hlinkClick action="ppaction://hlinksldjump" r:id="rId39"/>
          </p:cNvPr>
          <p:cNvSpPr txBox="1"/>
          <p:nvPr/>
        </p:nvSpPr>
        <p:spPr>
          <a:xfrm>
            <a:off x="4025900" y="72517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Stabilizer (Stab)</a:t>
            </a:r>
          </a:p>
        </p:txBody>
      </p:sp>
      <p:sp>
        <p:nvSpPr>
          <p:cNvPr id="127" name="TextBox 126"/>
          <p:cNvSpPr txBox="1"/>
          <p:nvPr/>
        </p:nvSpPr>
        <p:spPr>
          <a:xfrm>
            <a:off x="6489700" y="72517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39</a:t>
            </a:r>
          </a:p>
        </p:txBody>
      </p:sp>
      <p:sp>
        <p:nvSpPr>
          <p:cNvPr id="128" name="Rectangle 127"/>
          <p:cNvSpPr/>
          <p:nvPr/>
        </p:nvSpPr>
        <p:spPr>
          <a:xfrm>
            <a:off x="4025900" y="7435850"/>
            <a:ext cx="2997200" cy="6350"/>
          </a:xfrm>
          <a:prstGeom prst="rect">
            <a:avLst/>
          </a:prstGeom>
          <a:solidFill>
            <a:srgbClr val="D5E1EE"/>
          </a:solidFill>
          <a:ln>
            <a:noFill/>
          </a:ln>
        </p:spPr>
        <p:txBody>
          <a:bodyPr rtlCol="0" anchor="ctr"/>
          <a:lstStyle/>
          <a:p>
            <a:pPr algn="ctr"/>
          </a:p>
        </p:txBody>
      </p:sp>
      <p:sp>
        <p:nvSpPr>
          <p:cNvPr id="129" name="TextBox 128">
            <a:hlinkClick action="ppaction://hlinksldjump" r:id="rId40"/>
          </p:cNvPr>
          <p:cNvSpPr txBox="1"/>
          <p:nvPr/>
        </p:nvSpPr>
        <p:spPr>
          <a:xfrm>
            <a:off x="4025900" y="74930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PDM with sleeve</a:t>
            </a:r>
          </a:p>
        </p:txBody>
      </p:sp>
      <p:sp>
        <p:nvSpPr>
          <p:cNvPr id="130" name="TextBox 129"/>
          <p:cNvSpPr txBox="1"/>
          <p:nvPr/>
        </p:nvSpPr>
        <p:spPr>
          <a:xfrm>
            <a:off x="6489700" y="74930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40</a:t>
            </a:r>
          </a:p>
        </p:txBody>
      </p:sp>
      <p:sp>
        <p:nvSpPr>
          <p:cNvPr id="131" name="Rectangle 130"/>
          <p:cNvSpPr/>
          <p:nvPr/>
        </p:nvSpPr>
        <p:spPr>
          <a:xfrm>
            <a:off x="4025900" y="7677150"/>
            <a:ext cx="2997200" cy="6350"/>
          </a:xfrm>
          <a:prstGeom prst="rect">
            <a:avLst/>
          </a:prstGeom>
          <a:solidFill>
            <a:srgbClr val="D5E1EE"/>
          </a:solidFill>
          <a:ln>
            <a:noFill/>
          </a:ln>
        </p:spPr>
        <p:txBody>
          <a:bodyPr rtlCol="0" anchor="ctr"/>
          <a:lstStyle/>
          <a:p>
            <a:pPr algn="ctr"/>
          </a:p>
        </p:txBody>
      </p:sp>
      <p:sp>
        <p:nvSpPr>
          <p:cNvPr id="132" name="TextBox 131">
            <a:hlinkClick action="ppaction://hlinksldjump" r:id="rId41"/>
          </p:cNvPr>
          <p:cNvSpPr txBox="1"/>
          <p:nvPr/>
        </p:nvSpPr>
        <p:spPr>
          <a:xfrm>
            <a:off x="4025900" y="77343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Boost MWD</a:t>
            </a:r>
          </a:p>
        </p:txBody>
      </p:sp>
      <p:sp>
        <p:nvSpPr>
          <p:cNvPr id="133" name="TextBox 132"/>
          <p:cNvSpPr txBox="1"/>
          <p:nvPr/>
        </p:nvSpPr>
        <p:spPr>
          <a:xfrm>
            <a:off x="6489700" y="77343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41</a:t>
            </a:r>
          </a:p>
        </p:txBody>
      </p:sp>
      <p:sp>
        <p:nvSpPr>
          <p:cNvPr id="134" name="Rectangle 133"/>
          <p:cNvSpPr/>
          <p:nvPr/>
        </p:nvSpPr>
        <p:spPr>
          <a:xfrm>
            <a:off x="4025900" y="7918450"/>
            <a:ext cx="2997200" cy="6350"/>
          </a:xfrm>
          <a:prstGeom prst="rect">
            <a:avLst/>
          </a:prstGeom>
          <a:solidFill>
            <a:srgbClr val="D5E1EE"/>
          </a:solidFill>
          <a:ln>
            <a:noFill/>
          </a:ln>
        </p:spPr>
        <p:txBody>
          <a:bodyPr rtlCol="0" anchor="ctr"/>
          <a:lstStyle/>
          <a:p>
            <a:pPr algn="ctr"/>
          </a:p>
        </p:txBody>
      </p:sp>
      <p:sp>
        <p:nvSpPr>
          <p:cNvPr id="135" name="TextBox 134">
            <a:hlinkClick action="ppaction://hlinksldjump" r:id="rId42"/>
          </p:cNvPr>
          <p:cNvSpPr txBox="1"/>
          <p:nvPr/>
        </p:nvSpPr>
        <p:spPr>
          <a:xfrm>
            <a:off x="4025900" y="7975600"/>
            <a:ext cx="2413000" cy="127000"/>
          </a:xfrm>
          <a:prstGeom prst="rect">
            <a:avLst/>
          </a:prstGeom>
          <a:noFill/>
        </p:spPr>
        <p:txBody>
          <a:bodyPr wrap="square" lIns="0" rIns="0" tIns="0" bIns="0" anchor="t">
            <a:spAutoFit/>
          </a:bodyPr>
          <a:lstStyle/>
          <a:p>
            <a:pPr algn="l">
              <a:spcAft>
                <a:spcPts val="0"/>
              </a:spcAft>
            </a:pPr>
            <a:r>
              <a:rPr sz="860" b="0" i="0">
                <a:solidFill>
                  <a:srgbClr val="0B1B2E"/>
                </a:solidFill>
                <a:latin typeface="Ubuntu Mono"/>
                <a:ea typeface="Ubuntu Mono"/>
                <a:cs typeface="Ubuntu Mono"/>
                <a:sym typeface="Ubuntu Mono"/>
              </a:rPr>
              <a:t>Whipstock</a:t>
            </a:r>
          </a:p>
        </p:txBody>
      </p:sp>
      <p:sp>
        <p:nvSpPr>
          <p:cNvPr id="136" name="TextBox 135"/>
          <p:cNvSpPr txBox="1"/>
          <p:nvPr/>
        </p:nvSpPr>
        <p:spPr>
          <a:xfrm>
            <a:off x="6489700" y="7975600"/>
            <a:ext cx="533400" cy="127000"/>
          </a:xfrm>
          <a:prstGeom prst="rect">
            <a:avLst/>
          </a:prstGeom>
          <a:noFill/>
        </p:spPr>
        <p:txBody>
          <a:bodyPr wrap="square" lIns="0" rIns="0" tIns="0" bIns="0" anchor="t">
            <a:spAutoFit/>
          </a:bodyPr>
          <a:lstStyle/>
          <a:p>
            <a:pPr algn="r">
              <a:spcAft>
                <a:spcPts val="0"/>
              </a:spcAft>
            </a:pPr>
            <a:r>
              <a:rPr sz="860" b="1" i="0">
                <a:solidFill>
                  <a:srgbClr val="194E9A"/>
                </a:solidFill>
                <a:latin typeface="Ubuntu Mono"/>
                <a:ea typeface="Ubuntu Mono"/>
                <a:cs typeface="Ubuntu Mono"/>
                <a:sym typeface="Ubuntu Mono"/>
              </a:rPr>
              <a:t>42</a:t>
            </a:r>
          </a:p>
        </p:txBody>
      </p:sp>
      <p:sp>
        <p:nvSpPr>
          <p:cNvPr id="137" name="Rectangle 136"/>
          <p:cNvSpPr/>
          <p:nvPr/>
        </p:nvSpPr>
        <p:spPr>
          <a:xfrm>
            <a:off x="4025900" y="8159750"/>
            <a:ext cx="2997200" cy="6350"/>
          </a:xfrm>
          <a:prstGeom prst="rect">
            <a:avLst/>
          </a:prstGeom>
          <a:solidFill>
            <a:srgbClr val="D5E1EE"/>
          </a:solidFill>
          <a:ln>
            <a:noFill/>
          </a:ln>
        </p:spPr>
        <p:txBody>
          <a:bodyPr rtlCol="0" anchor="ctr"/>
          <a:lstStyle/>
          <a:p>
            <a:pPr algn="ctr"/>
          </a:p>
        </p:txBody>
      </p:sp>
      <p:sp>
        <p:nvSpPr>
          <p:cNvPr id="138" name="Rectangle 137"/>
          <p:cNvSpPr/>
          <p:nvPr/>
        </p:nvSpPr>
        <p:spPr>
          <a:xfrm>
            <a:off x="457200" y="10388600"/>
            <a:ext cx="6642100" cy="10160"/>
          </a:xfrm>
          <a:prstGeom prst="rect">
            <a:avLst/>
          </a:prstGeom>
          <a:solidFill>
            <a:srgbClr val="B9CCE0"/>
          </a:solidFill>
          <a:ln>
            <a:noFill/>
          </a:ln>
        </p:spPr>
        <p:txBody>
          <a:bodyPr rtlCol="0" anchor="ctr"/>
          <a:lstStyle/>
          <a:p>
            <a:pPr algn="ctr"/>
          </a:p>
        </p:txBody>
      </p:sp>
      <p:sp>
        <p:nvSpPr>
          <p:cNvPr id="139" name="TextBox 138"/>
          <p:cNvSpPr txBox="1"/>
          <p:nvPr/>
        </p:nvSpPr>
        <p:spPr>
          <a:xfrm>
            <a:off x="457200" y="10464800"/>
            <a:ext cx="5080000" cy="127000"/>
          </a:xfrm>
          <a:prstGeom prst="rect">
            <a:avLst/>
          </a:prstGeom>
          <a:noFill/>
        </p:spPr>
        <p:txBody>
          <a:bodyPr wrap="square" lIns="0" rIns="0" tIns="0" bIns="0" anchor="t">
            <a:spAutoFit/>
          </a:bodyPr>
          <a:lstStyle/>
          <a:p>
            <a:pPr algn="l">
              <a:spcAft>
                <a:spcPts val="0"/>
              </a:spcAft>
            </a:pPr>
            <a:r>
              <a:rPr sz="640" b="0" i="0">
                <a:solidFill>
                  <a:srgbClr val="5A6B7F"/>
                </a:solidFill>
                <a:latin typeface="Ubuntu Mono"/>
                <a:ea typeface="Ubuntu Mono"/>
                <a:cs typeface="Ubuntu Mono"/>
                <a:sym typeface="Ubuntu Mono"/>
              </a:rPr>
              <a:t>Enedril · Fishing and Drilling Solutions · 3 avenue des lacs, 64140 Lons (France) · info@enedril.fr · +33 (0)5 59 04 50 45</a:t>
            </a:r>
          </a:p>
        </p:txBody>
      </p:sp>
      <p:sp>
        <p:nvSpPr>
          <p:cNvPr id="140" name="TextBox 139"/>
          <p:cNvSpPr txBox="1"/>
          <p:nvPr/>
        </p:nvSpPr>
        <p:spPr>
          <a:xfrm>
            <a:off x="6604000" y="10464800"/>
            <a:ext cx="495300" cy="127000"/>
          </a:xfrm>
          <a:prstGeom prst="rect">
            <a:avLst/>
          </a:prstGeom>
          <a:noFill/>
        </p:spPr>
        <p:txBody>
          <a:bodyPr wrap="square" lIns="0" rIns="0" tIns="0" bIns="0" anchor="t">
            <a:spAutoFit/>
          </a:bodyPr>
          <a:lstStyle/>
          <a:p>
            <a:pPr algn="r">
              <a:spcAft>
                <a:spcPts val="0"/>
              </a:spcAft>
            </a:pPr>
            <a:r>
              <a:rPr sz="800" b="0" i="0">
                <a:solidFill>
                  <a:srgbClr val="194E9A"/>
                </a:solidFill>
                <a:latin typeface="Ubuntu Mono"/>
                <a:ea typeface="Ubuntu Mono"/>
                <a:cs typeface="Ubuntu Mono"/>
                <a:sym typeface="Ubuntu Mono"/>
              </a:rPr>
              <a:t>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DAGS_rYUj9A</dc:identifier>
  <dcterms:modified xsi:type="dcterms:W3CDTF">2011-08-01T06:04:30Z</dcterms:modified>
  <cp:revision>1</cp:revision>
  <dc:title>Catalogue outils</dc:title>
</cp:coreProperties>
</file>