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SCRAPER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FULL-CIRCLE CASING SCRAPER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CASING SCRAPER THAT REMOVES MUD, CEMENT, BULLETS, RUST, SCALE, PARAFFIN AND PERFORATION BURRS FROM THE INSIDE WALL OF CASING. THE BLADES ARE SPACED TO CONTACT 600 DEGREES OF THE CASING SURFACE AT ONCE, SO EVERY PART OF THE WALL IS SCRAPED WHETHER THE TOOL IS ROTATED OR SPUDDED. SHORT AND COMPACT, WITH A LONG TAPER ON THE BLADES, IT PASSES THROUGH CASING JOINTS WITHOUT HANGING. IT WORKS IN VERTICAL OR ROTARY OPERATIONS AND CAN BE RUN ON DRILL PIPE, PIN UP OR PIN DOWN.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1549400"/>
        </p:xfrm>
        <a:graphic>
          <a:graphicData uri="http://schemas.openxmlformats.org/drawingml/2006/table">
            <a:tbl>
              <a:tblPr/>
              <a:tblGrid>
                <a:gridCol w="1157377"/>
                <a:gridCol w="896967"/>
                <a:gridCol w="665491"/>
                <a:gridCol w="665491"/>
                <a:gridCol w="839098"/>
                <a:gridCol w="752295"/>
                <a:gridCol w="578688"/>
                <a:gridCol w="578688"/>
              </a:tblGrid>
              <a:tr h="330200">
                <a:tc>
                  <a:txBody>
                    <a:bodyPr wrap="square"/>
                    <a:lstStyle/>
                    <a:p>
                      <a:pPr algn="ctr">
                        <a:lnSpc>
                          <a:spcPts val="880"/>
                        </a:lnSpc>
                      </a:pPr>
                      <a:r>
                        <a:rPr sz="720" b="1">
                          <a:solidFill>
                            <a:srgbClr val="FEFEFF"/>
                          </a:solidFill>
                          <a:latin typeface="Ubuntu Mono"/>
                          <a:ea typeface="Ubuntu Mono"/>
                          <a:cs typeface="Ubuntu Mono"/>
                          <a:sym typeface="Ubuntu Mono"/>
                        </a:rPr>
                        <a:t>Scraper for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weight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9.5 - 13.5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dressed for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20.0 - 33.0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17.0 - 38.0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 dressed for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24.0 - 47.1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32.3 - 64.9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32.75 - 79.2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48.0 - 98.0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11.911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691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One blade size covers a full range of casing weights for each casing OD. Casing ID range = recommended minimum and maximum.</a:t>
            </a:r>
          </a:p>
        </p:txBody>
      </p:sp>
      <p:pic>
        <p:nvPicPr>
          <p:cNvPr id="24" name="Picture 23" descr="scraper_tool_blue.png"/>
          <p:cNvPicPr>
            <a:picLocks noChangeAspect="1"/>
          </p:cNvPicPr>
          <p:nvPr/>
        </p:nvPicPr>
        <p:blipFill>
          <a:blip r:embed="rId7"/>
          <a:stretch>
            <a:fillRect/>
          </a:stretch>
        </p:blipFill>
        <p:spPr>
          <a:xfrm>
            <a:off x="711200" y="7073900"/>
            <a:ext cx="533894" cy="3327400"/>
          </a:xfrm>
          <a:prstGeom prst="rect">
            <a:avLst/>
          </a:prstGeom>
        </p:spPr>
      </p:pic>
      <p:sp>
        <p:nvSpPr>
          <p:cNvPr id="25" name="TextBox 24"/>
          <p:cNvSpPr txBox="1"/>
          <p:nvPr/>
        </p:nvSpPr>
        <p:spPr>
          <a:xfrm>
            <a:off x="1422400" y="7048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22400" y="7251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Full-circle scraping: </a:t>
            </a:r>
            <a:r>
              <a:rPr sz="700" b="0">
                <a:solidFill>
                  <a:srgbClr val="000000"/>
                </a:solidFill>
                <a:latin typeface="Ubuntu Mono"/>
                <a:ea typeface="Ubuntu Mono"/>
                <a:cs typeface="Ubuntu Mono"/>
                <a:sym typeface="Ubuntu Mono"/>
              </a:rPr>
              <a:t>two rows of blades overlap, covering 600 degrees of casing wall.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Spring-loaded blades: </a:t>
            </a:r>
            <a:r>
              <a:rPr sz="700" b="0">
                <a:solidFill>
                  <a:srgbClr val="000000"/>
                </a:solidFill>
                <a:latin typeface="Ubuntu Mono"/>
                <a:ea typeface="Ubuntu Mono"/>
                <a:cs typeface="Ubuntu Mono"/>
                <a:sym typeface="Ubuntu Mono"/>
              </a:rPr>
              <a:t>move in or out with gradual ID changes and stay on the clean wall without cutting the metal.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Abrupt obstructions: </a:t>
            </a:r>
            <a:r>
              <a:rPr sz="700" b="0">
                <a:solidFill>
                  <a:srgbClr val="000000"/>
                </a:solidFill>
                <a:latin typeface="Ubuntu Mono"/>
                <a:ea typeface="Ubuntu Mono"/>
                <a:cs typeface="Ubuntu Mono"/>
                <a:sym typeface="Ubuntu Mono"/>
              </a:rPr>
              <a:t>a burr or cement fragment is held by the close-fitting blade slot, the mandrel and the split retainer 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Wear-resistant blades: </a:t>
            </a:r>
            <a:r>
              <a:rPr sz="700" b="0">
                <a:solidFill>
                  <a:srgbClr val="000000"/>
                </a:solidFill>
                <a:latin typeface="Ubuntu Mono"/>
                <a:ea typeface="Ubuntu Mono"/>
                <a:cs typeface="Ubuntu Mono"/>
                <a:sym typeface="Ubuntu Mono"/>
              </a:rPr>
              <a:t>precision-cast tool steel, tough, slightly work-hardening in service.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Secure construction: </a:t>
            </a:r>
            <a:r>
              <a:rPr sz="700" b="0">
                <a:solidFill>
                  <a:srgbClr val="000000"/>
                </a:solidFill>
                <a:latin typeface="Ubuntu Mono"/>
                <a:ea typeface="Ubuntu Mono"/>
                <a:cs typeface="Ubuntu Mono"/>
                <a:sym typeface="Ubuntu Mono"/>
              </a:rPr>
              <a:t>springs fully enclosed, blades fit closely over the spring housing, so loss downhole is virtually impossible.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One-piece mandrel: </a:t>
            </a:r>
            <a:r>
              <a:rPr sz="700" b="0">
                <a:solidFill>
                  <a:srgbClr val="000000"/>
                </a:solidFill>
                <a:latin typeface="Ubuntu Mono"/>
                <a:ea typeface="Ubuntu Mono"/>
                <a:cs typeface="Ubuntu Mono"/>
                <a:sym typeface="Ubuntu Mono"/>
              </a:rPr>
              <a:t>heat-treated alloy steel, pin by box, with a fishing neck at both ends.</a:t>
            </a:r>
          </a:p>
        </p:txBody>
      </p:sp>
      <p:sp>
        <p:nvSpPr>
          <p:cNvPr id="27" name="TextBox 26"/>
          <p:cNvSpPr txBox="1"/>
          <p:nvPr/>
        </p:nvSpPr>
        <p:spPr>
          <a:xfrm>
            <a:off x="4089400" y="7048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4089400" y="72517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Clean out cement, hardened mud and paraffin.</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Remove perforation burrs and embedded bullets.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Dress burrs, nicks and tight spots left by bits, fishing tools or dents.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Prepare a clean casing ID before running packers, patches, spears, swabs and wireline tools.</a:t>
            </a:r>
          </a:p>
        </p:txBody>
      </p:sp>
      <p:sp>
        <p:nvSpPr>
          <p:cNvPr id="29" name="TextBox 28"/>
          <p:cNvSpPr txBox="1"/>
          <p:nvPr/>
        </p:nvSpPr>
        <p:spPr>
          <a:xfrm>
            <a:off x="4089400" y="8382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 AND MAINTENANCE</a:t>
            </a:r>
          </a:p>
        </p:txBody>
      </p:sp>
      <p:sp>
        <p:nvSpPr>
          <p:cNvPr id="30" name="TextBox 29"/>
          <p:cNvSpPr txBox="1"/>
          <p:nvPr/>
        </p:nvSpPr>
        <p:spPr>
          <a:xfrm>
            <a:off x="4089400" y="85852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 </a:t>
            </a:r>
            <a:r>
              <a:rPr sz="700" b="0">
                <a:solidFill>
                  <a:srgbClr val="000000"/>
                </a:solidFill>
                <a:latin typeface="Ubuntu Mono"/>
                <a:ea typeface="Ubuntu Mono"/>
                <a:cs typeface="Ubuntu Mono"/>
                <a:sym typeface="Ubuntu Mono"/>
              </a:rPr>
              <a:t>usually pin up, with a bit installed below; scrape by rotating or spudding.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each run: </a:t>
            </a:r>
            <a:r>
              <a:rPr sz="700" b="0">
                <a:solidFill>
                  <a:srgbClr val="000000"/>
                </a:solidFill>
                <a:latin typeface="Ubuntu Mono"/>
                <a:ea typeface="Ubuntu Mono"/>
                <a:cs typeface="Ubuntu Mono"/>
                <a:sym typeface="Ubuntu Mono"/>
              </a:rPr>
              <a:t>disassemble, clean, inspect and replace worn parts; blades and springs are removed after taking out the four retainer-ring screws.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Re-dressing: </a:t>
            </a:r>
            <a:r>
              <a:rPr sz="700" b="0">
                <a:solidFill>
                  <a:srgbClr val="000000"/>
                </a:solidFill>
                <a:latin typeface="Ubuntu Mono"/>
                <a:ea typeface="Ubuntu Mono"/>
                <a:cs typeface="Ubuntu Mono"/>
                <a:sym typeface="Ubuntu Mono"/>
              </a:rPr>
              <a:t>a blade installation tool (required accessory) compresses the blades during assembly.</a:t>
            </a:r>
          </a:p>
        </p:txBody>
      </p:sp>
      <p:sp>
        <p:nvSpPr>
          <p:cNvPr id="31" name="TextBox 30"/>
          <p:cNvSpPr txBox="1"/>
          <p:nvPr/>
        </p:nvSpPr>
        <p:spPr>
          <a:xfrm>
            <a:off x="4089400" y="9715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06000"/>
            <a:ext cx="27559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or part name  2. size and weight of casing  3. tool joint connection  4. recommended spares: one set of blades and one set of springs.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CIRCULATING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BALL-DROP CIRCULATION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RUGGED CONVENTIONAL BALL-DROP CIRCULATION SUB IN A SINGLE-COLLAR CONFIGURATION WITH NO MID-BODY CONNECTION. IT IS EASY TO USE AND OFFERS VARIABLE CYCLE CAPABILITY. A NOVEL BALL DISPOSAL SYSTEM LETS THE BALLS BE EMPTIED WITHOUT DISASSEMBLY, ALLOWING FIELD SERVICE AND MULTIPLE RUNS. STANDARD API CONNECTIONS AND HIGH-STRENGTH MATERIAL OPTIONS FOR DEEP GAS ARE AVAILABLE.</a:t>
            </a:r>
          </a:p>
        </p:txBody>
      </p:sp>
      <p:sp>
        <p:nvSpPr>
          <p:cNvPr id="21" name="TextBox 20"/>
          <p:cNvSpPr txBox="1"/>
          <p:nvPr/>
        </p:nvSpPr>
        <p:spPr>
          <a:xfrm>
            <a:off x="711200" y="5029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2" name="TextBox 21"/>
          <p:cNvSpPr txBox="1"/>
          <p:nvPr/>
        </p:nvSpPr>
        <p:spPr>
          <a:xfrm>
            <a:off x="711200" y="5245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Wellbore cleanout</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Managed pressure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Underbalanced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Cementing operations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Workover and completions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Stuck pipe mitigation operations</a:t>
            </a:r>
          </a:p>
        </p:txBody>
      </p:sp>
      <p:sp>
        <p:nvSpPr>
          <p:cNvPr id="23" name="TextBox 22"/>
          <p:cNvSpPr txBox="1"/>
          <p:nvPr/>
        </p:nvSpPr>
        <p:spPr>
          <a:xfrm>
            <a:off x="3810000" y="5029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4" name="TextBox 23"/>
          <p:cNvSpPr txBox="1"/>
          <p:nvPr/>
        </p:nvSpPr>
        <p:spPr>
          <a:xfrm>
            <a:off x="3810000" y="5245100"/>
            <a:ext cx="30353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Single collar design: </a:t>
            </a:r>
            <a:r>
              <a:rPr sz="850" b="0">
                <a:solidFill>
                  <a:srgbClr val="000000"/>
                </a:solidFill>
                <a:latin typeface="Ubuntu Mono"/>
                <a:ea typeface="Ubuntu Mono"/>
                <a:cs typeface="Ubuntu Mono"/>
                <a:sym typeface="Ubuntu Mono"/>
              </a:rPr>
              <a:t>no mid-body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Variable cycle capability.</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Standard API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drop activation: </a:t>
            </a:r>
            <a:r>
              <a:rPr sz="850" b="0">
                <a:solidFill>
                  <a:srgbClr val="000000"/>
                </a:solidFill>
                <a:latin typeface="Ubuntu Mono"/>
                <a:ea typeface="Ubuntu Mono"/>
                <a:cs typeface="Ubuntu Mono"/>
                <a:sym typeface="Ubuntu Mono"/>
              </a:rPr>
              <a:t>rugged and proven.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disposal: </a:t>
            </a:r>
            <a:r>
              <a:rPr sz="850" b="0">
                <a:solidFill>
                  <a:srgbClr val="000000"/>
                </a:solidFill>
                <a:latin typeface="Ubuntu Mono"/>
                <a:ea typeface="Ubuntu Mono"/>
                <a:cs typeface="Ubuntu Mono"/>
                <a:sym typeface="Ubuntu Mono"/>
              </a:rPr>
              <a:t>balls emptied without disassembly; field serviceable, multi-run.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High-strength material options </a:t>
            </a:r>
            <a:r>
              <a:rPr sz="850" b="0">
                <a:solidFill>
                  <a:srgbClr val="000000"/>
                </a:solidFill>
                <a:latin typeface="Ubuntu Mono"/>
                <a:ea typeface="Ubuntu Mono"/>
                <a:cs typeface="Ubuntu Mono"/>
                <a:sym typeface="Ubuntu Mono"/>
              </a:rPr>
              <a:t>for deep gas.</a:t>
            </a:r>
          </a:p>
        </p:txBody>
      </p:sp>
      <p:sp>
        <p:nvSpPr>
          <p:cNvPr id="25" name="TextBox 24"/>
          <p:cNvSpPr txBox="1"/>
          <p:nvPr/>
        </p:nvSpPr>
        <p:spPr>
          <a:xfrm>
            <a:off x="711200" y="6934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ITEMS TO DISCUSS</a:t>
            </a:r>
          </a:p>
        </p:txBody>
      </p:sp>
      <p:sp>
        <p:nvSpPr>
          <p:cNvPr id="26" name="TextBox 25"/>
          <p:cNvSpPr txBox="1"/>
          <p:nvPr/>
        </p:nvSpPr>
        <p:spPr>
          <a:xfrm>
            <a:off x="711200" y="7150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Customizable housing for increased cycles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Operating temperature range for the application</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Repair and maintenance options for staged repairs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Chemical compatibility with specialist drilling fluids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Compatibility and operation with third-party downhole tools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Installation, handling and operating guidelines</a:t>
            </a:r>
          </a:p>
        </p:txBody>
      </p:sp>
      <p:sp>
        <p:nvSpPr>
          <p:cNvPr id="27" name="TextBox 26"/>
          <p:cNvSpPr txBox="1"/>
          <p:nvPr/>
        </p:nvSpPr>
        <p:spPr>
          <a:xfrm>
            <a:off x="3810000" y="6934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3810000" y="7150100"/>
            <a:ext cx="3035300" cy="1016000"/>
          </a:xfrm>
          <a:prstGeom prst="rect">
            <a:avLst/>
          </a:prstGeom>
          <a:noFill/>
        </p:spPr>
        <p:txBody>
          <a:bodyPr wrap="square" lIns="0" rIns="0" tIns="0" bIns="0">
            <a:spAutoFit/>
          </a:bodyPr>
          <a:lstStyle/>
          <a:p>
            <a:pPr algn="just">
              <a:lnSpc>
                <a:spcPts val="1050"/>
              </a:lnSpc>
              <a:spcAft>
                <a:spcPts val="500"/>
              </a:spcAft>
            </a:pPr>
            <a:r>
              <a:rPr sz="800" b="0">
                <a:solidFill>
                  <a:srgbClr val="000000"/>
                </a:solidFill>
                <a:latin typeface="Ubuntu Mono"/>
                <a:ea typeface="Ubuntu Mono"/>
                <a:cs typeface="Ubuntu Mono"/>
                <a:sym typeface="Ubuntu Mono"/>
              </a:rPr>
              <a:t>Please specify: 1. tool size and top and bottom connections (standard API)  2. number of cycles required  3. material grade (high strength for deep gas, if needed)  4. operating temperature range  5. drilling fluid and chemical compatibility  6. third-party tools in the string.</a:t>
            </a:r>
          </a:p>
          <a:p>
            <a:pPr algn="just">
              <a:lnSpc>
                <a:spcPts val="1050"/>
              </a:lnSpc>
              <a:spcAft>
                <a:spcPts val="500"/>
              </a:spcAft>
            </a:pPr>
            <a:r>
              <a:rPr sz="800" b="0">
                <a:solidFill>
                  <a:srgbClr val="000000"/>
                </a:solidFill>
                <a:latin typeface="Ubuntu Mono"/>
                <a:ea typeface="Ubuntu Mono"/>
                <a:cs typeface="Ubuntu Mono"/>
                <a:sym typeface="Ubuntu Mono"/>
              </a:rPr>
              <a:t>A high-temperature / high-pressure version is available for demanding applications: ask for details.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RCJB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REVERSE CIRCULATION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BASKET THAT USES REVERSE CIRCULATION TO RECOVER SMALL JUNK THAT OTHER BASKETS WOULD MISS. FLUID IS JETTED OUT AND DOWN AGAINST THE FULL CIRCUMFERENCE OF THE HOLE, SWEEPS LOOSE OBJECTS TOWARD THE CENTRE AND RETURNS UP THROUGH THE BARREL AND OUT OF PORTS AT ITS UPPER END. A DRAIN THROUGH THE TOOL PREVENTS PULLING A WET STRING EVEN IF THE INNER BARREL IS PLUGGED BY CORE. IT RECOVERS BIT CONES AND BEARINGS, BROKEN SLIPS, WIRELINE, HAND TOOLS, MILLING CUTTINGS AND DEBRIS, AND CAN BE CONVERTED INTO A FISHING MAGNET.</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sp>
        <p:nvSpPr>
          <p:cNvPr id="22" name="TextBox 21"/>
          <p:cNvSpPr txBox="1"/>
          <p:nvPr/>
        </p:nvSpPr>
        <p:spPr>
          <a:xfrm>
            <a:off x="7112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STANDARD TYPE (popular bit cone sizes)</a:t>
            </a:r>
          </a:p>
        </p:txBody>
      </p:sp>
      <p:sp>
        <p:nvSpPr>
          <p:cNvPr id="23" name="TextBox 22"/>
          <p:cNvSpPr txBox="1"/>
          <p:nvPr/>
        </p:nvSpPr>
        <p:spPr>
          <a:xfrm>
            <a:off x="38481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W7R TYPE (W7R and other oversize cones)</a:t>
            </a:r>
          </a:p>
        </p:txBody>
      </p:sp>
      <p:graphicFrame>
        <p:nvGraphicFramePr>
          <p:cNvPr id="24" name="Table 23"/>
          <p:cNvGraphicFramePr>
            <a:graphicFrameLocks noGrp="1"/>
          </p:cNvGraphicFramePr>
          <p:nvPr/>
        </p:nvGraphicFramePr>
        <p:xfrm>
          <a:off x="711200" y="5334000"/>
          <a:ext cx="2997197" cy="220980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4-1/8 - 4-1/2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6-5/8 - 7-3/8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7-1/2 - 8-1/4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10-3/4 - 11-5/8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12-5/8 - 13-5/8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13-3/4 - 16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16 - 17-1/2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5" name="Table 24"/>
          <p:cNvGraphicFramePr>
            <a:graphicFrameLocks noGrp="1"/>
          </p:cNvGraphicFramePr>
          <p:nvPr/>
        </p:nvGraphicFramePr>
        <p:xfrm>
          <a:off x="3848100" y="5334000"/>
          <a:ext cx="2997197" cy="194564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7-1/8 - 7-1/2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7-5/8 - 8-1/2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8-5/8 - 9-1/2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10-1/2 - 11-5/8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6" name="TextBox 25"/>
          <p:cNvSpPr txBox="1"/>
          <p:nvPr/>
        </p:nvSpPr>
        <p:spPr>
          <a:xfrm>
            <a:off x="711200" y="75819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Hole size is the range the tool is designed for; max. fish Ø applies to the mill shoe.</a:t>
            </a:r>
          </a:p>
        </p:txBody>
      </p:sp>
      <p:pic>
        <p:nvPicPr>
          <p:cNvPr id="27" name="Picture 26" descr="rcjb_tool_blue.png"/>
          <p:cNvPicPr>
            <a:picLocks noChangeAspect="1"/>
          </p:cNvPicPr>
          <p:nvPr/>
        </p:nvPicPr>
        <p:blipFill>
          <a:blip r:embed="rId4"/>
          <a:stretch>
            <a:fillRect/>
          </a:stretch>
        </p:blipFill>
        <p:spPr>
          <a:xfrm>
            <a:off x="711200" y="7785100"/>
            <a:ext cx="476661" cy="2730500"/>
          </a:xfrm>
          <a:prstGeom prst="rect">
            <a:avLst/>
          </a:prstGeom>
        </p:spPr>
      </p:pic>
      <p:sp>
        <p:nvSpPr>
          <p:cNvPr id="28" name="TextBox 27"/>
          <p:cNvSpPr txBox="1"/>
          <p:nvPr/>
        </p:nvSpPr>
        <p:spPr>
          <a:xfrm>
            <a:off x="1346200" y="7759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346200" y="7962900"/>
            <a:ext cx="2603500" cy="127000"/>
          </a:xfrm>
          <a:prstGeom prst="rect">
            <a:avLst/>
          </a:prstGeom>
          <a:noFill/>
        </p:spPr>
        <p:txBody>
          <a:bodyPr wrap="square" lIns="0" rIns="0" tIns="0" bIns="0">
            <a:spAutoFit/>
          </a:bodyPr>
          <a:lstStyle/>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Reverse circulation: </a:t>
            </a:r>
            <a:r>
              <a:rPr sz="680" b="0">
                <a:solidFill>
                  <a:srgbClr val="000000"/>
                </a:solidFill>
                <a:latin typeface="Ubuntu Mono"/>
                <a:ea typeface="Ubuntu Mono"/>
                <a:cs typeface="Ubuntu Mono"/>
                <a:sym typeface="Ubuntu Mono"/>
              </a:rPr>
              <a:t>a steel ball dropped down the string seats in the valve and sends flow through the barrel passages, out against the hole wall and back up the barrel.</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Junk catcher: </a:t>
            </a:r>
            <a:r>
              <a:rPr sz="680" b="0">
                <a:solidFill>
                  <a:srgbClr val="000000"/>
                </a:solidFill>
                <a:latin typeface="Ubuntu Mono"/>
                <a:ea typeface="Ubuntu Mono"/>
                <a:cs typeface="Ubuntu Mono"/>
                <a:sym typeface="Ubuntu Mono"/>
              </a:rPr>
              <a:t>spring-loaded fingers fold back to admit core and fish, then dig in on pulling to cut off the core.</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Mill shoes: </a:t>
            </a:r>
            <a:r>
              <a:rPr sz="680" b="0">
                <a:solidFill>
                  <a:srgbClr val="000000"/>
                </a:solidFill>
                <a:latin typeface="Ubuntu Mono"/>
                <a:ea typeface="Ubuntu Mono"/>
                <a:cs typeface="Ubuntu Mono"/>
                <a:sym typeface="Ubuntu Mono"/>
              </a:rPr>
              <a:t>type A with side wings (standard); type B hard-faced with sintered tungsten carbide; type C flat-bottomed, hard-faced, for cutting cores.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Finger shoe: </a:t>
            </a:r>
            <a:r>
              <a:rPr sz="680" b="0">
                <a:solidFill>
                  <a:srgbClr val="000000"/>
                </a:solidFill>
                <a:latin typeface="Ubuntu Mono"/>
                <a:ea typeface="Ubuntu Mono"/>
                <a:cs typeface="Ubuntu Mono"/>
                <a:sym typeface="Ubuntu Mono"/>
              </a:rPr>
              <a:t>for loose or larger junk; fingers close beneath the fish; replaceable fingers.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Magnet insert: </a:t>
            </a:r>
            <a:r>
              <a:rPr sz="680" b="0">
                <a:solidFill>
                  <a:srgbClr val="000000"/>
                </a:solidFill>
                <a:latin typeface="Ubuntu Mono"/>
                <a:ea typeface="Ubuntu Mono"/>
                <a:cs typeface="Ubuntu Mono"/>
                <a:sym typeface="Ubuntu Mono"/>
              </a:rPr>
              <a:t>fits the catcher recess, converts to a fishing magnet and keeps reverse circulation.</a:t>
            </a:r>
          </a:p>
        </p:txBody>
      </p:sp>
      <p:sp>
        <p:nvSpPr>
          <p:cNvPr id="30" name="TextBox 29"/>
          <p:cNvSpPr txBox="1"/>
          <p:nvPr/>
        </p:nvSpPr>
        <p:spPr>
          <a:xfrm>
            <a:off x="4089400" y="77597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962900"/>
          <a:ext cx="2755900" cy="863600"/>
        </p:xfrm>
        <a:graphic>
          <a:graphicData uri="http://schemas.openxmlformats.org/drawingml/2006/table">
            <a:tbl>
              <a:tblPr/>
              <a:tblGrid>
                <a:gridCol w="787400"/>
                <a:gridCol w="1968500"/>
              </a:tblGrid>
              <a:tr h="215900">
                <a:tc>
                  <a:txBody>
                    <a:bodyPr wrap="square"/>
                    <a:lstStyle/>
                    <a:p>
                      <a:pPr algn="l">
                        <a:lnSpc>
                          <a:spcPts val="800"/>
                        </a:lnSpc>
                      </a:pPr>
                      <a:r>
                        <a:rPr sz="640" b="0">
                          <a:solidFill>
                            <a:srgbClr val="FEFEFF"/>
                          </a:solidFill>
                          <a:latin typeface="Ubuntu Mono"/>
                          <a:ea typeface="Ubuntu Mono"/>
                          <a:cs typeface="Ubuntu Mono"/>
                          <a:sym typeface="Ubuntu Mono"/>
                        </a:rPr>
                        <a:t>Before dropping ball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Circulate a few minutes about 10 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Mill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Cut a core of at least 10 in.; 1 ton on hard-faced shoes,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Finger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slowly, lower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Precaution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String tool-joint IDs must pass the steel ball; keep the ball at surface while running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92810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Add a junk sub above the top sub if small junk is prevalent. Wash the tool after each job, paying attention to the space between inner and outer barrels.</a:t>
            </a:r>
          </a:p>
        </p:txBody>
      </p:sp>
      <p:sp>
        <p:nvSpPr>
          <p:cNvPr id="33" name="TextBox 32"/>
          <p:cNvSpPr txBox="1"/>
          <p:nvPr/>
        </p:nvSpPr>
        <p:spPr>
          <a:xfrm>
            <a:off x="4089400" y="9359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550400"/>
            <a:ext cx="2755900" cy="508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type (standard or W7R)  2. OD and type of shoe  3. top connection  4. recommended spares: 2 junk catchers, 2 mill shoes, 1 valve cup, 1 valve seat, 1 steel ball  5. accessories: 2 finger shoes, 4 finger shoe replacements, 1 magnet insert.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JUNK BASKET WITH DOUBLE CATCHERS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DEPENDABLE FISHING TOOL FOR RETRIEVING LOOSE JUNK FROM THE BOTTOM OF THE HOLE: BIT CONES, BEARINGS, BROKEN SLIPS, WIRELINE, HAND TOOLS, DEBRIS FROM TWISTED-OFF STRINGS AND MILLING CUTTINGS. TWO FREE-REVOLVING CATCHERS SIT INSIDE A MILL SHOE, SO THE BASKET CUTS A SHORT CORE THAT LOCKS THE JUNK IN THE BARREL. IT CAN ALSO TAKE A CORE SAMPLE, DRILL A FULL-GAUGE HOLE OR REAM. MAGNET INSERTS AND ACCESSORY SHOES ADAPT IT TO THE JOB.</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5-3/8 - 6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3" name="Table 22"/>
          <p:cNvGraphicFramePr>
            <a:graphicFrameLocks noGrp="1"/>
          </p:cNvGraphicFramePr>
          <p:nvPr/>
        </p:nvGraphicFramePr>
        <p:xfrm>
          <a:off x="38481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6-5/8 - 7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7-1/4 - 8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8-1/4 - 9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9-1/4 - 10-1/8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10-1/4 - 11-5/8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12-5/8 - 15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4" name="TextBox 23"/>
          <p:cNvSpPr txBox="1"/>
          <p:nvPr/>
        </p:nvSpPr>
        <p:spPr>
          <a:xfrm>
            <a:off x="711200" y="6728459"/>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Shoes should be at least 1/8 in. over the barrel size.</a:t>
            </a:r>
          </a:p>
        </p:txBody>
      </p:sp>
      <p:pic>
        <p:nvPicPr>
          <p:cNvPr id="25" name="Picture 24" descr="junk_tool_blue.png"/>
          <p:cNvPicPr>
            <a:picLocks noChangeAspect="1"/>
          </p:cNvPicPr>
          <p:nvPr/>
        </p:nvPicPr>
        <p:blipFill>
          <a:blip r:embed="rId4"/>
          <a:stretch>
            <a:fillRect/>
          </a:stretch>
        </p:blipFill>
        <p:spPr>
          <a:xfrm>
            <a:off x="711200" y="6944359"/>
            <a:ext cx="584188" cy="3048000"/>
          </a:xfrm>
          <a:prstGeom prst="rect">
            <a:avLst/>
          </a:prstGeom>
        </p:spPr>
      </p:pic>
      <p:sp>
        <p:nvSpPr>
          <p:cNvPr id="26" name="TextBox 25"/>
          <p:cNvSpPr txBox="1"/>
          <p:nvPr/>
        </p:nvSpPr>
        <p:spPr>
          <a:xfrm>
            <a:off x="1346200" y="6918959"/>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346200" y="7122159"/>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Double catchers: </a:t>
            </a:r>
            <a:r>
              <a:rPr sz="690" b="0">
                <a:solidFill>
                  <a:srgbClr val="000000"/>
                </a:solidFill>
                <a:latin typeface="Ubuntu Mono"/>
                <a:ea typeface="Ubuntu Mono"/>
                <a:cs typeface="Ubuntu Mono"/>
                <a:sym typeface="Ubuntu Mono"/>
              </a:rPr>
              <a:t>the upper fingers reach half way to the centre and break the core on pull; the lower catcher has alternating long and short fingers forming a close-fitting basket.</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Free-revolving catchers: </a:t>
            </a:r>
            <a:r>
              <a:rPr sz="690" b="0">
                <a:solidFill>
                  <a:srgbClr val="000000"/>
                </a:solidFill>
                <a:latin typeface="Ubuntu Mono"/>
                <a:ea typeface="Ubuntu Mono"/>
                <a:cs typeface="Ubuntu Mono"/>
                <a:sym typeface="Ubuntu Mono"/>
              </a:rPr>
              <a:t>spin inside the shoe, which prevents finger breakage.</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Rivet-free catchers: </a:t>
            </a:r>
            <a:r>
              <a:rPr sz="690" b="0">
                <a:solidFill>
                  <a:srgbClr val="000000"/>
                </a:solidFill>
                <a:latin typeface="Ubuntu Mono"/>
                <a:ea typeface="Ubuntu Mono"/>
                <a:cs typeface="Ubuntu Mono"/>
                <a:sym typeface="Ubuntu Mono"/>
              </a:rPr>
              <a:t>manganese bronze or steel fingers, redressed easily on location.</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Magnet insert: </a:t>
            </a:r>
            <a:r>
              <a:rPr sz="690" b="0">
                <a:solidFill>
                  <a:srgbClr val="000000"/>
                </a:solidFill>
                <a:latin typeface="Ubuntu Mono"/>
                <a:ea typeface="Ubuntu Mono"/>
                <a:cs typeface="Ubuntu Mono"/>
                <a:sym typeface="Ubuntu Mono"/>
              </a:rPr>
              <a:t>replaces the two catchers and turns the basket into a fishing magnet, useful in hard formations or to clean the hole before diamond drilling.</a:t>
            </a:r>
          </a:p>
        </p:txBody>
      </p:sp>
      <p:sp>
        <p:nvSpPr>
          <p:cNvPr id="28" name="TextBox 27"/>
          <p:cNvSpPr txBox="1"/>
          <p:nvPr/>
        </p:nvSpPr>
        <p:spPr>
          <a:xfrm>
            <a:off x="1346200" y="8722360"/>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SHOE SELECTION</a:t>
            </a:r>
          </a:p>
        </p:txBody>
      </p:sp>
      <p:sp>
        <p:nvSpPr>
          <p:cNvPr id="29" name="TextBox 28"/>
          <p:cNvSpPr txBox="1"/>
          <p:nvPr/>
        </p:nvSpPr>
        <p:spPr>
          <a:xfrm>
            <a:off x="1346200" y="8925560"/>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A mill shoe: </a:t>
            </a:r>
            <a:r>
              <a:rPr sz="690" b="0">
                <a:solidFill>
                  <a:srgbClr val="000000"/>
                </a:solidFill>
                <a:latin typeface="Ubuntu Mono"/>
                <a:ea typeface="Ubuntu Mono"/>
                <a:cs typeface="Ubuntu Mono"/>
                <a:sym typeface="Ubuntu Mono"/>
              </a:rPr>
              <a:t>side wings, hard metal facing; standard, for soft formations and loose fish.</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B mill shoe: </a:t>
            </a:r>
            <a:r>
              <a:rPr sz="690" b="0">
                <a:solidFill>
                  <a:srgbClr val="000000"/>
                </a:solidFill>
                <a:latin typeface="Ubuntu Mono"/>
                <a:ea typeface="Ubuntu Mono"/>
                <a:cs typeface="Ubuntu Mono"/>
                <a:sym typeface="Ubuntu Mono"/>
              </a:rPr>
              <a:t>hard-faced with sintered tungsten carbide, for hard formations.</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C mill shoe: </a:t>
            </a:r>
            <a:r>
              <a:rPr sz="690" b="0">
                <a:solidFill>
                  <a:srgbClr val="000000"/>
                </a:solidFill>
                <a:latin typeface="Ubuntu Mono"/>
                <a:ea typeface="Ubuntu Mono"/>
                <a:cs typeface="Ubuntu Mono"/>
                <a:sym typeface="Ubuntu Mono"/>
              </a:rPr>
              <a:t>flat bottom, hard-faced on bottom, inner and outer faces; cuts cores and burns metal.</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Finger shoe: </a:t>
            </a:r>
            <a:r>
              <a:rPr sz="690" b="0">
                <a:solidFill>
                  <a:srgbClr val="000000"/>
                </a:solidFill>
                <a:latin typeface="Ubuntu Mono"/>
                <a:ea typeface="Ubuntu Mono"/>
                <a:cs typeface="Ubuntu Mono"/>
                <a:sym typeface="Ubuntu Mono"/>
              </a:rPr>
              <a:t>for large, loose junk or junk too big for the catchers.</a:t>
            </a:r>
          </a:p>
        </p:txBody>
      </p:sp>
      <p:sp>
        <p:nvSpPr>
          <p:cNvPr id="30" name="TextBox 29"/>
          <p:cNvSpPr txBox="1"/>
          <p:nvPr/>
        </p:nvSpPr>
        <p:spPr>
          <a:xfrm>
            <a:off x="4089400" y="6918959"/>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122159"/>
          <a:ext cx="2755900" cy="1117600"/>
        </p:xfrm>
        <a:graphic>
          <a:graphicData uri="http://schemas.openxmlformats.org/drawingml/2006/table">
            <a:tbl>
              <a:tblPr/>
              <a:tblGrid>
                <a:gridCol w="787400"/>
                <a:gridCol w="1968500"/>
              </a:tblGrid>
              <a:tr h="2794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 circulation at reduced pressure just before bottom, rotate and lower slowly onto the fish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Mill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 ton on bottom,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Finger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and lower slowly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Breaking the core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rotation and circulation, release torque, take an upward pull; a hydraulic jar above helps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51916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After use, disassemble, clean and lubricate all internal parts, inspect catcher fingers and springs, and paint or grease the outside.</a:t>
            </a:r>
          </a:p>
        </p:txBody>
      </p:sp>
      <p:sp>
        <p:nvSpPr>
          <p:cNvPr id="33" name="TextBox 32"/>
          <p:cNvSpPr txBox="1"/>
          <p:nvPr/>
        </p:nvSpPr>
        <p:spPr>
          <a:xfrm>
            <a:off x="4089400" y="890016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090660"/>
            <a:ext cx="2755900" cy="635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size  2. OD and type of shoe  3. top connection, if other than standard  4. recommended spares: 2 upper catchers, 2 lower catchers, 3 mill shoes, 2 finger shoes, 4 finger shoe replacements.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HEC</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EXTERNAL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EXTERNAL CUTTER THAT CUTS AND RECOVERS TUBING OR DRILL PIPE IN A SINGLE TRIP. RUN ON A WASHOVER STRING, IT CUTS STUCK PIPE FROM THE OUTSIDE: THE KNIVES ARE FED BY PUMP PRESSURE, GIVING FAST, SMOOTH AND CLEAN CUTS UNDER SENSITIVE OPERATOR CONTROL. IT CUTS ALL TYPES OF DRILL PIPE AND TUBING, REGARDLESS OF TOOL-JOINT STYLE.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6" cy="1397000"/>
        </p:xfrm>
        <a:graphic>
          <a:graphicData uri="http://schemas.openxmlformats.org/drawingml/2006/table">
            <a:tbl>
              <a:tblPr/>
              <a:tblGrid>
                <a:gridCol w="630608"/>
                <a:gridCol w="1089232"/>
                <a:gridCol w="802592"/>
                <a:gridCol w="802592"/>
                <a:gridCol w="1232552"/>
                <a:gridCol w="1003240"/>
                <a:gridCol w="573280"/>
              </a:tblGrid>
              <a:tr h="330200">
                <a:tc>
                  <a:txBody>
                    <a:bodyPr wrap="square"/>
                    <a:lstStyle/>
                    <a:p>
                      <a:pPr algn="ctr">
                        <a:lnSpc>
                          <a:spcPts val="880"/>
                        </a:lnSpc>
                      </a:pPr>
                      <a:r>
                        <a:rPr sz="72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Pipe to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Max. size passed over*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hole to run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2-1/16 - 4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167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 Maximum pipe O.D. the cutter will pass over, dressed with the largest piston segment. Dimensions in inches, weights in lb (approximate).</a:t>
            </a:r>
          </a:p>
        </p:txBody>
      </p:sp>
      <p:pic>
        <p:nvPicPr>
          <p:cNvPr id="24" name="Picture 23" descr="hec_tool_blue.png"/>
          <p:cNvPicPr>
            <a:picLocks noChangeAspect="1"/>
          </p:cNvPicPr>
          <p:nvPr/>
        </p:nvPicPr>
        <p:blipFill>
          <a:blip r:embed="rId4"/>
          <a:stretch>
            <a:fillRect/>
          </a:stretch>
        </p:blipFill>
        <p:spPr>
          <a:xfrm>
            <a:off x="711200" y="6946900"/>
            <a:ext cx="514024" cy="3251200"/>
          </a:xfrm>
          <a:prstGeom prst="rect">
            <a:avLst/>
          </a:prstGeom>
        </p:spPr>
      </p:pic>
      <p:sp>
        <p:nvSpPr>
          <p:cNvPr id="25" name="TextBox 24"/>
          <p:cNvSpPr txBox="1"/>
          <p:nvPr/>
        </p:nvSpPr>
        <p:spPr>
          <a:xfrm>
            <a:off x="1397000" y="6921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7124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Cuts and recovers: </a:t>
            </a:r>
            <a:r>
              <a:rPr sz="700" b="0">
                <a:solidFill>
                  <a:srgbClr val="000000"/>
                </a:solidFill>
                <a:latin typeface="Ubuntu Mono"/>
                <a:ea typeface="Ubuntu Mono"/>
                <a:cs typeface="Ubuntu Mono"/>
                <a:sym typeface="Ubuntu Mono"/>
              </a:rPr>
              <a:t>tubing or drill pipe in one trip, inside a washover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Hydraulic feed: </a:t>
            </a:r>
            <a:r>
              <a:rPr sz="700" b="0">
                <a:solidFill>
                  <a:srgbClr val="000000"/>
                </a:solidFill>
                <a:latin typeface="Ubuntu Mono"/>
                <a:ea typeface="Ubuntu Mono"/>
                <a:cs typeface="Ubuntu Mono"/>
                <a:sym typeface="Ubuntu Mono"/>
              </a:rPr>
              <a:t>pump pressure drives the knives; sensitive control of the cut.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Run-in protection: </a:t>
            </a:r>
            <a:r>
              <a:rPr sz="700" b="0">
                <a:solidFill>
                  <a:srgbClr val="000000"/>
                </a:solidFill>
                <a:latin typeface="Ubuntu Mono"/>
                <a:ea typeface="Ubuntu Mono"/>
                <a:cs typeface="Ubuntu Mono"/>
                <a:sym typeface="Ubuntu Mono"/>
              </a:rPr>
              <a:t>shear pins hold the piston until the cut starts (about 145 psi).</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piston segments: </a:t>
            </a:r>
            <a:r>
              <a:rPr sz="700" b="0">
                <a:solidFill>
                  <a:srgbClr val="000000"/>
                </a:solidFill>
                <a:latin typeface="Ubuntu Mono"/>
                <a:ea typeface="Ubuntu Mono"/>
                <a:cs typeface="Ubuntu Mono"/>
                <a:sym typeface="Ubuntu Mono"/>
              </a:rPr>
              <a:t>one cutter covers several pipe sizes; threaded-edge segments pass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Cool, flushed cut: </a:t>
            </a:r>
            <a:r>
              <a:rPr sz="700" b="0">
                <a:solidFill>
                  <a:srgbClr val="000000"/>
                </a:solidFill>
                <a:latin typeface="Ubuntu Mono"/>
                <a:ea typeface="Ubuntu Mono"/>
                <a:cs typeface="Ubuntu Mono"/>
                <a:sym typeface="Ubuntu Mono"/>
              </a:rPr>
              <a:t>each segment has a fluid passage for flushing and cooling.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Hardened knives: </a:t>
            </a:r>
            <a:r>
              <a:rPr sz="700" b="0">
                <a:solidFill>
                  <a:srgbClr val="000000"/>
                </a:solidFill>
                <a:latin typeface="Ubuntu Mono"/>
                <a:ea typeface="Ubuntu Mono"/>
                <a:cs typeface="Ubuntu Mono"/>
                <a:sym typeface="Ubuntu Mono"/>
              </a:rPr>
              <a:t>tempered tool steel, replaceable in the field.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Guide options: </a:t>
            </a:r>
            <a:r>
              <a:rPr sz="700" b="0">
                <a:solidFill>
                  <a:srgbClr val="000000"/>
                </a:solidFill>
                <a:latin typeface="Ubuntu Mono"/>
                <a:ea typeface="Ubuntu Mono"/>
                <a:cs typeface="Ubuntu Mono"/>
                <a:sym typeface="Ubuntu Mono"/>
              </a:rPr>
              <a:t>standard cut-lip, extra long wall hook or mill-toothed.</a:t>
            </a:r>
          </a:p>
        </p:txBody>
      </p:sp>
      <p:sp>
        <p:nvSpPr>
          <p:cNvPr id="27" name="TextBox 26"/>
          <p:cNvSpPr txBox="1"/>
          <p:nvPr/>
        </p:nvSpPr>
        <p:spPr>
          <a:xfrm>
            <a:off x="1397000" y="8953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397000" y="9156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Before the run: </a:t>
            </a:r>
            <a:r>
              <a:rPr sz="700" b="0">
                <a:solidFill>
                  <a:srgbClr val="000000"/>
                </a:solidFill>
                <a:latin typeface="Ubuntu Mono"/>
                <a:ea typeface="Ubuntu Mono"/>
                <a:cs typeface="Ubuntu Mono"/>
                <a:sym typeface="Ubuntu Mono"/>
              </a:rPr>
              <a:t>wash over the stuck pipe to centralise it at the cut point.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Avoid surging: </a:t>
            </a:r>
            <a:r>
              <a:rPr sz="700" b="0">
                <a:solidFill>
                  <a:srgbClr val="000000"/>
                </a:solidFill>
                <a:latin typeface="Ubuntu Mono"/>
                <a:ea typeface="Ubuntu Mono"/>
                <a:cs typeface="Ubuntu Mono"/>
                <a:sym typeface="Ubuntu Mono"/>
              </a:rPr>
              <a:t>pressure surges can break a knife tip.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the cut: </a:t>
            </a:r>
            <a:r>
              <a:rPr sz="700" b="0">
                <a:solidFill>
                  <a:srgbClr val="000000"/>
                </a:solidFill>
                <a:latin typeface="Ubuntu Mono"/>
                <a:ea typeface="Ubuntu Mono"/>
                <a:cs typeface="Ubuntu Mono"/>
                <a:sym typeface="Ubuntu Mono"/>
              </a:rPr>
              <a:t>torque drops and the weight indicator rises; raise the string slowly to confirm.</a:t>
            </a:r>
          </a:p>
        </p:txBody>
      </p:sp>
      <p:sp>
        <p:nvSpPr>
          <p:cNvPr id="29" name="TextBox 28"/>
          <p:cNvSpPr txBox="1"/>
          <p:nvPr/>
        </p:nvSpPr>
        <p:spPr>
          <a:xfrm>
            <a:off x="4089400" y="6921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112000"/>
          <a:ext cx="2755900" cy="62992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Rotary speed while cutting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15 - 25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Shear pins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pin: about 377 lb; 2 pins: 754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Proving the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Torque drop, weight rise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 position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joint above washover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868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PULL CAPACITY AND HYDRAULICS</a:t>
            </a:r>
          </a:p>
        </p:txBody>
      </p:sp>
      <p:graphicFrame>
        <p:nvGraphicFramePr>
          <p:cNvPr id="32" name="Table 31"/>
          <p:cNvGraphicFramePr>
            <a:graphicFrameLocks noGrp="1"/>
          </p:cNvGraphicFramePr>
          <p:nvPr/>
        </p:nvGraphicFramePr>
        <p:xfrm>
          <a:off x="4089400" y="8059420"/>
          <a:ext cx="2755900" cy="1130300"/>
        </p:xfrm>
        <a:graphic>
          <a:graphicData uri="http://schemas.openxmlformats.org/drawingml/2006/table">
            <a:tbl>
              <a:tblPr/>
              <a:tblGrid>
                <a:gridCol w="558800"/>
                <a:gridCol w="889000"/>
                <a:gridCol w="571500"/>
                <a:gridCol w="7366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Max.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2,530 - 7,910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1,860 - 3,340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1,550 - 3,570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1,128 - 1,780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6,100 - 16,800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2,350 - 4,800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5,160 - 9,040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9227820"/>
            <a:ext cx="2755900" cy="330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Approximate values, depending on pipe size. Static loads: if shock loaded, reduce by 50%.</a:t>
            </a:r>
          </a:p>
        </p:txBody>
      </p:sp>
      <p:sp>
        <p:nvSpPr>
          <p:cNvPr id="34" name="TextBox 33"/>
          <p:cNvSpPr txBox="1"/>
          <p:nvPr/>
        </p:nvSpPr>
        <p:spPr>
          <a:xfrm>
            <a:off x="4089400" y="9519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5" name="TextBox 34"/>
          <p:cNvSpPr txBox="1"/>
          <p:nvPr/>
        </p:nvSpPr>
        <p:spPr>
          <a:xfrm>
            <a:off x="4089400" y="97104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cutter ref. and size of pipe to cut  2. piston segment size  3. connection (top and bottom)  4. guide type (standard, wall hook or mill-toothed)  5. recommended spares: knives, knife pins, shear pins, piston and rubber rings.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PIPE CUTTER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CUTTING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INTERNAL HYDRAULIC CASING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 HYDRAULIC CUTTER THAT CUTS SINGLE OR MULTIPLE STRINGS OF CONCENTRIC OR ECCENTRIC CASING. IT CAN BE USED IN ANY CUTTING APPLICATION WHERE ROTATION AND PRESSURE CAN BE APPLIED TO THE TOOL. IT IS MAINLY RUN IN WELL ABANDONMENT OPERATIONS, WHEN CASINGS HAVE BEEN CEMENTED AND CANNOT BE CUT AND PULLED INDIVIDUALLY.</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54600"/>
          <a:ext cx="6134100" cy="635000"/>
        </p:xfrm>
        <a:graphic>
          <a:graphicData uri="http://schemas.openxmlformats.org/drawingml/2006/table">
            <a:tbl>
              <a:tblPr/>
              <a:tblGrid>
                <a:gridCol w="1397000"/>
                <a:gridCol w="1016000"/>
                <a:gridCol w="1143000"/>
                <a:gridCol w="1016000"/>
                <a:gridCol w="1562100"/>
              </a:tblGrid>
              <a:tr h="228600">
                <a:tc>
                  <a:txBody>
                    <a:bodyPr wrap="square"/>
                    <a:lstStyle/>
                    <a:p>
                      <a:pPr algn="ctr">
                        <a:lnSpc>
                          <a:spcPts val="919"/>
                        </a:lnSpc>
                      </a:pPr>
                      <a:r>
                        <a:rPr sz="760" b="1">
                          <a:solidFill>
                            <a:srgbClr val="FEFEFF"/>
                          </a:solidFill>
                          <a:latin typeface="Ubuntu Mono"/>
                          <a:ea typeface="Ubuntu Mono"/>
                          <a:cs typeface="Ubuntu Mono"/>
                          <a:sym typeface="Ubuntu Mono"/>
                        </a:rPr>
                        <a:t>Designed to cut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6-5/8 - 13-3/8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9-5/8 - 16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13-3/8 - 36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Top connection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Tool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57404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Cutter arms are available in various sizes to cut single or multiple strings.</a:t>
            </a:r>
          </a:p>
        </p:txBody>
      </p:sp>
      <p:pic>
        <p:nvPicPr>
          <p:cNvPr id="24" name="Picture 23" descr="pc_tool_blue.png"/>
          <p:cNvPicPr>
            <a:picLocks noChangeAspect="1"/>
          </p:cNvPicPr>
          <p:nvPr/>
        </p:nvPicPr>
        <p:blipFill>
          <a:blip r:embed="rId4"/>
          <a:stretch>
            <a:fillRect/>
          </a:stretch>
        </p:blipFill>
        <p:spPr>
          <a:xfrm>
            <a:off x="762000" y="6223000"/>
            <a:ext cx="3175000" cy="997717"/>
          </a:xfrm>
          <a:prstGeom prst="rect">
            <a:avLst/>
          </a:prstGeom>
        </p:spPr>
      </p:pic>
      <p:sp>
        <p:nvSpPr>
          <p:cNvPr id="25" name="TextBox 24"/>
          <p:cNvSpPr txBox="1"/>
          <p:nvPr/>
        </p:nvSpPr>
        <p:spPr>
          <a:xfrm>
            <a:off x="711200" y="72898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7493000"/>
            <a:ext cx="30480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Casing cutting: </a:t>
            </a:r>
            <a:r>
              <a:rPr sz="710" b="0">
                <a:solidFill>
                  <a:srgbClr val="000000"/>
                </a:solidFill>
                <a:latin typeface="Ubuntu Mono"/>
                <a:ea typeface="Ubuntu Mono"/>
                <a:cs typeface="Ubuntu Mono"/>
                <a:sym typeface="Ubuntu Mono"/>
              </a:rPr>
              <a:t>single or multiple strings, concentric or eccentric.</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Hydraulic and rotary: </a:t>
            </a:r>
            <a:r>
              <a:rPr sz="710" b="0">
                <a:solidFill>
                  <a:srgbClr val="000000"/>
                </a:solidFill>
                <a:latin typeface="Ubuntu Mono"/>
                <a:ea typeface="Ubuntu Mono"/>
                <a:cs typeface="Ubuntu Mono"/>
                <a:sym typeface="Ubuntu Mono"/>
              </a:rPr>
              <a:t>works wherever rotation and pressure can be applied to the tool.</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Abandonment duty: </a:t>
            </a:r>
            <a:r>
              <a:rPr sz="710" b="0">
                <a:solidFill>
                  <a:srgbClr val="000000"/>
                </a:solidFill>
                <a:latin typeface="Ubuntu Mono"/>
                <a:ea typeface="Ubuntu Mono"/>
                <a:cs typeface="Ubuntu Mono"/>
                <a:sym typeface="Ubuntu Mono"/>
              </a:rPr>
              <a:t>cuts cemented casings that cannot be cut and pulled one by one.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Carbide-dressed arms: </a:t>
            </a:r>
            <a:r>
              <a:rPr sz="710" b="0">
                <a:solidFill>
                  <a:srgbClr val="000000"/>
                </a:solidFill>
                <a:latin typeface="Ubuntu Mono"/>
                <a:ea typeface="Ubuntu Mono"/>
                <a:cs typeface="Ubuntu Mono"/>
                <a:sym typeface="Ubuntu Mono"/>
              </a:rPr>
              <a:t>crushed carbide on the cutter arms, in several sizes for single or multiple strings.</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Three knife reloading types: </a:t>
            </a:r>
            <a:r>
              <a:rPr sz="710" b="0">
                <a:solidFill>
                  <a:srgbClr val="000000"/>
                </a:solidFill>
                <a:latin typeface="Ubuntu Mono"/>
                <a:ea typeface="Ubuntu Mono"/>
                <a:cs typeface="Ubuntu Mono"/>
                <a:sym typeface="Ubuntu Mono"/>
              </a:rPr>
              <a:t>standard (general use), hardfacing (reinforced, high-strength steels) and carbide (high wear resistance, abrasive environments).</a:t>
            </a:r>
          </a:p>
        </p:txBody>
      </p:sp>
      <p:sp>
        <p:nvSpPr>
          <p:cNvPr id="27" name="TextBox 26"/>
          <p:cNvSpPr txBox="1"/>
          <p:nvPr/>
        </p:nvSpPr>
        <p:spPr>
          <a:xfrm>
            <a:off x="4089400" y="612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6311900"/>
          <a:ext cx="2755900" cy="960120"/>
        </p:xfrm>
        <a:graphic>
          <a:graphicData uri="http://schemas.openxmlformats.org/drawingml/2006/table">
            <a:tbl>
              <a:tblPr/>
              <a:tblGrid>
                <a:gridCol w="1117600"/>
                <a:gridCol w="1638300"/>
              </a:tblGrid>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Up to 400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Head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35 to 60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Maximum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bar / 90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Surface test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300 L/min at 5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70 rpm (max. 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pumping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150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89400" y="7310120"/>
            <a:ext cx="27559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If pressure rises too quickly in the surface test, the piston may be blocked.</a:t>
            </a:r>
          </a:p>
        </p:txBody>
      </p:sp>
      <p:sp>
        <p:nvSpPr>
          <p:cNvPr id="30" name="TextBox 29"/>
          <p:cNvSpPr txBox="1"/>
          <p:nvPr/>
        </p:nvSpPr>
        <p:spPr>
          <a:xfrm>
            <a:off x="4089400" y="76530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PROCEDURE</a:t>
            </a:r>
          </a:p>
        </p:txBody>
      </p:sp>
      <p:sp>
        <p:nvSpPr>
          <p:cNvPr id="31" name="TextBox 30"/>
          <p:cNvSpPr txBox="1"/>
          <p:nvPr/>
        </p:nvSpPr>
        <p:spPr>
          <a:xfrm>
            <a:off x="4089400" y="7856220"/>
            <a:ext cx="27559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Record parameters: </a:t>
            </a:r>
            <a:r>
              <a:rPr sz="710" b="0">
                <a:solidFill>
                  <a:srgbClr val="000000"/>
                </a:solidFill>
                <a:latin typeface="Ubuntu Mono"/>
                <a:ea typeface="Ubuntu Mono"/>
                <a:cs typeface="Ubuntu Mono"/>
                <a:sym typeface="Ubuntu Mono"/>
              </a:rPr>
              <a:t>PUW, SOW and free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Prepare: </a:t>
            </a:r>
            <a:r>
              <a:rPr sz="710" b="0">
                <a:solidFill>
                  <a:srgbClr val="000000"/>
                </a:solidFill>
                <a:latin typeface="Ubuntu Mono"/>
                <a:ea typeface="Ubuntu Mono"/>
                <a:cs typeface="Ubuntu Mono"/>
                <a:sym typeface="Ubuntu Mono"/>
              </a:rPr>
              <a:t>close the purge line and reset the WOB.</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Start: </a:t>
            </a:r>
            <a:r>
              <a:rPr sz="710" b="0">
                <a:solidFill>
                  <a:srgbClr val="000000"/>
                </a:solidFill>
                <a:latin typeface="Ubuntu Mono"/>
                <a:ea typeface="Ubuntu Mono"/>
                <a:cs typeface="Ubuntu Mono"/>
                <a:sym typeface="Ubuntu Mono"/>
              </a:rPr>
              <a:t>begin rotation, then pump at 150 L/min while monitoring return flow and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Cut: </a:t>
            </a:r>
            <a:r>
              <a:rPr sz="710" b="0">
                <a:solidFill>
                  <a:srgbClr val="000000"/>
                </a:solidFill>
                <a:latin typeface="Ubuntu Mono"/>
                <a:ea typeface="Ubuntu Mono"/>
                <a:cs typeface="Ubuntu Mono"/>
                <a:sym typeface="Ubuntu Mono"/>
              </a:rPr>
              <a:t>once return is confirmed, increase gradually to 50 - 60 bar, then stabilise the flow without further pump adjustment.</a:t>
            </a:r>
          </a:p>
        </p:txBody>
      </p:sp>
      <p:sp>
        <p:nvSpPr>
          <p:cNvPr id="32" name="TextBox 31"/>
          <p:cNvSpPr txBox="1"/>
          <p:nvPr/>
        </p:nvSpPr>
        <p:spPr>
          <a:xfrm>
            <a:off x="4089400" y="91897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802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range to cut  2. top connection  3. knife reloading type (standard, hardfacing or carbide)  4. single or multiple strings to cut.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SECTION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HYDRAULICALLY ACTUATED CASING SECTION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TOOL THAT MILLS A SECTION OUT OF CASING OR TUBING, AND CAN ALSO BE USED TO CUT A SINGLE STRING OF CASING. PUMP PRESSURE ACROSS THE PISTON PUSHES A CAM DOWN AND EXPANDS THE KNIVES AGAINST THE CASING: THE CUT-OUT KNIVES PART THE PIPE FIRST, THEN ALL THE KNIVES TAKE PART IN MILLING. WHEN CIRCULATION STOPS, THE PISTON SPRING RETRACTS THE CAM AND THE KNIVES FOLD BACK INTO THE BODY FOR RETRIEVAL. KNIVES ARE DRESSED WITH TUNGSTEN CARBIDE INSERTS, SUITED TO POORLY CEMENTED, SPLIT OR CORRODED CASING; A SECTION OF UP TO 60 FT IS TYPICALLY MILLED WITH ONE SET OF KNIVES.</a:t>
            </a:r>
          </a:p>
        </p:txBody>
      </p:sp>
      <p:sp>
        <p:nvSpPr>
          <p:cNvPr id="21" name="TextBox 20"/>
          <p:cNvSpPr txBox="1"/>
          <p:nvPr/>
        </p:nvSpPr>
        <p:spPr>
          <a:xfrm>
            <a:off x="711200" y="5257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461000"/>
          <a:ext cx="6134098" cy="1701800"/>
        </p:xfrm>
        <a:graphic>
          <a:graphicData uri="http://schemas.openxmlformats.org/drawingml/2006/table">
            <a:tbl>
              <a:tblPr/>
              <a:tblGrid>
                <a:gridCol w="613410"/>
                <a:gridCol w="920114"/>
                <a:gridCol w="613410"/>
                <a:gridCol w="836468"/>
                <a:gridCol w="836468"/>
                <a:gridCol w="724939"/>
                <a:gridCol w="975879"/>
                <a:gridCol w="613410"/>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009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Standard API regular pin connections; others on request.</a:t>
            </a:r>
          </a:p>
        </p:txBody>
      </p:sp>
      <p:sp>
        <p:nvSpPr>
          <p:cNvPr id="24" name="TextBox 23"/>
          <p:cNvSpPr txBox="1"/>
          <p:nvPr/>
        </p:nvSpPr>
        <p:spPr>
          <a:xfrm>
            <a:off x="711200" y="74676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670800"/>
            <a:ext cx="2921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Staged knife opening: </a:t>
            </a:r>
            <a:r>
              <a:rPr sz="700" b="0">
                <a:solidFill>
                  <a:srgbClr val="000000"/>
                </a:solidFill>
                <a:latin typeface="Ubuntu Mono"/>
                <a:ea typeface="Ubuntu Mono"/>
                <a:cs typeface="Ubuntu Mono"/>
                <a:sym typeface="Ubuntu Mono"/>
              </a:rPr>
              <a:t>three knives cut out, then all six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Carbide cutting structure: </a:t>
            </a:r>
            <a:r>
              <a:rPr sz="700" b="0">
                <a:solidFill>
                  <a:srgbClr val="000000"/>
                </a:solidFill>
                <a:latin typeface="Ubuntu Mono"/>
                <a:ea typeface="Ubuntu Mono"/>
                <a:cs typeface="Ubuntu Mono"/>
                <a:sym typeface="Ubuntu Mono"/>
              </a:rPr>
              <a:t>inserts laid in a brick-work pattern for footage and penetration.</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Positive cut-out signal: </a:t>
            </a:r>
            <a:r>
              <a:rPr sz="700" b="0">
                <a:solidFill>
                  <a:srgbClr val="000000"/>
                </a:solidFill>
                <a:latin typeface="Ubuntu Mono"/>
                <a:ea typeface="Ubuntu Mono"/>
                <a:cs typeface="Ubuntu Mono"/>
                <a:sym typeface="Ubuntu Mono"/>
              </a:rPr>
              <a:t>the Flo-Tel option doubles the flow area once the casing is parted, giving a 200 - 250 psi pressure drop at surface. Standard on series 4100 to 11700; not available on 3600.</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Self-retracting: </a:t>
            </a:r>
            <a:r>
              <a:rPr sz="700" b="0">
                <a:solidFill>
                  <a:srgbClr val="000000"/>
                </a:solidFill>
                <a:latin typeface="Ubuntu Mono"/>
                <a:ea typeface="Ubuntu Mono"/>
                <a:cs typeface="Ubuntu Mono"/>
                <a:sym typeface="Ubuntu Mono"/>
              </a:rPr>
              <a:t>piston spring closes the knives when pumps stop.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Jetted top sub: </a:t>
            </a:r>
            <a:r>
              <a:rPr sz="700" b="0">
                <a:solidFill>
                  <a:srgbClr val="000000"/>
                </a:solidFill>
                <a:latin typeface="Ubuntu Mono"/>
                <a:ea typeface="Ubuntu Mono"/>
                <a:cs typeface="Ubuntu Mono"/>
                <a:sym typeface="Ubuntu Mono"/>
              </a:rPr>
              <a:t>limits velocity through the piston above 300 gpm.</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servicing: </a:t>
            </a:r>
            <a:r>
              <a:rPr sz="700" b="0">
                <a:solidFill>
                  <a:srgbClr val="000000"/>
                </a:solidFill>
                <a:latin typeface="Ubuntu Mono"/>
                <a:ea typeface="Ubuntu Mono"/>
                <a:cs typeface="Ubuntu Mono"/>
                <a:sym typeface="Ubuntu Mono"/>
              </a:rPr>
              <a:t>replaceable knives, arm-stop stabilizers and Flo-Tel unit.</a:t>
            </a:r>
          </a:p>
        </p:txBody>
      </p:sp>
      <p:sp>
        <p:nvSpPr>
          <p:cNvPr id="26" name="TextBox 25"/>
          <p:cNvSpPr txBox="1"/>
          <p:nvPr/>
        </p:nvSpPr>
        <p:spPr>
          <a:xfrm>
            <a:off x="3810000" y="7467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FLOW RATES (GPM)</a:t>
            </a:r>
          </a:p>
        </p:txBody>
      </p:sp>
      <p:graphicFrame>
        <p:nvGraphicFramePr>
          <p:cNvPr id="27" name="Table 26"/>
          <p:cNvGraphicFramePr>
            <a:graphicFrameLocks noGrp="1"/>
          </p:cNvGraphicFramePr>
          <p:nvPr/>
        </p:nvGraphicFramePr>
        <p:xfrm>
          <a:off x="3810000" y="7658100"/>
          <a:ext cx="3035300" cy="1318251"/>
        </p:xfrm>
        <a:graphic>
          <a:graphicData uri="http://schemas.openxmlformats.org/drawingml/2006/table">
            <a:tbl>
              <a:tblPr/>
              <a:tblGrid>
                <a:gridCol w="762000"/>
                <a:gridCol w="1143000"/>
                <a:gridCol w="11303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300 - 400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90779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10000" y="9255760"/>
          <a:ext cx="3035300" cy="673100"/>
        </p:xfrm>
        <a:graphic>
          <a:graphicData uri="http://schemas.openxmlformats.org/drawingml/2006/table">
            <a:tbl>
              <a:tblPr/>
              <a:tblGrid>
                <a:gridCol w="1206500"/>
                <a:gridCol w="1828800"/>
              </a:tblGrid>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60 rpm to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4,000 - 8,000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Min. pressure at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about 300 psi to cut 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Pipe cutter use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100304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208260"/>
            <a:ext cx="3035300" cy="381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tool series  2. size and weight of casing to be milled  3. top pin connection.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ROCK-TYPE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RUGGED THREE-CONE UNDERREAMER THAT ENLARGES A HOLE TO NEARLY TWICE ITS OWN BODY DIAMETER. A WIDE RANGE OF CONE TYPES MATCHES THE CUTTER TO THE FORMATION, AND A CHOICE OF ORIFICE SIZES TAILORS PERFORMANCE TO THE RIG HYDRAULICS. THE TOOL CAN BE SERVICED ON LOCATION, THE CUTTER ARMS ARE CHANGED QUICKLY ON THE RIG FLOOR, AND FULL CIRCULATION IS KEPT AT ALL TIMES WITH WATER, MUD, AIR, AERATED MUD OR FOAM.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094" cy="2217420"/>
        </p:xfrm>
        <a:graphic>
          <a:graphicData uri="http://schemas.openxmlformats.org/drawingml/2006/table">
            <a:tbl>
              <a:tblPr/>
              <a:tblGrid>
                <a:gridCol w="503827"/>
                <a:gridCol w="604593"/>
                <a:gridCol w="654975"/>
                <a:gridCol w="453444"/>
                <a:gridCol w="478636"/>
                <a:gridCol w="730549"/>
                <a:gridCol w="529018"/>
                <a:gridCol w="529018"/>
                <a:gridCol w="503827"/>
                <a:gridCol w="705358"/>
                <a:gridCol w="440849"/>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47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x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 LP*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8472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pic>
        <p:nvPicPr>
          <p:cNvPr id="24" name="Picture 23" descr="rtu_tool_blue.png"/>
          <p:cNvPicPr>
            <a:picLocks noChangeAspect="1"/>
          </p:cNvPicPr>
          <p:nvPr/>
        </p:nvPicPr>
        <p:blipFill>
          <a:blip r:embed="rId4"/>
          <a:stretch>
            <a:fillRect/>
          </a:stretch>
        </p:blipFill>
        <p:spPr>
          <a:xfrm>
            <a:off x="711200" y="7493000"/>
            <a:ext cx="617564" cy="2997200"/>
          </a:xfrm>
          <a:prstGeom prst="rect">
            <a:avLst/>
          </a:prstGeom>
        </p:spPr>
      </p:pic>
      <p:sp>
        <p:nvSpPr>
          <p:cNvPr id="25" name="TextBox 24"/>
          <p:cNvSpPr txBox="1"/>
          <p:nvPr/>
        </p:nvSpPr>
        <p:spPr>
          <a:xfrm>
            <a:off x="1498600" y="74676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98600" y="76708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Three-cone cutters: </a:t>
            </a:r>
            <a:r>
              <a:rPr sz="700" b="0">
                <a:solidFill>
                  <a:srgbClr val="000000"/>
                </a:solidFill>
                <a:latin typeface="Ubuntu Mono"/>
                <a:ea typeface="Ubuntu Mono"/>
                <a:cs typeface="Ubuntu Mono"/>
                <a:sym typeface="Ubuntu Mono"/>
              </a:rPr>
              <a:t>enlarges to almost twice the body diameter.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Cutter options: </a:t>
            </a:r>
            <a:r>
              <a:rPr sz="700" b="0">
                <a:solidFill>
                  <a:srgbClr val="000000"/>
                </a:solidFill>
                <a:latin typeface="Ubuntu Mono"/>
                <a:ea typeface="Ubuntu Mono"/>
                <a:cs typeface="Ubuntu Mono"/>
                <a:sym typeface="Ubuntu Mono"/>
              </a:rPr>
              <a:t>milled tooth, TCI or PDC Bearclaw cutting structures.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Tailored hydraulics: </a:t>
            </a:r>
            <a:r>
              <a:rPr sz="700" b="0">
                <a:solidFill>
                  <a:srgbClr val="000000"/>
                </a:solidFill>
                <a:latin typeface="Ubuntu Mono"/>
                <a:ea typeface="Ubuntu Mono"/>
                <a:cs typeface="Ubuntu Mono"/>
                <a:sym typeface="Ubuntu Mono"/>
              </a:rPr>
              <a:t>orifice sizes selected to suit the rig conditions.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circulation: </a:t>
            </a:r>
            <a:r>
              <a:rPr sz="700" b="0">
                <a:solidFill>
                  <a:srgbClr val="000000"/>
                </a:solidFill>
                <a:latin typeface="Ubuntu Mono"/>
                <a:ea typeface="Ubuntu Mono"/>
                <a:cs typeface="Ubuntu Mono"/>
                <a:sym typeface="Ubuntu Mono"/>
              </a:rPr>
              <a:t>constant flow volume through the tool.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Field serviceable: </a:t>
            </a:r>
            <a:r>
              <a:rPr sz="700" b="0">
                <a:solidFill>
                  <a:srgbClr val="000000"/>
                </a:solidFill>
                <a:latin typeface="Ubuntu Mono"/>
                <a:ea typeface="Ubuntu Mono"/>
                <a:cs typeface="Ubuntu Mono"/>
                <a:sym typeface="Ubuntu Mono"/>
              </a:rPr>
              <a:t>serviced on location; arms swapped on the rig floor.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Optional Flo-Tel: </a:t>
            </a:r>
            <a:r>
              <a:rPr sz="700" b="0">
                <a:solidFill>
                  <a:srgbClr val="000000"/>
                </a:solidFill>
                <a:latin typeface="Ubuntu Mono"/>
                <a:ea typeface="Ubuntu Mono"/>
                <a:cs typeface="Ubuntu Mono"/>
                <a:sym typeface="Ubuntu Mono"/>
              </a:rPr>
              <a:t>pump pressure drops 200 - 250 psi once the arms are fully extended, confirming full gauge and avoiding second trips.</a:t>
            </a:r>
          </a:p>
        </p:txBody>
      </p:sp>
      <p:sp>
        <p:nvSpPr>
          <p:cNvPr id="27" name="TextBox 26"/>
          <p:cNvSpPr txBox="1"/>
          <p:nvPr/>
        </p:nvSpPr>
        <p:spPr>
          <a:xfrm>
            <a:off x="1498600" y="94742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498600" y="96774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Running in: </a:t>
            </a:r>
            <a:r>
              <a:rPr sz="700" b="0">
                <a:solidFill>
                  <a:srgbClr val="000000"/>
                </a:solidFill>
                <a:latin typeface="Ubuntu Mono"/>
                <a:ea typeface="Ubuntu Mono"/>
                <a:cs typeface="Ubuntu Mono"/>
                <a:sym typeface="Ubuntu Mono"/>
              </a:rPr>
              <a:t>go slowly at the top of the section; surge pressure can open the arms and damage casing.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of penetration: </a:t>
            </a:r>
            <a:r>
              <a:rPr sz="700" b="0">
                <a:solidFill>
                  <a:srgbClr val="000000"/>
                </a:solidFill>
                <a:latin typeface="Ubuntu Mono"/>
                <a:ea typeface="Ubuntu Mono"/>
                <a:cs typeface="Ubuntu Mono"/>
                <a:sym typeface="Ubuntu Mono"/>
              </a:rPr>
              <a:t>keep below 100 ft/hr or the hole may not reach drift gauge.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Dull cutters: </a:t>
            </a:r>
            <a:r>
              <a:rPr sz="700" b="0">
                <a:solidFill>
                  <a:srgbClr val="000000"/>
                </a:solidFill>
                <a:latin typeface="Ubuntu Mono"/>
                <a:ea typeface="Ubuntu Mono"/>
                <a:cs typeface="Ubuntu Mono"/>
                <a:sym typeface="Ubuntu Mono"/>
              </a:rPr>
              <a:t>pull at the first sign of dulling.</a:t>
            </a:r>
          </a:p>
        </p:txBody>
      </p:sp>
      <p:sp>
        <p:nvSpPr>
          <p:cNvPr id="29" name="TextBox 28"/>
          <p:cNvSpPr txBox="1"/>
          <p:nvPr/>
        </p:nvSpPr>
        <p:spPr>
          <a:xfrm>
            <a:off x="4089400" y="7467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658100"/>
          <a:ext cx="2755900" cy="94488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Rpm to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cutting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1,000 lb per in.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Water, mud, air,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87299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THE SHOULDER</a:t>
            </a:r>
          </a:p>
        </p:txBody>
      </p:sp>
      <p:sp>
        <p:nvSpPr>
          <p:cNvPr id="32" name="TextBox 31"/>
          <p:cNvSpPr txBox="1"/>
          <p:nvPr/>
        </p:nvSpPr>
        <p:spPr>
          <a:xfrm>
            <a:off x="4089400" y="8933180"/>
            <a:ext cx="2755900" cy="127000"/>
          </a:xfrm>
          <a:prstGeom prst="rect">
            <a:avLst/>
          </a:prstGeom>
          <a:noFill/>
        </p:spPr>
        <p:txBody>
          <a:bodyPr wrap="square" lIns="0" rIns="0" tIns="0" bIns="0">
            <a:spAutoFit/>
          </a:bodyPr>
          <a:lstStyle/>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Start: </a:t>
            </a:r>
            <a:r>
              <a:rPr sz="680" b="0">
                <a:solidFill>
                  <a:srgbClr val="000000"/>
                </a:solidFill>
                <a:latin typeface="Ubuntu Mono"/>
                <a:ea typeface="Ubuntu Mono"/>
                <a:cs typeface="Ubuntu Mono"/>
                <a:sym typeface="Ubuntu Mono"/>
              </a:rPr>
              <a:t>establish flow, rotate at 80 - 150 rpm and drill off slowly for 5 - 10 minutes.</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Open the arms: </a:t>
            </a:r>
            <a:r>
              <a:rPr sz="680" b="0">
                <a:solidFill>
                  <a:srgbClr val="000000"/>
                </a:solidFill>
                <a:latin typeface="Ubuntu Mono"/>
                <a:ea typeface="Ubuntu Mono"/>
                <a:cs typeface="Ubuntu Mono"/>
                <a:sym typeface="Ubuntu Mono"/>
              </a:rPr>
              <a:t>lift off with the pump on and repeat to be sure they are fully open.</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Shoulder reached: </a:t>
            </a:r>
            <a:r>
              <a:rPr sz="680" b="0">
                <a:solidFill>
                  <a:srgbClr val="000000"/>
                </a:solidFill>
                <a:latin typeface="Ubuntu Mono"/>
                <a:ea typeface="Ubuntu Mono"/>
                <a:cs typeface="Ubuntu Mono"/>
                <a:sym typeface="Ubuntu Mono"/>
              </a:rPr>
              <a:t>weight starts to register, then add weight to underream.</a:t>
            </a:r>
          </a:p>
        </p:txBody>
      </p:sp>
      <p:sp>
        <p:nvSpPr>
          <p:cNvPr id="33" name="TextBox 32"/>
          <p:cNvSpPr txBox="1"/>
          <p:nvPr/>
        </p:nvSpPr>
        <p:spPr>
          <a:xfrm>
            <a:off x="4089400" y="99110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10101580"/>
            <a:ext cx="27559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DRILLING-TYPE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DRILLING-TYPE UNDERREAMER THAT ENLARGES PREVIOUSLY DRILLED PILOT HOLES. A BOTTOM BOX CONNECTION LETS A BIT OR A BULLNOSE RUN BELOW THE TOOL, SO THE DTU CAN DRILL AND UNDERREAM AT THE SAME TIME. MUD FLOW CAN BE SPLIT BETWEEN THE CUTTER ARMS AND THE BIT OR BULLNOSE. IT RUNS WITH WATER, MUD, AIR, AERATED MUD OR ANY OTHER CIRCULATING MEDIUM.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100" cy="1648460"/>
        </p:xfrm>
        <a:graphic>
          <a:graphicData uri="http://schemas.openxmlformats.org/drawingml/2006/table">
            <a:tbl>
              <a:tblPr/>
              <a:tblGrid>
                <a:gridCol w="457200"/>
                <a:gridCol w="609600"/>
                <a:gridCol w="660400"/>
                <a:gridCol w="457200"/>
                <a:gridCol w="482600"/>
                <a:gridCol w="736600"/>
                <a:gridCol w="533400"/>
                <a:gridCol w="533400"/>
                <a:gridCol w="508000"/>
                <a:gridCol w="711200"/>
                <a:gridCol w="444500"/>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53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 x 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24 - 32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18-5/8 x 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5759"/>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sp>
        <p:nvSpPr>
          <p:cNvPr id="24" name="TextBox 23"/>
          <p:cNvSpPr txBox="1"/>
          <p:nvPr/>
        </p:nvSpPr>
        <p:spPr>
          <a:xfrm>
            <a:off x="711200" y="69850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88200"/>
            <a:ext cx="3098800" cy="127000"/>
          </a:xfrm>
          <a:prstGeom prst="rect">
            <a:avLst/>
          </a:prstGeom>
          <a:noFill/>
        </p:spPr>
        <p:txBody>
          <a:bodyPr wrap="square" lIns="0" rIns="0" tIns="0" bIns="0">
            <a:spAutoFit/>
          </a:bodyPr>
          <a:lstStyle/>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Drill and underream in one run: </a:t>
            </a:r>
            <a:r>
              <a:rPr sz="720" b="0">
                <a:solidFill>
                  <a:srgbClr val="000000"/>
                </a:solidFill>
                <a:latin typeface="Ubuntu Mono"/>
                <a:ea typeface="Ubuntu Mono"/>
                <a:cs typeface="Ubuntu Mono"/>
                <a:sym typeface="Ubuntu Mono"/>
              </a:rPr>
              <a:t>bottom box connection for a bit or bullnose.</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Flexible hydraulics: </a:t>
            </a:r>
            <a:r>
              <a:rPr sz="720" b="0">
                <a:solidFill>
                  <a:srgbClr val="000000"/>
                </a:solidFill>
                <a:latin typeface="Ubuntu Mono"/>
                <a:ea typeface="Ubuntu Mono"/>
                <a:cs typeface="Ubuntu Mono"/>
                <a:sym typeface="Ubuntu Mono"/>
              </a:rPr>
              <a:t>flow can be divided between the arms and the bit or bullnose; orifice jets are selected to suit the available hydraulics.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Cooling and cleaning: </a:t>
            </a:r>
            <a:r>
              <a:rPr sz="720" b="0">
                <a:solidFill>
                  <a:srgbClr val="000000"/>
                </a:solidFill>
                <a:latin typeface="Ubuntu Mono"/>
                <a:ea typeface="Ubuntu Mono"/>
                <a:cs typeface="Ubuntu Mono"/>
                <a:sym typeface="Ubuntu Mono"/>
              </a:rPr>
              <a:t>jet placement keeps the cutters cool and aids annular lift of cuttings.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Extra flow options: </a:t>
            </a:r>
            <a:r>
              <a:rPr sz="720" b="0">
                <a:solidFill>
                  <a:srgbClr val="000000"/>
                </a:solidFill>
                <a:latin typeface="Ubuntu Mono"/>
                <a:ea typeface="Ubuntu Mono"/>
                <a:cs typeface="Ubuntu Mono"/>
                <a:sym typeface="Ubuntu Mono"/>
              </a:rPr>
              <a:t>jetted bullnose and jetted top sub to divert more flow when needed.</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Cutting structures: </a:t>
            </a:r>
            <a:r>
              <a:rPr sz="720" b="0">
                <a:solidFill>
                  <a:srgbClr val="000000"/>
                </a:solidFill>
                <a:latin typeface="Ubuntu Mono"/>
                <a:ea typeface="Ubuntu Mono"/>
                <a:cs typeface="Ubuntu Mono"/>
                <a:sym typeface="Ubuntu Mono"/>
              </a:rPr>
              <a:t>open-bearing milled tooth (standard), TCI or PDC Bearclaw.</a:t>
            </a:r>
          </a:p>
        </p:txBody>
      </p:sp>
      <p:sp>
        <p:nvSpPr>
          <p:cNvPr id="26" name="TextBox 25"/>
          <p:cNvSpPr txBox="1"/>
          <p:nvPr/>
        </p:nvSpPr>
        <p:spPr>
          <a:xfrm>
            <a:off x="711200" y="8763000"/>
            <a:ext cx="30988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711200" y="8953500"/>
          <a:ext cx="3098800" cy="944880"/>
        </p:xfrm>
        <a:graphic>
          <a:graphicData uri="http://schemas.openxmlformats.org/drawingml/2006/table">
            <a:tbl>
              <a:tblPr/>
              <a:tblGrid>
                <a:gridCol w="1422400"/>
                <a:gridCol w="1676400"/>
              </a:tblGrid>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reaching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1,000 lb per inch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Stabilization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Full-gauge stabilizer 60 - 90 ft above and below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Position in the BHA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Middle of the drill collars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4013200" y="69850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CUTTER OPTIONS</a:t>
            </a:r>
          </a:p>
        </p:txBody>
      </p:sp>
      <p:pic>
        <p:nvPicPr>
          <p:cNvPr id="29" name="Picture 28" descr="cutters_s.png"/>
          <p:cNvPicPr>
            <a:picLocks noChangeAspect="1"/>
          </p:cNvPicPr>
          <p:nvPr/>
        </p:nvPicPr>
        <p:blipFill>
          <a:blip r:embed="rId4"/>
          <a:stretch>
            <a:fillRect/>
          </a:stretch>
        </p:blipFill>
        <p:spPr>
          <a:xfrm>
            <a:off x="4013200" y="7188200"/>
            <a:ext cx="1365008" cy="2235200"/>
          </a:xfrm>
          <a:prstGeom prst="rect">
            <a:avLst/>
          </a:prstGeom>
        </p:spPr>
      </p:pic>
      <p:sp>
        <p:nvSpPr>
          <p:cNvPr id="30" name="TextBox 29"/>
          <p:cNvSpPr txBox="1"/>
          <p:nvPr/>
        </p:nvSpPr>
        <p:spPr>
          <a:xfrm>
            <a:off x="5435600" y="7188200"/>
            <a:ext cx="1409700" cy="127000"/>
          </a:xfrm>
          <a:prstGeom prst="rect">
            <a:avLst/>
          </a:prstGeom>
          <a:noFill/>
        </p:spPr>
        <p:txBody>
          <a:bodyPr wrap="square" lIns="0" rIns="0" tIns="0" bIns="0">
            <a:spAutoFit/>
          </a:bodyPr>
          <a:lstStyle/>
          <a:p>
            <a:pPr algn="l">
              <a:lnSpc>
                <a:spcPts val="760"/>
              </a:lnSpc>
              <a:spcAft>
                <a:spcPts val="0"/>
              </a:spcAft>
            </a:pPr>
            <a:r>
              <a:rPr sz="640" b="1">
                <a:solidFill>
                  <a:srgbClr val="194E9A"/>
                </a:solidFill>
                <a:latin typeface="Ubuntu Mono"/>
                <a:ea typeface="Ubuntu Mono"/>
                <a:cs typeface="Ubuntu Mono"/>
                <a:sym typeface="Ubuntu Mono"/>
              </a:rPr>
              <a:t>Gauge diameter tolerances, arms open</a:t>
            </a:r>
          </a:p>
        </p:txBody>
      </p:sp>
      <p:graphicFrame>
        <p:nvGraphicFramePr>
          <p:cNvPr id="31" name="Table 30"/>
          <p:cNvGraphicFramePr>
            <a:graphicFrameLocks noGrp="1"/>
          </p:cNvGraphicFramePr>
          <p:nvPr/>
        </p:nvGraphicFramePr>
        <p:xfrm>
          <a:off x="5435600" y="7442200"/>
          <a:ext cx="1409700" cy="698500"/>
        </p:xfrm>
        <a:graphic>
          <a:graphicData uri="http://schemas.openxmlformats.org/drawingml/2006/table">
            <a:tbl>
              <a:tblPr/>
              <a:tblGrid>
                <a:gridCol w="711200"/>
                <a:gridCol w="6985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9-1/2 - 13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+3/32 - 0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14 - 18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5435600" y="8191500"/>
            <a:ext cx="1409700" cy="508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Applies to arm sets of RTU, DTU, drag and XTU underreamers, all cutting structures.</a:t>
            </a:r>
          </a:p>
        </p:txBody>
      </p:sp>
      <p:sp>
        <p:nvSpPr>
          <p:cNvPr id="33" name="TextBox 32"/>
          <p:cNvSpPr txBox="1"/>
          <p:nvPr/>
        </p:nvSpPr>
        <p:spPr>
          <a:xfrm>
            <a:off x="4013200" y="94996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13200" y="9690100"/>
            <a:ext cx="28321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HOLE OPENER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FIXED-DIAMETER HOLE OPENER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FIXED-DIAMETER HOLE OPENER THAT ENLARGES A PREVIOUSLY DRILLED PILOT HOLE FROM THE SURFACE. THE CUTTERS ARE RIGIDLY ATTACHED TO THE BODY: THERE IS NO HYDRAULIC ACTUATION, AND THE TOOL ALWAYS CUTS AT ITS FULL GAUGE. USED MAINLY FOR SURFACE HOLES AND CONDUCTOR CASING, WHERE A BIGGER HOLE GIVES ENOUGH CLEARANCE TO RUN AND CEMENT THE CASING (FOR EXAMPLE, A 17-1/2 IN. HOLE OPENED TO RUN 13-3/8 IN. CASING). THE CHOICE OF CUTTERS LETS IT HANDLE SOFT TO HARD-ABRASIVE FORMATIONS. CUTTER SIZES FROM 26 TO 42 IN.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4" cy="1648460"/>
        </p:xfrm>
        <a:graphic>
          <a:graphicData uri="http://schemas.openxmlformats.org/drawingml/2006/table">
            <a:tbl>
              <a:tblPr/>
              <a:tblGrid>
                <a:gridCol w="550143"/>
                <a:gridCol w="577650"/>
                <a:gridCol w="605157"/>
                <a:gridCol w="550143"/>
                <a:gridCol w="880229"/>
                <a:gridCol w="605157"/>
                <a:gridCol w="577650"/>
                <a:gridCol w="687679"/>
                <a:gridCol w="550143"/>
                <a:gridCol w="550143"/>
              </a:tblGrid>
              <a:tr h="368300">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box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bore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8681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approximate. Intermediate sizes or sizes larger than 42 in. available on request.</a:t>
            </a:r>
          </a:p>
        </p:txBody>
      </p:sp>
      <p:pic>
        <p:nvPicPr>
          <p:cNvPr id="24" name="Picture 23" descr="hole_opener_blue.png"/>
          <p:cNvPicPr>
            <a:picLocks noChangeAspect="1"/>
          </p:cNvPicPr>
          <p:nvPr/>
        </p:nvPicPr>
        <p:blipFill>
          <a:blip r:embed="rId4"/>
          <a:stretch>
            <a:fillRect/>
          </a:stretch>
        </p:blipFill>
        <p:spPr>
          <a:xfrm>
            <a:off x="711200" y="7061200"/>
            <a:ext cx="1499016" cy="3048000"/>
          </a:xfrm>
          <a:prstGeom prst="rect">
            <a:avLst/>
          </a:prstGeom>
        </p:spPr>
      </p:pic>
      <p:sp>
        <p:nvSpPr>
          <p:cNvPr id="25" name="TextBox 24"/>
          <p:cNvSpPr txBox="1"/>
          <p:nvPr/>
        </p:nvSpPr>
        <p:spPr>
          <a:xfrm>
            <a:off x="2260600" y="7035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2260600" y="7239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Fixed gauge: </a:t>
            </a:r>
            <a:r>
              <a:rPr sz="680" b="0">
                <a:solidFill>
                  <a:srgbClr val="000000"/>
                </a:solidFill>
                <a:latin typeface="Ubuntu Mono"/>
                <a:ea typeface="Ubuntu Mono"/>
                <a:cs typeface="Ubuntu Mono"/>
                <a:sym typeface="Ubuntu Mono"/>
              </a:rPr>
              <a:t>cutters rigidly mounted; no hydraulic actuation.</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Demountable cutters: </a:t>
            </a:r>
            <a:r>
              <a:rPr sz="680" b="0">
                <a:solidFill>
                  <a:srgbClr val="000000"/>
                </a:solidFill>
                <a:latin typeface="Ubuntu Mono"/>
                <a:ea typeface="Ubuntu Mono"/>
                <a:cs typeface="Ubuntu Mono"/>
                <a:sym typeface="Ubuntu Mono"/>
              </a:rPr>
              <a:t>easily replaced on the rig floor.</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Cutters: </a:t>
            </a:r>
            <a:r>
              <a:rPr sz="680" b="0">
                <a:solidFill>
                  <a:srgbClr val="000000"/>
                </a:solidFill>
                <a:latin typeface="Ubuntu Mono"/>
                <a:ea typeface="Ubuntu Mono"/>
                <a:cs typeface="Ubuntu Mono"/>
                <a:sym typeface="Ubuntu Mono"/>
              </a:rPr>
              <a:t>sealed-bearing milled tooth or tungsten carbide insert.</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Long fishing necks: </a:t>
            </a:r>
            <a:r>
              <a:rPr sz="680" b="0">
                <a:solidFill>
                  <a:srgbClr val="000000"/>
                </a:solidFill>
                <a:latin typeface="Ubuntu Mono"/>
                <a:ea typeface="Ubuntu Mono"/>
                <a:cs typeface="Ubuntu Mono"/>
                <a:sym typeface="Ubuntu Mono"/>
              </a:rPr>
              <a:t>can be made up below the rotary table despite the large size.</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Replaceable nozzles: </a:t>
            </a:r>
            <a:r>
              <a:rPr sz="680" b="0">
                <a:solidFill>
                  <a:srgbClr val="000000"/>
                </a:solidFill>
                <a:latin typeface="Ubuntu Mono"/>
                <a:ea typeface="Ubuntu Mono"/>
                <a:cs typeface="Ubuntu Mono"/>
                <a:sym typeface="Ubuntu Mono"/>
              </a:rPr>
              <a:t>effective hole cleaning.</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Wide formation range: </a:t>
            </a:r>
            <a:r>
              <a:rPr sz="680" b="0">
                <a:solidFill>
                  <a:srgbClr val="000000"/>
                </a:solidFill>
                <a:latin typeface="Ubuntu Mono"/>
                <a:ea typeface="Ubuntu Mono"/>
                <a:cs typeface="Ubuntu Mono"/>
                <a:sym typeface="Ubuntu Mono"/>
              </a:rPr>
              <a:t>soft to hard-abrasive.</a:t>
            </a:r>
          </a:p>
        </p:txBody>
      </p:sp>
      <p:sp>
        <p:nvSpPr>
          <p:cNvPr id="27" name="TextBox 26"/>
          <p:cNvSpPr txBox="1"/>
          <p:nvPr/>
        </p:nvSpPr>
        <p:spPr>
          <a:xfrm>
            <a:off x="2260600" y="8813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NOZZLES AND CUTTERS</a:t>
            </a:r>
          </a:p>
        </p:txBody>
      </p:sp>
      <p:sp>
        <p:nvSpPr>
          <p:cNvPr id="28" name="TextBox 27"/>
          <p:cNvSpPr txBox="1"/>
          <p:nvPr/>
        </p:nvSpPr>
        <p:spPr>
          <a:xfrm>
            <a:off x="2260600" y="9017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Nozzles: </a:t>
            </a:r>
            <a:r>
              <a:rPr sz="680" b="0">
                <a:solidFill>
                  <a:srgbClr val="000000"/>
                </a:solidFill>
                <a:latin typeface="Ubuntu Mono"/>
                <a:ea typeface="Ubuntu Mono"/>
                <a:cs typeface="Ubuntu Mono"/>
                <a:sym typeface="Ubuntu Mono"/>
              </a:rPr>
              <a:t>threaded retainer holds the jet nozzle in its sleeve; O-ring seal.</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 sets: </a:t>
            </a:r>
            <a:r>
              <a:rPr sz="680" b="0">
                <a:solidFill>
                  <a:srgbClr val="000000"/>
                </a:solidFill>
                <a:latin typeface="Ubuntu Mono"/>
                <a:ea typeface="Ubuntu Mono"/>
                <a:cs typeface="Ubuntu Mono"/>
                <a:sym typeface="Ubuntu Mono"/>
              </a:rPr>
              <a:t>replacement sets include all parts needed.</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Rebuild kits: </a:t>
            </a:r>
            <a:r>
              <a:rPr sz="680" b="0">
                <a:solidFill>
                  <a:srgbClr val="000000"/>
                </a:solidFill>
                <a:latin typeface="Ubuntu Mono"/>
                <a:ea typeface="Ubuntu Mono"/>
                <a:cs typeface="Ubuntu Mono"/>
                <a:sym typeface="Ubuntu Mono"/>
              </a:rPr>
              <a:t>cutter bearing rebuild kits on special order.</a:t>
            </a:r>
          </a:p>
        </p:txBody>
      </p:sp>
      <p:sp>
        <p:nvSpPr>
          <p:cNvPr id="29" name="TextBox 28"/>
          <p:cNvSpPr txBox="1"/>
          <p:nvPr/>
        </p:nvSpPr>
        <p:spPr>
          <a:xfrm>
            <a:off x="4089400" y="7035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0" name="Table 29"/>
          <p:cNvGraphicFramePr>
            <a:graphicFrameLocks noGrp="1"/>
          </p:cNvGraphicFramePr>
          <p:nvPr/>
        </p:nvGraphicFramePr>
        <p:xfrm>
          <a:off x="4089400" y="7226300"/>
          <a:ext cx="2755900" cy="698500"/>
        </p:xfrm>
        <a:graphic>
          <a:graphicData uri="http://schemas.openxmlformats.org/drawingml/2006/table">
            <a:tbl>
              <a:tblPr/>
              <a:tblGrid>
                <a:gridCol w="558800"/>
                <a:gridCol w="698500"/>
                <a:gridCol w="889000"/>
                <a:gridCol w="6096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Formation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Cutter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Soft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15,000 - 25,000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20,000 - 35,000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Button 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Extr. 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TCI button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9502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Guideline for 19-3/4 - 26 in. holes; smaller sizes need less weight.</a:t>
            </a:r>
          </a:p>
        </p:txBody>
      </p:sp>
      <p:sp>
        <p:nvSpPr>
          <p:cNvPr id="32" name="TextBox 31"/>
          <p:cNvSpPr txBox="1"/>
          <p:nvPr/>
        </p:nvSpPr>
        <p:spPr>
          <a:xfrm>
            <a:off x="4089400" y="8051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GAUGE TOLERANCE (ARMS OPEN)</a:t>
            </a:r>
          </a:p>
        </p:txBody>
      </p:sp>
      <p:graphicFrame>
        <p:nvGraphicFramePr>
          <p:cNvPr id="33" name="Table 32"/>
          <p:cNvGraphicFramePr>
            <a:graphicFrameLocks noGrp="1"/>
          </p:cNvGraphicFramePr>
          <p:nvPr/>
        </p:nvGraphicFramePr>
        <p:xfrm>
          <a:off x="4089400" y="8242300"/>
          <a:ext cx="2755900" cy="558800"/>
        </p:xfrm>
        <a:graphic>
          <a:graphicData uri="http://schemas.openxmlformats.org/drawingml/2006/table">
            <a:tbl>
              <a:tblPr/>
              <a:tblGrid>
                <a:gridCol w="1016000"/>
                <a:gridCol w="863600"/>
                <a:gridCol w="8763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Plus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Minus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18 - 26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27 - 42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43 and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4" name="TextBox 33"/>
          <p:cNvSpPr txBox="1"/>
          <p:nvPr/>
        </p:nvSpPr>
        <p:spPr>
          <a:xfrm>
            <a:off x="4089400" y="88265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Gauge as dressed, not ground; milled tooth and TCI.</a:t>
            </a:r>
          </a:p>
        </p:txBody>
      </p:sp>
      <p:sp>
        <p:nvSpPr>
          <p:cNvPr id="35" name="TextBox 34"/>
          <p:cNvSpPr txBox="1"/>
          <p:nvPr/>
        </p:nvSpPr>
        <p:spPr>
          <a:xfrm>
            <a:off x="4089400" y="8928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MASTER DRILLER (CONE ARM VERSION)</a:t>
            </a:r>
          </a:p>
        </p:txBody>
      </p:sp>
      <p:sp>
        <p:nvSpPr>
          <p:cNvPr id="36" name="TextBox 35"/>
          <p:cNvSpPr txBox="1"/>
          <p:nvPr/>
        </p:nvSpPr>
        <p:spPr>
          <a:xfrm>
            <a:off x="4089400" y="9118600"/>
            <a:ext cx="2755900" cy="762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Cone-arm hole opener, up to 36 in.; one body takes several arm sizes. Bottom box for bit or bullnose. Milled tooth, TCI or PDC cones; soft to medium-hard formations. Body series 8200 to 15000: std. opening 12-1/4 to 36-5/8 in., min. pilot hole 8-1/2 to 24-5/8 in., body Ø 8-1/4 to 15-5/8 in., 640 - 1,900 lb.</a:t>
            </a:r>
          </a:p>
        </p:txBody>
      </p:sp>
      <p:sp>
        <p:nvSpPr>
          <p:cNvPr id="37" name="TextBox 36"/>
          <p:cNvSpPr txBox="1"/>
          <p:nvPr/>
        </p:nvSpPr>
        <p:spPr>
          <a:xfrm>
            <a:off x="4089400" y="9753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8" name="TextBox 37"/>
          <p:cNvSpPr txBox="1"/>
          <p:nvPr/>
        </p:nvSpPr>
        <p:spPr>
          <a:xfrm>
            <a:off x="4089400" y="9931400"/>
            <a:ext cx="2755900" cy="635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Please specify: 1. pilot hole size  2. hole opening size  3. top and bottom connections if not standard  4. fishing neck diameter if not standard  5. cutter type (milled tooth or tungsten carbide insert) and formation (soft or medium).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SPX</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DRAG-TYPE UNDERREAMER, PDC CUTTERS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DRAG-TYPE UNDERREAMER WITH SPX PDC CUTTERS ON THE CUTTING EDGE: THE HARDNESS AND WEAR RESISTANCE OF POLYCRYSTALLINE DIAMOND, BACKED BY THE STRENGTH OF CEMENTED TUNGSTEN CARBIDE. THE CUTTERS SHEAR THROUGH SOFT TO MEDIUM-HARD FORMATIONS FASTER THAN CONVENTIONAL TOOLS AND NEED LESS TOOL WEIGHT. USED IN POORLY CONSOLIDATED SOFT TO MEDIUM FORMATIONS WHERE LARGER DIAMETERS ARE REQUIRED FOR GRAVEL PACKING OR CEMENTING. A PILOT HOLE CAN BE ENLARGED UP TO THREE TIMES THE BODY DIAMETER IN A SINGLE TRIP.</a:t>
            </a:r>
          </a:p>
        </p:txBody>
      </p:sp>
      <p:sp>
        <p:nvSpPr>
          <p:cNvPr id="21" name="TextBox 20"/>
          <p:cNvSpPr txBox="1"/>
          <p:nvPr/>
        </p:nvSpPr>
        <p:spPr>
          <a:xfrm>
            <a:off x="711200" y="4953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56200"/>
          <a:ext cx="6134097" cy="1752600"/>
        </p:xfrm>
        <a:graphic>
          <a:graphicData uri="http://schemas.openxmlformats.org/drawingml/2006/table">
            <a:tbl>
              <a:tblPr/>
              <a:tblGrid>
                <a:gridCol w="434498"/>
                <a:gridCol w="408940"/>
                <a:gridCol w="485616"/>
                <a:gridCol w="1277937"/>
                <a:gridCol w="715645"/>
                <a:gridCol w="485616"/>
                <a:gridCol w="511175"/>
                <a:gridCol w="460057"/>
                <a:gridCol w="971232"/>
                <a:gridCol w="383381"/>
              </a:tblGrid>
              <a:tr h="4826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SPX (PDC)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tungsten carbide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N/A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 6-3/4,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7-1/2, 8, 8-1/2, 12,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13, 14, 15,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14, 15, 16,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or 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9469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All dimensions in inches, weights in lb (approximate). Other expanded diameters, orifices and connections available on request.  tbc: to be confirmed.</a:t>
            </a:r>
          </a:p>
        </p:txBody>
      </p:sp>
      <p:sp>
        <p:nvSpPr>
          <p:cNvPr id="24" name="TextBox 23"/>
          <p:cNvSpPr txBox="1"/>
          <p:nvPr/>
        </p:nvSpPr>
        <p:spPr>
          <a:xfrm>
            <a:off x="711200" y="7213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4168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Self-cleaning arms: </a:t>
            </a:r>
            <a:r>
              <a:rPr sz="710" b="0">
                <a:solidFill>
                  <a:srgbClr val="000000"/>
                </a:solidFill>
                <a:latin typeface="Ubuntu Mono"/>
                <a:ea typeface="Ubuntu Mono"/>
                <a:cs typeface="Ubuntu Mono"/>
                <a:sym typeface="Ubuntu Mono"/>
              </a:rPr>
              <a:t>a circulation jet nozzle sends part of the flow out of each arm pocket, cleaning the cutting surfaces, improving cuttings removal and dissipating frictional heat.</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Durable arms: </a:t>
            </a:r>
            <a:r>
              <a:rPr sz="710" b="0">
                <a:solidFill>
                  <a:srgbClr val="000000"/>
                </a:solidFill>
                <a:latin typeface="Ubuntu Mono"/>
                <a:ea typeface="Ubuntu Mono"/>
                <a:cs typeface="Ubuntu Mono"/>
                <a:sym typeface="Ubuntu Mono"/>
              </a:rPr>
              <a:t>dressed with long-wearing cutting-grade tungsten carbide.</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 serviceable: </a:t>
            </a:r>
            <a:r>
              <a:rPr sz="710" b="0">
                <a:solidFill>
                  <a:srgbClr val="000000"/>
                </a:solidFill>
                <a:latin typeface="Ubuntu Mono"/>
                <a:ea typeface="Ubuntu Mono"/>
                <a:cs typeface="Ubuntu Mono"/>
                <a:sym typeface="Ubuntu Mono"/>
              </a:rPr>
              <a:t>low-cost cutter arms and orifices can be replaced in the field.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Optional Flo-Tel: </a:t>
            </a:r>
            <a:r>
              <a:rPr sz="710" b="0">
                <a:solidFill>
                  <a:srgbClr val="000000"/>
                </a:solidFill>
                <a:latin typeface="Ubuntu Mono"/>
                <a:ea typeface="Ubuntu Mono"/>
                <a:cs typeface="Ubuntu Mono"/>
                <a:sym typeface="Ubuntu Mono"/>
              </a:rPr>
              <a:t>pump pressure drops by 200 - 250 psi when the arms are fully extended, confirming full-gauge underreaming.</a:t>
            </a:r>
          </a:p>
        </p:txBody>
      </p:sp>
      <p:sp>
        <p:nvSpPr>
          <p:cNvPr id="26" name="TextBox 25"/>
          <p:cNvSpPr txBox="1"/>
          <p:nvPr/>
        </p:nvSpPr>
        <p:spPr>
          <a:xfrm>
            <a:off x="3810000" y="7213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416800"/>
          <a:ext cx="3035300" cy="960120"/>
        </p:xfrm>
        <a:graphic>
          <a:graphicData uri="http://schemas.openxmlformats.org/drawingml/2006/table">
            <a:tbl>
              <a:tblPr/>
              <a:tblGrid>
                <a:gridCol w="1320800"/>
                <a:gridCol w="1714500"/>
              </a:tblGrid>
              <a:tr h="16002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40 - 60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Increase gradually, 250 - 450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Start at 3,000 lb, up to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at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Water, mud, air, aerated mud,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 enlargement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 x body Ø in a single trip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711200" y="8686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ADVANTAGES</a:t>
            </a:r>
          </a:p>
        </p:txBody>
      </p:sp>
      <p:sp>
        <p:nvSpPr>
          <p:cNvPr id="29" name="TextBox 28"/>
          <p:cNvSpPr txBox="1"/>
          <p:nvPr/>
        </p:nvSpPr>
        <p:spPr>
          <a:xfrm>
            <a:off x="711200" y="88900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Faster penetration and more time on bottom</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Less rig time and lower total cost per foot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Quick drilling through producing zones limits formation damage and hole-stability problems</a:t>
            </a:r>
          </a:p>
        </p:txBody>
      </p:sp>
      <p:sp>
        <p:nvSpPr>
          <p:cNvPr id="30" name="TextBox 29"/>
          <p:cNvSpPr txBox="1"/>
          <p:nvPr/>
        </p:nvSpPr>
        <p:spPr>
          <a:xfrm>
            <a:off x="3810000" y="8686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88773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pic>
        <p:nvPicPr>
          <p:cNvPr id="32" name="Picture 31" descr="spx_tool_blue.png"/>
          <p:cNvPicPr>
            <a:picLocks noChangeAspect="1"/>
          </p:cNvPicPr>
          <p:nvPr/>
        </p:nvPicPr>
        <p:blipFill>
          <a:blip r:embed="rId4"/>
          <a:stretch>
            <a:fillRect/>
          </a:stretch>
        </p:blipFill>
        <p:spPr>
          <a:xfrm>
            <a:off x="711200" y="9626600"/>
            <a:ext cx="3810000" cy="69387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INTENSIFIER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JAR INTENSIFIER, HYDRAULIC FLUID SPRING</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 FLUID SPRING RUN WITH AN OIL JAR TO BOOST JARRING. AS THE STRING IS PULLED, A PISTON COMPRESSES A HIGHLY COMPRESSIBLE SILICONE FLUID AND STORES ENERGY JUST ABOVE THE DRILL COLLARS. WHEN THE JAR TRIPS, THIS ENERGY ACCELERATES THE COLLARS AND JAR UPWARD FOR A HIGH-IMPACT BLOW, LARGELY INDEPENDENT OF STRING DRAG OR DEPTH. IT ALSO CUSHIONS THE REBOUND AFTER EACH STROKE, AND ALLOWS FEWER DRILL COLLARS, ESPECIALLY IN SHALLOW HOLES.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2705100"/>
        </p:xfrm>
        <a:graphic>
          <a:graphicData uri="http://schemas.openxmlformats.org/drawingml/2006/table">
            <a:tbl>
              <a:tblPr/>
              <a:tblGrid>
                <a:gridCol w="567972"/>
                <a:gridCol w="567972"/>
                <a:gridCol w="851958"/>
                <a:gridCol w="1135944"/>
                <a:gridCol w="1079147"/>
                <a:gridCol w="1079147"/>
                <a:gridCol w="851958"/>
              </a:tblGrid>
              <a:tr h="330200">
                <a:tc>
                  <a:txBody>
                    <a:bodyPr wrap="square"/>
                    <a:lstStyle/>
                    <a:p>
                      <a:pPr algn="ctr">
                        <a:lnSpc>
                          <a:spcPts val="850"/>
                        </a:lnSpc>
                      </a:pPr>
                      <a:r>
                        <a:rPr sz="69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Total stroke to solid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Collar 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Fluid volume (gal)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1,100 - 1,400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0.211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9248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Each intensifier is matched to a jar of the same O.D. x I.D.; connections as for the matching jar. Tensile strengths are calculated theoretical yield values (about +/-20%); torque at yield is theoretical. Figures are a guide only: apply a safety factor.</a:t>
            </a:r>
          </a:p>
        </p:txBody>
      </p:sp>
      <p:sp>
        <p:nvSpPr>
          <p:cNvPr id="24" name="TextBox 23"/>
          <p:cNvSpPr txBox="1"/>
          <p:nvPr/>
        </p:nvSpPr>
        <p:spPr>
          <a:xfrm>
            <a:off x="711200" y="82423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32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Energy storage: </a:t>
            </a:r>
            <a:r>
              <a:rPr sz="700" b="0">
                <a:solidFill>
                  <a:srgbClr val="000000"/>
                </a:solidFill>
                <a:latin typeface="Ubuntu Mono"/>
                <a:ea typeface="Ubuntu Mono"/>
                <a:cs typeface="Ubuntu Mono"/>
                <a:sym typeface="Ubuntu Mono"/>
              </a:rPr>
              <a:t>compressible silicone fluid acts as a spring above the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Splined mandrel: </a:t>
            </a:r>
            <a:r>
              <a:rPr sz="700" b="0">
                <a:solidFill>
                  <a:srgbClr val="000000"/>
                </a:solidFill>
                <a:latin typeface="Ubuntu Mono"/>
                <a:ea typeface="Ubuntu Mono"/>
                <a:cs typeface="Ubuntu Mono"/>
                <a:sym typeface="Ubuntu Mono"/>
              </a:rPr>
              <a:t>torque transmitted in either direction, open or closed.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High-pressure seals: </a:t>
            </a:r>
            <a:r>
              <a:rPr sz="700" b="0">
                <a:solidFill>
                  <a:srgbClr val="000000"/>
                </a:solidFill>
                <a:latin typeface="Ubuntu Mono"/>
                <a:ea typeface="Ubuntu Mono"/>
                <a:cs typeface="Ubuntu Mono"/>
                <a:sym typeface="Ubuntu Mono"/>
              </a:rPr>
              <a:t>non-extrusion ring assemblies limit seal damage and wear.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to fill and use: </a:t>
            </a:r>
            <a:r>
              <a:rPr sz="700" b="0">
                <a:solidFill>
                  <a:srgbClr val="000000"/>
                </a:solidFill>
                <a:latin typeface="Ubuntu Mono"/>
                <a:ea typeface="Ubuntu Mono"/>
                <a:cs typeface="Ubuntu Mono"/>
                <a:sym typeface="Ubuntu Mono"/>
              </a:rPr>
              <a:t>fluid-filled, charged with a low-pressure hand pump only.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Shock cushioning: </a:t>
            </a:r>
            <a:r>
              <a:rPr sz="700" b="0">
                <a:solidFill>
                  <a:srgbClr val="000000"/>
                </a:solidFill>
                <a:latin typeface="Ubuntu Mono"/>
                <a:ea typeface="Ubuntu Mono"/>
                <a:cs typeface="Ubuntu Mono"/>
                <a:sym typeface="Ubuntu Mono"/>
              </a:rPr>
              <a:t>absorbs rebound of the string after each jarring stroke.</a:t>
            </a:r>
          </a:p>
        </p:txBody>
      </p:sp>
      <p:sp>
        <p:nvSpPr>
          <p:cNvPr id="26" name="TextBox 25"/>
          <p:cNvSpPr txBox="1"/>
          <p:nvPr/>
        </p:nvSpPr>
        <p:spPr>
          <a:xfrm>
            <a:off x="3810000" y="8242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328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String order from the fish: </a:t>
            </a:r>
            <a:r>
              <a:rPr sz="700" b="0">
                <a:solidFill>
                  <a:srgbClr val="000000"/>
                </a:solidFill>
                <a:latin typeface="Ubuntu Mono"/>
                <a:ea typeface="Ubuntu Mono"/>
                <a:cs typeface="Ubuntu Mono"/>
                <a:sym typeface="Ubuntu Mono"/>
              </a:rPr>
              <a:t>fishing tool, jar, drill collars, intensifier,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Stroke: </a:t>
            </a:r>
            <a:r>
              <a:rPr sz="700" b="0">
                <a:solidFill>
                  <a:srgbClr val="000000"/>
                </a:solidFill>
                <a:latin typeface="Ubuntu Mono"/>
                <a:ea typeface="Ubuntu Mono"/>
                <a:cs typeface="Ubuntu Mono"/>
                <a:sym typeface="Ubuntu Mono"/>
              </a:rPr>
              <a:t>6 to 13 in under pull, depending on size.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No heavy weights above: </a:t>
            </a:r>
            <a:r>
              <a:rPr sz="700" b="0">
                <a:solidFill>
                  <a:srgbClr val="000000"/>
                </a:solidFill>
                <a:latin typeface="Ubuntu Mono"/>
                <a:ea typeface="Ubuntu Mono"/>
                <a:cs typeface="Ubuntu Mono"/>
                <a:sym typeface="Ubuntu Mono"/>
              </a:rPr>
              <a:t>no collars or heavy-weight for at least 1,000 ft above the intensifier.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Hot holes: </a:t>
            </a:r>
            <a:r>
              <a:rPr sz="700" b="0">
                <a:solidFill>
                  <a:srgbClr val="000000"/>
                </a:solidFill>
                <a:latin typeface="Ubuntu Mono"/>
                <a:ea typeface="Ubuntu Mono"/>
                <a:cs typeface="Ubuntu Mono"/>
                <a:sym typeface="Ubuntu Mono"/>
              </a:rPr>
              <a:t>above 180 F (82 C) bottom-hole temperature, bleed a little fluid before running.</a:t>
            </a:r>
          </a:p>
        </p:txBody>
      </p:sp>
      <p:sp>
        <p:nvSpPr>
          <p:cNvPr id="28" name="TextBox 27"/>
          <p:cNvSpPr txBox="1"/>
          <p:nvPr/>
        </p:nvSpPr>
        <p:spPr>
          <a:xfrm>
            <a:off x="3810000" y="9537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7282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intensifier size and the jar it matches  2. connections and O.D., if not standard  3. spares: packing sets, piston assemblies, seal rings, fill plugs, service kit  4. special intensifier fluid.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JAR Z</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OIL JAR, STRAIGHT PULL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STRAIGHT-PULL HYDRAULIC OIL JAR FOR FISHING, DRILL STEM TESTING AND CORING. A METERING PISTON DELAYS THE STROKE WHILE THE OPERATOR TAKES STRETCH IN THE STRING, SO THE BLOW CAN BE SET FROM VERY LIGHT TO VERY HIGH IMPACT WITH NO ADJUSTMENT BEFORE OR AFTER THE RUN. THE HYDRAULIC SYSTEM IS CLOSED: OIL CANNOT ESCAPE AND WELL FLUIDS CANNOT ENTER. THE JAR RESETS WITH ONLY A FEW HUNDRED POUNDS OF WEIGHT AND TRANSMITS FULL TORQUE IN BOTH DIRECTIONS AT ALL TIMES.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753360"/>
        </p:xfrm>
        <a:graphic>
          <a:graphicData uri="http://schemas.openxmlformats.org/drawingml/2006/table">
            <a:tbl>
              <a:tblPr/>
              <a:tblGrid>
                <a:gridCol w="648539"/>
                <a:gridCol w="486404"/>
                <a:gridCol w="486404"/>
                <a:gridCol w="540449"/>
                <a:gridCol w="945786"/>
                <a:gridCol w="702584"/>
                <a:gridCol w="756629"/>
                <a:gridCol w="702584"/>
                <a:gridCol w="864718"/>
              </a:tblGrid>
              <a:tr h="330200">
                <a:tc>
                  <a:txBody>
                    <a:bodyPr wrap="square"/>
                    <a:lstStyle/>
                    <a:p>
                      <a:pPr algn="ctr">
                        <a:lnSpc>
                          <a:spcPts val="840"/>
                        </a:lnSpc>
                      </a:pPr>
                      <a:r>
                        <a:rPr sz="68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Total stroke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Test pull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jarring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Collar weight above jar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Sucker rod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1,100 - 1,450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1-13/16 WFJ</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6,000 - 10,000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1-1/4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7,200 - 12,000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PH-6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12,600 - 19,000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2,300 - 3,100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41,000 - 62,000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55,000 - 80,000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5-1/2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62,000 - 110,000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63,000 - 100,000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80,000 - 120,000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14,300 - 19,600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973059"/>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Tensile strengths are calculated theoretical yield values (about +/-20%); torque at yield is the theoretical value, recommended operating torque is 50% of it. Figures are a guide only: apply a safety factor.</a:t>
            </a:r>
          </a:p>
        </p:txBody>
      </p:sp>
      <p:sp>
        <p:nvSpPr>
          <p:cNvPr id="24" name="TextBox 23"/>
          <p:cNvSpPr txBox="1"/>
          <p:nvPr/>
        </p:nvSpPr>
        <p:spPr>
          <a:xfrm>
            <a:off x="711200" y="8265159"/>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5566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blow: </a:t>
            </a:r>
            <a:r>
              <a:rPr sz="700" b="0">
                <a:solidFill>
                  <a:srgbClr val="000000"/>
                </a:solidFill>
                <a:latin typeface="Ubuntu Mono"/>
                <a:ea typeface="Ubuntu Mono"/>
                <a:cs typeface="Ubuntu Mono"/>
                <a:sym typeface="Ubuntu Mono"/>
              </a:rPr>
              <a:t>impact set by the stretch taken in the string, no prior adjustment.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Closed hydraulic system: </a:t>
            </a:r>
            <a:r>
              <a:rPr sz="700" b="0">
                <a:solidFill>
                  <a:srgbClr val="000000"/>
                </a:solidFill>
                <a:latin typeface="Ubuntu Mono"/>
                <a:ea typeface="Ubuntu Mono"/>
                <a:cs typeface="Ubuntu Mono"/>
                <a:sym typeface="Ubuntu Mono"/>
              </a:rPr>
              <a:t>internal parts are constantly lubricated; no leakage in or out.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Easy reset: </a:t>
            </a:r>
            <a:r>
              <a:rPr sz="700" b="0">
                <a:solidFill>
                  <a:srgbClr val="000000"/>
                </a:solidFill>
                <a:latin typeface="Ubuntu Mono"/>
                <a:ea typeface="Ubuntu Mono"/>
                <a:cs typeface="Ubuntu Mono"/>
                <a:sym typeface="Ubuntu Mono"/>
              </a:rPr>
              <a:t>large piston ports open on closing, so only friction weight is needed.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torque: </a:t>
            </a:r>
            <a:r>
              <a:rPr sz="700" b="0">
                <a:solidFill>
                  <a:srgbClr val="000000"/>
                </a:solidFill>
                <a:latin typeface="Ubuntu Mono"/>
                <a:ea typeface="Ubuntu Mono"/>
                <a:cs typeface="Ubuntu Mono"/>
                <a:sym typeface="Ubuntu Mono"/>
              </a:rPr>
              <a:t>transmitted in either direction at any point of the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Fast repeat blows: </a:t>
            </a:r>
            <a:r>
              <a:rPr sz="700" b="0">
                <a:solidFill>
                  <a:srgbClr val="000000"/>
                </a:solidFill>
                <a:latin typeface="Ubuntu Mono"/>
                <a:ea typeface="Ubuntu Mono"/>
                <a:cs typeface="Ubuntu Mono"/>
                <a:sym typeface="Ubuntu Mono"/>
              </a:rPr>
              <a:t>limited only by the time to raise and lower the string.</a:t>
            </a:r>
          </a:p>
        </p:txBody>
      </p:sp>
      <p:sp>
        <p:nvSpPr>
          <p:cNvPr id="26" name="TextBox 25"/>
          <p:cNvSpPr txBox="1"/>
          <p:nvPr/>
        </p:nvSpPr>
        <p:spPr>
          <a:xfrm>
            <a:off x="3810000" y="8265159"/>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5566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Fishing: </a:t>
            </a:r>
            <a:r>
              <a:rPr sz="700" b="0">
                <a:solidFill>
                  <a:srgbClr val="000000"/>
                </a:solidFill>
                <a:latin typeface="Ubuntu Mono"/>
                <a:ea typeface="Ubuntu Mono"/>
                <a:cs typeface="Ubuntu Mono"/>
                <a:sym typeface="Ubuntu Mono"/>
              </a:rPr>
              <a:t>run directly below the drill collars; add a jar intensifier about four collars above the jar.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Drill stem testing, coring: </a:t>
            </a:r>
            <a:r>
              <a:rPr sz="700" b="0">
                <a:solidFill>
                  <a:srgbClr val="000000"/>
                </a:solidFill>
                <a:latin typeface="Ubuntu Mono"/>
                <a:ea typeface="Ubuntu Mono"/>
                <a:cs typeface="Ubuntu Mono"/>
                <a:sym typeface="Ubuntu Mono"/>
              </a:rPr>
              <a:t>3 to 15 collars above the jar; does not interfere with test tools.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Never exceed the maximum jarring load. </a:t>
            </a:r>
            <a:r>
              <a:rPr sz="700" b="0">
                <a:solidFill>
                  <a:srgbClr val="000000"/>
                </a:solidFill>
                <a:latin typeface="Ubuntu Mono"/>
                <a:ea typeface="Ubuntu Mono"/>
                <a:cs typeface="Ubuntu Mono"/>
                <a:sym typeface="Ubuntu Mono"/>
              </a:rPr>
              <a:t>Do not tong the threaded joints; tong at least 4 in away.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First blow: </a:t>
            </a:r>
            <a:r>
              <a:rPr sz="700" b="0">
                <a:solidFill>
                  <a:srgbClr val="000000"/>
                </a:solidFill>
                <a:latin typeface="Ubuntu Mono"/>
                <a:ea typeface="Ubuntu Mono"/>
                <a:cs typeface="Ubuntu Mono"/>
                <a:sym typeface="Ubuntu Mono"/>
              </a:rPr>
              <a:t>can take seconds to minutes, depending on depth, stretch, temperature and hole condition.</a:t>
            </a:r>
          </a:p>
        </p:txBody>
      </p:sp>
      <p:sp>
        <p:nvSpPr>
          <p:cNvPr id="28" name="TextBox 27"/>
          <p:cNvSpPr txBox="1"/>
          <p:nvPr/>
        </p:nvSpPr>
        <p:spPr>
          <a:xfrm>
            <a:off x="3810000" y="96875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87806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jar size (O.D. x I.D.)  2. top and bottom connections, if not standard  3. spares: packing set, piston assembly, non-extrusion and seal protector rings, fill plugs  4. service kit and jar oil.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BUMPER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FISHING BUMPER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DURABLE FISHING BUMPER SUB MADE OF HEAT-TREATED ALLOY STEEL FOR SUSTAINED BUMPING WITH MINIMAL MAINTENANCE. RUN IN THE STRING JUST ABOVE THE FISHING TOOL OR SAFETY JOINT, IT LETS THE OPERATOR DELIVER SOLID DOWNWARD OR UPWARD BLOWS AT WILL, FOR EXAMPLE TO RELEASE A FISHING TOOL THAT CANNOT PULL THE FISH. A HEXAGONAL MANDREL SLIDES IN A MATCHING BODY, SO TORQUE IS TRANSMITTED OVER THE WHOLE STROKE. IT CAN ALSO ACT AS A FEED-OFF TOOL FOR INTERNAL PIPE CUTTING.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68,720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78,620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481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581,100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613,400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29,490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505700"/>
            <a:ext cx="61341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Standard stroke 20 in; strokes of 30, 36, 42, 48 and 60 in also available (convert by changing mandrel and middle body only). Tensile strengths are calculated theoretical yield values (about +/-20%); same values typically apply to other strokes. Figures are a guide only: apply a safety factor.</a:t>
            </a:r>
          </a:p>
        </p:txBody>
      </p:sp>
      <p:sp>
        <p:nvSpPr>
          <p:cNvPr id="25" name="TextBox 24"/>
          <p:cNvSpPr txBox="1"/>
          <p:nvPr/>
        </p:nvSpPr>
        <p:spPr>
          <a:xfrm>
            <a:off x="711200" y="7924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153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Solid blows both ways: </a:t>
            </a:r>
            <a:r>
              <a:rPr sz="700" b="0">
                <a:solidFill>
                  <a:srgbClr val="000000"/>
                </a:solidFill>
                <a:latin typeface="Ubuntu Mono"/>
                <a:ea typeface="Ubuntu Mono"/>
                <a:cs typeface="Ubuntu Mono"/>
                <a:sym typeface="Ubuntu Mono"/>
              </a:rPr>
              <a:t>downward on closing, upward on opening against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Hexagonal mandrel: </a:t>
            </a:r>
            <a:r>
              <a:rPr sz="700" b="0">
                <a:solidFill>
                  <a:srgbClr val="000000"/>
                </a:solidFill>
                <a:latin typeface="Ubuntu Mono"/>
                <a:ea typeface="Ubuntu Mono"/>
                <a:cs typeface="Ubuntu Mono"/>
                <a:sym typeface="Ubuntu Mono"/>
              </a:rPr>
              <a:t>torque transmitted over the full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Alloy steel body: </a:t>
            </a:r>
            <a:r>
              <a:rPr sz="700" b="0">
                <a:solidFill>
                  <a:srgbClr val="000000"/>
                </a:solidFill>
                <a:latin typeface="Ubuntu Mono"/>
                <a:ea typeface="Ubuntu Mono"/>
                <a:cs typeface="Ubuntu Mono"/>
                <a:sym typeface="Ubuntu Mono"/>
              </a:rPr>
              <a:t>heat-treated parts for bumping, tension and torque.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Sealed knocker: </a:t>
            </a:r>
            <a:r>
              <a:rPr sz="700" b="0">
                <a:solidFill>
                  <a:srgbClr val="000000"/>
                </a:solidFill>
                <a:latin typeface="Ubuntu Mono"/>
                <a:ea typeface="Ubuntu Mono"/>
                <a:cs typeface="Ubuntu Mono"/>
                <a:sym typeface="Ubuntu Mono"/>
              </a:rPr>
              <a:t>packing rings seal mandrel to middle body; optional chevron packing.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Low maintenance: </a:t>
            </a:r>
            <a:r>
              <a:rPr sz="700" b="0">
                <a:solidFill>
                  <a:srgbClr val="000000"/>
                </a:solidFill>
                <a:latin typeface="Ubuntu Mono"/>
                <a:ea typeface="Ubuntu Mono"/>
                <a:cs typeface="Ubuntu Mono"/>
                <a:sym typeface="Ubuntu Mono"/>
              </a:rPr>
              <a:t>wash and lubricate after use; check seals for wear.</a:t>
            </a:r>
          </a:p>
        </p:txBody>
      </p:sp>
      <p:sp>
        <p:nvSpPr>
          <p:cNvPr id="27" name="TextBox 26"/>
          <p:cNvSpPr txBox="1"/>
          <p:nvPr/>
        </p:nvSpPr>
        <p:spPr>
          <a:xfrm>
            <a:off x="3810000" y="792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3810000" y="81153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Bump down: </a:t>
            </a:r>
            <a:r>
              <a:rPr sz="700" b="0">
                <a:solidFill>
                  <a:srgbClr val="000000"/>
                </a:solidFill>
                <a:latin typeface="Ubuntu Mono"/>
                <a:ea typeface="Ubuntu Mono"/>
                <a:cs typeface="Ubuntu Mono"/>
                <a:sym typeface="Ubuntu Mono"/>
              </a:rPr>
              <a:t>pull to fully open plus stretch, then drop the string and brake before the sub closes for repeated blows, or drop freely for one solid blow.</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Jar up: </a:t>
            </a:r>
            <a:r>
              <a:rPr sz="700" b="0">
                <a:solidFill>
                  <a:srgbClr val="000000"/>
                </a:solidFill>
                <a:latin typeface="Ubuntu Mono"/>
                <a:ea typeface="Ubuntu Mono"/>
                <a:cs typeface="Ubuntu Mono"/>
                <a:sym typeface="Ubuntu Mono"/>
              </a:rPr>
              <a:t>take moderate stretch, drop by that stretch only and brake; the sub rebounds open and strikes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At surface: </a:t>
            </a:r>
            <a:r>
              <a:rPr sz="700" b="0">
                <a:solidFill>
                  <a:srgbClr val="000000"/>
                </a:solidFill>
                <a:latin typeface="Ubuntu Mono"/>
                <a:ea typeface="Ubuntu Mono"/>
                <a:cs typeface="Ubuntu Mono"/>
                <a:sym typeface="Ubuntu Mono"/>
              </a:rPr>
              <a:t>hold a sledge between body and mandrel shoulder, slack off and pull it out to release a fishing tool.</a:t>
            </a:r>
          </a:p>
        </p:txBody>
      </p:sp>
      <p:sp>
        <p:nvSpPr>
          <p:cNvPr id="29" name="TextBox 28"/>
          <p:cNvSpPr txBox="1"/>
          <p:nvPr/>
        </p:nvSpPr>
        <p:spPr>
          <a:xfrm>
            <a:off x="3810000" y="919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3810000" y="93853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(O.D. x I.D.)  2. connection size and type  3. length of stroke  4. recommended spares: 8 non-extrusion rings, 8 seal protector rings, 16 knocker seals.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Drilling Jar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DOUBLE-ACTING HYDRAULIC / MECHANICAL DRILLING JAR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HYDRAULIC-DELAY JAR FOR BOTH UPSTROKE AND DOWNSTROKE, WITH A MECHANICAL LATCH, BUILT FOR COMPLEX DRILLING PROGRAMS. THE DOWNSTROKE DELAY MAKES IT EFFECTIVE IN DIRECTIONAL, HORIZONTAL AND EXTENDED-REACH WELLS. BECAUSE NO BLEED-THROUGH OPERATION IS NEEDED WHEN TAGGING OR PICKING UP OFF BOTTOM, IT CAN BE PLACED IN COMPRESSION IN THE DRILLSTRING. LATCH RELEASE SETTINGS ARE ADJUSTABLE.</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16500"/>
          <a:ext cx="6134093" cy="2197100"/>
        </p:xfrm>
        <a:graphic>
          <a:graphicData uri="http://schemas.openxmlformats.org/drawingml/2006/table">
            <a:tbl>
              <a:tblPr/>
              <a:tblGrid>
                <a:gridCol w="1320253"/>
                <a:gridCol w="601730"/>
                <a:gridCol w="601730"/>
                <a:gridCol w="601730"/>
                <a:gridCol w="601730"/>
                <a:gridCol w="601730"/>
                <a:gridCol w="601730"/>
                <a:gridCol w="601730"/>
                <a:gridCol w="601730"/>
              </a:tblGrid>
              <a:tr h="177800">
                <a:tc>
                  <a:txBody>
                    <a:bodyPr wrap="square"/>
                    <a:lstStyle/>
                    <a:p>
                      <a:pPr algn="ctr">
                        <a:lnSpc>
                          <a:spcPts val="800"/>
                        </a:lnSpc>
                      </a:pPr>
                      <a:r>
                        <a:rPr sz="64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Tool O.D. (mm)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Inside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hole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jar load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Tensile yield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Torsional yield (lbf-ft)**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Total stroke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69,800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Pump open area (in²)</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Length, latched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517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Hole openers not recommended.  ** Rating based on the yield of the body connections, independent of tool-joint connections.  *** Down latch setting is 45% of the up latch setting, tolerance +/- 5.</a:t>
            </a:r>
          </a:p>
        </p:txBody>
      </p:sp>
      <p:pic>
        <p:nvPicPr>
          <p:cNvPr id="24" name="Picture 23" descr="agentC_jar.png"/>
          <p:cNvPicPr>
            <a:picLocks noChangeAspect="1"/>
          </p:cNvPicPr>
          <p:nvPr/>
        </p:nvPicPr>
        <p:blipFill>
          <a:blip r:embed="rId4"/>
          <a:stretch>
            <a:fillRect/>
          </a:stretch>
        </p:blipFill>
        <p:spPr>
          <a:xfrm>
            <a:off x="965200" y="7531100"/>
            <a:ext cx="5626100" cy="248053"/>
          </a:xfrm>
          <a:prstGeom prst="rect">
            <a:avLst/>
          </a:prstGeom>
        </p:spPr>
      </p:pic>
      <p:sp>
        <p:nvSpPr>
          <p:cNvPr id="25" name="TextBox 24"/>
          <p:cNvSpPr txBox="1"/>
          <p:nvPr/>
        </p:nvSpPr>
        <p:spPr>
          <a:xfrm>
            <a:off x="711200" y="7906153"/>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09353"/>
            <a:ext cx="30988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Delay in both directions: </a:t>
            </a:r>
            <a:r>
              <a:rPr sz="700" b="0">
                <a:solidFill>
                  <a:srgbClr val="000000"/>
                </a:solidFill>
                <a:latin typeface="Ubuntu Mono"/>
                <a:ea typeface="Ubuntu Mono"/>
                <a:cs typeface="Ubuntu Mono"/>
                <a:sym typeface="Ubuntu Mono"/>
              </a:rPr>
              <a:t>hydraulic delay with mechanical latch, upstroke and downstroke.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latch: </a:t>
            </a:r>
            <a:r>
              <a:rPr sz="700" b="0">
                <a:solidFill>
                  <a:srgbClr val="000000"/>
                </a:solidFill>
                <a:latin typeface="Ubuntu Mono"/>
                <a:ea typeface="Ubuntu Mono"/>
                <a:cs typeface="Ubuntu Mono"/>
                <a:sym typeface="Ubuntu Mono"/>
              </a:rPr>
              <a:t>release settings can be changed up to the maximum values above.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Jet-type metering device </a:t>
            </a:r>
            <a:r>
              <a:rPr sz="700" b="0">
                <a:solidFill>
                  <a:srgbClr val="000000"/>
                </a:solidFill>
                <a:latin typeface="Ubuntu Mono"/>
                <a:ea typeface="Ubuntu Mono"/>
                <a:cs typeface="Ubuntu Mono"/>
                <a:sym typeface="Ubuntu Mono"/>
              </a:rPr>
              <a:t>controls the hydraulic delay.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on the rig floor: </a:t>
            </a:r>
            <a:r>
              <a:rPr sz="700" b="0">
                <a:solidFill>
                  <a:srgbClr val="000000"/>
                </a:solidFill>
                <a:latin typeface="Ubuntu Mono"/>
                <a:ea typeface="Ubuntu Mono"/>
                <a:cs typeface="Ubuntu Mono"/>
                <a:sym typeface="Ubuntu Mono"/>
              </a:rPr>
              <a:t>no unexpected jarring while making connections or drilling.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to operate: </a:t>
            </a:r>
            <a:r>
              <a:rPr sz="700" b="0">
                <a:solidFill>
                  <a:srgbClr val="000000"/>
                </a:solidFill>
                <a:latin typeface="Ubuntu Mono"/>
                <a:ea typeface="Ubuntu Mono"/>
                <a:cs typeface="Ubuntu Mono"/>
                <a:sym typeface="Ubuntu Mono"/>
              </a:rPr>
              <a:t>no torque needed in the jarring procedure.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Built for high friction: </a:t>
            </a:r>
            <a:r>
              <a:rPr sz="700" b="0">
                <a:solidFill>
                  <a:srgbClr val="000000"/>
                </a:solidFill>
                <a:latin typeface="Ubuntu Mono"/>
                <a:ea typeface="Ubuntu Mono"/>
                <a:cs typeface="Ubuntu Mono"/>
                <a:sym typeface="Ubuntu Mono"/>
              </a:rPr>
              <a:t>weight can be stacked before firing, even in horizontal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Consistent firing: </a:t>
            </a:r>
            <a:r>
              <a:rPr sz="700" b="0">
                <a:solidFill>
                  <a:srgbClr val="000000"/>
                </a:solidFill>
                <a:latin typeface="Ubuntu Mono"/>
                <a:ea typeface="Ubuntu Mono"/>
                <a:cs typeface="Ubuntu Mono"/>
                <a:sym typeface="Ubuntu Mono"/>
              </a:rPr>
              <a:t>continuous, repeatable jarring performance.</a:t>
            </a:r>
          </a:p>
        </p:txBody>
      </p:sp>
      <p:sp>
        <p:nvSpPr>
          <p:cNvPr id="27" name="TextBox 26"/>
          <p:cNvSpPr txBox="1"/>
          <p:nvPr/>
        </p:nvSpPr>
        <p:spPr>
          <a:xfrm>
            <a:off x="4013200" y="790615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13200" y="8096653"/>
          <a:ext cx="2832100" cy="944880"/>
        </p:xfrm>
        <a:graphic>
          <a:graphicData uri="http://schemas.openxmlformats.org/drawingml/2006/table">
            <a:tbl>
              <a:tblPr/>
              <a:tblGrid>
                <a:gridCol w="1066800"/>
                <a:gridCol w="1765300"/>
              </a:tblGrid>
              <a:tr h="157480">
                <a:tc>
                  <a:txBody>
                    <a:bodyPr wrap="square"/>
                    <a:lstStyle/>
                    <a:p>
                      <a:pPr algn="l">
                        <a:lnSpc>
                          <a:spcPts val="810"/>
                        </a:lnSpc>
                      </a:pPr>
                      <a:r>
                        <a:rPr sz="650" b="0">
                          <a:solidFill>
                            <a:srgbClr val="FEFEFF"/>
                          </a:solidFill>
                          <a:latin typeface="Ubuntu Mono"/>
                          <a:ea typeface="Ubuntu Mono"/>
                          <a:cs typeface="Ubuntu Mono"/>
                          <a:sym typeface="Ubuntu Mono"/>
                        </a:rPr>
                        <a:t>Placement in string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Tension, neutral or compression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Delay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Hydraulic, up and 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Torque for jarring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None required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Tagging / picking 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 bleed-through needed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Down latch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45% of up latch,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Hole openers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Not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13200" y="916853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4013200" y="9359033"/>
            <a:ext cx="28321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O.D. and ref.  2. top and bottom connections  3. up and down latch release settings (standard or adjusted, within the maximum)  4. hole diameter and drilling program (directional, horizontal or extended reach).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ECONOMILL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LOW-COST LIGHT-DUTY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LOW-COST MILLING TOOL FOR LIGHT-DUTY JOBS, DRESSED WITH TUNGSTEN CARBIDE. IT IS EFFECTIVE FOR MILLING PACKERS, RETAINERS, BRIDGE PLUGS AND CEMENT. IT HAS STANDARD API CONNECTIONS, SO IT IS MADE UP AND BROKEN OUT WITH A STANDARD BIT BREAKER AND NEEDS NO ADDITIONAL SUB. FLUID IS DIRECTED ALONG EACH CUTTING BLADE AND THROUGH THE CENTRE OF THE HEAD FOR CUTTINGS REMOVAL AND COOLING.</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096" cy="1155700"/>
        </p:xfrm>
        <a:graphic>
          <a:graphicData uri="http://schemas.openxmlformats.org/drawingml/2006/table">
            <a:tbl>
              <a:tblPr/>
              <a:tblGrid>
                <a:gridCol w="652563"/>
                <a:gridCol w="1174614"/>
                <a:gridCol w="1174614"/>
                <a:gridCol w="1435640"/>
                <a:gridCol w="1044102"/>
                <a:gridCol w="652563"/>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Dressed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Recommended make-up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3,000 - 3,500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6,000 - 7,000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7,000 - 9,000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28,000 - 32,000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5786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Column order follows the source layout.</a:t>
            </a:r>
          </a:p>
        </p:txBody>
      </p:sp>
      <p:sp>
        <p:nvSpPr>
          <p:cNvPr id="24" name="TextBox 23"/>
          <p:cNvSpPr txBox="1"/>
          <p:nvPr/>
        </p:nvSpPr>
        <p:spPr>
          <a:xfrm>
            <a:off x="711200" y="692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2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Tungsten carbide dressing: </a:t>
            </a:r>
            <a:r>
              <a:rPr sz="720" b="0">
                <a:solidFill>
                  <a:srgbClr val="000000"/>
                </a:solidFill>
                <a:latin typeface="Ubuntu Mono"/>
                <a:ea typeface="Ubuntu Mono"/>
                <a:cs typeface="Ubuntu Mono"/>
                <a:sym typeface="Ubuntu Mono"/>
              </a:rPr>
              <a:t>for packers, retainers, bridge plugs and cement.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Standard API pin connection: </a:t>
            </a:r>
            <a:r>
              <a:rPr sz="720" b="0">
                <a:solidFill>
                  <a:srgbClr val="000000"/>
                </a:solidFill>
                <a:latin typeface="Ubuntu Mono"/>
                <a:ea typeface="Ubuntu Mono"/>
                <a:cs typeface="Ubuntu Mono"/>
                <a:sym typeface="Ubuntu Mono"/>
              </a:rPr>
              <a:t>made up with a standard bit breaker; no extra sub needed.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Circulation: </a:t>
            </a:r>
            <a:r>
              <a:rPr sz="720" b="0">
                <a:solidFill>
                  <a:srgbClr val="000000"/>
                </a:solidFill>
                <a:latin typeface="Ubuntu Mono"/>
                <a:ea typeface="Ubuntu Mono"/>
                <a:cs typeface="Ubuntu Mono"/>
                <a:sym typeface="Ubuntu Mono"/>
              </a:rPr>
              <a:t>flow along each blade and through the head centre for cooling and cuttings removal.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Stabilizing ribs: </a:t>
            </a:r>
            <a:r>
              <a:rPr sz="720" b="0">
                <a:solidFill>
                  <a:srgbClr val="000000"/>
                </a:solidFill>
                <a:latin typeface="Ubuntu Mono"/>
                <a:ea typeface="Ubuntu Mono"/>
                <a:cs typeface="Ubuntu Mono"/>
                <a:sym typeface="Ubuntu Mono"/>
              </a:rPr>
              <a:t>above the blades, to protect the casing.</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Cast construction: </a:t>
            </a:r>
            <a:r>
              <a:rPr sz="720" b="0">
                <a:solidFill>
                  <a:srgbClr val="000000"/>
                </a:solidFill>
                <a:latin typeface="Ubuntu Mono"/>
                <a:ea typeface="Ubuntu Mono"/>
                <a:cs typeface="Ubuntu Mono"/>
                <a:sym typeface="Ubuntu Mono"/>
              </a:rPr>
              <a:t>not to be used as a junk mill; cast material has lower strength.</a:t>
            </a:r>
          </a:p>
        </p:txBody>
      </p:sp>
      <p:sp>
        <p:nvSpPr>
          <p:cNvPr id="26" name="TextBox 25"/>
          <p:cNvSpPr txBox="1"/>
          <p:nvPr/>
        </p:nvSpPr>
        <p:spPr>
          <a:xfrm>
            <a:off x="3810000" y="69215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112000"/>
          <a:ext cx="3035300" cy="1066800"/>
        </p:xfrm>
        <a:graphic>
          <a:graphicData uri="http://schemas.openxmlformats.org/drawingml/2006/table">
            <a:tbl>
              <a:tblPr/>
              <a:tblGrid>
                <a:gridCol w="1333500"/>
                <a:gridCol w="1701800"/>
              </a:tblGrid>
              <a:tr h="177800">
                <a:tc>
                  <a:txBody>
                    <a:bodyPr wrap="square"/>
                    <a:lstStyle/>
                    <a:p>
                      <a:pPr algn="l">
                        <a:lnSpc>
                          <a:spcPts val="819"/>
                        </a:lnSpc>
                      </a:pPr>
                      <a:r>
                        <a:rPr sz="66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Practice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Light weight, low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If bouncing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Cut speed, then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Stabilizer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Above mill, O.D. not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10000" y="8458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86487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dressed diameter  2. size and weight of the casing to run through, if known  3. protective subs, available on request.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CONVENTIONAL JUNK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THE WORKHORSE OF DOWNHOLE MILLING, USED TO MILL ALMOST ANYTHING IN THE HOLE INCLUDING CEMENT AND RUBBER PRODUCTS. IT IS THE ONLY TOOL ABLE TO MILL DRILL PIPE CEMENTED INSIDE AND OUT. IT IS ALSO USED TO MILL CAST-IRON BRIDGE PLUGS, AND TO MILL CASING THAT HAS BEEN MILLED TO THE POINT OF ROTATING, RUN ON A JOINT OF SLIGHTLY BENT DRILL PIPE. THREE DRESSING OPTIONS ARE LISTED: CONVENTIONAL, CONEBUSTER AND SUPER.</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100" cy="1885950"/>
        </p:xfrm>
        <a:graphic>
          <a:graphicData uri="http://schemas.openxmlformats.org/drawingml/2006/table">
            <a:tbl>
              <a:tblPr/>
              <a:tblGrid>
                <a:gridCol w="933450"/>
                <a:gridCol w="880110"/>
                <a:gridCol w="1226820"/>
                <a:gridCol w="800100"/>
                <a:gridCol w="826770"/>
                <a:gridCol w="880110"/>
                <a:gridCol w="586740"/>
              </a:tblGrid>
              <a:tr h="457200">
                <a:tc>
                  <a:txBody>
                    <a:bodyPr wrap="square"/>
                    <a:lstStyle/>
                    <a:p>
                      <a:pPr algn="ctr">
                        <a:lnSpc>
                          <a:spcPts val="880"/>
                        </a:lnSpc>
                      </a:pPr>
                      <a:r>
                        <a:rPr sz="720" b="1">
                          <a:solidFill>
                            <a:srgbClr val="FEFEFF"/>
                          </a:solidFill>
                          <a:latin typeface="Ubuntu Mono"/>
                          <a:ea typeface="Ubuntu Mono"/>
                          <a:cs typeface="Ubuntu Mono"/>
                          <a:sym typeface="Ubuntu Mono"/>
                        </a:rPr>
                        <a:t>Cutting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conventional and Conebuster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Super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dia.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3-1/2 - 4-1/2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5-3/4 - 7-1/2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7-1/2 - 9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9-1/2 - 12-1/4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13 - 15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18-1/2 - 26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30885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a:t>
            </a:r>
          </a:p>
        </p:txBody>
      </p:sp>
      <p:sp>
        <p:nvSpPr>
          <p:cNvPr id="24" name="TextBox 23"/>
          <p:cNvSpPr txBox="1"/>
          <p:nvPr/>
        </p:nvSpPr>
        <p:spPr>
          <a:xfrm>
            <a:off x="711200" y="75628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660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allows retrieval of the mill if it is left in the hole.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Dressing options: </a:t>
            </a:r>
            <a:r>
              <a:rPr sz="720" b="0">
                <a:solidFill>
                  <a:srgbClr val="000000"/>
                </a:solidFill>
                <a:latin typeface="Ubuntu Mono"/>
                <a:ea typeface="Ubuntu Mono"/>
                <a:cs typeface="Ubuntu Mono"/>
                <a:sym typeface="Ubuntu Mono"/>
              </a:rPr>
              <a:t>conventional, Conebuster or Super.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Inside casing: </a:t>
            </a:r>
            <a:r>
              <a:rPr sz="720" b="0">
                <a:solidFill>
                  <a:srgbClr val="000000"/>
                </a:solidFill>
                <a:latin typeface="Ubuntu Mono"/>
                <a:ea typeface="Ubuntu Mono"/>
                <a:cs typeface="Ubuntu Mono"/>
                <a:sym typeface="Ubuntu Mono"/>
              </a:rPr>
              <a:t>mill head O.D. equal to the casing drift; wear pads of the same O.D. protect the casing; stabilizer of the same O.D. run directly above.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Bridge plugs: </a:t>
            </a:r>
            <a:r>
              <a:rPr sz="720" b="0">
                <a:solidFill>
                  <a:srgbClr val="000000"/>
                </a:solidFill>
                <a:latin typeface="Ubuntu Mono"/>
                <a:ea typeface="Ubuntu Mono"/>
                <a:cs typeface="Ubuntu Mono"/>
                <a:sym typeface="Ubuntu Mono"/>
              </a:rPr>
              <a:t>mill O.D. about 1/8 in. under the plug size, to avoid skinning the casing.</a:t>
            </a:r>
          </a:p>
        </p:txBody>
      </p:sp>
      <p:sp>
        <p:nvSpPr>
          <p:cNvPr id="26" name="TextBox 25"/>
          <p:cNvSpPr txBox="1"/>
          <p:nvPr/>
        </p:nvSpPr>
        <p:spPr>
          <a:xfrm>
            <a:off x="711200" y="89852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711200" y="91884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Open hole: </a:t>
            </a:r>
            <a:r>
              <a:rPr sz="720" b="0">
                <a:solidFill>
                  <a:srgbClr val="000000"/>
                </a:solidFill>
                <a:latin typeface="Ubuntu Mono"/>
                <a:ea typeface="Ubuntu Mono"/>
                <a:cs typeface="Ubuntu Mono"/>
                <a:sym typeface="Ubuntu Mono"/>
              </a:rPr>
              <a:t>mill O.D. about 1/8 in. under hole diameter; at least 10,000 lb of drill collars; junk sub directly above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Spudding: </a:t>
            </a:r>
            <a:r>
              <a:rPr sz="720" b="0">
                <a:solidFill>
                  <a:srgbClr val="000000"/>
                </a:solidFill>
                <a:latin typeface="Ubuntu Mono"/>
                <a:ea typeface="Ubuntu Mono"/>
                <a:cs typeface="Ubuntu Mono"/>
                <a:sym typeface="Ubuntu Mono"/>
              </a:rPr>
              <a:t>frequent spudding pounds loose junk onto bottom for effective milling; a rise in torque shows junk alongside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Starting: </a:t>
            </a:r>
            <a:r>
              <a:rPr sz="720" b="0">
                <a:solidFill>
                  <a:srgbClr val="000000"/>
                </a:solidFill>
                <a:latin typeface="Ubuntu Mono"/>
                <a:ea typeface="Ubuntu Mono"/>
                <a:cs typeface="Ubuntu Mono"/>
                <a:sym typeface="Ubuntu Mono"/>
              </a:rPr>
              <a:t>set down on the junk while turning, then bring weight up; never apply weight before rotating.</a:t>
            </a:r>
          </a:p>
        </p:txBody>
      </p:sp>
      <p:sp>
        <p:nvSpPr>
          <p:cNvPr id="28" name="TextBox 27"/>
          <p:cNvSpPr txBox="1"/>
          <p:nvPr/>
        </p:nvSpPr>
        <p:spPr>
          <a:xfrm>
            <a:off x="3810000" y="75628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9" name="Table 28"/>
          <p:cNvGraphicFramePr>
            <a:graphicFrameLocks noGrp="1"/>
          </p:cNvGraphicFramePr>
          <p:nvPr/>
        </p:nvGraphicFramePr>
        <p:xfrm>
          <a:off x="3810000" y="7753350"/>
          <a:ext cx="3035300" cy="1651000"/>
        </p:xfrm>
        <a:graphic>
          <a:graphicData uri="http://schemas.openxmlformats.org/drawingml/2006/table">
            <a:tbl>
              <a:tblPr/>
              <a:tblGrid>
                <a:gridCol w="1206500"/>
                <a:gridCol w="1828800"/>
              </a:tblGrid>
              <a:tr h="165100">
                <a:tc>
                  <a:txBody>
                    <a:bodyPr wrap="square"/>
                    <a:lstStyle/>
                    <a:p>
                      <a:pPr algn="l">
                        <a:lnSpc>
                          <a:spcPts val="790"/>
                        </a:lnSpc>
                      </a:pPr>
                      <a:r>
                        <a:rPr sz="63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Start-up 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 once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80 - 100 rpm, normal pump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Weight, second pass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Loose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Mill 1-2 ft, lift 15-20 ft, settle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Stationary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Each 3-5 ft, lift 10-15 ft, ream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Rough running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Cut speed/weight,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Stabilizer spacing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60 - 90 ft above mill (vertical)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0" name="TextBox 29"/>
          <p:cNvSpPr txBox="1"/>
          <p:nvPr/>
        </p:nvSpPr>
        <p:spPr>
          <a:xfrm>
            <a:off x="3810000" y="98107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00125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diameter  2. size and weight of the casing to run through, if available  3. top connection  4. dressing (conventional, Conebuster or Super).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uperJunkMill.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txBody>
          <a:bodyPr/>
          <a:p/>
        </p:txBody>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txBody>
          <a:bodyPr/>
          <a:p/>
        </p:txBody>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VIPER 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CASING REMOVAL AND SLOT RECOVERY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DESIGNED FOR THE EFFICIENT REMOVAL OF DOWNHOLE CASING STRINGS. IT IS USED MAINLY FOR OFFSHORE PLATFORM SLOT RECOVERY, WHERE INTERMEDIATE CASING IS REMOVED BACK TO THE SURFACE STRING OR CONDUCTOR SO THE WELL CAN BE RE-DRILLED TO A NEW TARGET INSTEAD OF BEING ABANDONED. WHERE THE CASING CEMENT IS POOR A MIX OF RETRIEVAL AND MILLING IS USED; WHERE CASING IS CEMENTED BACK TO THE SPOOLS, MILLING ALONE IS USED. THE BLADES CARRY A BRICK-PATTERN CARBIDE CUTTING STRUCTURE FOR HIGH PENETRATION RATE, IDEAL CUTTING SIZE AND LONG MILLING LIFE.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311400"/>
        </p:xfrm>
        <a:graphic>
          <a:graphicData uri="http://schemas.openxmlformats.org/drawingml/2006/table">
            <a:tbl>
              <a:tblPr/>
              <a:tblGrid>
                <a:gridCol w="526175"/>
                <a:gridCol w="553869"/>
                <a:gridCol w="553869"/>
                <a:gridCol w="553869"/>
                <a:gridCol w="553869"/>
                <a:gridCol w="858497"/>
                <a:gridCol w="692336"/>
                <a:gridCol w="692336"/>
                <a:gridCol w="623102"/>
                <a:gridCol w="526175"/>
              </a:tblGrid>
              <a:tr h="3302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Blade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No. of blades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10700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531100"/>
            <a:ext cx="6134100" cy="381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Pilot stabilisation and guide or taper mill are dressed to the casing drift diameter. stabiliser sleeve available on casing sizes 7-5/8 in. and larger.</a:t>
            </a:r>
          </a:p>
        </p:txBody>
      </p:sp>
      <p:pic>
        <p:nvPicPr>
          <p:cNvPr id="24" name="Picture 23" descr="viper_tool_blue.png"/>
          <p:cNvPicPr>
            <a:picLocks noChangeAspect="1"/>
          </p:cNvPicPr>
          <p:nvPr/>
        </p:nvPicPr>
        <p:blipFill>
          <a:blip r:embed="rId4"/>
          <a:stretch>
            <a:fillRect/>
          </a:stretch>
        </p:blipFill>
        <p:spPr>
          <a:xfrm>
            <a:off x="736600" y="7962900"/>
            <a:ext cx="326175" cy="2387600"/>
          </a:xfrm>
          <a:prstGeom prst="rect">
            <a:avLst/>
          </a:prstGeom>
        </p:spPr>
      </p:pic>
      <p:sp>
        <p:nvSpPr>
          <p:cNvPr id="25" name="TextBox 24"/>
          <p:cNvSpPr txBox="1"/>
          <p:nvPr/>
        </p:nvSpPr>
        <p:spPr>
          <a:xfrm>
            <a:off x="1397000" y="7937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8140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 structure: </a:t>
            </a:r>
            <a:r>
              <a:rPr sz="700" b="0">
                <a:solidFill>
                  <a:srgbClr val="000000"/>
                </a:solidFill>
                <a:latin typeface="Ubuntu Mono"/>
                <a:ea typeface="Ubuntu Mono"/>
                <a:cs typeface="Ubuntu Mono"/>
                <a:sym typeface="Ubuntu Mono"/>
              </a:rPr>
              <a:t>carbide inserts in a brick pattern, developed to resist early wear and breakage.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Blades: </a:t>
            </a:r>
            <a:r>
              <a:rPr sz="700" b="0">
                <a:solidFill>
                  <a:srgbClr val="000000"/>
                </a:solidFill>
                <a:latin typeface="Ubuntu Mono"/>
                <a:ea typeface="Ubuntu Mono"/>
                <a:cs typeface="Ubuntu Mono"/>
                <a:sym typeface="Ubuntu Mono"/>
              </a:rPr>
              <a:t>high-grade alloy steel, cutting edge set at the angle for maximum efficiency.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Extended blade length: </a:t>
            </a:r>
            <a:r>
              <a:rPr sz="700" b="0">
                <a:solidFill>
                  <a:srgbClr val="000000"/>
                </a:solidFill>
                <a:latin typeface="Ubuntu Mono"/>
                <a:ea typeface="Ubuntu Mono"/>
                <a:cs typeface="Ubuntu Mono"/>
                <a:sym typeface="Ubuntu Mono"/>
              </a:rPr>
              <a:t>more footage per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sleeve-type, changeable at the rig site; useful on eccentric casing strings.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Deviated holes: </a:t>
            </a:r>
            <a:r>
              <a:rPr sz="700" b="0">
                <a:solidFill>
                  <a:srgbClr val="000000"/>
                </a:solidFill>
                <a:latin typeface="Ubuntu Mono"/>
                <a:ea typeface="Ubuntu Mono"/>
                <a:cs typeface="Ubuntu Mono"/>
                <a:sym typeface="Ubuntu Mono"/>
              </a:rPr>
              <a:t>blade design does not skin the next casing string.</a:t>
            </a:r>
          </a:p>
        </p:txBody>
      </p:sp>
      <p:sp>
        <p:nvSpPr>
          <p:cNvPr id="27" name="TextBox 26"/>
          <p:cNvSpPr txBox="1"/>
          <p:nvPr/>
        </p:nvSpPr>
        <p:spPr>
          <a:xfrm>
            <a:off x="4089400" y="7937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8128000"/>
          <a:ext cx="2755900" cy="47244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5,000 - 10,000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Cutting 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From surface speed and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9" name="TextBox 28"/>
          <p:cNvSpPr txBox="1"/>
          <p:nvPr/>
        </p:nvSpPr>
        <p:spPr>
          <a:xfrm>
            <a:off x="4089400" y="87274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MILL STABILITY</a:t>
            </a:r>
          </a:p>
        </p:txBody>
      </p:sp>
      <p:sp>
        <p:nvSpPr>
          <p:cNvPr id="30" name="TextBox 29"/>
          <p:cNvSpPr txBox="1"/>
          <p:nvPr/>
        </p:nvSpPr>
        <p:spPr>
          <a:xfrm>
            <a:off x="4089400" y="893064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Taper mill: </a:t>
            </a:r>
            <a:r>
              <a:rPr sz="700" b="0">
                <a:solidFill>
                  <a:srgbClr val="000000"/>
                </a:solidFill>
                <a:latin typeface="Ubuntu Mono"/>
                <a:ea typeface="Ubuntu Mono"/>
                <a:cs typeface="Ubuntu Mono"/>
                <a:sym typeface="Ubuntu Mono"/>
              </a:rPr>
              <a:t>run directly ahead of the mill to clear junk or enlarge the casing stub.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same diameter as the mill, run immediately above it.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Sizing: </a:t>
            </a:r>
            <a:r>
              <a:rPr sz="700" b="0">
                <a:solidFill>
                  <a:srgbClr val="000000"/>
                </a:solidFill>
                <a:latin typeface="Ubuntu Mono"/>
                <a:ea typeface="Ubuntu Mono"/>
                <a:cs typeface="Ubuntu Mono"/>
                <a:sym typeface="Ubuntu Mono"/>
              </a:rPr>
              <a:t>O.D. and stabilisation diameter set to avoid damage to outer casing strings.</a:t>
            </a:r>
          </a:p>
        </p:txBody>
      </p:sp>
      <p:sp>
        <p:nvSpPr>
          <p:cNvPr id="31" name="TextBox 30"/>
          <p:cNvSpPr txBox="1"/>
          <p:nvPr/>
        </p:nvSpPr>
        <p:spPr>
          <a:xfrm>
            <a:off x="4089400" y="97942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84740"/>
            <a:ext cx="27559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size and weight of the casing to be milled  3. top pin connection.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PILOT MILL FOR TUBULARS AND LINERS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WITH A GUIDE NOSE (PILOT) THAT ENTERS THE TUBULAR BEING MILLED AND KEEPS THE BLADES CENTRED ON IT. IT IS USED TO MILL WASHPIPE, SAFETY JOINTS, CROSSOVER SWAGES, WASHOVER SHOES, ADAPTERS, CASING, LINERS, DRILL PIPE AND SWAGED CASING. LINER HANGERS CAN BE MILLED EFFICIENTLY, AVOIDING INSIDE CUTS AND SPEAR RUNS. THE NOSE CAN BE DRESSED TO MILL ANY JUNK MET ALONG THE WAY.</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1320800"/>
        </p:xfrm>
        <a:graphic>
          <a:graphicData uri="http://schemas.openxmlformats.org/drawingml/2006/table">
            <a:tbl>
              <a:tblPr/>
              <a:tblGrid>
                <a:gridCol w="1115290"/>
                <a:gridCol w="1115290"/>
                <a:gridCol w="1115290"/>
                <a:gridCol w="975879"/>
                <a:gridCol w="1115290"/>
                <a:gridCol w="697056"/>
              </a:tblGrid>
              <a:tr h="330200">
                <a:tc>
                  <a:txBody>
                    <a:bodyPr wrap="square"/>
                    <a:lstStyle/>
                    <a:p>
                      <a:pPr algn="ctr">
                        <a:lnSpc>
                          <a:spcPts val="919"/>
                        </a:lnSpc>
                      </a:pPr>
                      <a:r>
                        <a:rPr sz="760" b="1">
                          <a:solidFill>
                            <a:srgbClr val="FEFEFF"/>
                          </a:solidFill>
                          <a:latin typeface="Ubuntu Mono"/>
                          <a:ea typeface="Ubuntu Mono"/>
                          <a:cs typeface="Ubuntu Mono"/>
                          <a:sym typeface="Ubuntu Mono"/>
                        </a:rPr>
                        <a:t>Blade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Pilot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2-1/8 - 3-1/4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5-3/4 - 7-3/8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6-1/8 - 9-7/8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4-3/4 - 6-3/4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43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weights in lb (approximate). Standard API regular pin. Other sizes on request.</a:t>
            </a:r>
          </a:p>
        </p:txBody>
      </p:sp>
      <p:sp>
        <p:nvSpPr>
          <p:cNvPr id="24" name="TextBox 23"/>
          <p:cNvSpPr txBox="1"/>
          <p:nvPr/>
        </p:nvSpPr>
        <p:spPr>
          <a:xfrm>
            <a:off x="7112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251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Guide nose: </a:t>
            </a:r>
            <a:r>
              <a:rPr sz="720" b="0">
                <a:solidFill>
                  <a:srgbClr val="000000"/>
                </a:solidFill>
                <a:latin typeface="Ubuntu Mono"/>
                <a:ea typeface="Ubuntu Mono"/>
                <a:cs typeface="Ubuntu Mono"/>
                <a:sym typeface="Ubuntu Mono"/>
              </a:rPr>
              <a:t>the pilot sits in the tubular bore and centres the blades.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Blade size: </a:t>
            </a:r>
            <a:r>
              <a:rPr sz="720" b="0">
                <a:solidFill>
                  <a:srgbClr val="000000"/>
                </a:solidFill>
                <a:latin typeface="Ubuntu Mono"/>
                <a:ea typeface="Ubuntu Mono"/>
                <a:cs typeface="Ubuntu Mono"/>
                <a:sym typeface="Ubuntu Mono"/>
              </a:rPr>
              <a:t>about 1/4 in. over the O.D. of the tool joint or coupling to be milled.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Pilot size: </a:t>
            </a:r>
            <a:r>
              <a:rPr sz="720" b="0">
                <a:solidFill>
                  <a:srgbClr val="000000"/>
                </a:solidFill>
                <a:latin typeface="Ubuntu Mono"/>
                <a:ea typeface="Ubuntu Mono"/>
                <a:cs typeface="Ubuntu Mono"/>
                <a:sym typeface="Ubuntu Mono"/>
              </a:rPr>
              <a:t>same as the drift diameter of the tubular.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Dressable nose: </a:t>
            </a:r>
            <a:r>
              <a:rPr sz="720" b="0">
                <a:solidFill>
                  <a:srgbClr val="000000"/>
                </a:solidFill>
                <a:latin typeface="Ubuntu Mono"/>
                <a:ea typeface="Ubuntu Mono"/>
                <a:cs typeface="Ubuntu Mono"/>
                <a:sym typeface="Ubuntu Mono"/>
              </a:rPr>
              <a:t>can be dressed to mill junk.</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standard neck for handling and recovery.</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washpipe (most efficient tool for stuck washpipe), liners and hangers, adapters, swaged casing, drill collars with open I.D.</a:t>
            </a:r>
          </a:p>
        </p:txBody>
      </p:sp>
      <p:sp>
        <p:nvSpPr>
          <p:cNvPr id="26" name="TextBox 25"/>
          <p:cNvSpPr txBox="1"/>
          <p:nvPr/>
        </p:nvSpPr>
        <p:spPr>
          <a:xfrm>
            <a:off x="38608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7239000"/>
          <a:ext cx="2984500" cy="990600"/>
        </p:xfrm>
        <a:graphic>
          <a:graphicData uri="http://schemas.openxmlformats.org/drawingml/2006/table">
            <a:tbl>
              <a:tblPr/>
              <a:tblGrid>
                <a:gridCol w="1270000"/>
                <a:gridCol w="1714500"/>
              </a:tblGrid>
              <a:tr h="165100">
                <a:tc>
                  <a:txBody>
                    <a:bodyPr wrap="square"/>
                    <a:lstStyle/>
                    <a:p>
                      <a:pPr algn="l">
                        <a:lnSpc>
                          <a:spcPts val="819"/>
                        </a:lnSpc>
                      </a:pPr>
                      <a:r>
                        <a:rPr sz="660" b="0">
                          <a:solidFill>
                            <a:srgbClr val="FEFEFF"/>
                          </a:solidFill>
                          <a:latin typeface="Ubuntu Mono"/>
                          <a:ea typeface="Ubuntu Mono"/>
                          <a:cs typeface="Ubuntu Mono"/>
                          <a:sym typeface="Ubuntu Mono"/>
                        </a:rPr>
                        <a:t>Rotary speed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Tool weight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2,000 - 6,000 lb or less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H-40 / K-55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4,000 - 6,000 lb; 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N-80 / P-110 / Q-135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8,000 - 10,000 lb; 100 - 120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Entering the tubular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30 rpm, 2,000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Typical milling rate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8 - 12 ft/hr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60800" y="8356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3860800" y="8559800"/>
            <a:ext cx="2984500" cy="127000"/>
          </a:xfrm>
          <a:prstGeom prst="rect">
            <a:avLst/>
          </a:prstGeom>
          <a:noFill/>
        </p:spPr>
        <p:txBody>
          <a:bodyPr wrap="square" lIns="0" rIns="0" tIns="0" bIns="0">
            <a:spAutoFit/>
          </a:bodyPr>
          <a:lstStyle/>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Alignment check: </a:t>
            </a:r>
            <a:r>
              <a:rPr sz="700" b="0">
                <a:solidFill>
                  <a:srgbClr val="000000"/>
                </a:solidFill>
                <a:latin typeface="Ubuntu Mono"/>
                <a:ea typeface="Ubuntu Mono"/>
                <a:cs typeface="Ubuntu Mono"/>
                <a:sym typeface="Ubuntu Mono"/>
              </a:rPr>
              <a:t>rotate at about 125 rpm above the tubular to find neutral torque, then enter the pilot slowly; a gradual slow-down when rotation stops shows good alignment.</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Steady feed: </a:t>
            </a:r>
            <a:r>
              <a:rPr sz="700" b="0">
                <a:solidFill>
                  <a:srgbClr val="000000"/>
                </a:solidFill>
                <a:latin typeface="Ubuntu Mono"/>
                <a:ea typeface="Ubuntu Mono"/>
                <a:cs typeface="Ubuntu Mono"/>
                <a:sym typeface="Ubuntu Mono"/>
              </a:rPr>
              <a:t>apply weight at a constant rate, do not drill off.</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Cuttings: </a:t>
            </a:r>
            <a:r>
              <a:rPr sz="700" b="0">
                <a:solidFill>
                  <a:srgbClr val="000000"/>
                </a:solidFill>
                <a:latin typeface="Ubuntu Mono"/>
                <a:ea typeface="Ubuntu Mono"/>
                <a:cs typeface="Ubuntu Mono"/>
                <a:sym typeface="Ubuntu Mono"/>
              </a:rPr>
              <a:t>below a shoe, ream up and down every 15 - 20 ft milled; also in holes deviated 30 degrees or more.</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drop: </a:t>
            </a:r>
            <a:r>
              <a:rPr sz="700" b="0">
                <a:solidFill>
                  <a:srgbClr val="000000"/>
                </a:solidFill>
                <a:latin typeface="Ubuntu Mono"/>
                <a:ea typeface="Ubuntu Mono"/>
                <a:cs typeface="Ubuntu Mono"/>
                <a:sym typeface="Ubuntu Mono"/>
              </a:rPr>
              <a:t>may be a loose steel ring turning with the mill; spud gently. If cutting stops with no torque rise, a tubular section may be turning: pull and retrieve with a spear.</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 pattern: </a:t>
            </a:r>
            <a:r>
              <a:rPr sz="700" b="0">
                <a:solidFill>
                  <a:srgbClr val="000000"/>
                </a:solidFill>
                <a:latin typeface="Ubuntu Mono"/>
                <a:ea typeface="Ubuntu Mono"/>
                <a:cs typeface="Ubuntu Mono"/>
                <a:sym typeface="Ubuntu Mono"/>
              </a:rPr>
              <a:t>hook wear means efficient cutting; taper wear means ease off the weight.</a:t>
            </a:r>
          </a:p>
        </p:txBody>
      </p:sp>
      <p:sp>
        <p:nvSpPr>
          <p:cNvPr id="30" name="TextBox 29"/>
          <p:cNvSpPr txBox="1"/>
          <p:nvPr/>
        </p:nvSpPr>
        <p:spPr>
          <a:xfrm>
            <a:off x="711200" y="91440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9334500"/>
            <a:ext cx="29845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and weight of the casing to be milled  2. size and weight of the casing to run through, if known  3. top pin connection.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TAPER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CP AND CT TAPER MILLS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TAPER MILLS REMOVE RESTRICTIONS AND MILL THROUGH PINCHED OR COLLAPSED CASING. THEY CARRY A TAPERED OR SHORT BLUNT NOSE THAT SERVES AS A GUIDE. TWO VERSIONS: THE CP, WITH A SHORT BLUNT NOSE AND A SHORT TAPER, PRODUCES MUCH LESS TORQUE AND CAN TAKE MORE WEIGHT, SUITING THE TOUGHEST JOBS WHERE A LONG NOSE MIGHT BREAK; THE CT, WITH SPIRAL BLADES AND A POINTED NOSE, IS DESIGNED TO MILL THROUGH RESTRICTIONS.</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2463800"/>
        </p:xfrm>
        <a:graphic>
          <a:graphicData uri="http://schemas.openxmlformats.org/drawingml/2006/table">
            <a:tbl>
              <a:tblPr/>
              <a:tblGrid>
                <a:gridCol w="1003761"/>
                <a:gridCol w="975879"/>
                <a:gridCol w="585527"/>
                <a:gridCol w="585527"/>
                <a:gridCol w="724939"/>
                <a:gridCol w="920114"/>
                <a:gridCol w="669174"/>
                <a:gridCol w="669174"/>
              </a:tblGrid>
              <a:tr h="330200">
                <a:tc>
                  <a:txBody>
                    <a:bodyPr wrap="square"/>
                    <a:lstStyle/>
                    <a:p>
                      <a:pPr algn="ctr">
                        <a:lnSpc>
                          <a:spcPts val="880"/>
                        </a:lnSpc>
                      </a:pPr>
                      <a:r>
                        <a:rPr sz="720" b="1">
                          <a:solidFill>
                            <a:srgbClr val="FEFEFF"/>
                          </a:solidFill>
                          <a:latin typeface="Ubuntu Mono"/>
                          <a:ea typeface="Ubuntu Mono"/>
                          <a:cs typeface="Ubuntu Mono"/>
                          <a:sym typeface="Ubuntu Mono"/>
                        </a:rPr>
                        <a:t>Dressed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CP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5-3/4 - 6-3/8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7-1/2 - 7-7/8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9-3/8 - 9-7/8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14-3/4 - 15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20 - 26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886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(overall lengths in inches), weights in lb (approximate). Ranges as dressed diameters of each size group.</a:t>
            </a:r>
          </a:p>
        </p:txBody>
      </p:sp>
      <p:sp>
        <p:nvSpPr>
          <p:cNvPr id="24" name="TextBox 23"/>
          <p:cNvSpPr txBox="1"/>
          <p:nvPr/>
        </p:nvSpPr>
        <p:spPr>
          <a:xfrm>
            <a:off x="7112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39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CP: </a:t>
            </a:r>
            <a:r>
              <a:rPr sz="720" b="0">
                <a:solidFill>
                  <a:srgbClr val="000000"/>
                </a:solidFill>
                <a:latin typeface="Ubuntu Mono"/>
                <a:ea typeface="Ubuntu Mono"/>
                <a:cs typeface="Ubuntu Mono"/>
                <a:sym typeface="Ubuntu Mono"/>
              </a:rPr>
              <a:t>blunt nose, short taper; low torque, tolerates more weight.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CT: </a:t>
            </a:r>
            <a:r>
              <a:rPr sz="720" b="0">
                <a:solidFill>
                  <a:srgbClr val="000000"/>
                </a:solidFill>
                <a:latin typeface="Ubuntu Mono"/>
                <a:ea typeface="Ubuntu Mono"/>
                <a:cs typeface="Ubuntu Mono"/>
                <a:sym typeface="Ubuntu Mono"/>
              </a:rPr>
              <a:t>spiral blades and pointed nose for restrictions.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reaming collapsed casing and liners, cleaning permanent whipstock windows, milling jagged or split shoes, enlarging restrictions through retainers and adapters.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Stabilising: </a:t>
            </a:r>
            <a:r>
              <a:rPr sz="720" b="0">
                <a:solidFill>
                  <a:srgbClr val="000000"/>
                </a:solidFill>
                <a:latin typeface="Ubuntu Mono"/>
                <a:ea typeface="Ubuntu Mono"/>
                <a:cs typeface="Ubuntu Mono"/>
                <a:sym typeface="Ubuntu Mono"/>
              </a:rPr>
              <a:t>keep 1/2 to 1 in. under drift diameter.</a:t>
            </a:r>
          </a:p>
        </p:txBody>
      </p:sp>
      <p:sp>
        <p:nvSpPr>
          <p:cNvPr id="26" name="TextBox 25"/>
          <p:cNvSpPr txBox="1"/>
          <p:nvPr/>
        </p:nvSpPr>
        <p:spPr>
          <a:xfrm>
            <a:off x="38608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8382000"/>
          <a:ext cx="2984500" cy="1111250"/>
        </p:xfrm>
        <a:graphic>
          <a:graphicData uri="http://schemas.openxmlformats.org/drawingml/2006/table">
            <a:tbl>
              <a:tblPr/>
              <a:tblGrid>
                <a:gridCol w="1270000"/>
                <a:gridCol w="1714500"/>
              </a:tblGrid>
              <a:tr h="158750">
                <a:tc>
                  <a:txBody>
                    <a:bodyPr wrap="square"/>
                    <a:lstStyle/>
                    <a:p>
                      <a:pPr algn="l">
                        <a:lnSpc>
                          <a:spcPts val="819"/>
                        </a:lnSpc>
                      </a:pPr>
                      <a:r>
                        <a:rPr sz="660" b="0">
                          <a:solidFill>
                            <a:srgbClr val="FEFEFF"/>
                          </a:solidFill>
                          <a:latin typeface="Ubuntu Mono"/>
                          <a:ea typeface="Ubuntu Mono"/>
                          <a:cs typeface="Ubuntu Mono"/>
                          <a:sym typeface="Ubuntu Mono"/>
                        </a:rPr>
                        <a:t>Weight range (general)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2,000 - 4,000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Start rotation above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75 rpm (min. 75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Weight increase in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1,000 - 2,000 lb,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Collapsed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50 rpm; 2,000 - 3,000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Whipstock window clean-up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 rpm; under 1,000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Retainers / adapters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70 rpm; 2,000 - 6,000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After clearing restriction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711200" y="95948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711200" y="9785350"/>
            <a:ext cx="61341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Run a mill about 1/4 in. larger than the minimum I.D. of the collapse and enlarge in stages; do not use a taper mill if the collapse has passed centre. A string taper mill can be used if there is a danger of sidetracking. Governing factor is torque: reduce speed and weight if it rises. For a window, run the same diameter as the largest window mill, rotate slowly its full length and repeat until torque is minimal; do not try to make hole.</a:t>
            </a:r>
          </a:p>
        </p:txBody>
      </p:sp>
      <p:sp>
        <p:nvSpPr>
          <p:cNvPr id="30" name="TextBox 29"/>
          <p:cNvSpPr txBox="1"/>
          <p:nvPr/>
        </p:nvSpPr>
        <p:spPr>
          <a:xfrm>
            <a:off x="711200" y="103441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10534650"/>
            <a:ext cx="6134100" cy="254000"/>
          </a:xfrm>
          <a:prstGeom prst="rect">
            <a:avLst/>
          </a:prstGeom>
          <a:noFill/>
        </p:spPr>
        <p:txBody>
          <a:bodyPr wrap="square" lIns="0" rIns="0" tIns="0" bIns="0">
            <a:spAutoFit/>
          </a:bodyPr>
          <a:lstStyle/>
          <a:p>
            <a:pPr algn="l">
              <a:lnSpc>
                <a:spcPts val="860"/>
              </a:lnSpc>
              <a:spcAft>
                <a:spcPts val="0"/>
              </a:spcAft>
            </a:pPr>
            <a:r>
              <a:rPr sz="680" b="0">
                <a:solidFill>
                  <a:srgbClr val="000000"/>
                </a:solidFill>
                <a:latin typeface="Ubuntu Mono"/>
                <a:ea typeface="Ubuntu Mono"/>
                <a:cs typeface="Ubuntu Mono"/>
                <a:sym typeface="Ubuntu Mono"/>
              </a:rPr>
              <a:t>Please specify: 1. type (CP or CT)  2. dressed diameter  3. top pin connection  4. fishing neck diameter, if different from standard.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ashoverShoe.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Fishing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PERMANENT MAGNET FOR JUNK RETRIEVAL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PERMANENT-MAGNET TOOL THAT RETRIEVES UNDRILLABLE OBJECTS WITH MAGNETIC ATTRACTION: BIT CONES, BEARINGS, SLIPS, MILL CUTTINGS, TONG PINS AND HAMMERS. IT PICKS UP SMALL, ODD-SHAPED ITEMS THAT INSIDE OR OUTSIDE CATCH TOOLS CANNOT HOLD. AVAILABLE FROM 1 IN. TO 20 IN. O.D., ON PIPE OR WIRELINE, WITH PULLS FROM 5 LB TO 5,000 LB DEPENDING ON SIZE. IT IS ALSO USED TO CLEAR THE HOLE BEFORE DIAMOND CORING.</a:t>
            </a:r>
          </a:p>
        </p:txBody>
      </p:sp>
      <p:sp>
        <p:nvSpPr>
          <p:cNvPr id="21" name="TextBox 20"/>
          <p:cNvSpPr txBox="1"/>
          <p:nvPr/>
        </p:nvSpPr>
        <p:spPr>
          <a:xfrm>
            <a:off x="711200" y="4851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1-1/4 to 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11-N.C.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1-5/8 to 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8 - 10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 to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to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2-3/4 to 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25 - 50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 to 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 to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 to 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4-1/4 to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to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5-1/8 to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250 - 320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5-5/8 to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320 - 385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7973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to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425 - 500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7-5/8 to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550 - 700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8-5/8 to 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700 - 850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9-7/8 to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850 - 1,000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10-1/2 to 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1,000 - 1,125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11-3/4 to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1,125 - 1,260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 to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1,260 - 1,550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3,200 - 4,000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13-3/8 V-4 thd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4,200 - 5,000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697484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(complete assembly, approximate). S.R.: sucker rod pin; Tbg: tubing pin. Pulls assume the magnet face fully covers a flat surface; pick-up capacity drops considerably on smaller contact areas.</a:t>
            </a:r>
          </a:p>
        </p:txBody>
      </p:sp>
      <p:pic>
        <p:nvPicPr>
          <p:cNvPr id="25" name="Picture 24" descr="agentC_mag.png"/>
          <p:cNvPicPr>
            <a:picLocks noChangeAspect="1"/>
          </p:cNvPicPr>
          <p:nvPr/>
        </p:nvPicPr>
        <p:blipFill>
          <a:blip r:embed="rId4"/>
          <a:stretch>
            <a:fillRect/>
          </a:stretch>
        </p:blipFill>
        <p:spPr>
          <a:xfrm>
            <a:off x="711200" y="7305040"/>
            <a:ext cx="647648" cy="2603500"/>
          </a:xfrm>
          <a:prstGeom prst="rect">
            <a:avLst/>
          </a:prstGeom>
        </p:spPr>
      </p:pic>
      <p:sp>
        <p:nvSpPr>
          <p:cNvPr id="26" name="TextBox 25"/>
          <p:cNvSpPr txBox="1"/>
          <p:nvPr/>
        </p:nvSpPr>
        <p:spPr>
          <a:xfrm>
            <a:off x="1473200" y="7279640"/>
            <a:ext cx="22606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473200" y="7482840"/>
            <a:ext cx="22606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Focused field: </a:t>
            </a:r>
            <a:r>
              <a:rPr sz="690" b="0">
                <a:solidFill>
                  <a:srgbClr val="000000"/>
                </a:solidFill>
                <a:latin typeface="Ubuntu Mono"/>
                <a:ea typeface="Ubuntu Mono"/>
                <a:cs typeface="Ubuntu Mono"/>
                <a:sym typeface="Ubuntu Mono"/>
              </a:rPr>
              <a:t>flux is concentrated at the bottom pole plate; the outer case is not magnetised, so the tool works inside cased hole.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ports through the body exit inside the guide and keep the pole plate clean.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Guides: </a:t>
            </a:r>
            <a:r>
              <a:rPr sz="690" b="0">
                <a:solidFill>
                  <a:srgbClr val="000000"/>
                </a:solidFill>
                <a:latin typeface="Ubuntu Mono"/>
                <a:ea typeface="Ubuntu Mono"/>
                <a:cs typeface="Ubuntu Mono"/>
                <a:sym typeface="Ubuntu Mono"/>
              </a:rPr>
              <a:t>flush (standard) for large or flat objects; lipped for 3 or more cones or leaning objects; mill guide for tong dies, 1 - 2 cones and safety runs before diamond coring.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Run on pipe or wireline: </a:t>
            </a:r>
            <a:r>
              <a:rPr sz="690" b="0">
                <a:solidFill>
                  <a:srgbClr val="000000"/>
                </a:solidFill>
                <a:latin typeface="Ubuntu Mono"/>
                <a:ea typeface="Ubuntu Mono"/>
                <a:cs typeface="Ubuntu Mono"/>
                <a:sym typeface="Ubuntu Mono"/>
              </a:rPr>
              <a:t>wireline needs adaptors and gives no circulation.</a:t>
            </a:r>
          </a:p>
        </p:txBody>
      </p:sp>
      <p:sp>
        <p:nvSpPr>
          <p:cNvPr id="28" name="TextBox 27"/>
          <p:cNvSpPr txBox="1"/>
          <p:nvPr/>
        </p:nvSpPr>
        <p:spPr>
          <a:xfrm>
            <a:off x="3848100" y="72796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48100" y="7470140"/>
          <a:ext cx="2997200" cy="1143000"/>
        </p:xfrm>
        <a:graphic>
          <a:graphicData uri="http://schemas.openxmlformats.org/drawingml/2006/table">
            <a:tbl>
              <a:tblPr/>
              <a:tblGrid>
                <a:gridCol w="1016000"/>
                <a:gridCol w="1981200"/>
              </a:tblGrid>
              <a:tr h="2286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6 in. to 1 ft above the fish; circulate to wash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Contact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Reduce flow, lower onto fish, rotate lightly, stop pumps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rotating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5,000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no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Proper charge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2,500 gauss or more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48100" y="8714740"/>
            <a:ext cx="29972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Excess weight or rotation can damage the pole plate and magnetic element. Never store two magnets face to face: the smaller loses charge. Clean ports after each run.</a:t>
            </a:r>
          </a:p>
        </p:txBody>
      </p:sp>
      <p:sp>
        <p:nvSpPr>
          <p:cNvPr id="31" name="TextBox 30"/>
          <p:cNvSpPr txBox="1"/>
          <p:nvPr/>
        </p:nvSpPr>
        <p:spPr>
          <a:xfrm>
            <a:off x="3848100" y="91465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48100" y="9337040"/>
            <a:ext cx="29972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name and assembly number  2. O.D.  3. top connection if other than standard. Recommended accessories: 1 lipped guide and 1 mill guide.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STRING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IN-LINE STRING MAGNET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IN-LINE MAGNET RUN IN THE WORK STRING TO COLLECT FERROUS DEBRIS DURING CASING CUTTING, MILLING, PLUG AND ABANDONMENT AND CASING EXIT OPERATIONS, ESPECIALLY WHERE THE AVAILABLE CIRCULATION IS NOT ENOUGH TO CARRY THE SWARF OUT OF THE HOLE. LARGE MAGNETIC SLEEVES WITH RARE EARTH MAGNETS GIVE A HIGH PICK-UP CAPACITY. THE BODY IS A SINGLE PIECE WITH NO INTERNAL CONNECTION AND IS RATED FOR HIGH TORQUE. AVAILABLE FOR CASING FROM 4-1/2 TO 14 IN., IN STANDARD OR HIGH TEMPERATURE VERSIONS.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1492250"/>
        </p:xfrm>
        <a:graphic>
          <a:graphicData uri="http://schemas.openxmlformats.org/drawingml/2006/table">
            <a:tbl>
              <a:tblPr/>
              <a:tblGrid>
                <a:gridCol w="1063244"/>
                <a:gridCol w="599778"/>
                <a:gridCol w="872405"/>
                <a:gridCol w="872405"/>
                <a:gridCol w="872405"/>
                <a:gridCol w="981456"/>
                <a:gridCol w="872405"/>
              </a:tblGrid>
              <a:tr h="381000">
                <a:tc>
                  <a:txBody>
                    <a:bodyPr wrap="square"/>
                    <a:lstStyle/>
                    <a:p>
                      <a:pPr algn="ctr">
                        <a:lnSpc>
                          <a:spcPts val="860"/>
                        </a:lnSpc>
                      </a:pPr>
                      <a:r>
                        <a:rPr sz="700" b="1">
                          <a:solidFill>
                            <a:srgbClr val="FEFEFF"/>
                          </a:solidFill>
                          <a:latin typeface="Ubuntu Mono"/>
                          <a:ea typeface="Ubuntu Mono"/>
                          <a:cs typeface="Ubuntu Mono"/>
                          <a:sym typeface="Ubuntu Mono"/>
                        </a:rPr>
                        <a:t>Casing 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yield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 yield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 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4-1/2, 4-3/4,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457,940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362,660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698,880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478,540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1,032,640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572,690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2,467,780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572,690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2,126,520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38,060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919,880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3,759,840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1,770,500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13-3/8, 13-5/8,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4,879,680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1,770,500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195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Tensile load at zero make-up torque. Dimensions in inches, loads in lb and ft-lb.</a:t>
            </a:r>
          </a:p>
        </p:txBody>
      </p:sp>
      <p:pic>
        <p:nvPicPr>
          <p:cNvPr id="24" name="Picture 23" descr="stringmagnet_tool_blue.png"/>
          <p:cNvPicPr>
            <a:picLocks noChangeAspect="1"/>
          </p:cNvPicPr>
          <p:nvPr/>
        </p:nvPicPr>
        <p:blipFill>
          <a:blip r:embed="rId4"/>
          <a:stretch>
            <a:fillRect/>
          </a:stretch>
        </p:blipFill>
        <p:spPr>
          <a:xfrm>
            <a:off x="762000" y="7061200"/>
            <a:ext cx="2730500" cy="1355722"/>
          </a:xfrm>
          <a:prstGeom prst="rect">
            <a:avLst/>
          </a:prstGeom>
        </p:spPr>
      </p:pic>
      <p:sp>
        <p:nvSpPr>
          <p:cNvPr id="25" name="TextBox 24"/>
          <p:cNvSpPr txBox="1"/>
          <p:nvPr/>
        </p:nvSpPr>
        <p:spPr>
          <a:xfrm>
            <a:off x="3810000" y="6959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3810000" y="7162800"/>
            <a:ext cx="30353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Large magnetic area: </a:t>
            </a:r>
            <a:r>
              <a:rPr sz="710" b="0">
                <a:solidFill>
                  <a:srgbClr val="000000"/>
                </a:solidFill>
                <a:latin typeface="Ubuntu Mono"/>
                <a:ea typeface="Ubuntu Mono"/>
                <a:cs typeface="Ubuntu Mono"/>
                <a:sym typeface="Ubuntu Mono"/>
              </a:rPr>
              <a:t>high pick-up capacity for ferrous debris.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Rare earth magnets: </a:t>
            </a:r>
            <a:r>
              <a:rPr sz="710" b="0">
                <a:solidFill>
                  <a:srgbClr val="000000"/>
                </a:solidFill>
                <a:latin typeface="Ubuntu Mono"/>
                <a:ea typeface="Ubuntu Mono"/>
                <a:cs typeface="Ubuntu Mono"/>
                <a:sym typeface="Ubuntu Mono"/>
              </a:rPr>
              <a:t>powerful field, standard and high temperature options.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Replaceable sleeves: </a:t>
            </a:r>
            <a:r>
              <a:rPr sz="710" b="0">
                <a:solidFill>
                  <a:srgbClr val="000000"/>
                </a:solidFill>
                <a:latin typeface="Ubuntu Mono"/>
                <a:ea typeface="Ubuntu Mono"/>
                <a:cs typeface="Ubuntu Mono"/>
                <a:sym typeface="Ubuntu Mono"/>
              </a:rPr>
              <a:t>magnetic sleeves are easily removed and replaced.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One-piece body: </a:t>
            </a:r>
            <a:r>
              <a:rPr sz="710" b="0">
                <a:solidFill>
                  <a:srgbClr val="000000"/>
                </a:solidFill>
                <a:latin typeface="Ubuntu Mono"/>
                <a:ea typeface="Ubuntu Mono"/>
                <a:cs typeface="Ubuntu Mono"/>
                <a:sym typeface="Ubuntu Mono"/>
              </a:rPr>
              <a:t>solid mandrel with no internal connection.</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High torque rating: </a:t>
            </a:r>
            <a:r>
              <a:rPr sz="710" b="0">
                <a:solidFill>
                  <a:srgbClr val="000000"/>
                </a:solidFill>
                <a:latin typeface="Ubuntu Mono"/>
                <a:ea typeface="Ubuntu Mono"/>
                <a:cs typeface="Ubuntu Mono"/>
                <a:sym typeface="Ubuntu Mono"/>
              </a:rPr>
              <a:t>suited to milling and cutting strings.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Fishable through the ID.</a:t>
            </a:r>
          </a:p>
        </p:txBody>
      </p:sp>
      <p:sp>
        <p:nvSpPr>
          <p:cNvPr id="27" name="TextBox 26"/>
          <p:cNvSpPr txBox="1"/>
          <p:nvPr/>
        </p:nvSpPr>
        <p:spPr>
          <a:xfrm>
            <a:off x="711200" y="87122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711200" y="8915400"/>
            <a:ext cx="29845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Casing cutting and milling</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Plug and abandonment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Casing exit (window milling)</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Wellbore cleanout where circulation is limited</a:t>
            </a:r>
          </a:p>
        </p:txBody>
      </p:sp>
      <p:sp>
        <p:nvSpPr>
          <p:cNvPr id="29" name="TextBox 28"/>
          <p:cNvSpPr txBox="1"/>
          <p:nvPr/>
        </p:nvSpPr>
        <p:spPr>
          <a:xfrm>
            <a:off x="3810000" y="8712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BENEFITS</a:t>
            </a:r>
          </a:p>
        </p:txBody>
      </p:sp>
      <p:sp>
        <p:nvSpPr>
          <p:cNvPr id="30" name="TextBox 29"/>
          <p:cNvSpPr txBox="1"/>
          <p:nvPr/>
        </p:nvSpPr>
        <p:spPr>
          <a:xfrm>
            <a:off x="3810000" y="8915400"/>
            <a:ext cx="30353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Better ferrous debris removal when circulation is inadequate</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Cleaner wellbore, less non-productive time</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Lower overall cost of the operation</a:t>
            </a:r>
          </a:p>
        </p:txBody>
      </p:sp>
      <p:sp>
        <p:nvSpPr>
          <p:cNvPr id="31" name="TextBox 30"/>
          <p:cNvSpPr txBox="1"/>
          <p:nvPr/>
        </p:nvSpPr>
        <p:spPr>
          <a:xfrm>
            <a:off x="711200" y="9702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711200" y="9893300"/>
            <a:ext cx="61341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casing size and weight  2. tool OD and top / bottom connections  3. standard or high temperature magnets  4. number of magnetic sleeves and spare sleeves.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eCollar.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ok.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Overshot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SERIES 150 RELEASING AND CIRCULATING OVERSHOT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EXTERNAL-CATCH FISHING TOOL THAT ENGAGES, PACKS OFF AND PULLS TWISTED-OFF OR LOST TUBING, DRILL PIPE, COUPLINGS, TOOL JOINTS, CASING AND OTHER SMOOTH-O.D. FISH. A SPIRAL OR BASKET GRAPPLE GRIPS THE FISH OVER A LONG SECTION, SO HEAVY PULLING, TORSION AND JARRING LOADS ARE TAKEN WITHOUT DAMAGING THE TOOL OR THE FISH. ENGAGING AND RELEASING BOTH USE RIGHT-HAND ROTATION ONLY.</a:t>
            </a:r>
          </a:p>
        </p:txBody>
      </p:sp>
      <p:sp>
        <p:nvSpPr>
          <p:cNvPr id="21" name="TextBox 20"/>
          <p:cNvSpPr txBox="1"/>
          <p:nvPr/>
        </p:nvSpPr>
        <p:spPr>
          <a:xfrm>
            <a:off x="711200" y="4851400"/>
            <a:ext cx="3238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FULL STRENGTH SIZES</a:t>
            </a:r>
          </a:p>
        </p:txBody>
      </p:sp>
      <p:graphicFrame>
        <p:nvGraphicFramePr>
          <p:cNvPr id="22" name="Table 21"/>
          <p:cNvGraphicFramePr>
            <a:graphicFrameLocks noGrp="1"/>
          </p:cNvGraphicFramePr>
          <p:nvPr/>
        </p:nvGraphicFramePr>
        <p:xfrm>
          <a:off x="711200" y="5041900"/>
          <a:ext cx="3238498" cy="2021840"/>
        </p:xfrm>
        <a:graphic>
          <a:graphicData uri="http://schemas.openxmlformats.org/drawingml/2006/table">
            <a:tbl>
              <a:tblPr/>
              <a:tblGrid>
                <a:gridCol w="693964"/>
                <a:gridCol w="751794"/>
                <a:gridCol w="751794"/>
                <a:gridCol w="491558"/>
                <a:gridCol w="549388"/>
              </a:tblGrid>
              <a:tr h="304800">
                <a:tc>
                  <a:txBody>
                    <a:bodyPr wrap="square"/>
                    <a:lstStyle/>
                    <a:p>
                      <a:pPr algn="ctr">
                        <a:lnSpc>
                          <a:spcPts val="840"/>
                        </a:lnSpc>
                      </a:pPr>
                      <a:r>
                        <a:rPr sz="680" b="1">
                          <a:solidFill>
                            <a:srgbClr val="FEFEFF"/>
                          </a:solidFill>
                          <a:latin typeface="Ubuntu Mono"/>
                          <a:ea typeface="Ubuntu Mono"/>
                          <a:cs typeface="Ubuntu Mono"/>
                          <a:sym typeface="Ubuntu Mono"/>
                        </a:rPr>
                        <a:t>Overshot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139940"/>
            <a:ext cx="3238500" cy="2794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Assembly dressed with spiral parts. Inches. FS = full strength. Slim-hole and semi full strength types also exist; undersize parts fit smaller fish.</a:t>
            </a:r>
          </a:p>
        </p:txBody>
      </p:sp>
      <p:sp>
        <p:nvSpPr>
          <p:cNvPr id="24" name="TextBox 23"/>
          <p:cNvSpPr txBox="1"/>
          <p:nvPr/>
        </p:nvSpPr>
        <p:spPr>
          <a:xfrm>
            <a:off x="4089400" y="485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WIDE CATCH VERSION</a:t>
            </a:r>
          </a:p>
        </p:txBody>
      </p:sp>
      <p:graphicFrame>
        <p:nvGraphicFramePr>
          <p:cNvPr id="25" name="Table 24"/>
          <p:cNvGraphicFramePr>
            <a:graphicFrameLocks noGrp="1"/>
          </p:cNvGraphicFramePr>
          <p:nvPr/>
        </p:nvGraphicFramePr>
        <p:xfrm>
          <a:off x="4089400" y="5041900"/>
          <a:ext cx="2755900" cy="1168400"/>
        </p:xfrm>
        <a:graphic>
          <a:graphicData uri="http://schemas.openxmlformats.org/drawingml/2006/table">
            <a:tbl>
              <a:tblPr/>
              <a:tblGrid>
                <a:gridCol w="482600"/>
                <a:gridCol w="482600"/>
                <a:gridCol w="584200"/>
                <a:gridCol w="609600"/>
                <a:gridCol w="596900"/>
              </a:tblGrid>
              <a:tr h="330200">
                <a:tc>
                  <a:txBody>
                    <a:bodyPr wrap="square"/>
                    <a:lstStyle/>
                    <a:p>
                      <a:pPr algn="ctr">
                        <a:lnSpc>
                          <a:spcPts val="819"/>
                        </a:lnSpc>
                      </a:pPr>
                      <a:r>
                        <a:rPr sz="66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Catch 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Load, spiral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969,000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6" name="TextBox 25"/>
          <p:cNvSpPr txBox="1"/>
          <p:nvPr/>
        </p:nvSpPr>
        <p:spPr>
          <a:xfrm>
            <a:off x="4089400" y="6248400"/>
            <a:ext cx="2755900" cy="635000"/>
          </a:xfrm>
          <a:prstGeom prst="rect">
            <a:avLst/>
          </a:prstGeom>
          <a:noFill/>
        </p:spPr>
        <p:txBody>
          <a:bodyPr wrap="square" lIns="0" rIns="0" tIns="0" bIns="0">
            <a:spAutoFit/>
          </a:bodyPr>
          <a:lstStyle/>
          <a:p>
            <a:pPr algn="l">
              <a:lnSpc>
                <a:spcPts val="760"/>
              </a:lnSpc>
              <a:spcAft>
                <a:spcPts val="0"/>
              </a:spcAft>
            </a:pPr>
            <a:r>
              <a:rPr sz="630" b="0">
                <a:solidFill>
                  <a:srgbClr val="444444"/>
                </a:solidFill>
                <a:latin typeface="Ubuntu Mono"/>
                <a:ea typeface="Ubuntu Mono"/>
                <a:cs typeface="Ubuntu Mono"/>
                <a:sym typeface="Ubuntu Mono"/>
              </a:rPr>
              <a:t>Same design with an extended catch range, up to four times that of a standard overshot, to reach heavily worn fish. Standard or high-pressure seals, full flow through the fish, coarse top-sub threads with set screws, 18 in. fish neck. Can cut grapple inventory by up to 75%.</a:t>
            </a:r>
          </a:p>
        </p:txBody>
      </p:sp>
      <p:pic>
        <p:nvPicPr>
          <p:cNvPr id="27" name="Picture 26" descr="agentC_os.png"/>
          <p:cNvPicPr>
            <a:picLocks noChangeAspect="1"/>
          </p:cNvPicPr>
          <p:nvPr/>
        </p:nvPicPr>
        <p:blipFill>
          <a:blip r:embed="rId4"/>
          <a:stretch>
            <a:fillRect/>
          </a:stretch>
        </p:blipFill>
        <p:spPr>
          <a:xfrm>
            <a:off x="711200" y="7495540"/>
            <a:ext cx="513468" cy="2603500"/>
          </a:xfrm>
          <a:prstGeom prst="rect">
            <a:avLst/>
          </a:prstGeom>
        </p:spPr>
      </p:pic>
      <p:sp>
        <p:nvSpPr>
          <p:cNvPr id="28" name="TextBox 27"/>
          <p:cNvSpPr txBox="1"/>
          <p:nvPr/>
        </p:nvSpPr>
        <p:spPr>
          <a:xfrm>
            <a:off x="1498600" y="747014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498600" y="7673340"/>
            <a:ext cx="25400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Spiral or basket grapple: </a:t>
            </a:r>
            <a:r>
              <a:rPr sz="690" b="0">
                <a:solidFill>
                  <a:srgbClr val="000000"/>
                </a:solidFill>
                <a:latin typeface="Ubuntu Mono"/>
                <a:ea typeface="Ubuntu Mono"/>
                <a:cs typeface="Ubuntu Mono"/>
                <a:sym typeface="Ubuntu Mono"/>
              </a:rPr>
              <a:t>spiral for fish near maximum catch size, basket for smaller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Pack-off: </a:t>
            </a:r>
            <a:r>
              <a:rPr sz="690" b="0">
                <a:solidFill>
                  <a:srgbClr val="000000"/>
                </a:solidFill>
                <a:latin typeface="Ubuntu Mono"/>
                <a:ea typeface="Ubuntu Mono"/>
                <a:cs typeface="Ubuntu Mono"/>
                <a:sym typeface="Ubuntu Mono"/>
              </a:rPr>
              <a:t>sleeve packer with spiral grapple; double-lip mill control packer (field-replaceable seals) with basket grapple.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through the fish to help free it.</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Right-hand only: </a:t>
            </a:r>
            <a:r>
              <a:rPr sz="690" b="0">
                <a:solidFill>
                  <a:srgbClr val="000000"/>
                </a:solidFill>
                <a:latin typeface="Ubuntu Mono"/>
                <a:ea typeface="Ubuntu Mono"/>
                <a:cs typeface="Ubuntu Mono"/>
                <a:sym typeface="Ubuntu Mono"/>
              </a:rPr>
              <a:t>no left-hand rotation to engage or release.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Accessories: </a:t>
            </a:r>
            <a:r>
              <a:rPr sz="690" b="0">
                <a:solidFill>
                  <a:srgbClr val="000000"/>
                </a:solidFill>
                <a:latin typeface="Ubuntu Mono"/>
                <a:ea typeface="Ubuntu Mono"/>
                <a:cs typeface="Ubuntu Mono"/>
                <a:sym typeface="Ubuntu Mono"/>
              </a:rPr>
              <a:t>oversize, wall hook and mill guides, extension subs, lock rings; coarse-thread version for easier assembly.</a:t>
            </a:r>
          </a:p>
        </p:txBody>
      </p:sp>
      <p:sp>
        <p:nvSpPr>
          <p:cNvPr id="30" name="TextBox 29"/>
          <p:cNvSpPr txBox="1"/>
          <p:nvPr/>
        </p:nvSpPr>
        <p:spPr>
          <a:xfrm>
            <a:off x="4089400" y="7470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1" name="TextBox 30"/>
          <p:cNvSpPr txBox="1"/>
          <p:nvPr/>
        </p:nvSpPr>
        <p:spPr>
          <a:xfrm>
            <a:off x="4089400" y="767334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rotate slowly right while lowering over the fish, let the twist slack out,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If the fish stays: </a:t>
            </a:r>
            <a:r>
              <a:rPr sz="690" b="0">
                <a:solidFill>
                  <a:srgbClr val="000000"/>
                </a:solidFill>
                <a:latin typeface="Ubuntu Mono"/>
                <a:ea typeface="Ubuntu Mono"/>
                <a:cs typeface="Ubuntu Mono"/>
                <a:sym typeface="Ubuntu Mono"/>
              </a:rPr>
              <a:t>start the pumps and keep an upward strain.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then rotate right while slowly raising.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Precautions: </a:t>
            </a:r>
            <a:r>
              <a:rPr sz="690" b="0">
                <a:solidFill>
                  <a:srgbClr val="000000"/>
                </a:solidFill>
                <a:latin typeface="Ubuntu Mono"/>
                <a:ea typeface="Ubuntu Mono"/>
                <a:cs typeface="Ubuntu Mono"/>
                <a:sym typeface="Ubuntu Mono"/>
              </a:rPr>
              <a:t>stop the pumps before lowering over the fish; bump full string weight before releasing; no left-hand rotation without upward strain.</a:t>
            </a:r>
          </a:p>
        </p:txBody>
      </p:sp>
      <p:sp>
        <p:nvSpPr>
          <p:cNvPr id="32" name="TextBox 31"/>
          <p:cNvSpPr txBox="1"/>
          <p:nvPr/>
        </p:nvSpPr>
        <p:spPr>
          <a:xfrm>
            <a:off x="4089400" y="9121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1164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tool name and assembly number  2. size and type of fish  3. top connection  4. O.D. if other than standard. Spares (spiral): 3 packers, 2 grapples per size, 1 control. Spares (basket): 2 grapples, mill control packers per size.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aperTap.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Spear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 CIRCLE RELEASING SPEAR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INTERNAL-CATCH FISHING SPEAR FOR TUBING, DRILL PIPE AND CASING OF ALL SIZES. FULL CIRCLE SLIPS AND THE TAPERS ON THE BODY SPREAD THE EXPANSION STRAIN OVER A LONG VERTICAL SECTION AND ALMOST THE WHOLE INNER CIRCUMFERENCE OF THE FISH, ALLOWING HEAVY PULLING AND JARRING WITHOUT DISTORTING IT. CAN BE RUN WITH INTERNAL CUTTERS FOR CUT-AND-PULL OPERATIONS.</a:t>
            </a:r>
          </a:p>
        </p:txBody>
      </p:sp>
      <p:sp>
        <p:nvSpPr>
          <p:cNvPr id="21" name="TextBox 20"/>
          <p:cNvSpPr txBox="1"/>
          <p:nvPr/>
        </p:nvSpPr>
        <p:spPr>
          <a:xfrm>
            <a:off x="7112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DRILL PIPE AND TUBING</a:t>
            </a:r>
          </a:p>
        </p:txBody>
      </p:sp>
      <p:graphicFrame>
        <p:nvGraphicFramePr>
          <p:cNvPr id="22" name="Table 21"/>
          <p:cNvGraphicFramePr>
            <a:graphicFrameLocks noGrp="1"/>
          </p:cNvGraphicFramePr>
          <p:nvPr/>
        </p:nvGraphicFramePr>
        <p:xfrm>
          <a:off x="711200" y="4991100"/>
          <a:ext cx="3047999" cy="1727200"/>
        </p:xfrm>
        <a:graphic>
          <a:graphicData uri="http://schemas.openxmlformats.org/drawingml/2006/table">
            <a:tbl>
              <a:tblPr/>
              <a:tblGrid>
                <a:gridCol w="609600"/>
                <a:gridCol w="637309"/>
                <a:gridCol w="609600"/>
                <a:gridCol w="471054"/>
                <a:gridCol w="720436"/>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37973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CASING</a:t>
            </a:r>
          </a:p>
        </p:txBody>
      </p:sp>
      <p:graphicFrame>
        <p:nvGraphicFramePr>
          <p:cNvPr id="24" name="Table 23"/>
          <p:cNvGraphicFramePr>
            <a:graphicFrameLocks noGrp="1"/>
          </p:cNvGraphicFramePr>
          <p:nvPr/>
        </p:nvGraphicFramePr>
        <p:xfrm>
          <a:off x="3797300" y="4991100"/>
          <a:ext cx="3047997" cy="2006600"/>
        </p:xfrm>
        <a:graphic>
          <a:graphicData uri="http://schemas.openxmlformats.org/drawingml/2006/table">
            <a:tbl>
              <a:tblPr/>
              <a:tblGrid>
                <a:gridCol w="544285"/>
                <a:gridCol w="653142"/>
                <a:gridCol w="598714"/>
                <a:gridCol w="462642"/>
                <a:gridCol w="789214"/>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2,017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5" name="TextBox 24"/>
          <p:cNvSpPr txBox="1"/>
          <p:nvPr/>
        </p:nvSpPr>
        <p:spPr>
          <a:xfrm>
            <a:off x="711200" y="70993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DP: drill pipe, Tbg: tubing. Yield strengths are theoretical body values (accuracy about 20%), not the strength of the fish; jarring may multiply the pull load by 3 to 10. Each spear has 3 to 6 slips depending on size.</a:t>
            </a:r>
          </a:p>
        </p:txBody>
      </p:sp>
      <p:pic>
        <p:nvPicPr>
          <p:cNvPr id="26" name="Picture 25" descr="agentC_spear.png"/>
          <p:cNvPicPr>
            <a:picLocks noChangeAspect="1"/>
          </p:cNvPicPr>
          <p:nvPr/>
        </p:nvPicPr>
        <p:blipFill>
          <a:blip r:embed="rId4"/>
          <a:stretch>
            <a:fillRect/>
          </a:stretch>
        </p:blipFill>
        <p:spPr>
          <a:xfrm>
            <a:off x="762000" y="7429500"/>
            <a:ext cx="263882" cy="2603500"/>
          </a:xfrm>
          <a:prstGeom prst="rect">
            <a:avLst/>
          </a:prstGeom>
        </p:spPr>
      </p:pic>
      <p:sp>
        <p:nvSpPr>
          <p:cNvPr id="27" name="TextBox 26"/>
          <p:cNvSpPr txBox="1"/>
          <p:nvPr/>
        </p:nvSpPr>
        <p:spPr>
          <a:xfrm>
            <a:off x="1270000" y="74041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8" name="TextBox 27"/>
          <p:cNvSpPr txBox="1"/>
          <p:nvPr/>
        </p:nvSpPr>
        <p:spPr>
          <a:xfrm>
            <a:off x="1270000" y="7607300"/>
            <a:ext cx="26035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Full circle slips: </a:t>
            </a:r>
            <a:r>
              <a:rPr sz="690" b="0">
                <a:solidFill>
                  <a:srgbClr val="000000"/>
                </a:solidFill>
                <a:latin typeface="Ubuntu Mono"/>
                <a:ea typeface="Ubuntu Mono"/>
                <a:cs typeface="Ubuntu Mono"/>
                <a:sym typeface="Ubuntu Mono"/>
              </a:rPr>
              <a:t>large engagement area, low risk of rupturing the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Friction grip: </a:t>
            </a:r>
            <a:r>
              <a:rPr sz="690" b="0">
                <a:solidFill>
                  <a:srgbClr val="000000"/>
                </a:solidFill>
                <a:latin typeface="Ubuntu Mono"/>
                <a:ea typeface="Ubuntu Mono"/>
                <a:cs typeface="Ubuntu Mono"/>
                <a:sym typeface="Ubuntu Mono"/>
              </a:rPr>
              <a:t>friction springs up to 3-1/2 in. nominal and 4 in. tubing; friction blocks on larger sizes and casing.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Safety ring: </a:t>
            </a:r>
            <a:r>
              <a:rPr sz="690" b="0">
                <a:solidFill>
                  <a:srgbClr val="000000"/>
                </a:solidFill>
                <a:latin typeface="Ubuntu Mono"/>
                <a:ea typeface="Ubuntu Mono"/>
                <a:cs typeface="Ubuntu Mono"/>
                <a:sym typeface="Ubuntu Mono"/>
              </a:rPr>
              <a:t>stops the spear entering a fish too small to release from.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Two release modes: </a:t>
            </a:r>
            <a:r>
              <a:rPr sz="690" b="0">
                <a:solidFill>
                  <a:srgbClr val="000000"/>
                </a:solidFill>
                <a:latin typeface="Ubuntu Mono"/>
                <a:ea typeface="Ubuntu Mono"/>
                <a:cs typeface="Ubuntu Mono"/>
                <a:sym typeface="Ubuntu Mono"/>
              </a:rPr>
              <a:t>bump down and rotate; left-hand wickers on the slips as back-up.</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safety ring packoff seals inside the fish.</a:t>
            </a:r>
          </a:p>
        </p:txBody>
      </p:sp>
      <p:sp>
        <p:nvSpPr>
          <p:cNvPr id="29" name="TextBox 28"/>
          <p:cNvSpPr txBox="1"/>
          <p:nvPr/>
        </p:nvSpPr>
        <p:spPr>
          <a:xfrm>
            <a:off x="1270000" y="8902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ACCESSORIES</a:t>
            </a:r>
          </a:p>
        </p:txBody>
      </p:sp>
      <p:sp>
        <p:nvSpPr>
          <p:cNvPr id="30" name="TextBox 29"/>
          <p:cNvSpPr txBox="1"/>
          <p:nvPr/>
        </p:nvSpPr>
        <p:spPr>
          <a:xfrm>
            <a:off x="1270000" y="9105900"/>
            <a:ext cx="2603500" cy="762000"/>
          </a:xfrm>
          <a:prstGeom prst="rect">
            <a:avLst/>
          </a:prstGeom>
          <a:noFill/>
        </p:spPr>
        <p:txBody>
          <a:bodyPr wrap="square" lIns="0" rIns="0" tIns="0" bIns="0">
            <a:spAutoFit/>
          </a:bodyPr>
          <a:lstStyle/>
          <a:p>
            <a:pPr algn="l">
              <a:lnSpc>
                <a:spcPts val="860"/>
              </a:lnSpc>
              <a:spcAft>
                <a:spcPts val="0"/>
              </a:spcAft>
            </a:pPr>
            <a:r>
              <a:rPr sz="690" b="0">
                <a:solidFill>
                  <a:srgbClr val="000000"/>
                </a:solidFill>
                <a:latin typeface="Ubuntu Mono"/>
                <a:ea typeface="Ubuntu Mono"/>
                <a:cs typeface="Ubuntu Mono"/>
                <a:sym typeface="Ubuntu Mono"/>
              </a:rPr>
              <a:t>Mill, side hill and sub-type nuts; 36 in. extensions (bored for circulation); skirts and guides for oversize holes; stop subs.</a:t>
            </a:r>
          </a:p>
        </p:txBody>
      </p:sp>
      <p:sp>
        <p:nvSpPr>
          <p:cNvPr id="31" name="TextBox 30"/>
          <p:cNvSpPr txBox="1"/>
          <p:nvPr/>
        </p:nvSpPr>
        <p:spPr>
          <a:xfrm>
            <a:off x="4089400" y="7404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2" name="TextBox 31"/>
          <p:cNvSpPr txBox="1"/>
          <p:nvPr/>
        </p:nvSpPr>
        <p:spPr>
          <a:xfrm>
            <a:off x="4089400" y="760730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lower slowly into the fish, rotate at least 1/6 turn to the left,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full string weight, rotate at least 1/6 turn to the right and raise.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Deep or crooked holes: </a:t>
            </a:r>
            <a:r>
              <a:rPr sz="690" b="0">
                <a:solidFill>
                  <a:srgbClr val="000000"/>
                </a:solidFill>
                <a:latin typeface="Ubuntu Mono"/>
                <a:ea typeface="Ubuntu Mono"/>
                <a:cs typeface="Ubuntu Mono"/>
                <a:sym typeface="Ubuntu Mono"/>
              </a:rPr>
              <a:t>more rotation may be needed; it does no harm.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Always </a:t>
            </a:r>
            <a:r>
              <a:rPr sz="690" b="0">
                <a:solidFill>
                  <a:srgbClr val="000000"/>
                </a:solidFill>
                <a:latin typeface="Ubuntu Mono"/>
                <a:ea typeface="Ubuntu Mono"/>
                <a:cs typeface="Ubuntu Mono"/>
                <a:sym typeface="Ubuntu Mono"/>
              </a:rPr>
              <a:t>keep a heavy upward strain when rotating the fish, and bump down before releasing.</a:t>
            </a:r>
          </a:p>
        </p:txBody>
      </p:sp>
      <p:sp>
        <p:nvSpPr>
          <p:cNvPr id="33" name="TextBox 32"/>
          <p:cNvSpPr txBox="1"/>
          <p:nvPr/>
        </p:nvSpPr>
        <p:spPr>
          <a:xfrm>
            <a:off x="4089400" y="8724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891540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spear name and assembly number  2. size and type of top connection  3. size and weight of the pipe to be caught. Recommended spares: 2 sets of slips per fish size, 1 unitizer (or 2 friction block assemblies), 2 friction retainers, 1 stop, 1 safety ring per slip size.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Tang_TCatch.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Dog_4-11-16.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Dog_5-3-4.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PDM</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POSITIVE DISPLACEMENT MOTOR WITH SLEEVE STABILIZER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POSITIVE DISPLACEMENT MUD MOTOR (PDM) FOR DIRECTIONAL AND PERFORMANCE DRILLING, FROM 3-1/8 TO 9-5/8 IN. IN STOCK. THE MOTOR IS BUILT FROM A POWER SECTION (ROTOR AND STATOR), AN ADJUSTABLE OR FIXED BENT HOUSING, A DRIVESHAFT ASSEMBLY, A SEALED OR MUD-LUBRICATED BEARING ASSEMBLY AND THE BIT BOX. THE BEARING HOUSING CARRIES A THREAD FOR A SCREW-ON SLEEVE STABILIZER (STRAIGHT OR SPIRAL BLADE) OR OFFSET PAD, USED TO TUNE THE BUILD RATE AND TO REDUCE LATERAL VIBRATION. SPEED IS PROPORTIONAL TO FLOW, TORQUE TO DIFFERENTIAL PRESSURE.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2138680"/>
        </p:xfrm>
        <a:graphic>
          <a:graphicData uri="http://schemas.openxmlformats.org/drawingml/2006/table">
            <a:tbl>
              <a:tblPr/>
              <a:tblGrid>
                <a:gridCol w="721658"/>
                <a:gridCol w="471853"/>
                <a:gridCol w="471853"/>
                <a:gridCol w="666146"/>
                <a:gridCol w="721658"/>
                <a:gridCol w="777171"/>
                <a:gridCol w="749414"/>
                <a:gridCol w="777171"/>
                <a:gridCol w="777171"/>
              </a:tblGrid>
              <a:tr h="431800">
                <a:tc>
                  <a:txBody>
                    <a:bodyPr wrap="square"/>
                    <a:lstStyle/>
                    <a:p>
                      <a:pPr algn="ctr">
                        <a:lnSpc>
                          <a:spcPts val="860"/>
                        </a:lnSpc>
                      </a:pPr>
                      <a:r>
                        <a:rPr sz="700" b="1">
                          <a:solidFill>
                            <a:srgbClr val="FEFEFF"/>
                          </a:solidFill>
                          <a:latin typeface="Ubuntu Mono"/>
                          <a:ea typeface="Ubuntu Mono"/>
                          <a:cs typeface="Ubuntu Mono"/>
                          <a:sym typeface="Ubuntu Mono"/>
                        </a:rPr>
                        <a:t>Power section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Lobes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Stages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flow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bit speed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max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6,277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19,377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35838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One configuration per size: the highest-torque standard power section listed. Other lobe and stage combinations are available. High-power = enhanced elastomer power section (about 50% higher differential pressure). Values per manufacturer motor tables, for reference.</a:t>
            </a:r>
          </a:p>
        </p:txBody>
      </p:sp>
      <p:sp>
        <p:nvSpPr>
          <p:cNvPr id="24" name="TextBox 23"/>
          <p:cNvSpPr txBox="1"/>
          <p:nvPr/>
        </p:nvSpPr>
        <p:spPr>
          <a:xfrm>
            <a:off x="711200" y="7594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97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Modular motor: </a:t>
            </a:r>
            <a:r>
              <a:rPr sz="700" b="0">
                <a:solidFill>
                  <a:srgbClr val="000000"/>
                </a:solidFill>
                <a:latin typeface="Ubuntu Mono"/>
                <a:ea typeface="Ubuntu Mono"/>
                <a:cs typeface="Ubuntu Mono"/>
                <a:sym typeface="Ubuntu Mono"/>
              </a:rPr>
              <a:t>power section, bent housing, driveshaft, bearing assembly and bit box can be selected to suit the job.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bend: </a:t>
            </a:r>
            <a:r>
              <a:rPr sz="700" b="0">
                <a:solidFill>
                  <a:srgbClr val="000000"/>
                </a:solidFill>
                <a:latin typeface="Ubuntu Mono"/>
                <a:ea typeface="Ubuntu Mono"/>
                <a:cs typeface="Ubuntu Mono"/>
                <a:sym typeface="Ubuntu Mono"/>
              </a:rPr>
              <a:t>field-adjustable housing (2.38, 3 or 4 degrees) for a wide range of build rates; fixed housings on request.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Sleeve stabilizer option: </a:t>
            </a:r>
            <a:r>
              <a:rPr sz="700" b="0">
                <a:solidFill>
                  <a:srgbClr val="000000"/>
                </a:solidFill>
                <a:latin typeface="Ubuntu Mono"/>
                <a:ea typeface="Ubuntu Mono"/>
                <a:cs typeface="Ubuntu Mono"/>
                <a:sym typeface="Ubuntu Mono"/>
              </a:rPr>
              <a:t>threaded bearing housing takes a screw-on straight or spiral blade sleeve, or an offset pad.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Bearing assembly: </a:t>
            </a:r>
            <a:r>
              <a:rPr sz="700" b="0">
                <a:solidFill>
                  <a:srgbClr val="000000"/>
                </a:solidFill>
                <a:latin typeface="Ubuntu Mono"/>
                <a:ea typeface="Ubuntu Mono"/>
                <a:cs typeface="Ubuntu Mono"/>
                <a:sym typeface="Ubuntu Mono"/>
              </a:rPr>
              <a:t>oil sealed (100% of the flow to the bit) or mud lubricated.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Driveshaft: </a:t>
            </a:r>
            <a:r>
              <a:rPr sz="700" b="0">
                <a:solidFill>
                  <a:srgbClr val="000000"/>
                </a:solidFill>
                <a:latin typeface="Ubuntu Mono"/>
                <a:ea typeface="Ubuntu Mono"/>
                <a:cs typeface="Ubuntu Mono"/>
                <a:sym typeface="Ubuntu Mono"/>
              </a:rPr>
              <a:t>conventional or high-torque version for the strongest power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Dump sub and rotor catch: </a:t>
            </a:r>
            <a:r>
              <a:rPr sz="700" b="0">
                <a:solidFill>
                  <a:srgbClr val="000000"/>
                </a:solidFill>
                <a:latin typeface="Ubuntu Mono"/>
                <a:ea typeface="Ubuntu Mono"/>
                <a:cs typeface="Ubuntu Mono"/>
                <a:sym typeface="Ubuntu Mono"/>
              </a:rPr>
              <a:t>bypass while tripping; retrieval of the motor after a housing failure.</a:t>
            </a:r>
          </a:p>
        </p:txBody>
      </p:sp>
      <p:sp>
        <p:nvSpPr>
          <p:cNvPr id="26" name="TextBox 25"/>
          <p:cNvSpPr txBox="1"/>
          <p:nvPr/>
        </p:nvSpPr>
        <p:spPr>
          <a:xfrm>
            <a:off x="3810000" y="7594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785100"/>
          <a:ext cx="3035300" cy="952500"/>
        </p:xfrm>
        <a:graphic>
          <a:graphicData uri="http://schemas.openxmlformats.org/drawingml/2006/table">
            <a:tbl>
              <a:tblPr/>
              <a:tblGrid>
                <a:gridCol w="812800"/>
                <a:gridCol w="2222500"/>
              </a:tblGrid>
              <a:tr h="190500">
                <a:tc>
                  <a:txBody>
                    <a:bodyPr wrap="square"/>
                    <a:lstStyle/>
                    <a:p>
                      <a:pPr algn="l">
                        <a:lnSpc>
                          <a:spcPts val="819"/>
                        </a:lnSpc>
                      </a:pPr>
                      <a:r>
                        <a:rPr sz="660" b="0">
                          <a:solidFill>
                            <a:srgbClr val="FEFEFF"/>
                          </a:solidFill>
                          <a:latin typeface="Ubuntu Mono"/>
                          <a:ea typeface="Ubuntu Mono"/>
                          <a:cs typeface="Ubuntu Mono"/>
                          <a:sym typeface="Ubuntu Mono"/>
                        </a:rPr>
                        <a:t>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differential pressure, independent of flow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More 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More stages, enhanced elastomer or even-wall stator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Stall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Standpipe pressure rises, penetration stops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If stalled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Stop rotation, slow or stop pumps, release torque slowly, lift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89154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105900"/>
            <a:ext cx="3035300" cy="508000"/>
          </a:xfrm>
          <a:prstGeom prst="rect">
            <a:avLst/>
          </a:prstGeom>
          <a:noFill/>
        </p:spPr>
        <p:txBody>
          <a:bodyPr wrap="square" lIns="0" rIns="0" tIns="0" bIns="0">
            <a:spAutoFit/>
          </a:bodyPr>
          <a:lstStyle/>
          <a:p>
            <a:pPr algn="just">
              <a:lnSpc>
                <a:spcPts val="840"/>
              </a:lnSpc>
              <a:spcAft>
                <a:spcPts val="0"/>
              </a:spcAft>
            </a:pPr>
            <a:r>
              <a:rPr sz="670" b="0">
                <a:solidFill>
                  <a:srgbClr val="000000"/>
                </a:solidFill>
                <a:latin typeface="Ubuntu Mono"/>
                <a:ea typeface="Ubuntu Mono"/>
                <a:cs typeface="Ubuntu Mono"/>
                <a:sym typeface="Ubuntu Mono"/>
              </a:rPr>
              <a:t>Please specify: 1. motor OD and power section (lobes, stages, standard or high-power)  2. bearing type  3. housing angle  4. sleeve stabilizer type and size, or offset pad  5. top sub / dump sub and bit box connection  6. fluid, temperature and flow range.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BOOST MWD</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MUD PULSE MWD SYSTEM</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BOOST IS A POSITIVE MUD PULSE MWD SYSTEM THAT SENDS SURVEYS, DIRECTIONAL TELEMETRY, GAMMA RAY AND OTHER SENSOR DATA TO SURFACE IN REAL TIME, USING PRESSURE SIGNALS IN THE WELLBORE. THE CORE SYSTEM INCLUDES PULSERS, ELECTRONICS, SENSORS AND BATTERIES, WITH MANY CONFIGURABLE OPTIONS. ADJUSTABLE MODULE PLACEMENT ALLOWS ALTERNATIVE SENSOR POSITIONS, AND DOWN-LINKING ALLOWS ADJUSTABLE LOGGING SEQUENCES.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68900"/>
          <a:ext cx="3009900" cy="2042160"/>
        </p:xfrm>
        <a:graphic>
          <a:graphicData uri="http://schemas.openxmlformats.org/drawingml/2006/table">
            <a:tbl>
              <a:tblPr/>
              <a:tblGrid>
                <a:gridCol w="1041400"/>
                <a:gridCol w="1968500"/>
              </a:tblGrid>
              <a:tr h="170180">
                <a:tc>
                  <a:txBody>
                    <a:bodyPr wrap="square"/>
                    <a:lstStyle/>
                    <a:p>
                      <a:pPr algn="l">
                        <a:lnSpc>
                          <a:spcPts val="860"/>
                        </a:lnSpc>
                      </a:pPr>
                      <a:r>
                        <a:rPr sz="700" b="0">
                          <a:solidFill>
                            <a:srgbClr val="FEFEFF"/>
                          </a:solidFill>
                          <a:latin typeface="Ubuntu Mono"/>
                          <a:ea typeface="Ubuntu Mono"/>
                          <a:cs typeface="Ubuntu Mono"/>
                          <a:sym typeface="Ubuntu Mono"/>
                        </a:rPr>
                        <a:t>Outside diameter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47.625 mm (1.875")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1 battery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5.28 m (17.3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2 batteries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6.94 m (22.8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Pressure rating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137,895 kPa (20,000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Operating 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-20 to +185 °C (-4 to 347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High-temp. version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200 °C available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60 rpm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Wireline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Retrievable, re-insertable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Min. I.D. to retrieve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57 mm (2.25")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Bend radius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 / 10 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Collar sizes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89 - 203 mm (3.5"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0.28 - 4.45 m³/min (75 - 1,200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35400" y="5168900"/>
          <a:ext cx="3009900" cy="2042160"/>
        </p:xfrm>
        <a:graphic>
          <a:graphicData uri="http://schemas.openxmlformats.org/drawingml/2006/table">
            <a:tbl>
              <a:tblPr/>
              <a:tblGrid>
                <a:gridCol w="1117600"/>
                <a:gridCol w="1892300"/>
              </a:tblGrid>
              <a:tr h="170180">
                <a:tc>
                  <a:txBody>
                    <a:bodyPr wrap="square"/>
                    <a:lstStyle/>
                    <a:p>
                      <a:pPr algn="l">
                        <a:lnSpc>
                          <a:spcPts val="860"/>
                        </a:lnSpc>
                      </a:pPr>
                      <a:r>
                        <a:rPr sz="700" b="0">
                          <a:solidFill>
                            <a:srgbClr val="FEFEFF"/>
                          </a:solidFill>
                          <a:latin typeface="Ubuntu Mono"/>
                          <a:ea typeface="Ubuntu Mono"/>
                          <a:cs typeface="Ubuntu Mono"/>
                          <a:sym typeface="Ubuntu Mono"/>
                        </a:rPr>
                        <a:t>Data transmission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Positive mud pulse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Power supply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Lithium 28 VDC / 3 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Battery capacity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400+ h (2 battery modules)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switch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Vibration, in pulser driver electronics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Shock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500 g, 0.5 ms, half sine, all axes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Vibration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5 - 30 Hz @ 1" d.a.; 30 - 500 Hz, 20 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LCM 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40 - 50 ppb, any size, premixed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Pulse width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0.250 - 2.00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Transmission time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10 - 28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Internal memory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24 MB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Programmable sequences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Top or bottom mounted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Both positive pulse versions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2872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d.a.: double amplitude.  Standard tools are rated to 185 °C; high-temperature options are available.</a:t>
            </a:r>
          </a:p>
        </p:txBody>
      </p:sp>
      <p:sp>
        <p:nvSpPr>
          <p:cNvPr id="25" name="TextBox 24"/>
          <p:cNvSpPr txBox="1"/>
          <p:nvPr/>
        </p:nvSpPr>
        <p:spPr>
          <a:xfrm>
            <a:off x="7112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SENSOR SPECIFICATIONS</a:t>
            </a:r>
          </a:p>
        </p:txBody>
      </p:sp>
      <p:graphicFrame>
        <p:nvGraphicFramePr>
          <p:cNvPr id="26" name="Table 25"/>
          <p:cNvGraphicFramePr>
            <a:graphicFrameLocks noGrp="1"/>
          </p:cNvGraphicFramePr>
          <p:nvPr/>
        </p:nvGraphicFramePr>
        <p:xfrm>
          <a:off x="711200" y="7655559"/>
          <a:ext cx="3009900" cy="1168400"/>
        </p:xfrm>
        <a:graphic>
          <a:graphicData uri="http://schemas.openxmlformats.org/drawingml/2006/table">
            <a:tbl>
              <a:tblPr/>
              <a:tblGrid>
                <a:gridCol w="787400"/>
                <a:gridCol w="787400"/>
                <a:gridCol w="723900"/>
                <a:gridCol w="711200"/>
              </a:tblGrid>
              <a:tr h="177800">
                <a:tc>
                  <a:txBody>
                    <a:bodyPr wrap="square"/>
                    <a:lstStyle/>
                    <a:p>
                      <a:pPr algn="ctr">
                        <a:lnSpc>
                          <a:spcPts val="860"/>
                        </a:lnSpc>
                      </a:pPr>
                      <a:r>
                        <a:rPr sz="700" b="1">
                          <a:solidFill>
                            <a:srgbClr val="FEFEFF"/>
                          </a:solidFill>
                          <a:latin typeface="Ubuntu Mono"/>
                          <a:ea typeface="Ubuntu Mono"/>
                          <a:cs typeface="Ubuntu Mono"/>
                          <a:sym typeface="Ubuntu Mono"/>
                        </a:rPr>
                        <a:t>Parameter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Accuracy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Spread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Inclination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Azimuth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Tool face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Dip angle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 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Magnetic field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0 - 100,000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125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-35 - 200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7" name="TextBox 26"/>
          <p:cNvSpPr txBox="1"/>
          <p:nvPr/>
        </p:nvSpPr>
        <p:spPr>
          <a:xfrm>
            <a:off x="711200" y="89509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TELEMETRY PARAMETERS</a:t>
            </a:r>
          </a:p>
        </p:txBody>
      </p:sp>
      <p:sp>
        <p:nvSpPr>
          <p:cNvPr id="28" name="TextBox 27"/>
          <p:cNvSpPr txBox="1"/>
          <p:nvPr/>
        </p:nvSpPr>
        <p:spPr>
          <a:xfrm>
            <a:off x="711200" y="9141460"/>
            <a:ext cx="3009900" cy="762000"/>
          </a:xfrm>
          <a:prstGeom prst="rect">
            <a:avLst/>
          </a:prstGeom>
          <a:noFill/>
        </p:spPr>
        <p:txBody>
          <a:bodyPr wrap="square" lIns="0" rIns="0" tIns="0" bIns="0">
            <a:spAutoFit/>
          </a:bodyPr>
          <a:lstStyle/>
          <a:p>
            <a:pPr algn="just">
              <a:lnSpc>
                <a:spcPts val="940"/>
              </a:lnSpc>
              <a:spcAft>
                <a:spcPts val="0"/>
              </a:spcAft>
            </a:pPr>
            <a:r>
              <a:rPr sz="720" b="0">
                <a:solidFill>
                  <a:srgbClr val="000000"/>
                </a:solidFill>
                <a:latin typeface="Ubuntu Mono"/>
                <a:ea typeface="Ubuntu Mono"/>
                <a:cs typeface="Ubuntu Mono"/>
                <a:sym typeface="Ubuntu Mono"/>
              </a:rPr>
              <a:t>Inclination, azimuth, magnetic, dip angle and gravity qualifiers, raw X, Y, Z survey, toolface, continuous inclination and azimuth, battery status, shock, vibration, RPM, stick-slip, temperature, generic variables, annular pressure, orbital gamma (360° available).</a:t>
            </a:r>
          </a:p>
        </p:txBody>
      </p:sp>
      <p:sp>
        <p:nvSpPr>
          <p:cNvPr id="29" name="TextBox 28"/>
          <p:cNvSpPr txBox="1"/>
          <p:nvPr/>
        </p:nvSpPr>
        <p:spPr>
          <a:xfrm>
            <a:off x="38354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30" name="TextBox 29"/>
          <p:cNvSpPr txBox="1"/>
          <p:nvPr/>
        </p:nvSpPr>
        <p:spPr>
          <a:xfrm>
            <a:off x="3835400" y="7668259"/>
            <a:ext cx="3009900" cy="127000"/>
          </a:xfrm>
          <a:prstGeom prst="rect">
            <a:avLst/>
          </a:prstGeom>
          <a:noFill/>
        </p:spPr>
        <p:txBody>
          <a:bodyPr wrap="square" lIns="0" rIns="0" tIns="0" bIns="0">
            <a:spAutoFit/>
          </a:bodyPr>
          <a:lstStyle/>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Field-proven design: </a:t>
            </a:r>
            <a:r>
              <a:rPr sz="710" b="0">
                <a:solidFill>
                  <a:srgbClr val="000000"/>
                </a:solidFill>
                <a:latin typeface="Ubuntu Mono"/>
                <a:ea typeface="Ubuntu Mono"/>
                <a:cs typeface="Ubuntu Mono"/>
                <a:sym typeface="Ubuntu Mono"/>
              </a:rPr>
              <a:t>rugged and dependable, for aggressive drilling conditions.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Anti-plugging pulser: </a:t>
            </a:r>
            <a:r>
              <a:rPr sz="710" b="0">
                <a:solidFill>
                  <a:srgbClr val="000000"/>
                </a:solidFill>
                <a:latin typeface="Ubuntu Mono"/>
                <a:ea typeface="Ubuntu Mono"/>
                <a:cs typeface="Ubuntu Mono"/>
                <a:sym typeface="Ubuntu Mono"/>
              </a:rPr>
              <a:t>motor driven, performs well in LCM and high-solids mud.</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Simple operation: </a:t>
            </a:r>
            <a:r>
              <a:rPr sz="710" b="0">
                <a:solidFill>
                  <a:srgbClr val="000000"/>
                </a:solidFill>
                <a:latin typeface="Ubuntu Mono"/>
                <a:ea typeface="Ubuntu Mono"/>
                <a:cs typeface="Ubuntu Mono"/>
                <a:sym typeface="Ubuntu Mono"/>
              </a:rPr>
              <a:t>wide range of flow rates and rotary speeds.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Ratcheting military connector: </a:t>
            </a:r>
            <a:r>
              <a:rPr sz="710" b="0">
                <a:solidFill>
                  <a:srgbClr val="000000"/>
                </a:solidFill>
                <a:latin typeface="Ubuntu Mono"/>
                <a:ea typeface="Ubuntu Mono"/>
                <a:cs typeface="Ubuntu Mono"/>
                <a:sym typeface="Ubuntu Mono"/>
              </a:rPr>
              <a:t>robust barrel-to-barrel inter-module link, easy to assemble and service.</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Stable in the hole: </a:t>
            </a:r>
            <a:r>
              <a:rPr sz="710" b="0">
                <a:solidFill>
                  <a:srgbClr val="000000"/>
                </a:solidFill>
                <a:latin typeface="Ubuntu Mono"/>
                <a:ea typeface="Ubuntu Mono"/>
                <a:cs typeface="Ubuntu Mono"/>
                <a:sym typeface="Ubuntu Mono"/>
              </a:rPr>
              <a:t>precision-trimmed centralizers; shock mitigation absorbs vibration, reduces wear and improves MTBF.</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Custom configuration: </a:t>
            </a:r>
            <a:r>
              <a:rPr sz="710" b="0">
                <a:solidFill>
                  <a:srgbClr val="000000"/>
                </a:solidFill>
                <a:latin typeface="Ubuntu Mono"/>
                <a:ea typeface="Ubuntu Mono"/>
                <a:cs typeface="Ubuntu Mono"/>
                <a:sym typeface="Ubuntu Mono"/>
              </a:rPr>
              <a:t>adjustable module placement, down-linking, configurable options.</a:t>
            </a:r>
          </a:p>
        </p:txBody>
      </p:sp>
      <p:sp>
        <p:nvSpPr>
          <p:cNvPr id="31" name="TextBox 30"/>
          <p:cNvSpPr txBox="1"/>
          <p:nvPr/>
        </p:nvSpPr>
        <p:spPr>
          <a:xfrm>
            <a:off x="3835400" y="91668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35400" y="9357360"/>
            <a:ext cx="3009900" cy="635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collar size  2. top or bottom mounted version  3. 1 or 2 battery modules  4. temperature rating (185 °C standard, 200 °C option)  5. sensor options (e.g. orbital gamma) and logging sequences.</a:t>
            </a:r>
          </a:p>
        </p:txBody>
      </p:sp>
      <p:pic>
        <p:nvPicPr>
          <p:cNvPr id="33" name="Picture 32" descr="mwd_tool_blue.png"/>
          <p:cNvPicPr>
            <a:picLocks noChangeAspect="1"/>
          </p:cNvPicPr>
          <p:nvPr/>
        </p:nvPicPr>
        <p:blipFill>
          <a:blip r:embed="rId4"/>
          <a:stretch>
            <a:fillRect/>
          </a:stretch>
        </p:blipFill>
        <p:spPr>
          <a:xfrm>
            <a:off x="4724400" y="9687560"/>
            <a:ext cx="1168400" cy="673087"/>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WHIPSTOCK</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WHIPSTOCK</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RETRIEVABLE CASING SIDETRACK WHIPSTOCKS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FAMILY OF RETRIEVABLE WHIPSTOCKS USED TO SIDETRACK OUT OF CASED HOLE, FOR RE-DRILLS, RE-ENTRIES AND MULTILATERAL WINDOWS. THE WHIPSTOCK IS RUN ON A STARTER MILL TOGETHER WITH ITS ANCHORING DEVICE, ORIENTED, SET, AND THE STARTER MILL IS SHEARED OFF THE WHIP; THE WINDOW IS THEN MILLED AND POLISHED ALONG THE WHIP FACE. THREE SETTING SYSTEMS ARE COVERED: A COMBINATION PACKER AND WHIPSTOCK (SET HYDRAULICALLY, SEALS THE HOLE), AN ANCHOR AND WHIPSTOCK (SET HYDRAULICALLY, NO SEAL) AND A MECHANICALLY SET BOTTOM-TRIP WHIPSTOCK. ALL HAVE A 3 DEGREE FACE ANGLE FOR POSITIVE KICK-OFF AND CAN BE RETRIEVED IN ONE TRIP. WINDOWS CAN BE MILLED THROUGH TWO STRINGS OF CASING.</a:t>
            </a:r>
          </a:p>
        </p:txBody>
      </p:sp>
      <p:sp>
        <p:nvSpPr>
          <p:cNvPr id="21" name="TextBox 20"/>
          <p:cNvSpPr txBox="1"/>
          <p:nvPr/>
        </p:nvSpPr>
        <p:spPr>
          <a:xfrm>
            <a:off x="711200" y="5308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PACKER TYPE</a:t>
            </a:r>
          </a:p>
        </p:txBody>
      </p:sp>
      <p:graphicFrame>
        <p:nvGraphicFramePr>
          <p:cNvPr id="22" name="Table 21"/>
          <p:cNvGraphicFramePr>
            <a:graphicFrameLocks noGrp="1"/>
          </p:cNvGraphicFramePr>
          <p:nvPr/>
        </p:nvGraphicFramePr>
        <p:xfrm>
          <a:off x="711200" y="5486400"/>
          <a:ext cx="6134092" cy="1092200"/>
        </p:xfrm>
        <a:graphic>
          <a:graphicData uri="http://schemas.openxmlformats.org/drawingml/2006/table">
            <a:tbl>
              <a:tblPr/>
              <a:tblGrid>
                <a:gridCol w="538078"/>
                <a:gridCol w="618790"/>
                <a:gridCol w="591886"/>
                <a:gridCol w="618790"/>
                <a:gridCol w="672598"/>
                <a:gridCol w="591886"/>
                <a:gridCol w="591886"/>
                <a:gridCol w="699502"/>
                <a:gridCol w="618790"/>
                <a:gridCol w="591886"/>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Packer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Valve 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802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MECHANICAL BOTTOM-TRIP TYPE</a:t>
            </a:r>
          </a:p>
        </p:txBody>
      </p:sp>
      <p:graphicFrame>
        <p:nvGraphicFramePr>
          <p:cNvPr id="24" name="Table 23"/>
          <p:cNvGraphicFramePr>
            <a:graphicFrameLocks noGrp="1"/>
          </p:cNvGraphicFramePr>
          <p:nvPr/>
        </p:nvGraphicFramePr>
        <p:xfrm>
          <a:off x="711200" y="6870700"/>
          <a:ext cx="6134099" cy="787400"/>
        </p:xfrm>
        <a:graphic>
          <a:graphicData uri="http://schemas.openxmlformats.org/drawingml/2006/table">
            <a:tbl>
              <a:tblPr/>
              <a:tblGrid>
                <a:gridCol w="868033"/>
                <a:gridCol w="954836"/>
                <a:gridCol w="810164"/>
                <a:gridCol w="868033"/>
                <a:gridCol w="954836"/>
                <a:gridCol w="868033"/>
                <a:gridCol w="810164"/>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Anchor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5" name="TextBox 24"/>
          <p:cNvSpPr txBox="1"/>
          <p:nvPr/>
        </p:nvSpPr>
        <p:spPr>
          <a:xfrm>
            <a:off x="711200" y="768350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Packer type: bypass valve data listed separately. Bottom-trip type can also be set permanently; 7-5/8 and 9-5/8 sizes on request.</a:t>
            </a:r>
          </a:p>
        </p:txBody>
      </p:sp>
      <p:sp>
        <p:nvSpPr>
          <p:cNvPr id="26" name="TextBox 25"/>
          <p:cNvSpPr txBox="1"/>
          <p:nvPr/>
        </p:nvSpPr>
        <p:spPr>
          <a:xfrm>
            <a:off x="711200" y="80137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711200" y="8216900"/>
            <a:ext cx="29845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 trip: </a:t>
            </a:r>
            <a:r>
              <a:rPr sz="700" b="0">
                <a:solidFill>
                  <a:srgbClr val="000000"/>
                </a:solidFill>
                <a:latin typeface="Ubuntu Mono"/>
                <a:ea typeface="Ubuntu Mono"/>
                <a:cs typeface="Ubuntu Mono"/>
                <a:sym typeface="Ubuntu Mono"/>
              </a:rPr>
              <a:t>anchor or packer, starter mill and whip run together; retrieved in one trip.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Anchor or packer: </a:t>
            </a:r>
            <a:r>
              <a:rPr sz="700" b="0">
                <a:solidFill>
                  <a:srgbClr val="000000"/>
                </a:solidFill>
                <a:latin typeface="Ubuntu Mono"/>
                <a:ea typeface="Ubuntu Mono"/>
                <a:cs typeface="Ubuntu Mono"/>
                <a:sym typeface="Ubuntu Mono"/>
              </a:rPr>
              <a:t>large slip area reduces casing stress; ratchet ring and anti-rotation keys hold the whip.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Shear bolt: </a:t>
            </a:r>
            <a:r>
              <a:rPr sz="700" b="0">
                <a:solidFill>
                  <a:srgbClr val="000000"/>
                </a:solidFill>
                <a:latin typeface="Ubuntu Mono"/>
                <a:ea typeface="Ubuntu Mono"/>
                <a:cs typeface="Ubuntu Mono"/>
                <a:sym typeface="Ubuntu Mono"/>
              </a:rPr>
              <a:t>confirms the anchor is fully set before milling starts.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Bottom-trip type: </a:t>
            </a:r>
            <a:r>
              <a:rPr sz="700" b="0">
                <a:solidFill>
                  <a:srgbClr val="000000"/>
                </a:solidFill>
                <a:latin typeface="Ubuntu Mono"/>
                <a:ea typeface="Ubuntu Mono"/>
                <a:cs typeface="Ubuntu Mono"/>
                <a:sym typeface="Ubuntu Mono"/>
              </a:rPr>
              <a:t>sets with 3,600 lb on a trigger rod; no hydraulic pressure; slips retract on retrieval.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Orientation: </a:t>
            </a:r>
            <a:r>
              <a:rPr sz="700" b="0">
                <a:solidFill>
                  <a:srgbClr val="000000"/>
                </a:solidFill>
                <a:latin typeface="Ubuntu Mono"/>
                <a:ea typeface="Ubuntu Mono"/>
                <a:cs typeface="Ubuntu Mono"/>
                <a:sym typeface="Ubuntu Mono"/>
              </a:rPr>
              <a:t>muleshoe sub, gyro or MWD.</a:t>
            </a:r>
          </a:p>
        </p:txBody>
      </p:sp>
      <p:sp>
        <p:nvSpPr>
          <p:cNvPr id="28" name="TextBox 27"/>
          <p:cNvSpPr txBox="1"/>
          <p:nvPr/>
        </p:nvSpPr>
        <p:spPr>
          <a:xfrm>
            <a:off x="3810000" y="8013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SETTING PARAMETERS</a:t>
            </a:r>
          </a:p>
        </p:txBody>
      </p:sp>
      <p:graphicFrame>
        <p:nvGraphicFramePr>
          <p:cNvPr id="29" name="Table 28"/>
          <p:cNvGraphicFramePr>
            <a:graphicFrameLocks noGrp="1"/>
          </p:cNvGraphicFramePr>
          <p:nvPr/>
        </p:nvGraphicFramePr>
        <p:xfrm>
          <a:off x="3810000" y="8204200"/>
          <a:ext cx="3035300" cy="952500"/>
        </p:xfrm>
        <a:graphic>
          <a:graphicData uri="http://schemas.openxmlformats.org/drawingml/2006/table">
            <a:tbl>
              <a:tblPr/>
              <a:tblGrid>
                <a:gridCol w="1397000"/>
                <a:gridCol w="1638300"/>
              </a:tblGrid>
              <a:tr h="190500">
                <a:tc>
                  <a:txBody>
                    <a:bodyPr wrap="square"/>
                    <a:lstStyle/>
                    <a:p>
                      <a:pPr algn="l">
                        <a:lnSpc>
                          <a:spcPts val="800"/>
                        </a:lnSpc>
                      </a:pPr>
                      <a:r>
                        <a:rPr sz="640" b="0">
                          <a:solidFill>
                            <a:srgbClr val="FEFEFF"/>
                          </a:solidFill>
                          <a:latin typeface="Ubuntu Mono"/>
                          <a:ea typeface="Ubuntu Mono"/>
                          <a:cs typeface="Ubuntu Mono"/>
                          <a:sym typeface="Ubuntu Mono"/>
                        </a:rPr>
                        <a:t>Hydraulic set (packer, anchor)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3,000 - 3,500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Bottom-trip set, shear-down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15,000 - 20,000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Set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2 - 6 ft above a casing collar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Hole angle above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Set within 90° of high side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Window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Starter, window, watermelon mills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9258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9436100"/>
            <a:ext cx="30353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and weight  2. setting system (packer, anchor or bottom-trip)  3. connections  4. orientation method.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VENTURI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VENTURI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RETRIEVAL TOOL FOR COILED TUBING. FLUID PUMPED THROUGH THE STRING AND OUT OF NOZZLES IN THE VENTURI CHAMBER CREATES A VACUUM THAT DRAWS FLUID AND DEBRIS IN AT THE BOTTOM OF THE TOOL AND BACK UP THROUGH THE VENTURI TUBES; MOST OF IT MIXES WITH THE PRESSURIZED FLOW AND RECIRCULATES AROUND THE BOTTOM. IN EFFECT A HIGH-POWERED VACUUM CLEANER, IT WORKS WITH FLUID, MULTIPHASE FLUID, FOAM OR GAS. A HOLLOW MAGNETIC SECTION WITH A FINGER-TYPE TRAP HOLDS THE JUNK INSIDE THE TOOL, AND IT DOES NOT DEPEND ON HOLE SIZE: A 3-1/8 IN. OD TOOL CAN CLEAN UP 7 IN. CASING.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100" cy="1132840"/>
        </p:xfrm>
        <a:graphic>
          <a:graphicData uri="http://schemas.openxmlformats.org/drawingml/2006/table">
            <a:tbl>
              <a:tblPr/>
              <a:tblGrid>
                <a:gridCol w="1051560"/>
                <a:gridCol w="876300"/>
                <a:gridCol w="1752600"/>
                <a:gridCol w="1051560"/>
                <a:gridCol w="1402080"/>
              </a:tblGrid>
              <a:tr h="203200">
                <a:tc>
                  <a:txBody>
                    <a:bodyPr wrap="square"/>
                    <a:lstStyle/>
                    <a:p>
                      <a:pPr algn="ctr">
                        <a:lnSpc>
                          <a:spcPts val="880"/>
                        </a:lnSpc>
                      </a:pPr>
                      <a:r>
                        <a:rPr sz="720" b="1">
                          <a:solidFill>
                            <a:srgbClr val="FEFEFF"/>
                          </a:solidFill>
                          <a:latin typeface="Ubuntu Mono"/>
                          <a:ea typeface="Ubuntu Mono"/>
                          <a:cs typeface="Ubuntu Mono"/>
                          <a:sym typeface="Ubuntu Mono"/>
                        </a:rPr>
                        <a:t>Size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Tensile strength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0.469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PAC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REG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35254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All sizes: operating pressure 5,000 psi, temperature rating 0 to 350 F, standard nozzle 0.062 in.</a:t>
            </a:r>
          </a:p>
        </p:txBody>
      </p:sp>
      <p:pic>
        <p:nvPicPr>
          <p:cNvPr id="24" name="Picture 23" descr="venturi_tool_blue.png"/>
          <p:cNvPicPr>
            <a:picLocks noChangeAspect="1"/>
          </p:cNvPicPr>
          <p:nvPr/>
        </p:nvPicPr>
        <p:blipFill>
          <a:blip r:embed="rId4"/>
          <a:stretch>
            <a:fillRect/>
          </a:stretch>
        </p:blipFill>
        <p:spPr>
          <a:xfrm>
            <a:off x="711200" y="6756400"/>
            <a:ext cx="313191" cy="3683000"/>
          </a:xfrm>
          <a:prstGeom prst="rect">
            <a:avLst/>
          </a:prstGeom>
        </p:spPr>
      </p:pic>
      <p:sp>
        <p:nvSpPr>
          <p:cNvPr id="25" name="TextBox 24"/>
          <p:cNvSpPr txBox="1"/>
          <p:nvPr/>
        </p:nvSpPr>
        <p:spPr>
          <a:xfrm>
            <a:off x="1219200" y="6731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219200" y="6934200"/>
            <a:ext cx="2730500" cy="127000"/>
          </a:xfrm>
          <a:prstGeom prst="rect">
            <a:avLst/>
          </a:prstGeom>
          <a:noFill/>
        </p:spPr>
        <p:txBody>
          <a:bodyPr wrap="square" lIns="0" rIns="0" tIns="0" bIns="0">
            <a:spAutoFit/>
          </a:bodyPr>
          <a:lstStyle/>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Venturi suction: </a:t>
            </a:r>
            <a:r>
              <a:rPr sz="700" b="0">
                <a:solidFill>
                  <a:srgbClr val="000000"/>
                </a:solidFill>
                <a:latin typeface="Ubuntu Mono"/>
                <a:ea typeface="Ubuntu Mono"/>
                <a:cs typeface="Ubuntu Mono"/>
                <a:sym typeface="Ubuntu Mono"/>
              </a:rPr>
              <a:t>nozzles create a vacuum that pulls fluid and debris into the tool from the bottom.</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nozzles: </a:t>
            </a:r>
            <a:r>
              <a:rPr sz="700" b="0">
                <a:solidFill>
                  <a:srgbClr val="000000"/>
                </a:solidFill>
                <a:latin typeface="Ubuntu Mono"/>
                <a:ea typeface="Ubuntu Mono"/>
                <a:cs typeface="Ubuntu Mono"/>
                <a:sym typeface="Ubuntu Mono"/>
              </a:rPr>
              <a:t>changed out to suit the available pump rate, fluid or gas.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Debris filter screen: </a:t>
            </a:r>
            <a:r>
              <a:rPr sz="700" b="0">
                <a:solidFill>
                  <a:srgbClr val="000000"/>
                </a:solidFill>
                <a:latin typeface="Ubuntu Mono"/>
                <a:ea typeface="Ubuntu Mono"/>
                <a:cs typeface="Ubuntu Mono"/>
                <a:sym typeface="Ubuntu Mono"/>
              </a:rPr>
              <a:t>placed before the venturi chamber to keep debris out of the venturi tubes.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Magnetic trap: </a:t>
            </a:r>
            <a:r>
              <a:rPr sz="700" b="0">
                <a:solidFill>
                  <a:srgbClr val="000000"/>
                </a:solidFill>
                <a:latin typeface="Ubuntu Mono"/>
                <a:ea typeface="Ubuntu Mono"/>
                <a:cs typeface="Ubuntu Mono"/>
                <a:sym typeface="Ubuntu Mono"/>
              </a:rPr>
              <a:t>hollow magnetic section with a finger-type trap retains junk; debris is carried out of the well inside the tool.</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Barrel extensions: </a:t>
            </a:r>
            <a:r>
              <a:rPr sz="700" b="0">
                <a:solidFill>
                  <a:srgbClr val="000000"/>
                </a:solidFill>
                <a:latin typeface="Ubuntu Mono"/>
                <a:ea typeface="Ubuntu Mono"/>
                <a:cs typeface="Ubuntu Mono"/>
                <a:sym typeface="Ubuntu Mono"/>
              </a:rPr>
              <a:t>extension tubes increase the volume of junk the tool can carry.</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Hole size independent: </a:t>
            </a:r>
            <a:r>
              <a:rPr sz="700" b="0">
                <a:solidFill>
                  <a:srgbClr val="000000"/>
                </a:solidFill>
                <a:latin typeface="Ubuntu Mono"/>
                <a:ea typeface="Ubuntu Mono"/>
                <a:cs typeface="Ubuntu Mono"/>
                <a:sym typeface="Ubuntu Mono"/>
              </a:rPr>
              <a:t>works in holes much larger than the tool OD.</a:t>
            </a:r>
          </a:p>
        </p:txBody>
      </p:sp>
      <p:sp>
        <p:nvSpPr>
          <p:cNvPr id="27" name="TextBox 26"/>
          <p:cNvSpPr txBox="1"/>
          <p:nvPr/>
        </p:nvSpPr>
        <p:spPr>
          <a:xfrm>
            <a:off x="1219200" y="8763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1219200" y="8953500"/>
            <a:ext cx="2730500" cy="762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size and top connection  2. nozzle size for the pump rate and fluid  3. extension tube length(s) for the junk volume to be carried  4. service kit.</a:t>
            </a:r>
          </a:p>
        </p:txBody>
      </p:sp>
      <p:sp>
        <p:nvSpPr>
          <p:cNvPr id="29" name="TextBox 28"/>
          <p:cNvSpPr txBox="1"/>
          <p:nvPr/>
        </p:nvSpPr>
        <p:spPr>
          <a:xfrm>
            <a:off x="4089400" y="6731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OPTIONAL NOZZLES</a:t>
            </a:r>
          </a:p>
        </p:txBody>
      </p:sp>
      <p:graphicFrame>
        <p:nvGraphicFramePr>
          <p:cNvPr id="30" name="Table 29"/>
          <p:cNvGraphicFramePr>
            <a:graphicFrameLocks noGrp="1"/>
          </p:cNvGraphicFramePr>
          <p:nvPr/>
        </p:nvGraphicFramePr>
        <p:xfrm>
          <a:off x="4089400" y="6934200"/>
          <a:ext cx="2755900" cy="660400"/>
        </p:xfrm>
        <a:graphic>
          <a:graphicData uri="http://schemas.openxmlformats.org/drawingml/2006/table">
            <a:tbl>
              <a:tblPr/>
              <a:tblGrid>
                <a:gridCol w="787400"/>
                <a:gridCol w="1968500"/>
              </a:tblGrid>
              <a:tr h="330200">
                <a:tc>
                  <a:txBody>
                    <a:bodyPr wrap="square"/>
                    <a:lstStyle/>
                    <a:p>
                      <a:pPr algn="l">
                        <a:lnSpc>
                          <a:spcPts val="819"/>
                        </a:lnSpc>
                      </a:pPr>
                      <a:r>
                        <a:rPr sz="660" b="0">
                          <a:solidFill>
                            <a:srgbClr val="FEFEFF"/>
                          </a:solidFill>
                          <a:latin typeface="Ubuntu Mono"/>
                          <a:ea typeface="Ubuntu Mono"/>
                          <a:cs typeface="Ubuntu Mono"/>
                          <a:sym typeface="Ubuntu Mono"/>
                        </a:rPr>
                        <a:t>Nozzle sizes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0.062 (std), 0.078, 0.094, 0.109, 0.125, 0.140, 0.156, 0.171, 0.187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330200">
                <a:tc>
                  <a:txBody>
                    <a:bodyPr wrap="square"/>
                    <a:lstStyle/>
                    <a:p>
                      <a:pPr algn="l">
                        <a:lnSpc>
                          <a:spcPts val="819"/>
                        </a:lnSpc>
                      </a:pPr>
                      <a:r>
                        <a:rPr sz="660" b="0">
                          <a:solidFill>
                            <a:srgbClr val="FEFEFF"/>
                          </a:solidFill>
                          <a:latin typeface="Ubuntu Mono"/>
                          <a:ea typeface="Ubuntu Mono"/>
                          <a:cs typeface="Ubuntu Mono"/>
                          <a:sym typeface="Ubuntu Mono"/>
                        </a:rPr>
                        <a:t>Applies to</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All sizes, 1-3/4 to 3-1/8 (two nozzle series: 1-3/4 to 2-1/4 and 2-5/8 to 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72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EXTENSION TUBES</a:t>
            </a:r>
          </a:p>
        </p:txBody>
      </p:sp>
      <p:graphicFrame>
        <p:nvGraphicFramePr>
          <p:cNvPr id="32" name="Table 31"/>
          <p:cNvGraphicFramePr>
            <a:graphicFrameLocks noGrp="1"/>
          </p:cNvGraphicFramePr>
          <p:nvPr/>
        </p:nvGraphicFramePr>
        <p:xfrm>
          <a:off x="4089400" y="7924800"/>
          <a:ext cx="2755900" cy="939800"/>
        </p:xfrm>
        <a:graphic>
          <a:graphicData uri="http://schemas.openxmlformats.org/drawingml/2006/table">
            <a:tbl>
              <a:tblPr/>
              <a:tblGrid>
                <a:gridCol w="889000"/>
                <a:gridCol w="1866900"/>
              </a:tblGrid>
              <a:tr h="177800">
                <a:tc>
                  <a:txBody>
                    <a:bodyPr wrap="square"/>
                    <a:lstStyle/>
                    <a:p>
                      <a:pPr algn="ctr">
                        <a:lnSpc>
                          <a:spcPts val="840"/>
                        </a:lnSpc>
                      </a:pPr>
                      <a:r>
                        <a:rPr sz="680" b="1">
                          <a:solidFill>
                            <a:srgbClr val="FEFEFF"/>
                          </a:solidFill>
                          <a:latin typeface="Ubuntu Mono"/>
                          <a:ea typeface="Ubuntu Mono"/>
                          <a:cs typeface="Ubuntu Mono"/>
                          <a:sym typeface="Ubuntu Mono"/>
                        </a:rPr>
                        <a:t>Tool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Extension tube lengths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2, 4, 5, 5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899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4" name="Table 33"/>
          <p:cNvGraphicFramePr>
            <a:graphicFrameLocks noGrp="1"/>
          </p:cNvGraphicFramePr>
          <p:nvPr/>
        </p:nvGraphicFramePr>
        <p:xfrm>
          <a:off x="4089400" y="9194800"/>
          <a:ext cx="2755900" cy="472440"/>
        </p:xfrm>
        <a:graphic>
          <a:graphicData uri="http://schemas.openxmlformats.org/drawingml/2006/table">
            <a:tbl>
              <a:tblPr/>
              <a:tblGrid>
                <a:gridCol w="787400"/>
                <a:gridCol w="1968500"/>
              </a:tblGrid>
              <a:tr h="157480">
                <a:tc>
                  <a:txBody>
                    <a:bodyPr wrap="square"/>
                    <a:lstStyle/>
                    <a:p>
                      <a:pPr algn="l">
                        <a:lnSpc>
                          <a:spcPts val="819"/>
                        </a:lnSpc>
                      </a:pPr>
                      <a:r>
                        <a:rPr sz="660" b="0">
                          <a:solidFill>
                            <a:srgbClr val="FEFEFF"/>
                          </a:solidFill>
                          <a:latin typeface="Ubuntu Mono"/>
                          <a:ea typeface="Ubuntu Mono"/>
                          <a:cs typeface="Ubuntu Mono"/>
                          <a:sym typeface="Ubuntu Mono"/>
                        </a:rPr>
                        <a:t>Fluids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Fluid, multiphase fluid, foam, gas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5,000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 to 350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