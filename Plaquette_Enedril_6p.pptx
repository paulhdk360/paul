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7556500" cy="10693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207000" cy="6604000"/>
          </a:xfrm>
          <a:custGeom>
            <a:avLst/>
            <a:gdLst/>
            <a:ahLst/>
            <a:cxnLst/>
            <a:rect l="l" t="t" r="r" b="b"/>
            <a:pathLst>
              <a:path w="410" h="520">
                <a:moveTo>
                  <a:pt x="0" y="0"/>
                </a:moveTo>
                <a:lnTo>
                  <a:pt x="410" y="0"/>
                </a:lnTo>
                <a:lnTo>
                  <a:pt x="330" y="430"/>
                </a:lnTo>
                <a:lnTo>
                  <a:pt x="0" y="520"/>
                </a:lnTo>
                <a:close/>
              </a:path>
            </a:pathLst>
          </a:custGeom>
          <a:solidFill>
            <a:srgbClr val="0A4F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191000" y="0"/>
            <a:ext cx="3365500" cy="8890000"/>
          </a:xfrm>
          <a:custGeom>
            <a:avLst/>
            <a:gdLst/>
            <a:ahLst/>
            <a:cxnLst/>
            <a:rect l="l" t="t" r="r" b="b"/>
            <a:pathLst>
              <a:path w="265" h="700">
                <a:moveTo>
                  <a:pt x="80" y="0"/>
                </a:moveTo>
                <a:lnTo>
                  <a:pt x="265" y="0"/>
                </a:lnTo>
                <a:lnTo>
                  <a:pt x="265" y="700"/>
                </a:lnTo>
                <a:lnTo>
                  <a:pt x="0" y="430"/>
                </a:lnTo>
                <a:close/>
              </a:path>
            </a:pathLst>
          </a:cu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5461000"/>
            <a:ext cx="7556500" cy="5232400"/>
          </a:xfrm>
          <a:custGeom>
            <a:avLst/>
            <a:gdLst/>
            <a:ahLst/>
            <a:cxnLst/>
            <a:rect l="l" t="t" r="r" b="b"/>
            <a:pathLst>
              <a:path w="595" h="412">
                <a:moveTo>
                  <a:pt x="330" y="0"/>
                </a:moveTo>
                <a:lnTo>
                  <a:pt x="595" y="270"/>
                </a:lnTo>
                <a:lnTo>
                  <a:pt x="595" y="412"/>
                </a:lnTo>
                <a:lnTo>
                  <a:pt x="0" y="412"/>
                </a:lnTo>
                <a:lnTo>
                  <a:pt x="0" y="90"/>
                </a:lnTo>
                <a:close/>
              </a:path>
            </a:pathLst>
          </a:cu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4191000" y="0"/>
            <a:ext cx="1016000" cy="5461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4191000" y="5461000"/>
            <a:ext cx="3365500" cy="3429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0" y="5461000"/>
            <a:ext cx="4191000" cy="1143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pic>
        <p:nvPicPr>
          <p:cNvPr id="9" name="Picture 8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66800"/>
            <a:ext cx="3429000" cy="7784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93980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</a:t>
            </a:r>
          </a:p>
          <a:p>
            <a:pPr algn="l">
              <a:lnSpc>
                <a:spcPts val="21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&amp; FISHING SOLUTIONS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9982200"/>
            <a:ext cx="254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FRANCE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0185400"/>
            <a:ext cx="177800" cy="50800"/>
          </a:xfrm>
          <a:prstGeom prst="rect">
            <a:avLst/>
          </a:prstGeom>
          <a:solidFill>
            <a:srgbClr val="0A4F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10185400"/>
            <a:ext cx="177800" cy="50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10185400"/>
            <a:ext cx="177800" cy="50800"/>
          </a:xfrm>
          <a:prstGeom prst="rect">
            <a:avLst/>
          </a:prstGeom>
          <a:solidFill>
            <a:srgbClr val="E223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588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</a:pPr>
            <a:r>
              <a:rPr sz="27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ABOUT US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7600"/>
            <a:ext cx="44450" cy="787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1117600"/>
            <a:ext cx="651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400"/>
              </a:spcAft>
            </a:pPr>
            <a:r>
              <a:rPr sz="8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Enedril (formerly Mustang Oil Services) is an independent French company founded in 2013 and specialised in directional drilling, fishing and well intervention for geothermal, oil &amp; gas and underground gas storage projects, in France and abroad. Run since 2022 by Fabien and Alexis, it combines solid field experience with technical know-how, and is known for being fast, flexible and easy to work with.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82800"/>
            <a:ext cx="15875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192528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98,500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484628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drilled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120900" y="2082800"/>
            <a:ext cx="1587500" cy="685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20900" y="2192528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7100" y="2535428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wells, up to 3,000 m TVD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4600" y="2082800"/>
            <a:ext cx="1587500" cy="685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4600" y="2192528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60800" y="2535428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P&amp;A jobs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8300" y="2082800"/>
            <a:ext cx="16510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48300" y="2192528"/>
            <a:ext cx="165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2,500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4500" y="2535428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in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9972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OUR FACILITIES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13100"/>
            <a:ext cx="3683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4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Since 2021 we operate from Lons, near Pau, with two fully equipped workshops of more than 1,000 m², a 5 t overhead crane, a break-out unit, a jar tester, lathe, milling and grinding machines and a separate welding shop.</a:t>
            </a:r>
          </a:p>
          <a:p>
            <a:pPr algn="l">
              <a:lnSpc>
                <a:spcPts val="1000"/>
              </a:lnSpc>
              <a:spcAft>
                <a:spcPts val="4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3,500 m² outdoor yard stores tubulars, stabilizers and on-site containers, for large-scale logistics.</a:t>
            </a:r>
          </a:p>
          <a:p>
            <a:pPr algn="l">
              <a:lnSpc>
                <a:spcPts val="1000"/>
              </a:lnSpc>
              <a:spcAft>
                <a:spcPts val="40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rare equipment stock in France: mud motors from 3-1/8" to 9-5/8", shock tools, drilling jars, MWD kits and a very wide range of fishing tools.</a:t>
            </a:r>
          </a:p>
        </p:txBody>
      </p:sp>
      <p:pic>
        <p:nvPicPr>
          <p:cNvPr id="20" name="Picture 19" descr="_c_geo_219_1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2997200"/>
            <a:ext cx="2781300" cy="1854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18000" y="4876800"/>
            <a:ext cx="2781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1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Geothermal doublet: injection and production wells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1308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OUR VALUES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59400"/>
            <a:ext cx="2108200" cy="787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4200" y="5461000"/>
            <a:ext cx="1854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RESPECT</a:t>
            </a:r>
          </a:p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7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For our clients, our teams and the people and places around us.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4150" y="5359400"/>
            <a:ext cx="2108200" cy="787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51150" y="5461000"/>
            <a:ext cx="1854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TEAMWORK</a:t>
            </a:r>
          </a:p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7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Real success comes from strong values and working together.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91100" y="5359400"/>
            <a:ext cx="2108200" cy="7874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18100" y="5461000"/>
            <a:ext cx="1854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9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ENVIRONMENT</a:t>
            </a:r>
          </a:p>
          <a:p>
            <a:pPr algn="l">
              <a:lnSpc>
                <a:spcPts val="919"/>
              </a:lnSpc>
              <a:spcAft>
                <a:spcPts val="200"/>
              </a:spcAft>
            </a:pPr>
            <a:r>
              <a:rPr sz="7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Caring for the environment is at the core of what we do.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375400"/>
            <a:ext cx="6642100" cy="16510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_c_iso_110_1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6502400"/>
            <a:ext cx="1397000" cy="1397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184400" y="6527800"/>
            <a:ext cx="4699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0"/>
              </a:lnSpc>
              <a:spcAft>
                <a:spcPts val="400"/>
              </a:spcAft>
            </a:pPr>
            <a:r>
              <a:rPr sz="10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ISO 9001:2015 CERTIFIED</a:t>
            </a:r>
          </a:p>
          <a:p>
            <a:pPr algn="l">
              <a:lnSpc>
                <a:spcPts val="980"/>
              </a:lnSpc>
              <a:spcAft>
                <a:spcPts val="400"/>
              </a:spcAft>
            </a:pPr>
            <a:r>
              <a:rPr sz="74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quality management system that follows every job from start to finish: safety, quality and reliability on each intervention.</a:t>
            </a:r>
          </a:p>
          <a:p>
            <a:pPr algn="l">
              <a:lnSpc>
                <a:spcPts val="980"/>
              </a:lnSpc>
              <a:spcAft>
                <a:spcPts val="400"/>
              </a:spcAft>
            </a:pPr>
            <a:r>
              <a:rPr sz="74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About 15 clients supported each year, in France and internationally.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82296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WHY CHOOSE US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8483600"/>
            <a:ext cx="38100" cy="660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1500" y="8483600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EXPERIENCE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Years in the industry and a wide range of projects completed across sectors.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33600" y="8483600"/>
            <a:ext cx="38100" cy="660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47900" y="8483600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EXCELLENCE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Dedication to excellence, safety and innovation for superior results.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10000" y="8483600"/>
            <a:ext cx="38100" cy="660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24300" y="8483600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CUSTOM SOLUTIONS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Every project is unique: tailored tools and procedures.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0" y="8483600"/>
            <a:ext cx="38100" cy="6604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00700" y="8483600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RELIABILITY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partner ready to go the extra mile to meet your needs and deadlines.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9423400"/>
            <a:ext cx="6642100" cy="787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0400" y="9423400"/>
            <a:ext cx="6235700" cy="787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00"/>
              </a:lnSpc>
              <a:spcAft>
                <a:spcPts val="200"/>
              </a:spcAft>
            </a:pPr>
            <a:r>
              <a:rPr sz="8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OUR PURPOSE</a:t>
            </a:r>
          </a:p>
          <a:p>
            <a:pPr algn="l">
              <a:lnSpc>
                <a:spcPts val="1300"/>
              </a:lnSpc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Supporting the next generations in the energy transition by contributing to the production of more responsible energy.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04000" y="10464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588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</a:pPr>
            <a:r>
              <a:rPr sz="27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OUR 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8400"/>
            <a:ext cx="44450" cy="4572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168400"/>
            <a:ext cx="635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0"/>
              </a:lnSpc>
              <a:spcAft>
                <a:spcPts val="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From Mustang Oil Services to Enedril: a company with a history, and a new dynamic.</a:t>
            </a:r>
          </a:p>
        </p:txBody>
      </p:sp>
      <p:sp>
        <p:nvSpPr>
          <p:cNvPr id="6" name="Rectangle 5"/>
          <p:cNvSpPr/>
          <p:nvPr/>
        </p:nvSpPr>
        <p:spPr>
          <a:xfrm>
            <a:off x="660400" y="2032000"/>
            <a:ext cx="50800" cy="497840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778000"/>
            <a:ext cx="16510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87727"/>
            <a:ext cx="165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2013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2256028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2108200" y="2095500"/>
            <a:ext cx="381000" cy="50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16200" y="1828800"/>
            <a:ext cx="4483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0"/>
              </a:lnSpc>
              <a:spcAft>
                <a:spcPts val="50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MUSTANG OIL SERVICES</a:t>
            </a:r>
          </a:p>
          <a:p>
            <a:pPr algn="l">
              <a:lnSpc>
                <a:spcPts val="1400"/>
              </a:lnSpc>
              <a:spcAft>
                <a:spcPts val="500"/>
              </a:spcAft>
            </a:pPr>
            <a:r>
              <a:rPr sz="10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The company starts as Mustang Oil Services, dedicated to fishing only.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02000"/>
            <a:ext cx="1651000" cy="685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411728"/>
            <a:ext cx="165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2019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" y="3780028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2108200" y="3619500"/>
            <a:ext cx="381000" cy="50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16200" y="3352800"/>
            <a:ext cx="4483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0"/>
              </a:lnSpc>
              <a:spcAft>
                <a:spcPts val="50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 + FISHING</a:t>
            </a:r>
          </a:p>
          <a:p>
            <a:pPr algn="l">
              <a:lnSpc>
                <a:spcPts val="1400"/>
              </a:lnSpc>
              <a:spcAft>
                <a:spcPts val="500"/>
              </a:spcAft>
            </a:pPr>
            <a:r>
              <a:rPr sz="10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 joins fishing: the offer now covers drilling projects as well as interventions.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26000"/>
            <a:ext cx="1651000" cy="685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935728"/>
            <a:ext cx="165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" y="5304028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2108200" y="5143500"/>
            <a:ext cx="381000" cy="50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16200" y="4876800"/>
            <a:ext cx="4483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0"/>
              </a:lnSpc>
              <a:spcAft>
                <a:spcPts val="50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NEW OWNERS</a:t>
            </a:r>
          </a:p>
          <a:p>
            <a:pPr algn="l">
              <a:lnSpc>
                <a:spcPts val="1400"/>
              </a:lnSpc>
              <a:spcAft>
                <a:spcPts val="500"/>
              </a:spcAft>
            </a:pPr>
            <a:r>
              <a:rPr sz="10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Fabien Jacquot and Alexis Estines take over the company.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50000"/>
            <a:ext cx="16510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459728"/>
            <a:ext cx="165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" y="6828028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2108200" y="6667500"/>
            <a:ext cx="381000" cy="50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16200" y="6400800"/>
            <a:ext cx="4483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00"/>
              </a:lnSpc>
              <a:spcAft>
                <a:spcPts val="500"/>
              </a:spcAft>
            </a:pPr>
            <a:r>
              <a:rPr sz="11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ENEDRIL</a:t>
            </a:r>
          </a:p>
          <a:p>
            <a:pPr algn="l">
              <a:lnSpc>
                <a:spcPts val="1400"/>
              </a:lnSpc>
              <a:spcAft>
                <a:spcPts val="500"/>
              </a:spcAft>
            </a:pPr>
            <a:r>
              <a:rPr sz="10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Rebranding: Mustang Oil Services becomes Enedril, Fishing and Drilling Solutions.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7797800"/>
            <a:ext cx="6642100" cy="1143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00" y="7797800"/>
            <a:ext cx="62865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00"/>
              </a:lnSpc>
              <a:spcAft>
                <a:spcPts val="0"/>
              </a:spcAft>
            </a:pPr>
            <a:r>
              <a:rPr sz="8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CONTINUITY  </a:t>
            </a:r>
            <a:r>
              <a:rPr sz="105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Since 2022 the activities continue: fishing, workover, plug and abandonment and directional drilling, with the same commitment to our clients.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9093200"/>
            <a:ext cx="6642100" cy="11430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000" y="9093200"/>
            <a:ext cx="628650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A NEW DYNAMIC  </a:t>
            </a:r>
            <a:r>
              <a:rPr sz="105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Fabien and Alexis want to give the company a new momentum, with, among other steps, the 2025 rebranding that gave birth to Enedril.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10464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080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</a:pPr>
            <a:r>
              <a:rPr sz="27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DIRECTIONAL DRILLING
&amp; MWD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98600"/>
            <a:ext cx="44450" cy="7112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1498600"/>
            <a:ext cx="651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400"/>
              </a:spcAft>
            </a:pPr>
            <a:r>
              <a:rPr sz="8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Enedril provides advanced directional drilling solutions for complex wells with high precision requirements: downhole motors (PDM), rotary steerable systems (RSS) and high-temperature MWD tools. Experienced Directional Drillers and MWD Engineers steer and optimise the trajectory continuously, with well planning done in-house.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7600"/>
            <a:ext cx="2133600" cy="6858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97328"/>
            <a:ext cx="2133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3-1/8" to 9-5/8"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751328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PDM motors, high-temperature power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05100" y="2387600"/>
            <a:ext cx="2133600" cy="685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05100" y="2497328"/>
            <a:ext cx="2133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1300" y="2840228"/>
            <a:ext cx="19812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Push-the-bit and point-the-bit systems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0" y="2387600"/>
            <a:ext cx="2146300" cy="685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0" y="2497328"/>
            <a:ext cx="2146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up to 200°C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789428"/>
            <a:ext cx="19939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MWD kits with HT electronics</a:t>
            </a:r>
          </a:p>
        </p:txBody>
      </p:sp>
      <p:pic>
        <p:nvPicPr>
          <p:cNvPr id="15" name="Picture 14" descr="_c_motor_170_1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25800"/>
            <a:ext cx="2159000" cy="16256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7200" y="4851400"/>
            <a:ext cx="2159000" cy="6858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8800" y="4927600"/>
            <a:ext cx="1955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60"/>
              </a:lnSpc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MUD MOTORS &amp; RSS</a:t>
            </a:r>
          </a:p>
          <a:p>
            <a:pPr algn="l">
              <a:lnSpc>
                <a:spcPts val="760"/>
              </a:lnSpc>
              <a:spcAft>
                <a:spcPts val="100"/>
              </a:spcAft>
            </a:pPr>
            <a:r>
              <a:rPr sz="64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PDMs from 3-1/8" to 9-5/8" OD with a wide range of power sections, including high-temperature stators. Push-the-bit and point-the-bit RSS for precise control in complex formations.</a:t>
            </a:r>
          </a:p>
        </p:txBody>
      </p:sp>
      <p:pic>
        <p:nvPicPr>
          <p:cNvPr id="18" name="Picture 17" descr="_c_wellplan_345_1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7800" y="3225800"/>
            <a:ext cx="4381500" cy="16256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717800" y="4851400"/>
            <a:ext cx="4381500" cy="6858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19400" y="4927600"/>
            <a:ext cx="419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00"/>
              </a:lnSpc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 PLANNING</a:t>
            </a:r>
          </a:p>
          <a:p>
            <a:pPr algn="l">
              <a:lnSpc>
                <a:spcPts val="800"/>
              </a:lnSpc>
              <a:spcAft>
                <a:spcPts val="100"/>
              </a:spcAft>
            </a:pPr>
            <a:r>
              <a:rPr sz="66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Innova and DrillScan software: torque and drag, hydraulics and anti-collision, to drill safely and efficiently in line with project goals. Full simulation, high-frequency data recorder.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715000"/>
            <a:ext cx="6642100" cy="32385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58166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BOOST MUD PULSE MWD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045200"/>
            <a:ext cx="419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74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Rock solid performance for aggressive drilling conditions. A positive mud pulse system that sends surveys, directional telemetry, gamma ray and other sensor data to surface in real time.</a:t>
            </a:r>
          </a:p>
        </p:txBody>
      </p:sp>
      <p:pic>
        <p:nvPicPr>
          <p:cNvPr id="24" name="Picture 23" descr="_c_boost_160_1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3000" y="5791200"/>
            <a:ext cx="2032000" cy="1371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9600" y="6527800"/>
            <a:ext cx="4254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Field-proven design, standard rating 185°C, 200°C version available</a:t>
            </a:r>
          </a:p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Top and bottom mounted positive pulse systems</a:t>
            </a:r>
          </a:p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Motor-driven pulser with anti-plugging technology: performs in LCM and high-solids mud</a:t>
            </a:r>
          </a:p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Wide range of flow rates and rotary speeds, easy to assemble and service</a:t>
            </a:r>
          </a:p>
          <a:p>
            <a:pPr algn="l">
              <a:lnSpc>
                <a:spcPts val="910"/>
              </a:lnSpc>
              <a:spcAft>
                <a:spcPts val="160"/>
              </a:spcAft>
            </a:pPr>
            <a:r>
              <a:rPr sz="53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71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Down-linking for adjustable logging sequences (4 programmable)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76200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76708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OUTSIDE DIAMETER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47.6 mm (1.875")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16150" y="76200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292350" y="76708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PRESSURE RATING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20,000 psi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22700" y="76200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98900" y="76708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TEMPERATURE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-20 to 185°C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29250" y="76200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05450" y="76708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COLLAR SIZES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3.5" to 8"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80264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80772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FLOW RATE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75 - 1,200 gpm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16150" y="80264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92350" y="80772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BATTERY LIFE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400+ h (2 modules)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22700" y="80264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898900" y="80772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SHOCK LIMIT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500 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29250" y="8026400"/>
            <a:ext cx="15494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05450" y="8077200"/>
            <a:ext cx="14224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58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INTERNAL MEMORY</a:t>
            </a:r>
          </a:p>
          <a:p>
            <a:pPr algn="l">
              <a:lnSpc>
                <a:spcPts val="94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24 MB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8483600"/>
            <a:ext cx="635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0"/>
              </a:lnSpc>
              <a:spcAft>
                <a:spcPts val="0"/>
              </a:spcAft>
            </a:pPr>
            <a:r>
              <a:rPr sz="68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Telemetry: </a:t>
            </a:r>
            <a:r>
              <a:rPr sz="68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inclination, azimuth, toolface, continuous inclination and azimuth, gamma ray, shock, vibration, RPM, stick-slip, temperature, annular pressure, battery status. Inclination ±0.10°, azimuth ±0.50°, toolface ±0.20°.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90932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ALSO AVAILABLE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9296400"/>
            <a:ext cx="2273300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9349740"/>
            <a:ext cx="2273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Survey equipment (LWD, gyro, dual telemetry)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06700" y="9296400"/>
            <a:ext cx="796925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06700" y="9349740"/>
            <a:ext cx="796925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Turbodrilling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79825" y="9296400"/>
            <a:ext cx="796925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79825" y="9349740"/>
            <a:ext cx="796925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Jar placement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52950" y="9296400"/>
            <a:ext cx="1225550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52950" y="9349740"/>
            <a:ext cx="122555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Non-magnetic equipment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54700" y="9296400"/>
            <a:ext cx="1177925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4700" y="9349740"/>
            <a:ext cx="1177925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Slimhole tools 3-1/2"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9563100"/>
            <a:ext cx="1320800" cy="215900"/>
          </a:xfrm>
          <a:prstGeom prst="rect">
            <a:avLst/>
          </a:prstGeom>
          <a:solidFill>
            <a:srgbClr val="FFFFFF"/>
          </a:solidFill>
          <a:ln w="9525">
            <a:solidFill>
              <a:srgbClr val="0F7FC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9616440"/>
            <a:ext cx="13208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6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High-temperature systems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7200" y="9956800"/>
            <a:ext cx="6642100" cy="3302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9956800"/>
            <a:ext cx="66421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98,500 m drilled · 75 wells · up to 3,000 m TVD · geothermal, oil &amp; gas, underground gas storage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04000" y="10464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080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00"/>
              </a:lnSpc>
              <a:spcAft>
                <a:spcPts val="0"/>
              </a:spcAft>
            </a:pPr>
            <a:r>
              <a:rPr sz="24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
&amp; PLUG AND ABANDONMENT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47800"/>
            <a:ext cx="44450" cy="7112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1447800"/>
            <a:ext cx="651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400"/>
              </a:spcAft>
            </a:pPr>
            <a:r>
              <a:rPr sz="8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plug &amp; abandonment (P&amp;A): the full range of operations to recover, restore and secure wells, during drilling, workover or abandonment. Our fishing team responds quickly with a large rental and sale fleet, backed by our own workshop and custom tool design.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11400"/>
            <a:ext cx="1587500" cy="660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17064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2,500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2759964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available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2120900" y="2311400"/>
            <a:ext cx="1587500" cy="660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20900" y="2417064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300"/>
              </a:lnSpc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24 / 48h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7100" y="2734564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response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4600" y="2311400"/>
            <a:ext cx="1587500" cy="6604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4600" y="2417064"/>
            <a:ext cx="1587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60800" y="2759964"/>
            <a:ext cx="143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fishing, workover and P&amp;A interventions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48300" y="2311400"/>
            <a:ext cx="1651000" cy="660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48300" y="2417064"/>
            <a:ext cx="1651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ISO 9001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4500" y="2696464"/>
            <a:ext cx="1498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0"/>
              </a:lnSpc>
              <a:spcAft>
                <a:spcPts val="0"/>
              </a:spcAft>
            </a:pPr>
            <a:r>
              <a:rPr sz="69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certified quality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49600"/>
            <a:ext cx="2120900" cy="1549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8800" y="32385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FISHING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8800" y="34290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Recovery of rods, drill strings, BHAs and stuck or lost tools.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Jarring and impact tools, shock tools and intensifiers.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Overshots, spears, die collars, magnets, taper taps.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Tools on site for rental or purchase.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17800" y="3149600"/>
            <a:ext cx="2120900" cy="1549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19400" y="32385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WORKOVER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9400" y="34290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Well restoration and preparation for return to production.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Section milling and wash over.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Casing repair, scrapers, impression blocks, junk baskets.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Enlargement and reaming with RTU, DTU and SPX underreamers.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78400" y="3149600"/>
            <a:ext cx="2120900" cy="1549400"/>
          </a:xfrm>
          <a:prstGeom prst="rect">
            <a:avLst/>
          </a:pr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80000" y="32385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PLUG &amp; ABANDONMENT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80000" y="3429000"/>
            <a:ext cx="19177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Safe, definitive abandonment of wells.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Cutting with hydraulic pipe cutters and section mills.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Whipstocks and sidetracks, packers, bridge plugs, liner hangers.</a:t>
            </a:r>
          </a:p>
          <a:p>
            <a:pPr algn="l">
              <a:lnSpc>
                <a:spcPts val="930"/>
              </a:lnSpc>
              <a:spcAft>
                <a:spcPts val="200"/>
              </a:spcAft>
            </a:pPr>
            <a:r>
              <a:rPr sz="71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Cold cutter, wellhead replacement, casing jack, tanks.</a:t>
            </a:r>
          </a:p>
        </p:txBody>
      </p:sp>
      <p:pic>
        <p:nvPicPr>
          <p:cNvPr id="27" name="Picture 26" descr="_c_w4_125_1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876800"/>
            <a:ext cx="1587500" cy="2159000"/>
          </a:xfrm>
          <a:prstGeom prst="rect">
            <a:avLst/>
          </a:prstGeom>
        </p:spPr>
      </p:pic>
      <p:pic>
        <p:nvPicPr>
          <p:cNvPr id="28" name="Picture 27" descr="_c_w3_125_1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0900" y="4876800"/>
            <a:ext cx="1587500" cy="2159000"/>
          </a:xfrm>
          <a:prstGeom prst="rect">
            <a:avLst/>
          </a:prstGeom>
        </p:spPr>
      </p:pic>
      <p:pic>
        <p:nvPicPr>
          <p:cNvPr id="29" name="Picture 28" descr="_c_w1_125_17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4600" y="4876800"/>
            <a:ext cx="1587500" cy="2159000"/>
          </a:xfrm>
          <a:prstGeom prst="rect">
            <a:avLst/>
          </a:prstGeom>
        </p:spPr>
      </p:pic>
      <p:pic>
        <p:nvPicPr>
          <p:cNvPr id="30" name="Picture 29" descr="_c_w2_130_17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8300" y="4876800"/>
            <a:ext cx="1651000" cy="215900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457200" y="7315200"/>
            <a:ext cx="6642100" cy="19050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7315200"/>
            <a:ext cx="76200" cy="19050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74422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WATER WELLS TOO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7670800"/>
            <a:ext cx="6223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0"/>
              </a:lnSpc>
              <a:spcAft>
                <a:spcPts val="0"/>
              </a:spcAft>
            </a:pPr>
            <a:r>
              <a:rPr sz="76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We also work on water wells, typically between 300 and 1,000 m, in support of drilling contractors. Habits formed on 3,000 m wells mean we handle shallow wells with the same rigor.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8128000"/>
            <a:ext cx="1955800" cy="939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7400" y="8204200"/>
            <a:ext cx="175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6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CUT &amp; PULL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Hydraulic and external pipe cutters, spears and overshots to cut and pull casing, tubing or stuck strings.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0" y="8128000"/>
            <a:ext cx="1955800" cy="939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44800" y="8204200"/>
            <a:ext cx="175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6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REAMING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Rotary and directional underreamers, hole openers, roller reamers and SPX drag-type underreamers.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00600" y="8128000"/>
            <a:ext cx="1955800" cy="939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02200" y="8204200"/>
            <a:ext cx="17526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86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MILLING</a:t>
            </a:r>
          </a:p>
          <a:p>
            <a:pPr algn="l">
              <a:lnSpc>
                <a:spcPts val="880"/>
              </a:lnSpc>
              <a:spcAft>
                <a:spcPts val="200"/>
              </a:spcAft>
            </a:pP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Junk mills, pilot and taper mills, section mills and washover shoes to clear and open the hole.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9398000"/>
            <a:ext cx="6642100" cy="7874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000" y="9499600"/>
            <a:ext cx="635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60"/>
              </a:lnSpc>
              <a:spcAft>
                <a:spcPts val="200"/>
              </a:spcAft>
            </a:pPr>
            <a:r>
              <a:rPr sz="8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WHERE WE WORK</a:t>
            </a:r>
          </a:p>
          <a:p>
            <a:pPr algn="l">
              <a:lnSpc>
                <a:spcPts val="960"/>
              </a:lnSpc>
              <a:spcAft>
                <a:spcPts val="200"/>
              </a:spcAft>
            </a:pPr>
            <a:r>
              <a:rPr sz="74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Based in Lons (64), south-west France. We mobilise across metropolitan France within 24 to 48 hours in an emergency, and have international experience in Europe and North Africa. A single dedicated team follows each job from diagnosis to resolution.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04000" y="10464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0" y="279400"/>
            <a:ext cx="1498600" cy="33611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558800"/>
            <a:ext cx="5588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00"/>
              </a:lnSpc>
              <a:spcAft>
                <a:spcPts val="0"/>
              </a:spcAft>
            </a:pPr>
            <a:r>
              <a:rPr sz="270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TOOL CATALOGUE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1400"/>
            <a:ext cx="44450" cy="660400"/>
          </a:xfrm>
          <a:prstGeom prst="rect">
            <a:avLst/>
          </a:pr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4200" y="1041400"/>
            <a:ext cx="65151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400"/>
              </a:spcAft>
            </a:pPr>
            <a:r>
              <a:rPr sz="80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A selection of the main tools in stock, available for rental or purchase. The full catalogue and technical data sheets are available on request. Sizes in inches; tool series are quoted where applicable.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5000"/>
          <a:ext cx="3238500" cy="8636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CLEANING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Casing scraper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3-5/8" - 7-7/8"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Impression block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2-1/8" - 13-1/2"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Reverse circ. junk basket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5-5/8" - 17"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Junk basket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3-1/2" - 13-3/8"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860800" y="1905000"/>
          <a:ext cx="3238500" cy="6985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CUTTING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Hydraulic pipe cutter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3600, 5700, 8200, 11700s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Section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3600, 5500, 8200, 11700s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External hydraulic cutter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5-5/8"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895600"/>
          <a:ext cx="3238500" cy="11938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MILLING &amp; WASHOVER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Economill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3-3/4" - 12-1/8"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Junk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2-1/8" - 17-3/8"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Super junk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3-3/4" - 18-3/8"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Pilot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3-1/4" - 8-1/2"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Taper mill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2-1/2" - 18-1/2"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Washover shoe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2-9/16" - 13-3/8"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60800" y="2730500"/>
          <a:ext cx="3238500" cy="11938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RECOVERY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Die collar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4" - 9-5/8"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Fishing magnet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3-3/4" - 15"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Spear, internal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6-3/4"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Spear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2-3/8" - 20"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Overshot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SFS, SH, XSH, FS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Taper tap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3-1/16"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216400"/>
          <a:ext cx="3238500" cy="11938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REAMING &amp; ENLARGEMENT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Rotary underreamer (RTU)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DTS 350, 5700, 8200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Drilling-type underreamer (DTU)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5700, 8200, 12000, 18000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Master Driller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8200, 14000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Hole opener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14-3/4"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SPX drag-type underreamer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5700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Roller reamer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8200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60800" y="4051300"/>
          <a:ext cx="3238500" cy="1193800"/>
        </p:xfrm>
        <a:graphic>
          <a:graphicData uri="http://schemas.openxmlformats.org/drawingml/2006/table">
            <a:tbl>
              <a:tblPr/>
              <a:tblGrid>
                <a:gridCol w="1625600"/>
                <a:gridCol w="1612900"/>
              </a:tblGrid>
              <a:tr h="203200">
                <a:tc>
                  <a:txBody>
                    <a:bodyPr/>
                    <a:lstStyle/>
                    <a:p>
                      <a:pPr algn="ctr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JARRING &amp; IMPACT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FFFFFF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Range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194E9A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Fishing jar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3-1/8"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Jar intensifier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3-1/8" - 6-1/2"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Safety joint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3-1/2" - 8"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Stabilizer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3-1/8" - 9-1/2"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Crossover (XO)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3-3/8" - 11-3/4"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Bit sub / Float sub / Bull nose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30" b="0" i="0">
                          <a:solidFill>
                            <a:srgbClr val="0B1B2E"/>
                          </a:solidFill>
                          <a:latin typeface="Ubuntu Mono"/>
                          <a:ea typeface="Ubuntu Mono"/>
                          <a:cs typeface="Ubuntu Mono"/>
                          <a:sym typeface="Ubuntu Mono"/>
                        </a:rPr>
                        <a:t>2-3/16" - 10-1/4"</a:t>
                      </a:r>
                    </a:p>
                  </a:txBody>
                  <a:tcPr marL="38100" marR="38100" marT="12700" marB="12700" anchor="ctr">
                    <a:lnL w="4762">
                      <a:solidFill>
                        <a:srgbClr val="C5D6E8"/>
                      </a:solidFill>
                    </a:lnL>
                    <a:lnR w="4762">
                      <a:solidFill>
                        <a:srgbClr val="C5D6E8"/>
                      </a:solidFill>
                    </a:lnR>
                    <a:lnT w="4762">
                      <a:solidFill>
                        <a:srgbClr val="C5D6E8"/>
                      </a:solidFill>
                    </a:lnT>
                    <a:lnB w="4762">
                      <a:solidFill>
                        <a:srgbClr val="C5D6E8"/>
                      </a:solidFill>
                    </a:lnB>
                    <a:solidFill>
                      <a:srgbClr val="EEF6FD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5562600"/>
            <a:ext cx="6642100" cy="1092200"/>
          </a:xfrm>
          <a:prstGeom prst="rect">
            <a:avLst/>
          </a:prstGeom>
          <a:solidFill>
            <a:srgbClr val="EAF4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5562600"/>
            <a:ext cx="76200" cy="1092200"/>
          </a:xfrm>
          <a:prstGeom prst="rect">
            <a:avLst/>
          </a:prstGeom>
          <a:solidFill>
            <a:srgbClr val="1CB2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400" y="5664200"/>
            <a:ext cx="381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FOR WATER WELLS (typically 300 - 1,000 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400" y="5867400"/>
            <a:ext cx="62865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2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Cut &amp; pull: </a:t>
            </a: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hydraulic pipe cutters, external cutters, spears, overshots, jars.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2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Reaming: </a:t>
            </a: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RTU, DTU, SPX drag-type, hole openers, roller reamers.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20" b="1" i="0">
                <a:solidFill>
                  <a:srgbClr val="0F7FCB"/>
                </a:solidFill>
                <a:latin typeface="Ubuntu Mono"/>
                <a:ea typeface="Ubuntu Mono"/>
                <a:cs typeface="Ubuntu Mono"/>
                <a:sym typeface="Ubuntu Mono"/>
              </a:rPr>
              <a:t>Milling: </a:t>
            </a:r>
            <a:r>
              <a:rPr sz="72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junk mills, pilot mills, taper mills, section mills, washover shoes.</a:t>
            </a:r>
          </a:p>
          <a:p>
            <a:pPr algn="l">
              <a:lnSpc>
                <a:spcPts val="1000"/>
              </a:lnSpc>
              <a:spcAft>
                <a:spcPts val="200"/>
              </a:spcAft>
            </a:pPr>
            <a:r>
              <a:rPr sz="72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Stock available, response within 24/48h anywhere in metropolitan France.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781800"/>
            <a:ext cx="6642100" cy="15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_c_cutters_58_1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" y="6883400"/>
            <a:ext cx="736600" cy="1320800"/>
          </a:xfrm>
          <a:prstGeom prst="rect">
            <a:avLst/>
          </a:prstGeom>
        </p:spPr>
      </p:pic>
      <p:pic>
        <p:nvPicPr>
          <p:cNvPr id="18" name="Picture 17" descr="_c_spx_tool_170_3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2400" y="7289800"/>
            <a:ext cx="2159000" cy="3937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6883400"/>
            <a:ext cx="2159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UNDERREAMERS</a:t>
            </a:r>
          </a:p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69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DTU and SPX data sheets available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0000" y="6908800"/>
            <a:ext cx="317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30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1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Downhole tools and bits: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drilling bits (PDC), underreaming, jars, stabilizers, tubulars, circulating subs.</a:t>
            </a:r>
          </a:p>
          <a:p>
            <a:pPr algn="l">
              <a:lnSpc>
                <a:spcPts val="880"/>
              </a:lnSpc>
              <a:spcAft>
                <a:spcPts val="30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1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Special interventions: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whipstocks and sidetracks, packers, bridge plugs, liner hangers, casing jack, tanks.</a:t>
            </a:r>
          </a:p>
          <a:p>
            <a:pPr algn="l">
              <a:lnSpc>
                <a:spcPts val="880"/>
              </a:lnSpc>
              <a:spcAft>
                <a:spcPts val="30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1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Custom tools: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designed with an API 5 &amp; 7 certified machine shop, repaired and redressed in our workshop.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8432800"/>
            <a:ext cx="6642100" cy="1320800"/>
          </a:xfrm>
          <a:prstGeom prst="rect">
            <a:avLst/>
          </a:prstGeom>
          <a:solidFill>
            <a:srgbClr val="FFFFFF"/>
          </a:solidFill>
          <a:ln w="9525">
            <a:solidFill>
              <a:srgbClr val="C5D6E8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_c_pipecutter_140_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800" y="8813800"/>
            <a:ext cx="1778000" cy="558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489200" y="8534400"/>
            <a:ext cx="444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86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HYDRAULIC PIPE CUTTER</a:t>
            </a:r>
          </a:p>
          <a:p>
            <a:pPr algn="l">
              <a:lnSpc>
                <a:spcPts val="950"/>
              </a:lnSpc>
              <a:spcAft>
                <a:spcPts val="0"/>
              </a:spcAft>
            </a:pPr>
            <a:r>
              <a:rPr sz="69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Data sheet available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89200" y="8813800"/>
            <a:ext cx="444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80"/>
              </a:lnSpc>
              <a:spcAft>
                <a:spcPts val="24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Internal hydraulic cutter for single or multiple strings of concentric or eccentric casing.</a:t>
            </a:r>
          </a:p>
          <a:p>
            <a:pPr algn="l">
              <a:lnSpc>
                <a:spcPts val="880"/>
              </a:lnSpc>
              <a:spcAft>
                <a:spcPts val="24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Mainly used in well abandonment, when casings are cemented and cannot be cut and pulled individually.</a:t>
            </a:r>
          </a:p>
          <a:p>
            <a:pPr algn="l">
              <a:lnSpc>
                <a:spcPts val="880"/>
              </a:lnSpc>
              <a:spcAft>
                <a:spcPts val="24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Four tool diameters (3-5/8", 5-3/4", 8-1/4", 11-3/4") cutting casing from 4-1/2" to 36".</a:t>
            </a:r>
          </a:p>
          <a:p>
            <a:pPr algn="l">
              <a:lnSpc>
                <a:spcPts val="880"/>
              </a:lnSpc>
              <a:spcAft>
                <a:spcPts val="240"/>
              </a:spcAft>
            </a:pPr>
            <a:r>
              <a:rPr sz="510" b="0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■ </a:t>
            </a:r>
            <a:r>
              <a:rPr sz="690" b="0" i="0">
                <a:solidFill>
                  <a:srgbClr val="0B1B2E"/>
                </a:solidFill>
                <a:latin typeface="Ubuntu Mono"/>
                <a:ea typeface="Ubuntu Mono"/>
                <a:cs typeface="Ubuntu Mono"/>
                <a:sym typeface="Ubuntu Mono"/>
              </a:rPr>
              <a:t>Operates up to 400 L/min and 35 - 60 bar. Knives: standard, hardfacing or carbide.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9855200"/>
            <a:ext cx="6642100" cy="508000"/>
          </a:xfrm>
          <a:prstGeom prst="rect">
            <a:avLst/>
          </a:prstGeom>
          <a:solidFill>
            <a:srgbClr val="194E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00" y="9855200"/>
            <a:ext cx="62865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00"/>
              </a:lnSpc>
              <a:spcAft>
                <a:spcPts val="0"/>
              </a:spcAft>
            </a:pPr>
            <a:r>
              <a:rPr sz="740" b="1" i="0">
                <a:solidFill>
                  <a:srgbClr val="1CB2FE"/>
                </a:solidFill>
                <a:latin typeface="Ubuntu Mono"/>
                <a:ea typeface="Ubuntu Mono"/>
                <a:cs typeface="Ubuntu Mono"/>
                <a:sym typeface="Ubuntu Mono"/>
              </a:rPr>
              <a:t>HOW TO REQUEST A QUOTATION: </a:t>
            </a:r>
            <a:r>
              <a:rPr sz="74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specify the tool type, size or series, top and bottom connections, and the operation planned (cut &amp; pull, reaming, milling...). Rental or purchase.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10388600"/>
            <a:ext cx="6642100" cy="10160"/>
          </a:xfrm>
          <a:prstGeom prst="rect">
            <a:avLst/>
          </a:prstGeom>
          <a:solidFill>
            <a:srgbClr val="B9C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10464800"/>
            <a:ext cx="5080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640" b="0" i="0">
                <a:solidFill>
                  <a:srgbClr val="5A6B7F"/>
                </a:solidFill>
                <a:latin typeface="Ubuntu Mono"/>
                <a:ea typeface="Ubuntu Mono"/>
                <a:cs typeface="Ubuntu Mono"/>
                <a:sym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4000" y="10464800"/>
            <a:ext cx="4953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207000" cy="6604000"/>
          </a:xfrm>
          <a:custGeom>
            <a:avLst/>
            <a:gdLst/>
            <a:ahLst/>
            <a:cxnLst/>
            <a:rect l="l" t="t" r="r" b="b"/>
            <a:pathLst>
              <a:path w="410" h="520">
                <a:moveTo>
                  <a:pt x="0" y="0"/>
                </a:moveTo>
                <a:lnTo>
                  <a:pt x="410" y="0"/>
                </a:lnTo>
                <a:lnTo>
                  <a:pt x="330" y="430"/>
                </a:lnTo>
                <a:lnTo>
                  <a:pt x="0" y="520"/>
                </a:lnTo>
                <a:close/>
              </a:path>
            </a:pathLst>
          </a:custGeom>
          <a:solidFill>
            <a:srgbClr val="0A4F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191000" y="0"/>
            <a:ext cx="3365500" cy="8890000"/>
          </a:xfrm>
          <a:custGeom>
            <a:avLst/>
            <a:gdLst/>
            <a:ahLst/>
            <a:cxnLst/>
            <a:rect l="l" t="t" r="r" b="b"/>
            <a:pathLst>
              <a:path w="265" h="700">
                <a:moveTo>
                  <a:pt x="80" y="0"/>
                </a:moveTo>
                <a:lnTo>
                  <a:pt x="265" y="0"/>
                </a:lnTo>
                <a:lnTo>
                  <a:pt x="265" y="700"/>
                </a:lnTo>
                <a:lnTo>
                  <a:pt x="0" y="430"/>
                </a:lnTo>
                <a:close/>
              </a:path>
            </a:pathLst>
          </a:custGeom>
          <a:solidFill>
            <a:srgbClr val="0F7F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5461000"/>
            <a:ext cx="7556500" cy="5232400"/>
          </a:xfrm>
          <a:custGeom>
            <a:avLst/>
            <a:gdLst/>
            <a:ahLst/>
            <a:cxnLst/>
            <a:rect l="l" t="t" r="r" b="b"/>
            <a:pathLst>
              <a:path w="595" h="412">
                <a:moveTo>
                  <a:pt x="330" y="0"/>
                </a:moveTo>
                <a:lnTo>
                  <a:pt x="595" y="270"/>
                </a:lnTo>
                <a:lnTo>
                  <a:pt x="595" y="412"/>
                </a:lnTo>
                <a:lnTo>
                  <a:pt x="0" y="412"/>
                </a:lnTo>
                <a:lnTo>
                  <a:pt x="0" y="90"/>
                </a:lnTo>
                <a:close/>
              </a:path>
            </a:pathLst>
          </a:custGeom>
          <a:solidFill>
            <a:srgbClr val="2BAE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4191000" y="0"/>
            <a:ext cx="1016000" cy="5461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4191000" y="5461000"/>
            <a:ext cx="3365500" cy="3429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0" y="5461000"/>
            <a:ext cx="4191000" cy="1143000"/>
          </a:xfrm>
          <a:prstGeom prst="line">
            <a:avLst/>
          </a:prstGeom>
          <a:ln w="114300">
            <a:solidFill>
              <a:srgbClr val="FFFFFF"/>
            </a:solidFill>
          </a:ln>
        </p:spPr>
      </p:cxnSp>
      <p:pic>
        <p:nvPicPr>
          <p:cNvPr id="9" name="Picture 8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66800"/>
            <a:ext cx="3429000" cy="7784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8890000"/>
            <a:ext cx="5334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Enedril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3, avenue des lacs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64140 Lons (FRANCE)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info@enedril.fr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+33 (0)5 59 04 50 45</a:t>
            </a:r>
          </a:p>
          <a:p>
            <a:pPr algn="l">
              <a:lnSpc>
                <a:spcPts val="15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Ubuntu Mono"/>
                <a:ea typeface="Ubuntu Mono"/>
                <a:cs typeface="Ubuntu Mono"/>
                <a:sym typeface="Ubuntu Mono"/>
              </a:rPr>
              <a:t>www.enedril.com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0236200"/>
            <a:ext cx="5715000" cy="12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94E9A"/>
                </a:solidFill>
                <a:latin typeface="Ubuntu Mono"/>
                <a:ea typeface="Ubuntu Mono"/>
                <a:cs typeface="Ubuntu Mono"/>
                <a:sym typeface="Ubuntu Mono"/>
              </a:rPr>
              <a:t>Fishing response within 24/48h across metropolitan France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