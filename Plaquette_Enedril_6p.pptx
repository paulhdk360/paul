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5207000" cy="6604000"/>
          </a:xfrm>
          <a:custGeom>
            <a:avLst/>
            <a:gdLst/>
            <a:ahLst/>
            <a:cxnLst/>
            <a:rect l="l" t="t" r="r" b="b"/>
            <a:pathLst>
              <a:path w="410" h="520">
                <a:moveTo>
                  <a:pt x="0" y="0"/>
                </a:moveTo>
                <a:lnTo>
                  <a:pt x="410" y="0"/>
                </a:lnTo>
                <a:lnTo>
                  <a:pt x="330" y="430"/>
                </a:lnTo>
                <a:lnTo>
                  <a:pt x="0" y="520"/>
                </a:lnTo>
                <a:close/>
              </a:path>
            </a:pathLst>
          </a:custGeom>
          <a:solidFill>
            <a:srgbClr val="0A4F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191000" y="0"/>
            <a:ext cx="3365500" cy="8890000"/>
          </a:xfrm>
          <a:custGeom>
            <a:avLst/>
            <a:gdLst/>
            <a:ahLst/>
            <a:cxnLst/>
            <a:rect l="l" t="t" r="r" b="b"/>
            <a:pathLst>
              <a:path w="265" h="700">
                <a:moveTo>
                  <a:pt x="80" y="0"/>
                </a:moveTo>
                <a:lnTo>
                  <a:pt x="265" y="0"/>
                </a:lnTo>
                <a:lnTo>
                  <a:pt x="265" y="700"/>
                </a:lnTo>
                <a:lnTo>
                  <a:pt x="0" y="430"/>
                </a:lnTo>
                <a:close/>
              </a:path>
            </a:pathLst>
          </a:cu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5461000"/>
            <a:ext cx="7556500" cy="5232400"/>
          </a:xfrm>
          <a:custGeom>
            <a:avLst/>
            <a:gdLst/>
            <a:ahLst/>
            <a:cxnLst/>
            <a:rect l="l" t="t" r="r" b="b"/>
            <a:pathLst>
              <a:path w="595" h="412">
                <a:moveTo>
                  <a:pt x="330" y="0"/>
                </a:moveTo>
                <a:lnTo>
                  <a:pt x="595" y="270"/>
                </a:lnTo>
                <a:lnTo>
                  <a:pt x="595" y="412"/>
                </a:lnTo>
                <a:lnTo>
                  <a:pt x="0" y="412"/>
                </a:lnTo>
                <a:lnTo>
                  <a:pt x="0" y="90"/>
                </a:lnTo>
                <a:close/>
              </a:path>
            </a:pathLst>
          </a:cu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4191000" y="0"/>
            <a:ext cx="1016000" cy="5461000"/>
          </a:xfrm>
          <a:prstGeom prst="line">
            <a:avLst/>
          </a:prstGeom>
          <a:ln w="1143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4191000" y="5461000"/>
            <a:ext cx="3365500" cy="3429000"/>
          </a:xfrm>
          <a:prstGeom prst="line">
            <a:avLst/>
          </a:prstGeom>
          <a:ln w="1143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0" y="5461000"/>
            <a:ext cx="4191000" cy="1143000"/>
          </a:xfrm>
          <a:prstGeom prst="line">
            <a:avLst/>
          </a:prstGeom>
          <a:ln w="114300">
            <a:solidFill>
              <a:srgbClr val="FFFFFF"/>
            </a:solidFill>
          </a:ln>
        </p:spPr>
      </p:cxnSp>
      <p:pic>
        <p:nvPicPr>
          <p:cNvPr id="9" name="Picture 8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6800"/>
            <a:ext cx="3429000" cy="7784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9398000"/>
            <a:ext cx="508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DIRECTIONAL DRILLING</a:t>
            </a:r>
          </a:p>
          <a:p>
            <a:pPr algn="l">
              <a:lnSpc>
                <a:spcPts val="21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&amp; FISHING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982200"/>
            <a:ext cx="254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0185400"/>
            <a:ext cx="177800" cy="50800"/>
          </a:xfrm>
          <a:prstGeom prst="rect">
            <a:avLst/>
          </a:prstGeom>
          <a:solidFill>
            <a:srgbClr val="0A4F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10185400"/>
            <a:ext cx="177800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800" y="10185400"/>
            <a:ext cx="177800" cy="508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79400"/>
            <a:ext cx="1498600" cy="3361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58800"/>
            <a:ext cx="5588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sz="270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ABOUT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7600"/>
            <a:ext cx="44450" cy="7874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4200" y="1117600"/>
            <a:ext cx="651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400"/>
              </a:spcAft>
            </a:pPr>
            <a:r>
              <a:rPr sz="80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Enedril (formerly Mustang Services) is an independent French company founded in 2013 and specialised in directional drilling, fishing and well intervention for geothermal, oil &amp; gas and underground gas storage projects, in France and abroad. We combine solid field experience with technical know-how, and we are known for being fast, flexible and easy to work with.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82800"/>
            <a:ext cx="1587500" cy="6858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2528"/>
            <a:ext cx="1587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98,500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484628"/>
            <a:ext cx="143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drilled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120900" y="2082800"/>
            <a:ext cx="1587500" cy="6858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20900" y="2192528"/>
            <a:ext cx="1587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7100" y="2535428"/>
            <a:ext cx="143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wells, up to 3,000 m TVD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4600" y="2082800"/>
            <a:ext cx="1587500" cy="6858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4600" y="2192528"/>
            <a:ext cx="1587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142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0800" y="2535428"/>
            <a:ext cx="143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fishing, workover and P&amp;A jobs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8300" y="2082800"/>
            <a:ext cx="1651000" cy="6858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8300" y="2192528"/>
            <a:ext cx="165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2,500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4500" y="2535428"/>
            <a:ext cx="1498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tools in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97200"/>
            <a:ext cx="381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OUR FACILITIES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13100"/>
            <a:ext cx="3683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400"/>
              </a:spcAft>
            </a:pPr>
            <a:r>
              <a:rPr sz="7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Since 2021 we operate from Lons, near Pau, with two fully equipped workshops of more than 1,000 m², a 5 t overhead crane, a break-out unit, a jar tester, lathe, milling and grinding machines and a separate welding shop.</a:t>
            </a:r>
          </a:p>
          <a:p>
            <a:pPr algn="l">
              <a:lnSpc>
                <a:spcPts val="1000"/>
              </a:lnSpc>
              <a:spcAft>
                <a:spcPts val="400"/>
              </a:spcAft>
            </a:pPr>
            <a:r>
              <a:rPr sz="7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A 3,500 m² outdoor yard stores tubulars, stabilizers and on-site containers, for large-scale logistics.</a:t>
            </a:r>
          </a:p>
          <a:p>
            <a:pPr algn="l">
              <a:lnSpc>
                <a:spcPts val="1000"/>
              </a:lnSpc>
              <a:spcAft>
                <a:spcPts val="400"/>
              </a:spcAft>
            </a:pPr>
            <a:r>
              <a:rPr sz="7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A rare equipment stock in France: mud motors from 3-1/8" to 9-5/8", shock tools, drilling jars, MWD kits and a very wide range of fishing tools.</a:t>
            </a:r>
          </a:p>
        </p:txBody>
      </p:sp>
      <p:pic>
        <p:nvPicPr>
          <p:cNvPr id="20" name="Picture 19" descr="_c_geo_219_1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2997200"/>
            <a:ext cx="2781300" cy="1854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18000" y="4876800"/>
            <a:ext cx="2781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 i="1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Geothermal doublet: injection and production wells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30800"/>
            <a:ext cx="381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OUR VALUES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59400"/>
            <a:ext cx="2108200" cy="7874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4200" y="5461000"/>
            <a:ext cx="1854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9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RESPECT</a:t>
            </a:r>
          </a:p>
          <a:p>
            <a:pPr algn="l">
              <a:lnSpc>
                <a:spcPts val="919"/>
              </a:lnSpc>
              <a:spcAft>
                <a:spcPts val="200"/>
              </a:spcAft>
            </a:pPr>
            <a:r>
              <a:rPr sz="7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For our clients, our teams and the people and places around us.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24150" y="5359400"/>
            <a:ext cx="2108200" cy="7874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1150" y="5461000"/>
            <a:ext cx="1854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9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TEAMWORK</a:t>
            </a:r>
          </a:p>
          <a:p>
            <a:pPr algn="l">
              <a:lnSpc>
                <a:spcPts val="919"/>
              </a:lnSpc>
              <a:spcAft>
                <a:spcPts val="200"/>
              </a:spcAft>
            </a:pPr>
            <a:r>
              <a:rPr sz="7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Real success comes from strong values and working together.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1100" y="5359400"/>
            <a:ext cx="2108200" cy="7874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8100" y="5461000"/>
            <a:ext cx="1854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9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ENVIRONMENT</a:t>
            </a:r>
          </a:p>
          <a:p>
            <a:pPr algn="l">
              <a:lnSpc>
                <a:spcPts val="919"/>
              </a:lnSpc>
              <a:spcAft>
                <a:spcPts val="200"/>
              </a:spcAft>
            </a:pPr>
            <a:r>
              <a:rPr sz="7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Caring for the environment is at the core of what we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375400"/>
            <a:ext cx="6642100" cy="1651000"/>
          </a:xfrm>
          <a:prstGeom prst="rect">
            <a:avLst/>
          </a:prstGeom>
          <a:solidFill>
            <a:srgbClr val="EAF4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_c_iso_110_1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502400"/>
            <a:ext cx="1397000" cy="1397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184400" y="6527800"/>
            <a:ext cx="254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0"/>
              </a:lnSpc>
              <a:spcAft>
                <a:spcPts val="400"/>
              </a:spcAft>
            </a:pPr>
            <a:r>
              <a:rPr sz="10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ISO 9001:2015 CERTIFIED</a:t>
            </a:r>
          </a:p>
          <a:p>
            <a:pPr algn="l">
              <a:lnSpc>
                <a:spcPts val="980"/>
              </a:lnSpc>
              <a:spcAft>
                <a:spcPts val="400"/>
              </a:spcAft>
            </a:pPr>
            <a:r>
              <a:rPr sz="74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A quality management system that follows every job from start to finish: safety, quality and reliability on each intervention.</a:t>
            </a:r>
          </a:p>
          <a:p>
            <a:pPr algn="l">
              <a:lnSpc>
                <a:spcPts val="980"/>
              </a:lnSpc>
              <a:spcAft>
                <a:spcPts val="400"/>
              </a:spcAft>
            </a:pPr>
            <a:r>
              <a:rPr sz="74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About 15 clients supported each year, in France and internationally.</a:t>
            </a:r>
          </a:p>
        </p:txBody>
      </p:sp>
      <p:pic>
        <p:nvPicPr>
          <p:cNvPr id="32" name="Picture 31" descr="_c_team_161_1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7600" y="6502400"/>
            <a:ext cx="2044700" cy="1397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7200" y="8229600"/>
            <a:ext cx="381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WHY CHOOSE 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8483600"/>
            <a:ext cx="38100" cy="6604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" y="8483600"/>
            <a:ext cx="1498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8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EXPERIENCE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68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Years in the industry and a wide range of projects completed across sectors.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33600" y="8483600"/>
            <a:ext cx="38100" cy="6604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47900" y="8483600"/>
            <a:ext cx="1498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8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EXCELLENCE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68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Dedication to excellence, safety and innovation for superior results.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10000" y="8483600"/>
            <a:ext cx="38100" cy="6604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24300" y="8483600"/>
            <a:ext cx="1498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8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CUSTOM SOLUTIONS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68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Every project is unique: tailored tools and procedures.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8483600"/>
            <a:ext cx="38100" cy="6604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00700" y="8483600"/>
            <a:ext cx="1498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8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RELIABILITY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68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A partner ready to go the extra mile to meet your needs and deadlines.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9423400"/>
            <a:ext cx="6642100" cy="7874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400" y="9423400"/>
            <a:ext cx="6235700" cy="78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84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OUR PURPOSE</a:t>
            </a:r>
          </a:p>
          <a:p>
            <a:pPr algn="l">
              <a:lnSpc>
                <a:spcPts val="1300"/>
              </a:lnSpc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Supporting the next generations in the energy transition by contributing to the production of more responsible energy.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10388600"/>
            <a:ext cx="6642100" cy="10160"/>
          </a:xfrm>
          <a:prstGeom prst="rect">
            <a:avLst/>
          </a:prstGeom>
          <a:solidFill>
            <a:srgbClr val="B9C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10464800"/>
            <a:ext cx="508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Enedril · Fishing and Drilling Solutions · 3 avenue des lacs, 64140 Lons (France) · info@enedril.fr · +33 (0)5 59 04 50 45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4000" y="10464800"/>
            <a:ext cx="495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79400"/>
            <a:ext cx="1498600" cy="3361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8000"/>
            <a:ext cx="5588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sz="270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DIRECTIONAL DRILLING
&amp; MWD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98600"/>
            <a:ext cx="44450" cy="7112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4200" y="1498600"/>
            <a:ext cx="651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400"/>
              </a:spcAft>
            </a:pPr>
            <a:r>
              <a:rPr sz="80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Enedril provides advanced directional drilling solutions for complex wells with high precision requirements: downhole motors (PDM), rotary steerable systems (RSS) and high-temperature MWD tools. Experienced Directional Drillers and MWD Engineers steer and optimise the trajectory continuously, with well planning done in-house.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87600"/>
            <a:ext cx="2133600" cy="6858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97328"/>
            <a:ext cx="2133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3-1/8" to 9-5/8"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751328"/>
            <a:ext cx="1981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PDM motors, high-temperature power sections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5100" y="2387600"/>
            <a:ext cx="2133600" cy="6858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5100" y="2497328"/>
            <a:ext cx="2133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RSS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1300" y="2840228"/>
            <a:ext cx="1981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Push-the-bit and point-the-bit systems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3000" y="2387600"/>
            <a:ext cx="2146300" cy="6858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3000" y="2497328"/>
            <a:ext cx="2146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up to 200°C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789428"/>
            <a:ext cx="19939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MWD kits with HT electronics</a:t>
            </a:r>
          </a:p>
        </p:txBody>
      </p:sp>
      <p:pic>
        <p:nvPicPr>
          <p:cNvPr id="15" name="Picture 14" descr="_c_motor_170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25800"/>
            <a:ext cx="2159000" cy="16256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7200" y="4851400"/>
            <a:ext cx="2159000" cy="6858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800" y="4927600"/>
            <a:ext cx="1955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60"/>
              </a:lnSpc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MUD MOTORS &amp; RSS</a:t>
            </a:r>
          </a:p>
          <a:p>
            <a:pPr algn="l">
              <a:lnSpc>
                <a:spcPts val="760"/>
              </a:lnSpc>
              <a:spcAft>
                <a:spcPts val="100"/>
              </a:spcAft>
            </a:pPr>
            <a:r>
              <a:rPr sz="64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PDMs from 3-1/8" to 9-5/8" OD with a wide range of power sections, including high-temperature stators. Push-the-bit and point-the-bit RSS for precise control in complex formations.</a:t>
            </a:r>
          </a:p>
        </p:txBody>
      </p:sp>
      <p:pic>
        <p:nvPicPr>
          <p:cNvPr id="18" name="Picture 17" descr="_c_wellplan_345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800" y="3225800"/>
            <a:ext cx="4381500" cy="16256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717800" y="4851400"/>
            <a:ext cx="4381500" cy="6858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19400" y="4927600"/>
            <a:ext cx="419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00"/>
              </a:lnSpc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WELL PLANNING</a:t>
            </a:r>
          </a:p>
          <a:p>
            <a:pPr algn="l">
              <a:lnSpc>
                <a:spcPts val="800"/>
              </a:lnSpc>
              <a:spcAft>
                <a:spcPts val="100"/>
              </a:spcAft>
            </a:pPr>
            <a:r>
              <a:rPr sz="66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Innova and DrillScan software: torque and drag, hydraulics and anti-collision, to drill safely and efficiently in line with project goals. Full simulation, high-frequency data recorder.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15000"/>
            <a:ext cx="6642100" cy="3238500"/>
          </a:xfrm>
          <a:prstGeom prst="rect">
            <a:avLst/>
          </a:prstGeom>
          <a:solidFill>
            <a:srgbClr val="EAF4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5816600"/>
            <a:ext cx="381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BOOST MUD PULSE MWD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045200"/>
            <a:ext cx="419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74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Rock solid performance for aggressive drilling conditions. A positive mud pulse system that sends surveys, directional telemetry, gamma ray and other sensor data to surface in real time.</a:t>
            </a:r>
          </a:p>
        </p:txBody>
      </p:sp>
      <p:pic>
        <p:nvPicPr>
          <p:cNvPr id="24" name="Picture 23" descr="_c_boost_160_1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5791200"/>
            <a:ext cx="2032000" cy="1371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9600" y="6527800"/>
            <a:ext cx="4254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0"/>
              </a:lnSpc>
              <a:spcAft>
                <a:spcPts val="160"/>
              </a:spcAft>
            </a:pPr>
            <a:r>
              <a:rPr sz="53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Field-proven design, standard rating 185°C, 200°C version available</a:t>
            </a:r>
          </a:p>
          <a:p>
            <a:pPr algn="l">
              <a:lnSpc>
                <a:spcPts val="910"/>
              </a:lnSpc>
              <a:spcAft>
                <a:spcPts val="160"/>
              </a:spcAft>
            </a:pPr>
            <a:r>
              <a:rPr sz="53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Top and bottom mounted positive pulse systems</a:t>
            </a:r>
          </a:p>
          <a:p>
            <a:pPr algn="l">
              <a:lnSpc>
                <a:spcPts val="910"/>
              </a:lnSpc>
              <a:spcAft>
                <a:spcPts val="160"/>
              </a:spcAft>
            </a:pPr>
            <a:r>
              <a:rPr sz="53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Motor-driven pulser with anti-plugging technology: performs in LCM and high-solids mud</a:t>
            </a:r>
          </a:p>
          <a:p>
            <a:pPr algn="l">
              <a:lnSpc>
                <a:spcPts val="910"/>
              </a:lnSpc>
              <a:spcAft>
                <a:spcPts val="160"/>
              </a:spcAft>
            </a:pPr>
            <a:r>
              <a:rPr sz="53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Wide range of flow rates and rotary speeds, easy to assemble and service</a:t>
            </a:r>
          </a:p>
          <a:p>
            <a:pPr algn="l">
              <a:lnSpc>
                <a:spcPts val="910"/>
              </a:lnSpc>
              <a:spcAft>
                <a:spcPts val="160"/>
              </a:spcAft>
            </a:pPr>
            <a:r>
              <a:rPr sz="53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Down-linking for adjustable logging sequences (4 programmable)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7620000"/>
            <a:ext cx="15494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7670800"/>
            <a:ext cx="1422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58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OUTSIDE DIAMETER</a:t>
            </a:r>
          </a:p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47.6 mm (1.875")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16150" y="7620000"/>
            <a:ext cx="15494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92350" y="7670800"/>
            <a:ext cx="1422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58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PRESSURE RATING</a:t>
            </a:r>
          </a:p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20,000 psi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22700" y="7620000"/>
            <a:ext cx="15494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98900" y="7670800"/>
            <a:ext cx="1422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58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TEMPERATURE</a:t>
            </a:r>
          </a:p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-20 to 185°C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29250" y="7620000"/>
            <a:ext cx="15494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05450" y="7670800"/>
            <a:ext cx="1422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58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COLLAR SIZES</a:t>
            </a:r>
          </a:p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3.5" to 8"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8026400"/>
            <a:ext cx="15494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8077200"/>
            <a:ext cx="1422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58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FLOW RATE</a:t>
            </a:r>
          </a:p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75 - 1,200 gpm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16150" y="8026400"/>
            <a:ext cx="15494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92350" y="8077200"/>
            <a:ext cx="1422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58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BATTERY LIFE</a:t>
            </a:r>
          </a:p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400+ h (2 modules)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22700" y="8026400"/>
            <a:ext cx="15494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98900" y="8077200"/>
            <a:ext cx="1422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58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SHOCK LIMIT</a:t>
            </a:r>
          </a:p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500 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29250" y="8026400"/>
            <a:ext cx="15494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05450" y="8077200"/>
            <a:ext cx="1422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58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INTERNAL MEMORY</a:t>
            </a:r>
          </a:p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24 MB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8483600"/>
            <a:ext cx="635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8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Telemetry: </a:t>
            </a:r>
            <a:r>
              <a:rPr sz="68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inclination, azimuth, toolface, continuous inclination and azimuth, gamma ray, shock, vibration, RPM, stick-slip, temperature, annular pressure, battery status. Inclination ±0.10°, azimuth ±0.50°, toolface ±0.20°.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9093200"/>
            <a:ext cx="381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ALSO AVAILABLE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9296400"/>
            <a:ext cx="2273300" cy="2159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9349740"/>
            <a:ext cx="2273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6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Survey equipment (LWD, gyro, dual telemetry)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06700" y="9296400"/>
            <a:ext cx="796925" cy="2159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06700" y="9349740"/>
            <a:ext cx="796925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6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Turbodrilling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79825" y="9296400"/>
            <a:ext cx="796925" cy="2159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79825" y="9349740"/>
            <a:ext cx="796925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6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Jar placement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52950" y="9296400"/>
            <a:ext cx="1225550" cy="2159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52950" y="9349740"/>
            <a:ext cx="122555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6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Non-magnetic equipment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54700" y="9296400"/>
            <a:ext cx="1177925" cy="2159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4700" y="9349740"/>
            <a:ext cx="1177925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6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Slimhole tools 3-1/2"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9563100"/>
            <a:ext cx="1320800" cy="2159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9616440"/>
            <a:ext cx="1320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6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High-temperature systems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9956800"/>
            <a:ext cx="6642100" cy="3302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9956800"/>
            <a:ext cx="66421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98,500 m drilled · 60 wells · up to 3,000 m TVD · geothermal, oil &amp; gas, underground gas storage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10388600"/>
            <a:ext cx="6642100" cy="10160"/>
          </a:xfrm>
          <a:prstGeom prst="rect">
            <a:avLst/>
          </a:prstGeom>
          <a:solidFill>
            <a:srgbClr val="B9C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10464800"/>
            <a:ext cx="508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Enedril · Fishing and Drilling Solutions · 3 avenue des lacs, 64140 Lons (France) · info@enedril.fr · +33 (0)5 59 04 50 45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04000" y="10464800"/>
            <a:ext cx="495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79400"/>
            <a:ext cx="1498600" cy="3361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8000"/>
            <a:ext cx="5588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</a:pPr>
            <a:r>
              <a:rPr sz="240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FISHING, WORKOVER
&amp; PLUG AND ABANDONMENT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47800"/>
            <a:ext cx="44450" cy="7112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4200" y="1447800"/>
            <a:ext cx="651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400"/>
              </a:spcAft>
            </a:pPr>
            <a:r>
              <a:rPr sz="80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Fishing, workover and plug &amp; abandonment (P&amp;A): the full range of operations to recover, restore and secure wells, during drilling, workover or abandonment. Our fishing team responds quickly with a large rental and sale fleet, backed by our own workshop and custom tool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11400"/>
            <a:ext cx="1587500" cy="6604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17064"/>
            <a:ext cx="1587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2,500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759964"/>
            <a:ext cx="143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tools available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120900" y="2311400"/>
            <a:ext cx="1587500" cy="6604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20900" y="2417064"/>
            <a:ext cx="1587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24 / 48h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7100" y="2734564"/>
            <a:ext cx="143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response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4600" y="2311400"/>
            <a:ext cx="1587500" cy="6604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4600" y="2417064"/>
            <a:ext cx="1587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142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0800" y="2759964"/>
            <a:ext cx="143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fishing, workover and P&amp;A interventions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8300" y="2311400"/>
            <a:ext cx="1651000" cy="6604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8300" y="2417064"/>
            <a:ext cx="165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ISO 9001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4500" y="2696464"/>
            <a:ext cx="1498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certified quality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49600"/>
            <a:ext cx="2120900" cy="15494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8800" y="3238500"/>
            <a:ext cx="19177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800" y="3429000"/>
            <a:ext cx="19177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Recovery of rods, drill strings, BHAs and stuck or lost tools.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Jarring and impact tools, shock tools and intensifiers.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Overshots, spears, die collars, magnets, taper taps.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Tools on site for rental or purchase.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17800" y="3149600"/>
            <a:ext cx="2120900" cy="15494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19400" y="3238500"/>
            <a:ext cx="19177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WORKOVER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9400" y="3429000"/>
            <a:ext cx="19177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Well restoration and preparation for return to production.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Section milling and wash over.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Casing repair, scrapers, impression blocks, junk baskets.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Enlargement and reaming with RTU, DTU and SPX underreamers.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78400" y="3149600"/>
            <a:ext cx="2120900" cy="15494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80000" y="3238500"/>
            <a:ext cx="19177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PLUG &amp; ABANDONMENT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0000" y="3429000"/>
            <a:ext cx="19177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Safe, definitive abandonment of wells.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Cutting with hydraulic pipe cutters and section mills.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Whipstocks and sidetracks, packers, bridge plugs, liner hangers.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Cold cutter, wellhead replacement, casing jack, tanks.</a:t>
            </a:r>
          </a:p>
        </p:txBody>
      </p:sp>
      <p:pic>
        <p:nvPicPr>
          <p:cNvPr id="27" name="Picture 26" descr="_c_w4_125_1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76800"/>
            <a:ext cx="1587500" cy="2159000"/>
          </a:xfrm>
          <a:prstGeom prst="rect">
            <a:avLst/>
          </a:prstGeom>
        </p:spPr>
      </p:pic>
      <p:pic>
        <p:nvPicPr>
          <p:cNvPr id="28" name="Picture 27" descr="_c_w3_125_1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900" y="4876800"/>
            <a:ext cx="1587500" cy="2159000"/>
          </a:xfrm>
          <a:prstGeom prst="rect">
            <a:avLst/>
          </a:prstGeom>
        </p:spPr>
      </p:pic>
      <p:pic>
        <p:nvPicPr>
          <p:cNvPr id="29" name="Picture 28" descr="_c_w1_125_1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4600" y="4876800"/>
            <a:ext cx="1587500" cy="2159000"/>
          </a:xfrm>
          <a:prstGeom prst="rect">
            <a:avLst/>
          </a:prstGeom>
        </p:spPr>
      </p:pic>
      <p:pic>
        <p:nvPicPr>
          <p:cNvPr id="30" name="Picture 29" descr="_c_w2_130_17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8300" y="4876800"/>
            <a:ext cx="1651000" cy="21590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57200" y="7315200"/>
            <a:ext cx="6642100" cy="1905000"/>
          </a:xfrm>
          <a:prstGeom prst="rect">
            <a:avLst/>
          </a:prstGeom>
          <a:solidFill>
            <a:srgbClr val="EAF4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7315200"/>
            <a:ext cx="76200" cy="19050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7442200"/>
            <a:ext cx="508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WATER WELLS TOO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7670800"/>
            <a:ext cx="6223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0"/>
              </a:lnSpc>
              <a:spcAft>
                <a:spcPts val="0"/>
              </a:spcAft>
            </a:pPr>
            <a:r>
              <a:rPr sz="7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We also work on water wells, typically between 300 and 1,000 m, in support of drilling contractors. Habits formed on 3,000 m wells mean we handle shallow wells with the same rigor.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8128000"/>
            <a:ext cx="1955800" cy="939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7400" y="8204200"/>
            <a:ext cx="1752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86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CUT &amp; PULL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Hydraulic and external pipe cutters, spears and overshots to cut and pull casing, tubing or stuck strings.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8128000"/>
            <a:ext cx="1955800" cy="939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44800" y="8204200"/>
            <a:ext cx="1752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86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REAMING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Rotary and directional underreamers, hole openers, roller reamers and SPX drag-type underreamers.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00600" y="8128000"/>
            <a:ext cx="1955800" cy="939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02200" y="8204200"/>
            <a:ext cx="1752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86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MILLING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Junk mills, pilot and taper mills, section mills and washover shoes to clear and open the hole.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9398000"/>
            <a:ext cx="6642100" cy="7874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000" y="9499600"/>
            <a:ext cx="635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60"/>
              </a:lnSpc>
              <a:spcAft>
                <a:spcPts val="200"/>
              </a:spcAft>
            </a:pPr>
            <a:r>
              <a:rPr sz="84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WHERE WE WORK</a:t>
            </a:r>
          </a:p>
          <a:p>
            <a:pPr algn="l">
              <a:lnSpc>
                <a:spcPts val="960"/>
              </a:lnSpc>
              <a:spcAft>
                <a:spcPts val="200"/>
              </a:spcAft>
            </a:pPr>
            <a:r>
              <a:rPr sz="74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Based in Lons (64), south-west France. We mobilise across metropolitan France within 24 to 48 hours in an emergency, and have international experience in Europe and North Africa. A single dedicated team follows each job from diagnosis to resolution.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10388600"/>
            <a:ext cx="6642100" cy="10160"/>
          </a:xfrm>
          <a:prstGeom prst="rect">
            <a:avLst/>
          </a:prstGeom>
          <a:solidFill>
            <a:srgbClr val="B9C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10464800"/>
            <a:ext cx="508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Enedril · Fishing and Drilling Solutions · 3 avenue des lacs, 64140 Lons (France) · info@enedril.fr · +33 (0)5 59 04 50 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4000" y="10464800"/>
            <a:ext cx="495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79400"/>
            <a:ext cx="1498600" cy="3361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58800"/>
            <a:ext cx="5588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sz="270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TOOL CATALOGUE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41400"/>
            <a:ext cx="44450" cy="6604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4200" y="1041400"/>
            <a:ext cx="651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400"/>
              </a:spcAft>
            </a:pPr>
            <a:r>
              <a:rPr sz="80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A selection of the main tools in stock, available for rental or purchase. The full catalogue and technical data sheets are available on request. Sizes in inches; tool series are quoted where applicable.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5000"/>
          <a:ext cx="3238500" cy="863600"/>
        </p:xfrm>
        <a:graphic>
          <a:graphicData uri="http://schemas.openxmlformats.org/drawingml/2006/table">
            <a:tbl>
              <a:tblPr/>
              <a:tblGrid>
                <a:gridCol w="1625600"/>
                <a:gridCol w="1612900"/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CLEANING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Casing scraper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3-5/8" - 7-7/8"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Impression block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2-1/8" - 13-1/2"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Reverse circ. junk basket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5-5/8" - 17"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Junk basket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3-1/2" - 13-3/8"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60800" y="1905000"/>
          <a:ext cx="3238500" cy="698500"/>
        </p:xfrm>
        <a:graphic>
          <a:graphicData uri="http://schemas.openxmlformats.org/drawingml/2006/table">
            <a:tbl>
              <a:tblPr/>
              <a:tblGrid>
                <a:gridCol w="1625600"/>
                <a:gridCol w="1612900"/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CUTTING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Hydraulic pipe cutter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3600, 5700, 8200, 11700s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Section 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3600, 5500, 8200, 11700s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External hydraulic cutter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5-5/8" - 8"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895600"/>
          <a:ext cx="3238500" cy="1193800"/>
        </p:xfrm>
        <a:graphic>
          <a:graphicData uri="http://schemas.openxmlformats.org/drawingml/2006/table">
            <a:tbl>
              <a:tblPr/>
              <a:tblGrid>
                <a:gridCol w="1625600"/>
                <a:gridCol w="1612900"/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MILLING &amp; WASHOVER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Economill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3-3/4" - 12-1/8"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Junk 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2-1/8" - 17-3/8"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Super junk 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3-3/4" - 18-3/8"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Pilot 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3-1/4" - 8-1/2"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Taper 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2-1/2" - 18-1/2"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Washover shoe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2-9/16" - 13-3/8"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60800" y="2730500"/>
          <a:ext cx="3238500" cy="1193800"/>
        </p:xfrm>
        <a:graphic>
          <a:graphicData uri="http://schemas.openxmlformats.org/drawingml/2006/table">
            <a:tbl>
              <a:tblPr/>
              <a:tblGrid>
                <a:gridCol w="1625600"/>
                <a:gridCol w="1612900"/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RECOVERY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Die collar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4" - 9-5/8"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Fishing magnet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3-3/4" - 15"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Spear, internal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6-3/4" - 8"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Spear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2-3/8" - 20"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Overshot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SFS, SH, XSH, FS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Taper tap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3-1/16" - 8"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216400"/>
          <a:ext cx="3238500" cy="1193800"/>
        </p:xfrm>
        <a:graphic>
          <a:graphicData uri="http://schemas.openxmlformats.org/drawingml/2006/table">
            <a:tbl>
              <a:tblPr/>
              <a:tblGrid>
                <a:gridCol w="1625600"/>
                <a:gridCol w="1612900"/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REAMING &amp; ENLARGEMENT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Rotary underreamer (RTU)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DTS 350, 5700, 8200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Drilling-type underreamer (DTU)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5700, 8200, 12000, 18000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Master Driller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8200, 14000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Hole opener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14-3/4"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SPX drag-type underreamer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5700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Roller reamer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8200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60800" y="4051300"/>
          <a:ext cx="3238500" cy="1193800"/>
        </p:xfrm>
        <a:graphic>
          <a:graphicData uri="http://schemas.openxmlformats.org/drawingml/2006/table">
            <a:tbl>
              <a:tblPr/>
              <a:tblGrid>
                <a:gridCol w="1625600"/>
                <a:gridCol w="1612900"/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JARRING &amp; IMPACT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Fishing jar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3-1/8" - 8"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Jar intensifier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3-1/8" - 6-1/2"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Safety joint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3-1/2" - 8"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Stabilizer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3-1/8" - 9-1/2"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Crossover (XO)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3-3/8" - 11-3/4"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Bit sub / Float sub / Bull nose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2-3/16" - 10-1/4"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562600"/>
            <a:ext cx="6642100" cy="1092200"/>
          </a:xfrm>
          <a:prstGeom prst="rect">
            <a:avLst/>
          </a:prstGeom>
          <a:solidFill>
            <a:srgbClr val="EAF4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562600"/>
            <a:ext cx="76200" cy="10922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664200"/>
            <a:ext cx="381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FOR WATER WELLS (typically 300 - 1,000 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" y="5867400"/>
            <a:ext cx="6286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2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Cut &amp; pull: </a:t>
            </a:r>
            <a:r>
              <a:rPr sz="72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hydraulic pipe cutters, external cutters, spears, overshots, jars.</a:t>
            </a:r>
          </a:p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2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Reaming: </a:t>
            </a:r>
            <a:r>
              <a:rPr sz="72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RTU, DTU, SPX drag-type, hole openers, roller reamers.</a:t>
            </a:r>
          </a:p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2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Milling: </a:t>
            </a:r>
            <a:r>
              <a:rPr sz="72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junk mills, pilot mills, taper mills, section mills, washover shoes.</a:t>
            </a:r>
          </a:p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2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Stock available, response within 24/48h anywhere in metropolitan France.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781800"/>
            <a:ext cx="66421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_c_cutters_58_1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6883400"/>
            <a:ext cx="736600" cy="1320800"/>
          </a:xfrm>
          <a:prstGeom prst="rect">
            <a:avLst/>
          </a:prstGeom>
        </p:spPr>
      </p:pic>
      <p:pic>
        <p:nvPicPr>
          <p:cNvPr id="18" name="Picture 17" descr="_c_spx_tool_170_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400" y="7289800"/>
            <a:ext cx="2159000" cy="393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22400" y="6883400"/>
            <a:ext cx="2159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UNDERREAMERS</a:t>
            </a:r>
          </a:p>
          <a:p>
            <a:pPr algn="l">
              <a:lnSpc>
                <a:spcPts val="950"/>
              </a:lnSpc>
              <a:spcAft>
                <a:spcPts val="0"/>
              </a:spcAft>
            </a:pPr>
            <a:r>
              <a:rPr sz="69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DTU and SPX data sheets 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0" y="6908800"/>
            <a:ext cx="3175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80"/>
              </a:lnSpc>
              <a:spcAft>
                <a:spcPts val="300"/>
              </a:spcAft>
            </a:pPr>
            <a:r>
              <a:rPr sz="51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Downhole tools and bits: </a:t>
            </a: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drilling bits (PDC), underreaming, jars, stabilizers, tubulars, circulating subs.</a:t>
            </a:r>
          </a:p>
          <a:p>
            <a:pPr algn="l">
              <a:lnSpc>
                <a:spcPts val="880"/>
              </a:lnSpc>
              <a:spcAft>
                <a:spcPts val="300"/>
              </a:spcAft>
            </a:pPr>
            <a:r>
              <a:rPr sz="51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Special interventions: </a:t>
            </a: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whipstocks and sidetracks, packers, bridge plugs, liner hangers, casing jack, tanks.</a:t>
            </a:r>
          </a:p>
          <a:p>
            <a:pPr algn="l">
              <a:lnSpc>
                <a:spcPts val="880"/>
              </a:lnSpc>
              <a:spcAft>
                <a:spcPts val="300"/>
              </a:spcAft>
            </a:pPr>
            <a:r>
              <a:rPr sz="51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Custom tools: </a:t>
            </a: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designed with an API 5 &amp; 7 certified machine shop, repaired and redressed in our workshop.</a:t>
            </a:r>
          </a:p>
        </p:txBody>
      </p:sp>
      <p:pic>
        <p:nvPicPr>
          <p:cNvPr id="21" name="Picture 20" descr="_c_w4_127_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8432800"/>
            <a:ext cx="1612900" cy="1168400"/>
          </a:xfrm>
          <a:prstGeom prst="rect">
            <a:avLst/>
          </a:prstGeom>
        </p:spPr>
      </p:pic>
      <p:pic>
        <p:nvPicPr>
          <p:cNvPr id="22" name="Picture 21" descr="_c_w3_127_9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600" y="8432800"/>
            <a:ext cx="1612900" cy="1168400"/>
          </a:xfrm>
          <a:prstGeom prst="rect">
            <a:avLst/>
          </a:prstGeom>
        </p:spPr>
      </p:pic>
      <p:pic>
        <p:nvPicPr>
          <p:cNvPr id="23" name="Picture 22" descr="_c_w1_127_9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0" y="8432800"/>
            <a:ext cx="1612900" cy="1168400"/>
          </a:xfrm>
          <a:prstGeom prst="rect">
            <a:avLst/>
          </a:prstGeom>
        </p:spPr>
      </p:pic>
      <p:pic>
        <p:nvPicPr>
          <p:cNvPr id="24" name="Picture 23" descr="_c_w2_127_9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8432800"/>
            <a:ext cx="1612900" cy="11684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57200" y="9728200"/>
            <a:ext cx="6642100" cy="5588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9728200"/>
            <a:ext cx="62865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74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HOW TO REQUEST A QUOTATION: </a:t>
            </a:r>
            <a:r>
              <a:rPr sz="74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specify the tool type, size or series, top and bottom connections, and the operation planned (cut &amp; pull, reaming, milling...). Rental or purchase.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0388600"/>
            <a:ext cx="6642100" cy="10160"/>
          </a:xfrm>
          <a:prstGeom prst="rect">
            <a:avLst/>
          </a:prstGeom>
          <a:solidFill>
            <a:srgbClr val="B9C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10464800"/>
            <a:ext cx="508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Enedril · Fishing and Drilling Solutions · 3 avenue des lacs, 64140 Lons (France) · info@enedril.fr · +33 (0)5 59 04 50 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4000" y="10464800"/>
            <a:ext cx="495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5207000" cy="6604000"/>
          </a:xfrm>
          <a:custGeom>
            <a:avLst/>
            <a:gdLst/>
            <a:ahLst/>
            <a:cxnLst/>
            <a:rect l="l" t="t" r="r" b="b"/>
            <a:pathLst>
              <a:path w="410" h="520">
                <a:moveTo>
                  <a:pt x="0" y="0"/>
                </a:moveTo>
                <a:lnTo>
                  <a:pt x="410" y="0"/>
                </a:lnTo>
                <a:lnTo>
                  <a:pt x="330" y="430"/>
                </a:lnTo>
                <a:lnTo>
                  <a:pt x="0" y="520"/>
                </a:lnTo>
                <a:close/>
              </a:path>
            </a:pathLst>
          </a:custGeom>
          <a:solidFill>
            <a:srgbClr val="0A4F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191000" y="0"/>
            <a:ext cx="3365500" cy="8890000"/>
          </a:xfrm>
          <a:custGeom>
            <a:avLst/>
            <a:gdLst/>
            <a:ahLst/>
            <a:cxnLst/>
            <a:rect l="l" t="t" r="r" b="b"/>
            <a:pathLst>
              <a:path w="265" h="700">
                <a:moveTo>
                  <a:pt x="80" y="0"/>
                </a:moveTo>
                <a:lnTo>
                  <a:pt x="265" y="0"/>
                </a:lnTo>
                <a:lnTo>
                  <a:pt x="265" y="700"/>
                </a:lnTo>
                <a:lnTo>
                  <a:pt x="0" y="430"/>
                </a:lnTo>
                <a:close/>
              </a:path>
            </a:pathLst>
          </a:cu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5461000"/>
            <a:ext cx="7556500" cy="5232400"/>
          </a:xfrm>
          <a:custGeom>
            <a:avLst/>
            <a:gdLst/>
            <a:ahLst/>
            <a:cxnLst/>
            <a:rect l="l" t="t" r="r" b="b"/>
            <a:pathLst>
              <a:path w="595" h="412">
                <a:moveTo>
                  <a:pt x="330" y="0"/>
                </a:moveTo>
                <a:lnTo>
                  <a:pt x="595" y="270"/>
                </a:lnTo>
                <a:lnTo>
                  <a:pt x="595" y="412"/>
                </a:lnTo>
                <a:lnTo>
                  <a:pt x="0" y="412"/>
                </a:lnTo>
                <a:lnTo>
                  <a:pt x="0" y="90"/>
                </a:lnTo>
                <a:close/>
              </a:path>
            </a:pathLst>
          </a:cu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4191000" y="0"/>
            <a:ext cx="1016000" cy="5461000"/>
          </a:xfrm>
          <a:prstGeom prst="line">
            <a:avLst/>
          </a:prstGeom>
          <a:ln w="1143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4191000" y="5461000"/>
            <a:ext cx="3365500" cy="3429000"/>
          </a:xfrm>
          <a:prstGeom prst="line">
            <a:avLst/>
          </a:prstGeom>
          <a:ln w="1143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0" y="5461000"/>
            <a:ext cx="4191000" cy="1143000"/>
          </a:xfrm>
          <a:prstGeom prst="line">
            <a:avLst/>
          </a:prstGeom>
          <a:ln w="114300">
            <a:solidFill>
              <a:srgbClr val="FFFFFF"/>
            </a:solidFill>
          </a:ln>
        </p:spPr>
      </p:cxnSp>
      <p:pic>
        <p:nvPicPr>
          <p:cNvPr id="9" name="Picture 8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6800"/>
            <a:ext cx="3429000" cy="7784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8890000"/>
            <a:ext cx="5334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Enedril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3, avenue des lacs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64140 Lons (FRANCE)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info@enedril.fr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+33 (0)5 59 04 50 45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www.enedril.com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236200"/>
            <a:ext cx="5715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Fishing response within 24/48h across metropolitan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