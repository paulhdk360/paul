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Ubuntu Mono" charset="1" panose="020B0509030602030204"/>
      <p:regular r:id="rId7"/>
    </p:embeddedFont>
    <p:embeddedFont>
      <p:font typeface="Ubuntu Mono Bold" charset="1" panose="020B0809030602030204"/>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font" Target="fonts/font7.fntdata"/><Relationship Id="rId8"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STRING MAGNET</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CLEANING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IN-LINE STRING MAGNET</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IN-LINE MAGNET RUN IN THE WORK STRING TO COLLECT FERROUS DEBRIS DURING CASING CUTTING, MILLING, PLUG AND ABANDONMENT AND CASING EXIT OPERATIONS, ESPECIALLY WHERE THE AVAILABLE CIRCULATION IS NOT ENOUGH TO CARRY THE SWARF OUT OF THE HOLE. LARGE MAGNETIC SLEEVES WITH RARE EARTH MAGNETS GIVE A HIGH PICK-UP CAPACITY. THE BODY IS A SINGLE PIECE WITH NO INTERNAL CONNECTION AND IS RATED FOR HIGH TORQUE. AVAILABLE FOR CASING FROM 4-1/2 TO 14 IN., IN STANDARD OR HIGH TEMPERATURE VERSIONS.</a:t>
            </a:r>
          </a:p>
        </p:txBody>
      </p:sp>
      <p:sp>
        <p:nvSpPr>
          <p:cNvPr id="21" name="TextBox 20"/>
          <p:cNvSpPr txBox="1"/>
          <p:nvPr/>
        </p:nvSpPr>
        <p:spPr>
          <a:xfrm>
            <a:off x="711200" y="49784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181600"/>
          <a:ext cx="6134098" cy="1492250"/>
        </p:xfrm>
        <a:graphic>
          <a:graphicData uri="http://schemas.openxmlformats.org/drawingml/2006/table">
            <a:tbl>
              <a:tblPr/>
              <a:tblGrid>
                <a:gridCol w="1063244"/>
                <a:gridCol w="599778"/>
                <a:gridCol w="872405"/>
                <a:gridCol w="872405"/>
                <a:gridCol w="872405"/>
                <a:gridCol w="981456"/>
                <a:gridCol w="872405"/>
              </a:tblGrid>
              <a:tr h="381000">
                <a:tc>
                  <a:txBody>
                    <a:bodyPr wrap="square"/>
                    <a:lstStyle/>
                    <a:p>
                      <a:pPr algn="ctr">
                        <a:lnSpc>
                          <a:spcPts val="860"/>
                        </a:lnSpc>
                      </a:pPr>
                      <a:r>
                        <a:rPr sz="700" b="1">
                          <a:solidFill>
                            <a:srgbClr val="FEFEFF"/>
                          </a:solidFill>
                          <a:latin typeface="Ubuntu Mono"/>
                          <a:ea typeface="Ubuntu Mono"/>
                          <a:cs typeface="Ubuntu Mono"/>
                          <a:sym typeface="Ubuntu Mono"/>
                        </a:rPr>
                        <a:t>Casing size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Tool OD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Connection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Tool yield torque (ft-lb)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Tool tensile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Connection yield torque (ft-lb)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Connection tensile*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58750">
                <a:tc>
                  <a:txBody>
                    <a:bodyPr wrap="square"/>
                    <a:lstStyle/>
                    <a:p>
                      <a:pPr algn="ctr">
                        <a:lnSpc>
                          <a:spcPts val="860"/>
                        </a:lnSpc>
                      </a:pPr>
                      <a:r>
                        <a:rPr sz="700" b="0">
                          <a:solidFill>
                            <a:srgbClr val="FEFEFF"/>
                          </a:solidFill>
                          <a:latin typeface="Ubuntu Mono"/>
                          <a:ea typeface="Ubuntu Mono"/>
                          <a:cs typeface="Ubuntu Mono"/>
                          <a:sym typeface="Ubuntu Mono"/>
                        </a:rPr>
                        <a:t>4-1/2, 4-3/4, 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3-1/8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2-3/8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457,940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5,810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362,660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8750">
                <a:tc>
                  <a:txBody>
                    <a:bodyPr wrap="square"/>
                    <a:lstStyle/>
                    <a:p>
                      <a:pPr algn="ctr">
                        <a:lnSpc>
                          <a:spcPts val="860"/>
                        </a:lnSpc>
                      </a:pPr>
                      <a:r>
                        <a:rPr sz="700" b="0">
                          <a:solidFill>
                            <a:srgbClr val="FEFEFF"/>
                          </a:solidFill>
                          <a:latin typeface="Ubuntu Mono"/>
                          <a:ea typeface="Ubuntu Mono"/>
                          <a:cs typeface="Ubuntu Mono"/>
                          <a:sym typeface="Ubuntu Mono"/>
                        </a:rPr>
                        <a:t>5-1/2, 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2-7/8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20,000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698,880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11,080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478,540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8750">
                <a:tc>
                  <a:txBody>
                    <a:bodyPr wrap="square"/>
                    <a:lstStyle/>
                    <a:p>
                      <a:pPr algn="ctr">
                        <a:lnSpc>
                          <a:spcPts val="860"/>
                        </a:lnSpc>
                      </a:pPr>
                      <a:r>
                        <a:rPr sz="700" b="0">
                          <a:solidFill>
                            <a:srgbClr val="FEFEFF"/>
                          </a:solidFill>
                          <a:latin typeface="Ubuntu Mono"/>
                          <a:ea typeface="Ubuntu Mono"/>
                          <a:cs typeface="Ubuntu Mono"/>
                          <a:sym typeface="Ubuntu Mono"/>
                        </a:rPr>
                        <a:t>6-5/8, 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3-1/2 API IF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25,000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1,032,640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18,090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572,690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8750">
                <a:tc>
                  <a:txBody>
                    <a:bodyPr wrap="square"/>
                    <a:lstStyle/>
                    <a:p>
                      <a:pPr algn="ctr">
                        <a:lnSpc>
                          <a:spcPts val="860"/>
                        </a:lnSpc>
                      </a:pPr>
                      <a:r>
                        <a:rPr sz="700" b="0">
                          <a:solidFill>
                            <a:srgbClr val="FEFEFF"/>
                          </a:solidFill>
                          <a:latin typeface="Ubuntu Mono"/>
                          <a:ea typeface="Ubuntu Mono"/>
                          <a:cs typeface="Ubuntu Mono"/>
                          <a:sym typeface="Ubuntu Mono"/>
                        </a:rPr>
                        <a:t>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3-1/2 API IF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42,500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2,467,780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18,090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572,690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8750">
                <a:tc>
                  <a:txBody>
                    <a:bodyPr wrap="square"/>
                    <a:lstStyle/>
                    <a:p>
                      <a:pPr algn="ctr">
                        <a:lnSpc>
                          <a:spcPts val="860"/>
                        </a:lnSpc>
                      </a:pPr>
                      <a:r>
                        <a:rPr sz="700" b="0">
                          <a:solidFill>
                            <a:srgbClr val="FEFEFF"/>
                          </a:solidFill>
                          <a:latin typeface="Ubuntu Mono"/>
                          <a:ea typeface="Ubuntu Mono"/>
                          <a:cs typeface="Ubuntu Mono"/>
                          <a:sym typeface="Ubuntu Mono"/>
                        </a:rPr>
                        <a:t>9-5/8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4-1/2 API IF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80,000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2,126,520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38,060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919,880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8750">
                <a:tc>
                  <a:txBody>
                    <a:bodyPr wrap="square"/>
                    <a:lstStyle/>
                    <a:p>
                      <a:pPr algn="ctr">
                        <a:lnSpc>
                          <a:spcPts val="860"/>
                        </a:lnSpc>
                      </a:pPr>
                      <a:r>
                        <a:rPr sz="700" b="0">
                          <a:solidFill>
                            <a:srgbClr val="FEFEFF"/>
                          </a:solidFill>
                          <a:latin typeface="Ubuntu Mono"/>
                          <a:ea typeface="Ubuntu Mono"/>
                          <a:cs typeface="Ubuntu Mono"/>
                          <a:sym typeface="Ubuntu Mono"/>
                        </a:rPr>
                        <a:t>10-3/4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6-5/8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105,000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3,759,840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83,380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1,770,500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8750">
                <a:tc>
                  <a:txBody>
                    <a:bodyPr wrap="square"/>
                    <a:lstStyle/>
                    <a:p>
                      <a:pPr algn="ctr">
                        <a:lnSpc>
                          <a:spcPts val="860"/>
                        </a:lnSpc>
                      </a:pPr>
                      <a:r>
                        <a:rPr sz="700" b="0">
                          <a:solidFill>
                            <a:srgbClr val="FEFEFF"/>
                          </a:solidFill>
                          <a:latin typeface="Ubuntu Mono"/>
                          <a:ea typeface="Ubuntu Mono"/>
                          <a:cs typeface="Ubuntu Mono"/>
                          <a:sym typeface="Ubuntu Mono"/>
                        </a:rPr>
                        <a:t>13-3/8, 13-5/8, 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10-1/8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6-5/8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250,000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4,879,680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83,380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1,770,500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3" name="TextBox 22"/>
          <p:cNvSpPr txBox="1"/>
          <p:nvPr/>
        </p:nvSpPr>
        <p:spPr>
          <a:xfrm>
            <a:off x="711200" y="6711950"/>
            <a:ext cx="6134100" cy="114300"/>
          </a:xfrm>
          <a:prstGeom prst="rect">
            <a:avLst/>
          </a:prstGeom>
          <a:noFill/>
        </p:spPr>
        <p:txBody>
          <a:bodyPr wrap="square" lIns="0" rIns="0" tIns="0" bIns="0">
            <a:spAutoFit/>
          </a:bodyPr>
          <a:lstStyle/>
          <a:p>
            <a:pPr algn="l">
              <a:spcAft>
                <a:spcPts val="0"/>
              </a:spcAft>
            </a:pPr>
            <a:r>
              <a:rPr sz="640" b="0">
                <a:solidFill>
                  <a:srgbClr val="444444"/>
                </a:solidFill>
                <a:latin typeface="Ubuntu Mono"/>
                <a:ea typeface="Ubuntu Mono"/>
                <a:cs typeface="Ubuntu Mono"/>
                <a:sym typeface="Ubuntu Mono"/>
              </a:rPr>
              <a:t>* Tensile load at zero make-up torque. Dimensions in inches, loads in lb and ft-lb.</a:t>
            </a:r>
          </a:p>
        </p:txBody>
      </p:sp>
      <p:pic>
        <p:nvPicPr>
          <p:cNvPr id="24" name="Picture 23" descr="stringmagnet_tool_blue.png"/>
          <p:cNvPicPr>
            <a:picLocks noChangeAspect="1"/>
          </p:cNvPicPr>
          <p:nvPr/>
        </p:nvPicPr>
        <p:blipFill>
          <a:blip r:embed="rId7"/>
          <a:stretch>
            <a:fillRect/>
          </a:stretch>
        </p:blipFill>
        <p:spPr>
          <a:xfrm>
            <a:off x="762000" y="7061200"/>
            <a:ext cx="2730500" cy="1355722"/>
          </a:xfrm>
          <a:prstGeom prst="rect">
            <a:avLst/>
          </a:prstGeom>
        </p:spPr>
      </p:pic>
      <p:sp>
        <p:nvSpPr>
          <p:cNvPr id="25" name="TextBox 24"/>
          <p:cNvSpPr txBox="1"/>
          <p:nvPr/>
        </p:nvSpPr>
        <p:spPr>
          <a:xfrm>
            <a:off x="3810000" y="69596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6" name="TextBox 25"/>
          <p:cNvSpPr txBox="1"/>
          <p:nvPr/>
        </p:nvSpPr>
        <p:spPr>
          <a:xfrm>
            <a:off x="3810000" y="7162800"/>
            <a:ext cx="3035300" cy="127000"/>
          </a:xfrm>
          <a:prstGeom prst="rect">
            <a:avLst/>
          </a:prstGeom>
          <a:noFill/>
        </p:spPr>
        <p:txBody>
          <a:bodyPr wrap="square" lIns="0" rIns="0" tIns="0" bIns="0">
            <a:spAutoFit/>
          </a:bodyPr>
          <a:lstStyle/>
          <a:p>
            <a:pPr algn="l">
              <a:lnSpc>
                <a:spcPts val="900"/>
              </a:lnSpc>
              <a:spcAft>
                <a:spcPts val="20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Large magnetic area: </a:t>
            </a:r>
            <a:r>
              <a:rPr sz="710" b="0">
                <a:solidFill>
                  <a:srgbClr val="000000"/>
                </a:solidFill>
                <a:latin typeface="Ubuntu Mono"/>
                <a:ea typeface="Ubuntu Mono"/>
                <a:cs typeface="Ubuntu Mono"/>
                <a:sym typeface="Ubuntu Mono"/>
              </a:rPr>
              <a:t>high pick-up capacity for ferrous debris.</a:t>
            </a:r>
          </a:p>
          <a:p>
            <a:pPr algn="l">
              <a:lnSpc>
                <a:spcPts val="900"/>
              </a:lnSpc>
              <a:spcAft>
                <a:spcPts val="20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Rare earth magnets: </a:t>
            </a:r>
            <a:r>
              <a:rPr sz="710" b="0">
                <a:solidFill>
                  <a:srgbClr val="000000"/>
                </a:solidFill>
                <a:latin typeface="Ubuntu Mono"/>
                <a:ea typeface="Ubuntu Mono"/>
                <a:cs typeface="Ubuntu Mono"/>
                <a:sym typeface="Ubuntu Mono"/>
              </a:rPr>
              <a:t>powerful field, standard and high temperature options.</a:t>
            </a:r>
          </a:p>
          <a:p>
            <a:pPr algn="l">
              <a:lnSpc>
                <a:spcPts val="900"/>
              </a:lnSpc>
              <a:spcAft>
                <a:spcPts val="20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Replaceable sleeves: </a:t>
            </a:r>
            <a:r>
              <a:rPr sz="710" b="0">
                <a:solidFill>
                  <a:srgbClr val="000000"/>
                </a:solidFill>
                <a:latin typeface="Ubuntu Mono"/>
                <a:ea typeface="Ubuntu Mono"/>
                <a:cs typeface="Ubuntu Mono"/>
                <a:sym typeface="Ubuntu Mono"/>
              </a:rPr>
              <a:t>magnetic sleeves are easily removed and replaced.</a:t>
            </a:r>
          </a:p>
          <a:p>
            <a:pPr algn="l">
              <a:lnSpc>
                <a:spcPts val="900"/>
              </a:lnSpc>
              <a:spcAft>
                <a:spcPts val="20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One-piece body: </a:t>
            </a:r>
            <a:r>
              <a:rPr sz="710" b="0">
                <a:solidFill>
                  <a:srgbClr val="000000"/>
                </a:solidFill>
                <a:latin typeface="Ubuntu Mono"/>
                <a:ea typeface="Ubuntu Mono"/>
                <a:cs typeface="Ubuntu Mono"/>
                <a:sym typeface="Ubuntu Mono"/>
              </a:rPr>
              <a:t>solid mandrel with no internal connection.</a:t>
            </a:r>
          </a:p>
          <a:p>
            <a:pPr algn="l">
              <a:lnSpc>
                <a:spcPts val="900"/>
              </a:lnSpc>
              <a:spcAft>
                <a:spcPts val="20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High torque rating: </a:t>
            </a:r>
            <a:r>
              <a:rPr sz="710" b="0">
                <a:solidFill>
                  <a:srgbClr val="000000"/>
                </a:solidFill>
                <a:latin typeface="Ubuntu Mono"/>
                <a:ea typeface="Ubuntu Mono"/>
                <a:cs typeface="Ubuntu Mono"/>
                <a:sym typeface="Ubuntu Mono"/>
              </a:rPr>
              <a:t>suited to milling and cutting strings.</a:t>
            </a:r>
          </a:p>
          <a:p>
            <a:pPr algn="l">
              <a:lnSpc>
                <a:spcPts val="900"/>
              </a:lnSpc>
              <a:spcAft>
                <a:spcPts val="20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Fishable through the ID.</a:t>
            </a:r>
          </a:p>
        </p:txBody>
      </p:sp>
      <p:sp>
        <p:nvSpPr>
          <p:cNvPr id="27" name="TextBox 26"/>
          <p:cNvSpPr txBox="1"/>
          <p:nvPr/>
        </p:nvSpPr>
        <p:spPr>
          <a:xfrm>
            <a:off x="711200" y="8712200"/>
            <a:ext cx="2921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APPLICATIONS</a:t>
            </a:r>
          </a:p>
        </p:txBody>
      </p:sp>
      <p:sp>
        <p:nvSpPr>
          <p:cNvPr id="28" name="TextBox 27"/>
          <p:cNvSpPr txBox="1"/>
          <p:nvPr/>
        </p:nvSpPr>
        <p:spPr>
          <a:xfrm>
            <a:off x="711200" y="8915400"/>
            <a:ext cx="2984500" cy="127000"/>
          </a:xfrm>
          <a:prstGeom prst="rect">
            <a:avLst/>
          </a:prstGeom>
          <a:noFill/>
        </p:spPr>
        <p:txBody>
          <a:bodyPr wrap="square" lIns="0" rIns="0" tIns="0" bIns="0">
            <a:spAutoFit/>
          </a:bodyPr>
          <a:lstStyle/>
          <a:p>
            <a:pPr algn="l">
              <a:lnSpc>
                <a:spcPts val="900"/>
              </a:lnSpc>
              <a:spcAft>
                <a:spcPts val="20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Casing cutting and milling</a:t>
            </a:r>
          </a:p>
          <a:p>
            <a:pPr algn="l">
              <a:lnSpc>
                <a:spcPts val="900"/>
              </a:lnSpc>
              <a:spcAft>
                <a:spcPts val="20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Plug and abandonment</a:t>
            </a:r>
          </a:p>
          <a:p>
            <a:pPr algn="l">
              <a:lnSpc>
                <a:spcPts val="900"/>
              </a:lnSpc>
              <a:spcAft>
                <a:spcPts val="20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Casing exit (window milling)</a:t>
            </a:r>
          </a:p>
          <a:p>
            <a:pPr algn="l">
              <a:lnSpc>
                <a:spcPts val="900"/>
              </a:lnSpc>
              <a:spcAft>
                <a:spcPts val="20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Wellbore cleanout where circulation is limited</a:t>
            </a:r>
          </a:p>
        </p:txBody>
      </p:sp>
      <p:sp>
        <p:nvSpPr>
          <p:cNvPr id="29" name="TextBox 28"/>
          <p:cNvSpPr txBox="1"/>
          <p:nvPr/>
        </p:nvSpPr>
        <p:spPr>
          <a:xfrm>
            <a:off x="3810000" y="87122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BENEFITS</a:t>
            </a:r>
          </a:p>
        </p:txBody>
      </p:sp>
      <p:sp>
        <p:nvSpPr>
          <p:cNvPr id="30" name="TextBox 29"/>
          <p:cNvSpPr txBox="1"/>
          <p:nvPr/>
        </p:nvSpPr>
        <p:spPr>
          <a:xfrm>
            <a:off x="3810000" y="8915400"/>
            <a:ext cx="3035300" cy="127000"/>
          </a:xfrm>
          <a:prstGeom prst="rect">
            <a:avLst/>
          </a:prstGeom>
          <a:noFill/>
        </p:spPr>
        <p:txBody>
          <a:bodyPr wrap="square" lIns="0" rIns="0" tIns="0" bIns="0">
            <a:spAutoFit/>
          </a:bodyPr>
          <a:lstStyle/>
          <a:p>
            <a:pPr algn="l">
              <a:lnSpc>
                <a:spcPts val="900"/>
              </a:lnSpc>
              <a:spcAft>
                <a:spcPts val="20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Better ferrous debris removal when circulation is inadequate</a:t>
            </a:r>
          </a:p>
          <a:p>
            <a:pPr algn="l">
              <a:lnSpc>
                <a:spcPts val="900"/>
              </a:lnSpc>
              <a:spcAft>
                <a:spcPts val="20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Cleaner wellbore, less non-productive time</a:t>
            </a:r>
          </a:p>
          <a:p>
            <a:pPr algn="l">
              <a:lnSpc>
                <a:spcPts val="900"/>
              </a:lnSpc>
              <a:spcAft>
                <a:spcPts val="20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Lower overall cost of the operation</a:t>
            </a:r>
          </a:p>
        </p:txBody>
      </p:sp>
      <p:sp>
        <p:nvSpPr>
          <p:cNvPr id="31" name="TextBox 30"/>
          <p:cNvSpPr txBox="1"/>
          <p:nvPr/>
        </p:nvSpPr>
        <p:spPr>
          <a:xfrm>
            <a:off x="711200" y="97028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2" name="TextBox 31"/>
          <p:cNvSpPr txBox="1"/>
          <p:nvPr/>
        </p:nvSpPr>
        <p:spPr>
          <a:xfrm>
            <a:off x="711200" y="9893300"/>
            <a:ext cx="6134100" cy="381000"/>
          </a:xfrm>
          <a:prstGeom prst="rect">
            <a:avLst/>
          </a:prstGeom>
          <a:noFill/>
        </p:spPr>
        <p:txBody>
          <a:bodyPr wrap="square" lIns="0" rIns="0" tIns="0" bIns="0">
            <a:spAutoFit/>
          </a:bodyPr>
          <a:lstStyle/>
          <a:p>
            <a:pPr algn="just">
              <a:lnSpc>
                <a:spcPts val="880"/>
              </a:lnSpc>
              <a:spcAft>
                <a:spcPts val="0"/>
              </a:spcAft>
            </a:pPr>
            <a:r>
              <a:rPr sz="690" b="0">
                <a:solidFill>
                  <a:srgbClr val="000000"/>
                </a:solidFill>
                <a:latin typeface="Ubuntu Mono"/>
                <a:ea typeface="Ubuntu Mono"/>
                <a:cs typeface="Ubuntu Mono"/>
                <a:sym typeface="Ubuntu Mono"/>
              </a:rPr>
              <a:t>Please specify: 1. casing size and weight  2. tool OD and top / bottom connections  3. standard or high temperature magnets  4. number of magnetic sleeves and spare sleeves.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DAGS_rYUj9A</dc:identifier>
  <dcterms:modified xsi:type="dcterms:W3CDTF">2011-08-01T06:04:30Z</dcterms:modified>
  <cp:revision>1</cp:revision>
  <dc:title>Catalogue outils</dc:title>
</cp:coreProperties>
</file>