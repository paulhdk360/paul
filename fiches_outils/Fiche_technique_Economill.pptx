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ECONOMILL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LOW-COST LIGHT-DUTY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LOW-COST MILLING TOOL FOR LIGHT-DUTY JOBS, DRESSED WITH TUNGSTEN CARBIDE. IT IS EFFECTIVE FOR MILLING PACKERS, RETAINERS, BRIDGE PLUGS AND CEMENT. IT HAS STANDARD API CONNECTIONS, SO IT IS MADE UP AND BROKEN OUT WITH A STANDARD BIT BREAKER AND NEEDS NO ADDITIONAL SUB. FLUID IS DIRECTED ALONG EACH CUTTING BLADE AND THROUGH THE CENTRE OF THE HEAD FOR CUTTINGS REMOVAL AND COOLING.</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84800"/>
          <a:ext cx="6134096" cy="1155700"/>
        </p:xfrm>
        <a:graphic>
          <a:graphicData uri="http://schemas.openxmlformats.org/drawingml/2006/table">
            <a:tbl>
              <a:tblPr/>
              <a:tblGrid>
                <a:gridCol w="652563"/>
                <a:gridCol w="1174614"/>
                <a:gridCol w="1174614"/>
                <a:gridCol w="1435640"/>
                <a:gridCol w="1044102"/>
                <a:gridCol w="652563"/>
              </a:tblGrid>
              <a:tr h="3302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Dressed diameter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Recommended make-up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3-1/4 - 4-3/8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3,000 - 3,500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4-1/2 - 5-3/8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6,000 - 7,000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7,000 - 9,000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7-1/2 - 8-3/4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12,000 - 16,000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10-1/4 - 12-1/4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28,000 - 32,000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57860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weights in lb (approximate). Column order follows the source layout.</a:t>
            </a:r>
          </a:p>
        </p:txBody>
      </p:sp>
      <p:sp>
        <p:nvSpPr>
          <p:cNvPr id="24" name="TextBox 23"/>
          <p:cNvSpPr txBox="1"/>
          <p:nvPr/>
        </p:nvSpPr>
        <p:spPr>
          <a:xfrm>
            <a:off x="711200" y="6921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12470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Tungsten carbide dressing: </a:t>
            </a:r>
            <a:r>
              <a:rPr sz="720" b="0">
                <a:solidFill>
                  <a:srgbClr val="000000"/>
                </a:solidFill>
                <a:latin typeface="Ubuntu Mono"/>
                <a:ea typeface="Ubuntu Mono"/>
                <a:cs typeface="Ubuntu Mono"/>
                <a:sym typeface="Ubuntu Mono"/>
              </a:rPr>
              <a:t>for packers, retainers, bridge plugs and cement.</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Standard API pin connection: </a:t>
            </a:r>
            <a:r>
              <a:rPr sz="720" b="0">
                <a:solidFill>
                  <a:srgbClr val="000000"/>
                </a:solidFill>
                <a:latin typeface="Ubuntu Mono"/>
                <a:ea typeface="Ubuntu Mono"/>
                <a:cs typeface="Ubuntu Mono"/>
                <a:sym typeface="Ubuntu Mono"/>
              </a:rPr>
              <a:t>made up with a standard bit breaker; no extra sub needed.</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Circulation: </a:t>
            </a:r>
            <a:r>
              <a:rPr sz="720" b="0">
                <a:solidFill>
                  <a:srgbClr val="000000"/>
                </a:solidFill>
                <a:latin typeface="Ubuntu Mono"/>
                <a:ea typeface="Ubuntu Mono"/>
                <a:cs typeface="Ubuntu Mono"/>
                <a:sym typeface="Ubuntu Mono"/>
              </a:rPr>
              <a:t>flow along each blade and through the head centre for cooling and cuttings removal.</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Stabilizing ribs: </a:t>
            </a:r>
            <a:r>
              <a:rPr sz="720" b="0">
                <a:solidFill>
                  <a:srgbClr val="000000"/>
                </a:solidFill>
                <a:latin typeface="Ubuntu Mono"/>
                <a:ea typeface="Ubuntu Mono"/>
                <a:cs typeface="Ubuntu Mono"/>
                <a:sym typeface="Ubuntu Mono"/>
              </a:rPr>
              <a:t>above the blades, to protect the casing.</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Cast construction: </a:t>
            </a:r>
            <a:r>
              <a:rPr sz="720" b="0">
                <a:solidFill>
                  <a:srgbClr val="000000"/>
                </a:solidFill>
                <a:latin typeface="Ubuntu Mono"/>
                <a:ea typeface="Ubuntu Mono"/>
                <a:cs typeface="Ubuntu Mono"/>
                <a:sym typeface="Ubuntu Mono"/>
              </a:rPr>
              <a:t>not to be used as a junk mill; cast material has lower strength.</a:t>
            </a:r>
          </a:p>
        </p:txBody>
      </p:sp>
      <p:sp>
        <p:nvSpPr>
          <p:cNvPr id="26" name="TextBox 25"/>
          <p:cNvSpPr txBox="1"/>
          <p:nvPr/>
        </p:nvSpPr>
        <p:spPr>
          <a:xfrm>
            <a:off x="3810000" y="69215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7" name="Table 26"/>
          <p:cNvGraphicFramePr>
            <a:graphicFrameLocks noGrp="1"/>
          </p:cNvGraphicFramePr>
          <p:nvPr/>
        </p:nvGraphicFramePr>
        <p:xfrm>
          <a:off x="3810000" y="7112000"/>
          <a:ext cx="3035300" cy="1066800"/>
        </p:xfrm>
        <a:graphic>
          <a:graphicData uri="http://schemas.openxmlformats.org/drawingml/2006/table">
            <a:tbl>
              <a:tblPr/>
              <a:tblGrid>
                <a:gridCol w="1333500"/>
                <a:gridCol w="1701800"/>
              </a:tblGrid>
              <a:tr h="177800">
                <a:tc>
                  <a:txBody>
                    <a:bodyPr wrap="square"/>
                    <a:lstStyle/>
                    <a:p>
                      <a:pPr algn="l">
                        <a:lnSpc>
                          <a:spcPts val="819"/>
                        </a:lnSpc>
                      </a:pPr>
                      <a:r>
                        <a:rPr sz="66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2,000 - 8,000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Practice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Light weight, low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Surface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250 - 340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Surf. speed / (O.D. x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If bouncing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Cut speed, then raise slowly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Stabilizer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Above mill, O.D. not larger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3810000" y="8458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8648700"/>
            <a:ext cx="30353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mill dressed diameter  2. size and weight of the casing to run through, if known  3. protective subs, available on request.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