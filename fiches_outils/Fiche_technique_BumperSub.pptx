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BUMPER SUB</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JARRING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FISHING BUMPER SUB</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DURABLE FISHING BUMPER SUB MADE OF HEAT-TREATED ALLOY STEEL FOR SUSTAINED BUMPING WITH MINIMAL MAINTENANCE. RUN IN THE STRING JUST ABOVE THE FISHING TOOL OR SAFETY JOINT, IT LETS THE OPERATOR DELIVER SOLID DOWNWARD OR UPWARD BLOWS AT WILL, FOR EXAMPLE TO RELEASE A FISHING TOOL THAT CANNOT PULL THE FISH. A HEXAGONAL MANDREL SLIDES IN A MATCHING BODY, SO TORQUE IS TRANSMITTED OVER THE WHOLE STROKE. IT CAN ALSO ACT AS A FEED-OFF TOOL FOR INTERNAL PIPE CUTTING.</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2997199" cy="2286000"/>
        </p:xfrm>
        <a:graphic>
          <a:graphicData uri="http://schemas.openxmlformats.org/drawingml/2006/table">
            <a:tbl>
              <a:tblPr/>
              <a:tblGrid>
                <a:gridCol w="530754"/>
                <a:gridCol w="530754"/>
                <a:gridCol w="936625"/>
                <a:gridCol w="999066"/>
              </a:tblGrid>
              <a:tr h="330200">
                <a:tc>
                  <a:txBody>
                    <a:bodyPr wrap="square"/>
                    <a:lstStyle/>
                    <a:p>
                      <a:pPr algn="ctr">
                        <a:lnSpc>
                          <a:spcPts val="840"/>
                        </a:lnSpc>
                      </a:pPr>
                      <a:r>
                        <a:rPr sz="680" b="1">
                          <a:solidFill>
                            <a:srgbClr val="FEFEFF"/>
                          </a:solidFill>
                          <a:latin typeface="Ubuntu Mono"/>
                          <a:ea typeface="Ubuntu Mono"/>
                          <a:cs typeface="Ubuntu Mono"/>
                          <a:sym typeface="Ubuntu Mono"/>
                        </a:rPr>
                        <a:t>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I.D.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Tensile at yield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Torque at yield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1-13/16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68,720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1-29/32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78,620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172,900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2,440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2-1/2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160,600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1,940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158,600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224,900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256,000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5,740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316,200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268,500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9,400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1-7/8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231,000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6,810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370,200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9,270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305,000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9,200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439,000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9,160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336,600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10,240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graphicFrame>
        <p:nvGraphicFramePr>
          <p:cNvPr id="23" name="Table 22"/>
          <p:cNvGraphicFramePr>
            <a:graphicFrameLocks noGrp="1"/>
          </p:cNvGraphicFramePr>
          <p:nvPr/>
        </p:nvGraphicFramePr>
        <p:xfrm>
          <a:off x="3848100" y="5181600"/>
          <a:ext cx="2997199" cy="2286000"/>
        </p:xfrm>
        <a:graphic>
          <a:graphicData uri="http://schemas.openxmlformats.org/drawingml/2006/table">
            <a:tbl>
              <a:tblPr/>
              <a:tblGrid>
                <a:gridCol w="530754"/>
                <a:gridCol w="530754"/>
                <a:gridCol w="936625"/>
                <a:gridCol w="999066"/>
              </a:tblGrid>
              <a:tr h="330200">
                <a:tc>
                  <a:txBody>
                    <a:bodyPr wrap="square"/>
                    <a:lstStyle/>
                    <a:p>
                      <a:pPr algn="ctr">
                        <a:lnSpc>
                          <a:spcPts val="840"/>
                        </a:lnSpc>
                      </a:pPr>
                      <a:r>
                        <a:rPr sz="680" b="1">
                          <a:solidFill>
                            <a:srgbClr val="FEFEFF"/>
                          </a:solidFill>
                          <a:latin typeface="Ubuntu Mono"/>
                          <a:ea typeface="Ubuntu Mono"/>
                          <a:cs typeface="Ubuntu Mono"/>
                          <a:sym typeface="Ubuntu Mono"/>
                        </a:rPr>
                        <a:t>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I.D.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Tensile at yield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Torque at yield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442,000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13,440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465,900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12,280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581,100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465,900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613,400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22,070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723,600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26,850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767,000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29,490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6-1/8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768,600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30,840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864,400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38,000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864,400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2-3/4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871,000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37,600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1,060,000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50,400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1,060,000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54,600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1,600,000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64,110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4" name="TextBox 23"/>
          <p:cNvSpPr txBox="1"/>
          <p:nvPr/>
        </p:nvSpPr>
        <p:spPr>
          <a:xfrm>
            <a:off x="711200" y="7505700"/>
            <a:ext cx="6134100" cy="3048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Standard stroke 20 in; strokes of 30, 36, 42, 48 and 60 in also available (convert by changing mandrel and middle body only). Tensile strengths are calculated theoretical yield values (about +/-20%); same values typically apply to other strokes. Figures are a guide only: apply a safety factor.</a:t>
            </a:r>
          </a:p>
        </p:txBody>
      </p:sp>
      <p:sp>
        <p:nvSpPr>
          <p:cNvPr id="25" name="TextBox 24"/>
          <p:cNvSpPr txBox="1"/>
          <p:nvPr/>
        </p:nvSpPr>
        <p:spPr>
          <a:xfrm>
            <a:off x="711200" y="79248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711200" y="8115300"/>
            <a:ext cx="30226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Solid blows both ways: </a:t>
            </a:r>
            <a:r>
              <a:rPr sz="700" b="0">
                <a:solidFill>
                  <a:srgbClr val="000000"/>
                </a:solidFill>
                <a:latin typeface="Ubuntu Mono"/>
                <a:ea typeface="Ubuntu Mono"/>
                <a:cs typeface="Ubuntu Mono"/>
                <a:sym typeface="Ubuntu Mono"/>
              </a:rPr>
              <a:t>downward on closing, upward on opening against the knocker.</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Hexagonal mandrel: </a:t>
            </a:r>
            <a:r>
              <a:rPr sz="700" b="0">
                <a:solidFill>
                  <a:srgbClr val="000000"/>
                </a:solidFill>
                <a:latin typeface="Ubuntu Mono"/>
                <a:ea typeface="Ubuntu Mono"/>
                <a:cs typeface="Ubuntu Mono"/>
                <a:sym typeface="Ubuntu Mono"/>
              </a:rPr>
              <a:t>torque transmitted over the full stroke.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Alloy steel body: </a:t>
            </a:r>
            <a:r>
              <a:rPr sz="700" b="0">
                <a:solidFill>
                  <a:srgbClr val="000000"/>
                </a:solidFill>
                <a:latin typeface="Ubuntu Mono"/>
                <a:ea typeface="Ubuntu Mono"/>
                <a:cs typeface="Ubuntu Mono"/>
                <a:sym typeface="Ubuntu Mono"/>
              </a:rPr>
              <a:t>heat-treated parts for bumping, tension and torque.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Sealed knocker: </a:t>
            </a:r>
            <a:r>
              <a:rPr sz="700" b="0">
                <a:solidFill>
                  <a:srgbClr val="000000"/>
                </a:solidFill>
                <a:latin typeface="Ubuntu Mono"/>
                <a:ea typeface="Ubuntu Mono"/>
                <a:cs typeface="Ubuntu Mono"/>
                <a:sym typeface="Ubuntu Mono"/>
              </a:rPr>
              <a:t>packing rings seal mandrel to middle body; optional chevron packing.</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Low maintenance: </a:t>
            </a:r>
            <a:r>
              <a:rPr sz="700" b="0">
                <a:solidFill>
                  <a:srgbClr val="000000"/>
                </a:solidFill>
                <a:latin typeface="Ubuntu Mono"/>
                <a:ea typeface="Ubuntu Mono"/>
                <a:cs typeface="Ubuntu Mono"/>
                <a:sym typeface="Ubuntu Mono"/>
              </a:rPr>
              <a:t>wash and lubricate after use; check seals for wear.</a:t>
            </a:r>
          </a:p>
        </p:txBody>
      </p:sp>
      <p:sp>
        <p:nvSpPr>
          <p:cNvPr id="27" name="TextBox 26"/>
          <p:cNvSpPr txBox="1"/>
          <p:nvPr/>
        </p:nvSpPr>
        <p:spPr>
          <a:xfrm>
            <a:off x="3810000" y="79248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NOTES</a:t>
            </a:r>
          </a:p>
        </p:txBody>
      </p:sp>
      <p:sp>
        <p:nvSpPr>
          <p:cNvPr id="28" name="TextBox 27"/>
          <p:cNvSpPr txBox="1"/>
          <p:nvPr/>
        </p:nvSpPr>
        <p:spPr>
          <a:xfrm>
            <a:off x="3810000" y="8115300"/>
            <a:ext cx="30353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Bump down: </a:t>
            </a:r>
            <a:r>
              <a:rPr sz="700" b="0">
                <a:solidFill>
                  <a:srgbClr val="000000"/>
                </a:solidFill>
                <a:latin typeface="Ubuntu Mono"/>
                <a:ea typeface="Ubuntu Mono"/>
                <a:cs typeface="Ubuntu Mono"/>
                <a:sym typeface="Ubuntu Mono"/>
              </a:rPr>
              <a:t>pull to fully open plus stretch, then drop the string and brake before the sub closes for repeated blows, or drop freely for one solid blow.</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Jar up: </a:t>
            </a:r>
            <a:r>
              <a:rPr sz="700" b="0">
                <a:solidFill>
                  <a:srgbClr val="000000"/>
                </a:solidFill>
                <a:latin typeface="Ubuntu Mono"/>
                <a:ea typeface="Ubuntu Mono"/>
                <a:cs typeface="Ubuntu Mono"/>
                <a:sym typeface="Ubuntu Mono"/>
              </a:rPr>
              <a:t>take moderate stretch, drop by that stretch only and brake; the sub rebounds open and strikes the knocker.</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At surface: </a:t>
            </a:r>
            <a:r>
              <a:rPr sz="700" b="0">
                <a:solidFill>
                  <a:srgbClr val="000000"/>
                </a:solidFill>
                <a:latin typeface="Ubuntu Mono"/>
                <a:ea typeface="Ubuntu Mono"/>
                <a:cs typeface="Ubuntu Mono"/>
                <a:sym typeface="Ubuntu Mono"/>
              </a:rPr>
              <a:t>hold a sledge between body and mandrel shoulder, slack off and pull it out to release a fishing tool.</a:t>
            </a:r>
          </a:p>
        </p:txBody>
      </p:sp>
      <p:sp>
        <p:nvSpPr>
          <p:cNvPr id="29" name="TextBox 28"/>
          <p:cNvSpPr txBox="1"/>
          <p:nvPr/>
        </p:nvSpPr>
        <p:spPr>
          <a:xfrm>
            <a:off x="3810000" y="91948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0" name="TextBox 29"/>
          <p:cNvSpPr txBox="1"/>
          <p:nvPr/>
        </p:nvSpPr>
        <p:spPr>
          <a:xfrm>
            <a:off x="3810000" y="9385300"/>
            <a:ext cx="3035300" cy="508000"/>
          </a:xfrm>
          <a:prstGeom prst="rect">
            <a:avLst/>
          </a:prstGeom>
          <a:noFill/>
        </p:spPr>
        <p:txBody>
          <a:bodyPr wrap="square" lIns="0" rIns="0" tIns="0" bIns="0">
            <a:spAutoFit/>
          </a:bodyPr>
          <a:lstStyle/>
          <a:p>
            <a:pPr algn="just">
              <a:lnSpc>
                <a:spcPts val="860"/>
              </a:lnSpc>
              <a:spcAft>
                <a:spcPts val="0"/>
              </a:spcAft>
            </a:pPr>
            <a:r>
              <a:rPr sz="680" b="0">
                <a:solidFill>
                  <a:srgbClr val="000000"/>
                </a:solidFill>
                <a:latin typeface="Ubuntu Mono"/>
                <a:ea typeface="Ubuntu Mono"/>
                <a:cs typeface="Ubuntu Mono"/>
                <a:sym typeface="Ubuntu Mono"/>
              </a:rPr>
              <a:t>Please specify: 1. size (O.D. x I.D.)  2. connection size and type  3. length of stroke  4. recommended spares: 8 non-extrusion rings, 8 seal protector rings, 16 knocker seals.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