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PIPE CUTTER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CUTTING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INTERNAL HYDRAULIC CASING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 HYDRAULIC CUTTER THAT CUTS SINGLE OR MULTIPLE STRINGS OF CONCENTRIC OR ECCENTRIC CASING. IT CAN BE USED IN ANY CUTTING APPLICATION WHERE ROTATION AND PRESSURE CAN BE APPLIED TO THE TOOL. IT IS MAINLY RUN IN WELL ABANDONMENT OPERATIONS, WHEN CASINGS HAVE BEEN CEMENTED AND CANNOT BE CUT AND PULLED INDIVIDUALLY.</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54600"/>
          <a:ext cx="6134100" cy="635000"/>
        </p:xfrm>
        <a:graphic>
          <a:graphicData uri="http://schemas.openxmlformats.org/drawingml/2006/table">
            <a:tbl>
              <a:tblPr/>
              <a:tblGrid>
                <a:gridCol w="1397000"/>
                <a:gridCol w="1016000"/>
                <a:gridCol w="1143000"/>
                <a:gridCol w="1016000"/>
                <a:gridCol w="1562100"/>
              </a:tblGrid>
              <a:tr h="228600">
                <a:tc>
                  <a:txBody>
                    <a:bodyPr wrap="square"/>
                    <a:lstStyle/>
                    <a:p>
                      <a:pPr algn="ctr">
                        <a:lnSpc>
                          <a:spcPts val="919"/>
                        </a:lnSpc>
                      </a:pPr>
                      <a:r>
                        <a:rPr sz="760" b="1">
                          <a:solidFill>
                            <a:srgbClr val="FEFEFF"/>
                          </a:solidFill>
                          <a:latin typeface="Ubuntu Mono"/>
                          <a:ea typeface="Ubuntu Mono"/>
                          <a:cs typeface="Ubuntu Mono"/>
                          <a:sym typeface="Ubuntu Mono"/>
                        </a:rPr>
                        <a:t>Designed to cut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6-5/8 - 13-3/8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9-5/8 - 16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13-3/8 - 36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Top connection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Tool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57404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Cutter arms are available in various sizes to cut single or multiple strings.</a:t>
            </a:r>
          </a:p>
        </p:txBody>
      </p:sp>
      <p:pic>
        <p:nvPicPr>
          <p:cNvPr id="24" name="Picture 23" descr="pc_tool_blue.png"/>
          <p:cNvPicPr>
            <a:picLocks noChangeAspect="1"/>
          </p:cNvPicPr>
          <p:nvPr/>
        </p:nvPicPr>
        <p:blipFill>
          <a:blip r:embed="rId7"/>
          <a:stretch>
            <a:fillRect/>
          </a:stretch>
        </p:blipFill>
        <p:spPr>
          <a:xfrm>
            <a:off x="762000" y="6223000"/>
            <a:ext cx="3175000" cy="997717"/>
          </a:xfrm>
          <a:prstGeom prst="rect">
            <a:avLst/>
          </a:prstGeom>
        </p:spPr>
      </p:pic>
      <p:sp>
        <p:nvSpPr>
          <p:cNvPr id="25" name="TextBox 24"/>
          <p:cNvSpPr txBox="1"/>
          <p:nvPr/>
        </p:nvSpPr>
        <p:spPr>
          <a:xfrm>
            <a:off x="711200" y="72898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7493000"/>
            <a:ext cx="30480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Casing cutting: </a:t>
            </a:r>
            <a:r>
              <a:rPr sz="710" b="0">
                <a:solidFill>
                  <a:srgbClr val="000000"/>
                </a:solidFill>
                <a:latin typeface="Ubuntu Mono"/>
                <a:ea typeface="Ubuntu Mono"/>
                <a:cs typeface="Ubuntu Mono"/>
                <a:sym typeface="Ubuntu Mono"/>
              </a:rPr>
              <a:t>single or multiple strings, concentric or eccentric.</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Hydraulic and rotary: </a:t>
            </a:r>
            <a:r>
              <a:rPr sz="710" b="0">
                <a:solidFill>
                  <a:srgbClr val="000000"/>
                </a:solidFill>
                <a:latin typeface="Ubuntu Mono"/>
                <a:ea typeface="Ubuntu Mono"/>
                <a:cs typeface="Ubuntu Mono"/>
                <a:sym typeface="Ubuntu Mono"/>
              </a:rPr>
              <a:t>works wherever rotation and pressure can be applied to the tool.</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Abandonment duty: </a:t>
            </a:r>
            <a:r>
              <a:rPr sz="710" b="0">
                <a:solidFill>
                  <a:srgbClr val="000000"/>
                </a:solidFill>
                <a:latin typeface="Ubuntu Mono"/>
                <a:ea typeface="Ubuntu Mono"/>
                <a:cs typeface="Ubuntu Mono"/>
                <a:sym typeface="Ubuntu Mono"/>
              </a:rPr>
              <a:t>cuts cemented casings that cannot be cut and pulled one by one.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Carbide-dressed arms: </a:t>
            </a:r>
            <a:r>
              <a:rPr sz="710" b="0">
                <a:solidFill>
                  <a:srgbClr val="000000"/>
                </a:solidFill>
                <a:latin typeface="Ubuntu Mono"/>
                <a:ea typeface="Ubuntu Mono"/>
                <a:cs typeface="Ubuntu Mono"/>
                <a:sym typeface="Ubuntu Mono"/>
              </a:rPr>
              <a:t>crushed carbide on the cutter arms, in several sizes for single or multiple strings.</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Three knife reloading types: </a:t>
            </a:r>
            <a:r>
              <a:rPr sz="710" b="0">
                <a:solidFill>
                  <a:srgbClr val="000000"/>
                </a:solidFill>
                <a:latin typeface="Ubuntu Mono"/>
                <a:ea typeface="Ubuntu Mono"/>
                <a:cs typeface="Ubuntu Mono"/>
                <a:sym typeface="Ubuntu Mono"/>
              </a:rPr>
              <a:t>standard (general use), hardfacing (reinforced, high-strength steels) and carbide (high wear resistance, abrasive environments).</a:t>
            </a:r>
          </a:p>
        </p:txBody>
      </p:sp>
      <p:sp>
        <p:nvSpPr>
          <p:cNvPr id="27" name="TextBox 26"/>
          <p:cNvSpPr txBox="1"/>
          <p:nvPr/>
        </p:nvSpPr>
        <p:spPr>
          <a:xfrm>
            <a:off x="4089400" y="612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6311900"/>
          <a:ext cx="2755900" cy="960120"/>
        </p:xfrm>
        <a:graphic>
          <a:graphicData uri="http://schemas.openxmlformats.org/drawingml/2006/table">
            <a:tbl>
              <a:tblPr/>
              <a:tblGrid>
                <a:gridCol w="1117600"/>
                <a:gridCol w="1638300"/>
              </a:tblGrid>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Up to 400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Head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35 to 60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Maximum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bar / 90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Surface test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300 L/min at 5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70 rpm (max. 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pumping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150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89400" y="7310120"/>
            <a:ext cx="27559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If pressure rises too quickly in the surface test, the piston may be blocked.</a:t>
            </a:r>
          </a:p>
        </p:txBody>
      </p:sp>
      <p:sp>
        <p:nvSpPr>
          <p:cNvPr id="30" name="TextBox 29"/>
          <p:cNvSpPr txBox="1"/>
          <p:nvPr/>
        </p:nvSpPr>
        <p:spPr>
          <a:xfrm>
            <a:off x="4089400" y="76530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PROCEDURE</a:t>
            </a:r>
          </a:p>
        </p:txBody>
      </p:sp>
      <p:sp>
        <p:nvSpPr>
          <p:cNvPr id="31" name="TextBox 30"/>
          <p:cNvSpPr txBox="1"/>
          <p:nvPr/>
        </p:nvSpPr>
        <p:spPr>
          <a:xfrm>
            <a:off x="4089400" y="7856220"/>
            <a:ext cx="27559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Record parameters: </a:t>
            </a:r>
            <a:r>
              <a:rPr sz="710" b="0">
                <a:solidFill>
                  <a:srgbClr val="000000"/>
                </a:solidFill>
                <a:latin typeface="Ubuntu Mono"/>
                <a:ea typeface="Ubuntu Mono"/>
                <a:cs typeface="Ubuntu Mono"/>
                <a:sym typeface="Ubuntu Mono"/>
              </a:rPr>
              <a:t>PUW, SOW and free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Prepare: </a:t>
            </a:r>
            <a:r>
              <a:rPr sz="710" b="0">
                <a:solidFill>
                  <a:srgbClr val="000000"/>
                </a:solidFill>
                <a:latin typeface="Ubuntu Mono"/>
                <a:ea typeface="Ubuntu Mono"/>
                <a:cs typeface="Ubuntu Mono"/>
                <a:sym typeface="Ubuntu Mono"/>
              </a:rPr>
              <a:t>close the purge line and reset the WOB.</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Start: </a:t>
            </a:r>
            <a:r>
              <a:rPr sz="710" b="0">
                <a:solidFill>
                  <a:srgbClr val="000000"/>
                </a:solidFill>
                <a:latin typeface="Ubuntu Mono"/>
                <a:ea typeface="Ubuntu Mono"/>
                <a:cs typeface="Ubuntu Mono"/>
                <a:sym typeface="Ubuntu Mono"/>
              </a:rPr>
              <a:t>begin rotation, then pump at 150 L/min while monitoring return flow and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Cut: </a:t>
            </a:r>
            <a:r>
              <a:rPr sz="710" b="0">
                <a:solidFill>
                  <a:srgbClr val="000000"/>
                </a:solidFill>
                <a:latin typeface="Ubuntu Mono"/>
                <a:ea typeface="Ubuntu Mono"/>
                <a:cs typeface="Ubuntu Mono"/>
                <a:sym typeface="Ubuntu Mono"/>
              </a:rPr>
              <a:t>once return is confirmed, increase gradually to 50 - 60 bar, then stabilise the flow without further pump adjustment.</a:t>
            </a:r>
          </a:p>
        </p:txBody>
      </p:sp>
      <p:sp>
        <p:nvSpPr>
          <p:cNvPr id="32" name="TextBox 31"/>
          <p:cNvSpPr txBox="1"/>
          <p:nvPr/>
        </p:nvSpPr>
        <p:spPr>
          <a:xfrm>
            <a:off x="4089400" y="91897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802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range to cut  2. top connection  3. knife reloading type (standard, hardfacing or carbide)  4. single or multiple strings to cut.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