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PIPE CUTTER</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CUTTING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INTERNAL HYDRAULIC CASING CUTTER</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INTERNAL HYDRAULIC CUTTER THAT CUTS SINGLE OR MULTIPLE STRINGS OF CONCENTRIC OR ECCENTRIC CASING. IT CAN BE USED IN ANY CUTTING APPLICATION WHERE ROTATION AND PRESSURE CAN BE APPLIED TO THE TOOL. IT IS MAINLY RUN IN WELL ABANDONMENT OPERATIONS, WHEN CASINGS HAVE BEEN CEMENTED AND CANNOT BE CUT AND PULLED INDIVIDUALLY.</a:t>
            </a:r>
          </a:p>
        </p:txBody>
      </p:sp>
      <p:sp>
        <p:nvSpPr>
          <p:cNvPr id="21" name="TextBox 20"/>
          <p:cNvSpPr txBox="1"/>
          <p:nvPr/>
        </p:nvSpPr>
        <p:spPr>
          <a:xfrm>
            <a:off x="711200" y="48260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054600"/>
          <a:ext cx="6134100" cy="635000"/>
        </p:xfrm>
        <a:graphic>
          <a:graphicData uri="http://schemas.openxmlformats.org/drawingml/2006/table">
            <a:tbl>
              <a:tblPr/>
              <a:tblGrid>
                <a:gridCol w="1397000"/>
                <a:gridCol w="1016000"/>
                <a:gridCol w="1143000"/>
                <a:gridCol w="1016000"/>
                <a:gridCol w="1562100"/>
              </a:tblGrid>
              <a:tr h="228600">
                <a:tc>
                  <a:txBody>
                    <a:bodyPr wrap="square"/>
                    <a:lstStyle/>
                    <a:p>
                      <a:pPr algn="ctr">
                        <a:lnSpc>
                          <a:spcPts val="919"/>
                        </a:lnSpc>
                      </a:pPr>
                      <a:r>
                        <a:rPr sz="760" b="1">
                          <a:solidFill>
                            <a:srgbClr val="FEFEFF"/>
                          </a:solidFill>
                          <a:latin typeface="Ubuntu Mono"/>
                          <a:ea typeface="Ubuntu Mono"/>
                          <a:cs typeface="Ubuntu Mono"/>
                          <a:sym typeface="Ubuntu Mono"/>
                        </a:rPr>
                        <a:t>Designed to cut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4-1/2 - 5-1/2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6-5/8 - 13-3/8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9-5/8 - 16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13-3/8 - 36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203200">
                <a:tc>
                  <a:txBody>
                    <a:bodyPr wrap="square"/>
                    <a:lstStyle/>
                    <a:p>
                      <a:pPr algn="ctr">
                        <a:lnSpc>
                          <a:spcPts val="919"/>
                        </a:lnSpc>
                      </a:pPr>
                      <a:r>
                        <a:rPr sz="760" b="0">
                          <a:solidFill>
                            <a:srgbClr val="FEFEFF"/>
                          </a:solidFill>
                          <a:latin typeface="Ubuntu Mono"/>
                          <a:ea typeface="Ubuntu Mono"/>
                          <a:cs typeface="Ubuntu Mono"/>
                          <a:sym typeface="Ubuntu Mono"/>
                        </a:rPr>
                        <a:t>Top connection (API)</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0">
                          <a:solidFill>
                            <a:srgbClr val="000000"/>
                          </a:solidFill>
                          <a:latin typeface="Ubuntu Mono"/>
                          <a:ea typeface="Ubuntu Mono"/>
                          <a:cs typeface="Ubuntu Mono"/>
                          <a:sym typeface="Ubuntu Mono"/>
                        </a:rPr>
                        <a:t>2-3/8 IF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3-1/2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6-5/8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6-5/8 REG or 7-5/8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203200">
                <a:tc>
                  <a:txBody>
                    <a:bodyPr wrap="square"/>
                    <a:lstStyle/>
                    <a:p>
                      <a:pPr algn="ctr">
                        <a:lnSpc>
                          <a:spcPts val="919"/>
                        </a:lnSpc>
                      </a:pPr>
                      <a:r>
                        <a:rPr sz="760" b="0">
                          <a:solidFill>
                            <a:srgbClr val="FEFEFF"/>
                          </a:solidFill>
                          <a:latin typeface="Ubuntu Mono"/>
                          <a:ea typeface="Ubuntu Mono"/>
                          <a:cs typeface="Ubuntu Mono"/>
                          <a:sym typeface="Ubuntu Mono"/>
                        </a:rPr>
                        <a:t>Tool diameter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919"/>
                        </a:lnSpc>
                      </a:pPr>
                      <a:r>
                        <a:rPr sz="76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8-1/4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11-3/4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3" name="TextBox 22"/>
          <p:cNvSpPr txBox="1"/>
          <p:nvPr/>
        </p:nvSpPr>
        <p:spPr>
          <a:xfrm>
            <a:off x="711200" y="5740400"/>
            <a:ext cx="6134100" cy="114300"/>
          </a:xfrm>
          <a:prstGeom prst="rect">
            <a:avLst/>
          </a:prstGeom>
          <a:noFill/>
        </p:spPr>
        <p:txBody>
          <a:bodyPr wrap="square" lIns="0" rIns="0" tIns="0" bIns="0">
            <a:spAutoFit/>
          </a:bodyPr>
          <a:lstStyle/>
          <a:p>
            <a:pPr algn="l">
              <a:spcAft>
                <a:spcPts val="0"/>
              </a:spcAft>
            </a:pPr>
            <a:r>
              <a:rPr sz="640" b="0">
                <a:solidFill>
                  <a:srgbClr val="444444"/>
                </a:solidFill>
                <a:latin typeface="Ubuntu Mono"/>
                <a:ea typeface="Ubuntu Mono"/>
                <a:cs typeface="Ubuntu Mono"/>
                <a:sym typeface="Ubuntu Mono"/>
              </a:rPr>
              <a:t>Dimensions in inches. Cutter arms are available in various sizes to cut single or multiple strings.</a:t>
            </a:r>
          </a:p>
        </p:txBody>
      </p:sp>
      <p:pic>
        <p:nvPicPr>
          <p:cNvPr id="24" name="Picture 23" descr="pc_tool_blue.png"/>
          <p:cNvPicPr>
            <a:picLocks noChangeAspect="1"/>
          </p:cNvPicPr>
          <p:nvPr/>
        </p:nvPicPr>
        <p:blipFill>
          <a:blip r:embed="rId7"/>
          <a:stretch>
            <a:fillRect/>
          </a:stretch>
        </p:blipFill>
        <p:spPr>
          <a:xfrm>
            <a:off x="762000" y="6223000"/>
            <a:ext cx="2997200" cy="941845"/>
          </a:xfrm>
          <a:prstGeom prst="rect">
            <a:avLst/>
          </a:prstGeom>
        </p:spPr>
      </p:pic>
      <p:sp>
        <p:nvSpPr>
          <p:cNvPr id="25" name="TextBox 24"/>
          <p:cNvSpPr txBox="1"/>
          <p:nvPr/>
        </p:nvSpPr>
        <p:spPr>
          <a:xfrm>
            <a:off x="711200" y="7188200"/>
            <a:ext cx="3048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6" name="TextBox 25"/>
          <p:cNvSpPr txBox="1"/>
          <p:nvPr/>
        </p:nvSpPr>
        <p:spPr>
          <a:xfrm>
            <a:off x="711200" y="7391400"/>
            <a:ext cx="3048000" cy="127000"/>
          </a:xfrm>
          <a:prstGeom prst="rect">
            <a:avLst/>
          </a:prstGeom>
          <a:noFill/>
        </p:spPr>
        <p:txBody>
          <a:bodyPr wrap="square" lIns="0" rIns="0" tIns="0" bIns="0">
            <a:spAutoFit/>
          </a:bodyPr>
          <a:lstStyle/>
          <a:p>
            <a:pPr algn="l">
              <a:lnSpc>
                <a:spcPts val="900"/>
              </a:lnSpc>
              <a:spcAft>
                <a:spcPts val="22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Casing cutting: </a:t>
            </a:r>
            <a:r>
              <a:rPr sz="710" b="0">
                <a:solidFill>
                  <a:srgbClr val="000000"/>
                </a:solidFill>
                <a:latin typeface="Ubuntu Mono"/>
                <a:ea typeface="Ubuntu Mono"/>
                <a:cs typeface="Ubuntu Mono"/>
                <a:sym typeface="Ubuntu Mono"/>
              </a:rPr>
              <a:t>single or multiple strings, concentric or eccentric.</a:t>
            </a:r>
          </a:p>
          <a:p>
            <a:pPr algn="l">
              <a:lnSpc>
                <a:spcPts val="900"/>
              </a:lnSpc>
              <a:spcAft>
                <a:spcPts val="22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Hydraulic and rotary: </a:t>
            </a:r>
            <a:r>
              <a:rPr sz="710" b="0">
                <a:solidFill>
                  <a:srgbClr val="000000"/>
                </a:solidFill>
                <a:latin typeface="Ubuntu Mono"/>
                <a:ea typeface="Ubuntu Mono"/>
                <a:cs typeface="Ubuntu Mono"/>
                <a:sym typeface="Ubuntu Mono"/>
              </a:rPr>
              <a:t>works wherever rotation and pressure can be applied to the tool.</a:t>
            </a:r>
          </a:p>
          <a:p>
            <a:pPr algn="l">
              <a:lnSpc>
                <a:spcPts val="900"/>
              </a:lnSpc>
              <a:spcAft>
                <a:spcPts val="22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Abandonment duty: </a:t>
            </a:r>
            <a:r>
              <a:rPr sz="710" b="0">
                <a:solidFill>
                  <a:srgbClr val="000000"/>
                </a:solidFill>
                <a:latin typeface="Ubuntu Mono"/>
                <a:ea typeface="Ubuntu Mono"/>
                <a:cs typeface="Ubuntu Mono"/>
                <a:sym typeface="Ubuntu Mono"/>
              </a:rPr>
              <a:t>cuts cemented casings that cannot be cut and pulled one by one.</a:t>
            </a:r>
          </a:p>
          <a:p>
            <a:pPr algn="l">
              <a:lnSpc>
                <a:spcPts val="900"/>
              </a:lnSpc>
              <a:spcAft>
                <a:spcPts val="22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Carbide-dressed arms: </a:t>
            </a:r>
            <a:r>
              <a:rPr sz="710" b="0">
                <a:solidFill>
                  <a:srgbClr val="000000"/>
                </a:solidFill>
                <a:latin typeface="Ubuntu Mono"/>
                <a:ea typeface="Ubuntu Mono"/>
                <a:cs typeface="Ubuntu Mono"/>
                <a:sym typeface="Ubuntu Mono"/>
              </a:rPr>
              <a:t>crushed carbide on the cutter arms, in several sizes for single or multiple strings.</a:t>
            </a:r>
          </a:p>
          <a:p>
            <a:pPr algn="l">
              <a:lnSpc>
                <a:spcPts val="900"/>
              </a:lnSpc>
              <a:spcAft>
                <a:spcPts val="22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Three knife reloading types: </a:t>
            </a:r>
            <a:r>
              <a:rPr sz="710" b="0">
                <a:solidFill>
                  <a:srgbClr val="000000"/>
                </a:solidFill>
                <a:latin typeface="Ubuntu Mono"/>
                <a:ea typeface="Ubuntu Mono"/>
                <a:cs typeface="Ubuntu Mono"/>
                <a:sym typeface="Ubuntu Mono"/>
              </a:rPr>
              <a:t>standard (general use), hardfacing (reinforced, high-strength steels) and carbide (high wear resistance, abrasive environments).</a:t>
            </a:r>
          </a:p>
        </p:txBody>
      </p:sp>
      <p:sp>
        <p:nvSpPr>
          <p:cNvPr id="27" name="TextBox 26"/>
          <p:cNvSpPr txBox="1"/>
          <p:nvPr/>
        </p:nvSpPr>
        <p:spPr>
          <a:xfrm>
            <a:off x="4089400" y="61214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28" name="Table 27"/>
          <p:cNvGraphicFramePr>
            <a:graphicFrameLocks noGrp="1"/>
          </p:cNvGraphicFramePr>
          <p:nvPr/>
        </p:nvGraphicFramePr>
        <p:xfrm>
          <a:off x="4089400" y="6311900"/>
          <a:ext cx="2755900" cy="960120"/>
        </p:xfrm>
        <a:graphic>
          <a:graphicData uri="http://schemas.openxmlformats.org/drawingml/2006/table">
            <a:tbl>
              <a:tblPr/>
              <a:tblGrid>
                <a:gridCol w="1117600"/>
                <a:gridCol w="1638300"/>
              </a:tblGrid>
              <a:tr h="160020">
                <a:tc>
                  <a:txBody>
                    <a:bodyPr wrap="square"/>
                    <a:lstStyle/>
                    <a:p>
                      <a:pPr algn="l">
                        <a:lnSpc>
                          <a:spcPts val="840"/>
                        </a:lnSpc>
                      </a:pPr>
                      <a:r>
                        <a:rPr sz="680" b="0">
                          <a:solidFill>
                            <a:srgbClr val="FEFEFF"/>
                          </a:solidFill>
                          <a:latin typeface="Ubuntu Mono"/>
                          <a:ea typeface="Ubuntu Mono"/>
                          <a:cs typeface="Ubuntu Mono"/>
                          <a:sym typeface="Ubuntu Mono"/>
                        </a:rPr>
                        <a:t>Flow rate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40"/>
                        </a:lnSpc>
                      </a:pPr>
                      <a:r>
                        <a:rPr sz="680" b="0">
                          <a:solidFill>
                            <a:srgbClr val="000000"/>
                          </a:solidFill>
                          <a:latin typeface="Ubuntu Mono"/>
                          <a:ea typeface="Ubuntu Mono"/>
                          <a:cs typeface="Ubuntu Mono"/>
                          <a:sym typeface="Ubuntu Mono"/>
                        </a:rPr>
                        <a:t>Up to 400 L/min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0020">
                <a:tc>
                  <a:txBody>
                    <a:bodyPr wrap="square"/>
                    <a:lstStyle/>
                    <a:p>
                      <a:pPr algn="l">
                        <a:lnSpc>
                          <a:spcPts val="840"/>
                        </a:lnSpc>
                      </a:pPr>
                      <a:r>
                        <a:rPr sz="680" b="0">
                          <a:solidFill>
                            <a:srgbClr val="FEFEFF"/>
                          </a:solidFill>
                          <a:latin typeface="Ubuntu Mono"/>
                          <a:ea typeface="Ubuntu Mono"/>
                          <a:cs typeface="Ubuntu Mono"/>
                          <a:sym typeface="Ubuntu Mono"/>
                        </a:rPr>
                        <a:t>Head pressure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40"/>
                        </a:lnSpc>
                      </a:pPr>
                      <a:r>
                        <a:rPr sz="680" b="0">
                          <a:solidFill>
                            <a:srgbClr val="000000"/>
                          </a:solidFill>
                          <a:latin typeface="Ubuntu Mono"/>
                          <a:ea typeface="Ubuntu Mono"/>
                          <a:cs typeface="Ubuntu Mono"/>
                          <a:sym typeface="Ubuntu Mono"/>
                        </a:rPr>
                        <a:t>35 to 60 bar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0020">
                <a:tc>
                  <a:txBody>
                    <a:bodyPr wrap="square"/>
                    <a:lstStyle/>
                    <a:p>
                      <a:pPr algn="l">
                        <a:lnSpc>
                          <a:spcPts val="840"/>
                        </a:lnSpc>
                      </a:pPr>
                      <a:r>
                        <a:rPr sz="680" b="0">
                          <a:solidFill>
                            <a:srgbClr val="FEFEFF"/>
                          </a:solidFill>
                          <a:latin typeface="Ubuntu Mono"/>
                          <a:ea typeface="Ubuntu Mono"/>
                          <a:cs typeface="Ubuntu Mono"/>
                          <a:sym typeface="Ubuntu Mono"/>
                        </a:rPr>
                        <a:t>Maximum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40"/>
                        </a:lnSpc>
                      </a:pPr>
                      <a:r>
                        <a:rPr sz="680" b="0">
                          <a:solidFill>
                            <a:srgbClr val="000000"/>
                          </a:solidFill>
                          <a:latin typeface="Ubuntu Mono"/>
                          <a:ea typeface="Ubuntu Mono"/>
                          <a:cs typeface="Ubuntu Mono"/>
                          <a:sym typeface="Ubuntu Mono"/>
                        </a:rPr>
                        <a:t>80 bar / 90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0020">
                <a:tc>
                  <a:txBody>
                    <a:bodyPr wrap="square"/>
                    <a:lstStyle/>
                    <a:p>
                      <a:pPr algn="l">
                        <a:lnSpc>
                          <a:spcPts val="840"/>
                        </a:lnSpc>
                      </a:pPr>
                      <a:r>
                        <a:rPr sz="680" b="0">
                          <a:solidFill>
                            <a:srgbClr val="FEFEFF"/>
                          </a:solidFill>
                          <a:latin typeface="Ubuntu Mono"/>
                          <a:ea typeface="Ubuntu Mono"/>
                          <a:cs typeface="Ubuntu Mono"/>
                          <a:sym typeface="Ubuntu Mono"/>
                        </a:rPr>
                        <a:t>Surface test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40"/>
                        </a:lnSpc>
                      </a:pPr>
                      <a:r>
                        <a:rPr sz="680" b="0">
                          <a:solidFill>
                            <a:srgbClr val="000000"/>
                          </a:solidFill>
                          <a:latin typeface="Ubuntu Mono"/>
                          <a:ea typeface="Ubuntu Mono"/>
                          <a:cs typeface="Ubuntu Mono"/>
                          <a:sym typeface="Ubuntu Mono"/>
                        </a:rPr>
                        <a:t>300 L/min at 5 bar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0020">
                <a:tc>
                  <a:txBody>
                    <a:bodyPr wrap="square"/>
                    <a:lstStyle/>
                    <a:p>
                      <a:pPr algn="l">
                        <a:lnSpc>
                          <a:spcPts val="840"/>
                        </a:lnSpc>
                      </a:pPr>
                      <a:r>
                        <a:rPr sz="680" b="0">
                          <a:solidFill>
                            <a:srgbClr val="FEFEFF"/>
                          </a:solidFill>
                          <a:latin typeface="Ubuntu Mono"/>
                          <a:ea typeface="Ubuntu Mono"/>
                          <a:cs typeface="Ubuntu Mono"/>
                          <a:sym typeface="Ubuntu Mono"/>
                        </a:rPr>
                        <a:t>Start of rotation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40"/>
                        </a:lnSpc>
                      </a:pPr>
                      <a:r>
                        <a:rPr sz="680" b="0">
                          <a:solidFill>
                            <a:srgbClr val="000000"/>
                          </a:solidFill>
                          <a:latin typeface="Ubuntu Mono"/>
                          <a:ea typeface="Ubuntu Mono"/>
                          <a:cs typeface="Ubuntu Mono"/>
                          <a:sym typeface="Ubuntu Mono"/>
                        </a:rPr>
                        <a:t>70 rpm (max. 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0020">
                <a:tc>
                  <a:txBody>
                    <a:bodyPr wrap="square"/>
                    <a:lstStyle/>
                    <a:p>
                      <a:pPr algn="l">
                        <a:lnSpc>
                          <a:spcPts val="840"/>
                        </a:lnSpc>
                      </a:pPr>
                      <a:r>
                        <a:rPr sz="680" b="0">
                          <a:solidFill>
                            <a:srgbClr val="FEFEFF"/>
                          </a:solidFill>
                          <a:latin typeface="Ubuntu Mono"/>
                          <a:ea typeface="Ubuntu Mono"/>
                          <a:cs typeface="Ubuntu Mono"/>
                          <a:sym typeface="Ubuntu Mono"/>
                        </a:rPr>
                        <a:t>Start of pumping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40"/>
                        </a:lnSpc>
                      </a:pPr>
                      <a:r>
                        <a:rPr sz="680" b="0">
                          <a:solidFill>
                            <a:srgbClr val="000000"/>
                          </a:solidFill>
                          <a:latin typeface="Ubuntu Mono"/>
                          <a:ea typeface="Ubuntu Mono"/>
                          <a:cs typeface="Ubuntu Mono"/>
                          <a:sym typeface="Ubuntu Mono"/>
                        </a:rPr>
                        <a:t>150 L/min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9" name="TextBox 28"/>
          <p:cNvSpPr txBox="1"/>
          <p:nvPr/>
        </p:nvSpPr>
        <p:spPr>
          <a:xfrm>
            <a:off x="4089400" y="7310120"/>
            <a:ext cx="2755900" cy="2286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If pressure rises too quickly in the surface test, the piston may be blocked.</a:t>
            </a:r>
          </a:p>
        </p:txBody>
      </p:sp>
      <p:sp>
        <p:nvSpPr>
          <p:cNvPr id="30" name="TextBox 29"/>
          <p:cNvSpPr txBox="1"/>
          <p:nvPr/>
        </p:nvSpPr>
        <p:spPr>
          <a:xfrm>
            <a:off x="4089400" y="765302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CUTTING PROCEDURE</a:t>
            </a:r>
          </a:p>
        </p:txBody>
      </p:sp>
      <p:sp>
        <p:nvSpPr>
          <p:cNvPr id="31" name="TextBox 30"/>
          <p:cNvSpPr txBox="1"/>
          <p:nvPr/>
        </p:nvSpPr>
        <p:spPr>
          <a:xfrm>
            <a:off x="4089400" y="7856220"/>
            <a:ext cx="2755900" cy="127000"/>
          </a:xfrm>
          <a:prstGeom prst="rect">
            <a:avLst/>
          </a:prstGeom>
          <a:noFill/>
        </p:spPr>
        <p:txBody>
          <a:bodyPr wrap="square" lIns="0" rIns="0" tIns="0" bIns="0">
            <a:spAutoFit/>
          </a:bodyPr>
          <a:lstStyle/>
          <a:p>
            <a:pPr algn="l">
              <a:lnSpc>
                <a:spcPts val="900"/>
              </a:lnSpc>
              <a:spcAft>
                <a:spcPts val="22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Record parameters: </a:t>
            </a:r>
            <a:r>
              <a:rPr sz="710" b="0">
                <a:solidFill>
                  <a:srgbClr val="000000"/>
                </a:solidFill>
                <a:latin typeface="Ubuntu Mono"/>
                <a:ea typeface="Ubuntu Mono"/>
                <a:cs typeface="Ubuntu Mono"/>
                <a:sym typeface="Ubuntu Mono"/>
              </a:rPr>
              <a:t>PUW, SOW and free torque.</a:t>
            </a:r>
          </a:p>
          <a:p>
            <a:pPr algn="l">
              <a:lnSpc>
                <a:spcPts val="900"/>
              </a:lnSpc>
              <a:spcAft>
                <a:spcPts val="22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Prepare: </a:t>
            </a:r>
            <a:r>
              <a:rPr sz="710" b="0">
                <a:solidFill>
                  <a:srgbClr val="000000"/>
                </a:solidFill>
                <a:latin typeface="Ubuntu Mono"/>
                <a:ea typeface="Ubuntu Mono"/>
                <a:cs typeface="Ubuntu Mono"/>
                <a:sym typeface="Ubuntu Mono"/>
              </a:rPr>
              <a:t>close the purge line and reset the WOB.</a:t>
            </a:r>
          </a:p>
          <a:p>
            <a:pPr algn="l">
              <a:lnSpc>
                <a:spcPts val="900"/>
              </a:lnSpc>
              <a:spcAft>
                <a:spcPts val="22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Start: </a:t>
            </a:r>
            <a:r>
              <a:rPr sz="710" b="0">
                <a:solidFill>
                  <a:srgbClr val="000000"/>
                </a:solidFill>
                <a:latin typeface="Ubuntu Mono"/>
                <a:ea typeface="Ubuntu Mono"/>
                <a:cs typeface="Ubuntu Mono"/>
                <a:sym typeface="Ubuntu Mono"/>
              </a:rPr>
              <a:t>begin rotation, then pump at 150 L/min while monitoring return flow and torque.</a:t>
            </a:r>
          </a:p>
          <a:p>
            <a:pPr algn="l">
              <a:lnSpc>
                <a:spcPts val="900"/>
              </a:lnSpc>
              <a:spcAft>
                <a:spcPts val="22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Cut: </a:t>
            </a:r>
            <a:r>
              <a:rPr sz="710" b="0">
                <a:solidFill>
                  <a:srgbClr val="000000"/>
                </a:solidFill>
                <a:latin typeface="Ubuntu Mono"/>
                <a:ea typeface="Ubuntu Mono"/>
                <a:cs typeface="Ubuntu Mono"/>
                <a:sym typeface="Ubuntu Mono"/>
              </a:rPr>
              <a:t>once return is confirmed, increase gradually to 50 - 60 bar, then stabilise the flow without further pump adjustment.</a:t>
            </a:r>
          </a:p>
        </p:txBody>
      </p:sp>
      <p:sp>
        <p:nvSpPr>
          <p:cNvPr id="32" name="TextBox 31"/>
          <p:cNvSpPr txBox="1"/>
          <p:nvPr/>
        </p:nvSpPr>
        <p:spPr>
          <a:xfrm>
            <a:off x="4089400" y="964946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3" name="TextBox 32"/>
          <p:cNvSpPr txBox="1"/>
          <p:nvPr/>
        </p:nvSpPr>
        <p:spPr>
          <a:xfrm>
            <a:off x="4089400" y="9839960"/>
            <a:ext cx="2755900" cy="508000"/>
          </a:xfrm>
          <a:prstGeom prst="rect">
            <a:avLst/>
          </a:prstGeom>
          <a:noFill/>
        </p:spPr>
        <p:txBody>
          <a:bodyPr wrap="square" lIns="0" rIns="0" tIns="0" bIns="0">
            <a:spAutoFit/>
          </a:bodyPr>
          <a:lstStyle/>
          <a:p>
            <a:pPr algn="just">
              <a:lnSpc>
                <a:spcPts val="840"/>
              </a:lnSpc>
              <a:spcAft>
                <a:spcPts val="0"/>
              </a:spcAft>
            </a:pPr>
            <a:r>
              <a:rPr sz="660" b="0">
                <a:solidFill>
                  <a:srgbClr val="000000"/>
                </a:solidFill>
                <a:latin typeface="Ubuntu Mono"/>
                <a:ea typeface="Ubuntu Mono"/>
                <a:cs typeface="Ubuntu Mono"/>
                <a:sym typeface="Ubuntu Mono"/>
              </a:rPr>
              <a:t>Please specify: 1. casing size range to cut  2. top connection  3. knife reloading type (standard, hardfacing or carbide)  4. single or multiple strings to cut.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