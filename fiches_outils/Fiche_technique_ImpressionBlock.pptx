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IMPRESSION BLOCK</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CLEAN OUT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
            </a:r>
          </a:p>
        </p:txBody>
      </p:sp>
      <p:pic>
        <p:nvPicPr>
          <p:cNvPr id="19" name="Picture 18" descr="ib_tool_rgba.png"/>
          <p:cNvPicPr>
            <a:picLocks noChangeAspect="1"/>
          </p:cNvPicPr>
          <p:nvPr/>
        </p:nvPicPr>
        <p:blipFill>
          <a:blip r:embed="rId7"/>
          <a:stretch>
            <a:fillRect/>
          </a:stretch>
        </p:blipFill>
        <p:spPr>
          <a:xfrm>
            <a:off x="889000" y="1221115"/>
            <a:ext cx="2667000" cy="1306184"/>
          </a:xfrm>
          <a:prstGeom prst="rect">
            <a:avLst/>
          </a:prstGeom>
        </p:spPr>
      </p:pic>
      <p:sp>
        <p:nvSpPr>
          <p:cNvPr id="20" name="TextBox 19"/>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1" name="TextBox 20"/>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IMPRESSION BLOCKS ARE MADE FROM A LOW ALLOY STEEL OUTER CASING, WITH EITHER A LEAD OR A TAR INNER FILLING, DEPENDING ON THE CONDITIONS IN WHICH THE IMPRESSION IS TAKEN. LEAD IS IDEAL FOR DEEPER, HIGHER TEMPERATURE CONDITIONS, WHILE TAR IS VERY GOOD FOR LARGE OD, SHALLOW APPLICATIONS. ANY SIZE OF IMPRESSION BLOCK CAN BE BUILT TO ORDER.</a:t>
            </a:r>
          </a:p>
        </p:txBody>
      </p:sp>
      <p:sp>
        <p:nvSpPr>
          <p:cNvPr id="22" name="TextBox 21"/>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SPECIFICATIONS</a:t>
            </a:r>
          </a:p>
        </p:txBody>
      </p:sp>
      <p:graphicFrame>
        <p:nvGraphicFramePr>
          <p:cNvPr id="23" name="Table 22"/>
          <p:cNvGraphicFramePr>
            <a:graphicFrameLocks noGrp="1"/>
          </p:cNvGraphicFramePr>
          <p:nvPr/>
        </p:nvGraphicFramePr>
        <p:xfrm>
          <a:off x="711200" y="5232400"/>
          <a:ext cx="6134100" cy="685800"/>
        </p:xfrm>
        <a:graphic>
          <a:graphicData uri="http://schemas.openxmlformats.org/drawingml/2006/table">
            <a:tbl>
              <a:tblPr/>
              <a:tblGrid>
                <a:gridCol w="1397000"/>
                <a:gridCol w="1574800"/>
                <a:gridCol w="1574800"/>
                <a:gridCol w="1587500"/>
              </a:tblGrid>
              <a:tr h="228600">
                <a:tc>
                  <a:txBody>
                    <a:bodyPr wrap="square"/>
                    <a:lstStyle/>
                    <a:p>
                      <a:pPr algn="l">
                        <a:lnSpc>
                          <a:spcPts val="1000"/>
                        </a:lnSpc>
                      </a:pPr>
                      <a:r>
                        <a:rPr sz="840" b="0">
                          <a:solidFill>
                            <a:srgbClr val="FEFEFF"/>
                          </a:solidFill>
                          <a:latin typeface="Ubuntu Mono"/>
                          <a:ea typeface="Ubuntu Mono"/>
                          <a:cs typeface="Ubuntu Mono"/>
                          <a:sym typeface="Ubuntu Mono"/>
                        </a:rPr>
                        <a:t>Top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1000"/>
                        </a:lnSpc>
                      </a:pPr>
                      <a:r>
                        <a:rPr sz="84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Material used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graphicFrame>
        <p:nvGraphicFramePr>
          <p:cNvPr id="24" name="Table 23"/>
          <p:cNvGraphicFramePr>
            <a:graphicFrameLocks noGrp="1"/>
          </p:cNvGraphicFramePr>
          <p:nvPr/>
        </p:nvGraphicFramePr>
        <p:xfrm>
          <a:off x="711200" y="6223000"/>
          <a:ext cx="6134100" cy="685800"/>
        </p:xfrm>
        <a:graphic>
          <a:graphicData uri="http://schemas.openxmlformats.org/drawingml/2006/table">
            <a:tbl>
              <a:tblPr/>
              <a:tblGrid>
                <a:gridCol w="1397000"/>
                <a:gridCol w="1574800"/>
                <a:gridCol w="1574800"/>
                <a:gridCol w="1587500"/>
              </a:tblGrid>
              <a:tr h="228600">
                <a:tc>
                  <a:txBody>
                    <a:bodyPr wrap="square"/>
                    <a:lstStyle/>
                    <a:p>
                      <a:pPr algn="l">
                        <a:lnSpc>
                          <a:spcPts val="1000"/>
                        </a:lnSpc>
                      </a:pPr>
                      <a:r>
                        <a:rPr sz="840" b="0">
                          <a:solidFill>
                            <a:srgbClr val="FEFEFF"/>
                          </a:solidFill>
                          <a:latin typeface="Ubuntu Mono"/>
                          <a:ea typeface="Ubuntu Mono"/>
                          <a:cs typeface="Ubuntu Mono"/>
                          <a:sym typeface="Ubuntu Mono"/>
                        </a:rPr>
                        <a:t>Top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7-5/8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1000"/>
                        </a:lnSpc>
                      </a:pPr>
                      <a:r>
                        <a:rPr sz="84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17-1/2 - 26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Material used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Tar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5" name="TextBox 24"/>
          <p:cNvSpPr txBox="1"/>
          <p:nvPr/>
        </p:nvSpPr>
        <p:spPr>
          <a:xfrm>
            <a:off x="711200" y="695960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Other sizes on request.</a:t>
            </a:r>
          </a:p>
        </p:txBody>
      </p:sp>
      <p:sp>
        <p:nvSpPr>
          <p:cNvPr id="26" name="TextBox 25"/>
          <p:cNvSpPr txBox="1"/>
          <p:nvPr/>
        </p:nvSpPr>
        <p:spPr>
          <a:xfrm>
            <a:off x="711200" y="7366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7" name="TextBox 26"/>
          <p:cNvSpPr txBox="1"/>
          <p:nvPr/>
        </p:nvSpPr>
        <p:spPr>
          <a:xfrm>
            <a:off x="711200" y="7569200"/>
            <a:ext cx="3048000" cy="127000"/>
          </a:xfrm>
          <a:prstGeom prst="rect">
            <a:avLst/>
          </a:prstGeom>
          <a:noFill/>
        </p:spPr>
        <p:txBody>
          <a:bodyPr wrap="square" lIns="0" rIns="0" tIns="0" bIns="0">
            <a:spAutoFit/>
          </a:bodyPr>
          <a:lstStyle/>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Steel body: </a:t>
            </a:r>
            <a:r>
              <a:rPr sz="720" b="0">
                <a:solidFill>
                  <a:srgbClr val="000000"/>
                </a:solidFill>
                <a:latin typeface="Ubuntu Mono"/>
                <a:ea typeface="Ubuntu Mono"/>
                <a:cs typeface="Ubuntu Mono"/>
                <a:sym typeface="Ubuntu Mono"/>
              </a:rPr>
              <a:t>low alloy steel outer casing.</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Lead filling: </a:t>
            </a:r>
            <a:r>
              <a:rPr sz="720" b="0">
                <a:solidFill>
                  <a:srgbClr val="000000"/>
                </a:solidFill>
                <a:latin typeface="Ubuntu Mono"/>
                <a:ea typeface="Ubuntu Mono"/>
                <a:cs typeface="Ubuntu Mono"/>
                <a:sym typeface="Ubuntu Mono"/>
              </a:rPr>
              <a:t>deeper, higher temperature conditions.</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Tar filling: </a:t>
            </a:r>
            <a:r>
              <a:rPr sz="720" b="0">
                <a:solidFill>
                  <a:srgbClr val="000000"/>
                </a:solidFill>
                <a:latin typeface="Ubuntu Mono"/>
                <a:ea typeface="Ubuntu Mono"/>
                <a:cs typeface="Ubuntu Mono"/>
                <a:sym typeface="Ubuntu Mono"/>
              </a:rPr>
              <a:t>large OD, shallow applications.</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Made to order: </a:t>
            </a:r>
            <a:r>
              <a:rPr sz="720" b="0">
                <a:solidFill>
                  <a:srgbClr val="000000"/>
                </a:solidFill>
                <a:latin typeface="Ubuntu Mono"/>
                <a:ea typeface="Ubuntu Mono"/>
                <a:cs typeface="Ubuntu Mono"/>
                <a:sym typeface="Ubuntu Mono"/>
              </a:rPr>
              <a:t>any size can be built.</a:t>
            </a:r>
          </a:p>
        </p:txBody>
      </p:sp>
      <p:sp>
        <p:nvSpPr>
          <p:cNvPr id="28" name="TextBox 27"/>
          <p:cNvSpPr txBox="1"/>
          <p:nvPr/>
        </p:nvSpPr>
        <p:spPr>
          <a:xfrm>
            <a:off x="3810000" y="7366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7569200"/>
            <a:ext cx="3035300" cy="635000"/>
          </a:xfrm>
          <a:prstGeom prst="rect">
            <a:avLst/>
          </a:prstGeom>
          <a:noFill/>
        </p:spPr>
        <p:txBody>
          <a:bodyPr wrap="square" lIns="0" rIns="0" tIns="0" bIns="0">
            <a:spAutoFit/>
          </a:bodyPr>
          <a:lstStyle/>
          <a:p>
            <a:pPr algn="just">
              <a:lnSpc>
                <a:spcPts val="900"/>
              </a:lnSpc>
              <a:spcAft>
                <a:spcPts val="0"/>
              </a:spcAft>
            </a:pPr>
            <a:r>
              <a:rPr sz="700" b="0">
                <a:solidFill>
                  <a:srgbClr val="000000"/>
                </a:solidFill>
                <a:latin typeface="Ubuntu Mono"/>
                <a:ea typeface="Ubuntu Mono"/>
                <a:cs typeface="Ubuntu Mono"/>
                <a:sym typeface="Ubuntu Mono"/>
              </a:rPr>
              <a:t>Please specify: 1. tool OD  2. top connection  3. filling (lead or tar)  4. casing or hole size.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