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Drilling Jar</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JARRING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DOUBLE-ACTING HYDRAULIC / MECHANICAL DRILLING JAR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HYDRAULIC-DELAY JAR FOR BOTH UPSTROKE AND DOWNSTROKE, WITH A MECHANICAL LATCH, BUILT FOR COMPLEX DRILLING PROGRAMS. THE DOWNSTROKE DELAY MAKES IT EFFECTIVE IN DIRECTIONAL, HORIZONTAL AND EXTENDED-REACH WELLS. BECAUSE NO BLEED-THROUGH OPERATION IS NEEDED WHEN TAGGING OR PICKING UP OFF BOTTOM, IT CAN BE PLACED IN COMPRESSION IN THE DRILLSTRING. LATCH RELEASE SETTINGS ARE ADJUSTABLE.</a:t>
            </a:r>
          </a:p>
        </p:txBody>
      </p:sp>
      <p:sp>
        <p:nvSpPr>
          <p:cNvPr id="21" name="TextBox 20"/>
          <p:cNvSpPr txBox="1"/>
          <p:nvPr/>
        </p:nvSpPr>
        <p:spPr>
          <a:xfrm>
            <a:off x="711200" y="4826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016500"/>
          <a:ext cx="6134093" cy="2197100"/>
        </p:xfrm>
        <a:graphic>
          <a:graphicData uri="http://schemas.openxmlformats.org/drawingml/2006/table">
            <a:tbl>
              <a:tblPr/>
              <a:tblGrid>
                <a:gridCol w="1320253"/>
                <a:gridCol w="601730"/>
                <a:gridCol w="601730"/>
                <a:gridCol w="601730"/>
                <a:gridCol w="601730"/>
                <a:gridCol w="601730"/>
                <a:gridCol w="601730"/>
                <a:gridCol w="601730"/>
                <a:gridCol w="601730"/>
              </a:tblGrid>
              <a:tr h="177800">
                <a:tc>
                  <a:txBody>
                    <a:bodyPr wrap="square"/>
                    <a:lstStyle/>
                    <a:p>
                      <a:pPr algn="ctr">
                        <a:lnSpc>
                          <a:spcPts val="800"/>
                        </a:lnSpc>
                      </a:pPr>
                      <a:r>
                        <a:rPr sz="640" b="1">
                          <a:solidFill>
                            <a:srgbClr val="FEFEFF"/>
                          </a:solidFill>
                          <a:latin typeface="Ubuntu Mono"/>
                          <a:ea typeface="Ubuntu Mono"/>
                          <a:cs typeface="Ubuntu Mono"/>
                          <a:sym typeface="Ubuntu Mono"/>
                        </a:rPr>
                        <a:t>Tool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Tool O.D. (mm)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241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Inside Ø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Max. hole Ø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7-7/8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Max. jar load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86,000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84,000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160,000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160,000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Tensile yield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362,000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755,000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755,000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823,000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1,225,000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Torsional yield (lbf-ft)**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70,000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73,500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Total stroke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Std up latch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Max. up latch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50,000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55,000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Std down latch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15,750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42,750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Max. down latch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69,800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Pump open area (in²)</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5.4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Length, latched (ft)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19.8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Weight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730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850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5,200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Ref.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4525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431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428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437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251700"/>
            <a:ext cx="6134100" cy="2032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 Hole openers not recommended.  ** Rating based on the yield of the body connections, independent of tool-joint connections.  *** Down latch setting is 45% of the up latch setting, tolerance +/- 5.</a:t>
            </a:r>
          </a:p>
        </p:txBody>
      </p:sp>
      <p:pic>
        <p:nvPicPr>
          <p:cNvPr id="24" name="Picture 23" descr="agentC_jar.png"/>
          <p:cNvPicPr>
            <a:picLocks noChangeAspect="1"/>
          </p:cNvPicPr>
          <p:nvPr/>
        </p:nvPicPr>
        <p:blipFill>
          <a:blip r:embed="rId7"/>
          <a:stretch>
            <a:fillRect/>
          </a:stretch>
        </p:blipFill>
        <p:spPr>
          <a:xfrm>
            <a:off x="965200" y="7531100"/>
            <a:ext cx="5626100" cy="248053"/>
          </a:xfrm>
          <a:prstGeom prst="rect">
            <a:avLst/>
          </a:prstGeom>
        </p:spPr>
      </p:pic>
      <p:sp>
        <p:nvSpPr>
          <p:cNvPr id="25" name="TextBox 24"/>
          <p:cNvSpPr txBox="1"/>
          <p:nvPr/>
        </p:nvSpPr>
        <p:spPr>
          <a:xfrm>
            <a:off x="711200" y="7906153"/>
            <a:ext cx="304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711200" y="8109353"/>
            <a:ext cx="30988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Delay in both directions: </a:t>
            </a:r>
            <a:r>
              <a:rPr sz="700" b="0">
                <a:solidFill>
                  <a:srgbClr val="000000"/>
                </a:solidFill>
                <a:latin typeface="Ubuntu Mono"/>
                <a:ea typeface="Ubuntu Mono"/>
                <a:cs typeface="Ubuntu Mono"/>
                <a:sym typeface="Ubuntu Mono"/>
              </a:rPr>
              <a:t>hydraulic delay with mechanical latch, upstroke and downstroke.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Adjustable latch: </a:t>
            </a:r>
            <a:r>
              <a:rPr sz="700" b="0">
                <a:solidFill>
                  <a:srgbClr val="000000"/>
                </a:solidFill>
                <a:latin typeface="Ubuntu Mono"/>
                <a:ea typeface="Ubuntu Mono"/>
                <a:cs typeface="Ubuntu Mono"/>
                <a:sym typeface="Ubuntu Mono"/>
              </a:rPr>
              <a:t>release settings can be changed up to the maximum values above.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Jet-type metering device </a:t>
            </a:r>
            <a:r>
              <a:rPr sz="700" b="0">
                <a:solidFill>
                  <a:srgbClr val="000000"/>
                </a:solidFill>
                <a:latin typeface="Ubuntu Mono"/>
                <a:ea typeface="Ubuntu Mono"/>
                <a:cs typeface="Ubuntu Mono"/>
                <a:sym typeface="Ubuntu Mono"/>
              </a:rPr>
              <a:t>controls the hydraulic delay.</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Safe on the rig floor: </a:t>
            </a:r>
            <a:r>
              <a:rPr sz="700" b="0">
                <a:solidFill>
                  <a:srgbClr val="000000"/>
                </a:solidFill>
                <a:latin typeface="Ubuntu Mono"/>
                <a:ea typeface="Ubuntu Mono"/>
                <a:cs typeface="Ubuntu Mono"/>
                <a:sym typeface="Ubuntu Mono"/>
              </a:rPr>
              <a:t>no unexpected jarring while making connections or drilling.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Simple to operate: </a:t>
            </a:r>
            <a:r>
              <a:rPr sz="700" b="0">
                <a:solidFill>
                  <a:srgbClr val="000000"/>
                </a:solidFill>
                <a:latin typeface="Ubuntu Mono"/>
                <a:ea typeface="Ubuntu Mono"/>
                <a:cs typeface="Ubuntu Mono"/>
                <a:sym typeface="Ubuntu Mono"/>
              </a:rPr>
              <a:t>no torque needed in the jarring procedure.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Built for high friction: </a:t>
            </a:r>
            <a:r>
              <a:rPr sz="700" b="0">
                <a:solidFill>
                  <a:srgbClr val="000000"/>
                </a:solidFill>
                <a:latin typeface="Ubuntu Mono"/>
                <a:ea typeface="Ubuntu Mono"/>
                <a:cs typeface="Ubuntu Mono"/>
                <a:sym typeface="Ubuntu Mono"/>
              </a:rPr>
              <a:t>weight can be stacked before firing, even in horizontal sections.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Consistent firing: </a:t>
            </a:r>
            <a:r>
              <a:rPr sz="700" b="0">
                <a:solidFill>
                  <a:srgbClr val="000000"/>
                </a:solidFill>
                <a:latin typeface="Ubuntu Mono"/>
                <a:ea typeface="Ubuntu Mono"/>
                <a:cs typeface="Ubuntu Mono"/>
                <a:sym typeface="Ubuntu Mono"/>
              </a:rPr>
              <a:t>continuous, repeatable jarring performance.</a:t>
            </a:r>
          </a:p>
        </p:txBody>
      </p:sp>
      <p:sp>
        <p:nvSpPr>
          <p:cNvPr id="27" name="TextBox 26"/>
          <p:cNvSpPr txBox="1"/>
          <p:nvPr/>
        </p:nvSpPr>
        <p:spPr>
          <a:xfrm>
            <a:off x="4013200" y="7906153"/>
            <a:ext cx="2832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8" name="Table 27"/>
          <p:cNvGraphicFramePr>
            <a:graphicFrameLocks noGrp="1"/>
          </p:cNvGraphicFramePr>
          <p:nvPr/>
        </p:nvGraphicFramePr>
        <p:xfrm>
          <a:off x="4013200" y="8096653"/>
          <a:ext cx="2832100" cy="944880"/>
        </p:xfrm>
        <a:graphic>
          <a:graphicData uri="http://schemas.openxmlformats.org/drawingml/2006/table">
            <a:tbl>
              <a:tblPr/>
              <a:tblGrid>
                <a:gridCol w="1066800"/>
                <a:gridCol w="1765300"/>
              </a:tblGrid>
              <a:tr h="157480">
                <a:tc>
                  <a:txBody>
                    <a:bodyPr wrap="square"/>
                    <a:lstStyle/>
                    <a:p>
                      <a:pPr algn="l">
                        <a:lnSpc>
                          <a:spcPts val="810"/>
                        </a:lnSpc>
                      </a:pPr>
                      <a:r>
                        <a:rPr sz="650" b="0">
                          <a:solidFill>
                            <a:srgbClr val="FEFEFF"/>
                          </a:solidFill>
                          <a:latin typeface="Ubuntu Mono"/>
                          <a:ea typeface="Ubuntu Mono"/>
                          <a:cs typeface="Ubuntu Mono"/>
                          <a:sym typeface="Ubuntu Mono"/>
                        </a:rPr>
                        <a:t>Placement in string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Tension, neutral or compression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Delay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Hydraulic, up and down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Torque for jarring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None required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Tagging / picking up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No bleed-through needed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Down latch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45% of up latch, +/- 5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Hole openers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Not recommended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9" name="TextBox 28"/>
          <p:cNvSpPr txBox="1"/>
          <p:nvPr/>
        </p:nvSpPr>
        <p:spPr>
          <a:xfrm>
            <a:off x="4013200" y="9168533"/>
            <a:ext cx="2832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0" name="TextBox 29"/>
          <p:cNvSpPr txBox="1"/>
          <p:nvPr/>
        </p:nvSpPr>
        <p:spPr>
          <a:xfrm>
            <a:off x="4013200" y="9359033"/>
            <a:ext cx="2832100" cy="508000"/>
          </a:xfrm>
          <a:prstGeom prst="rect">
            <a:avLst/>
          </a:prstGeom>
          <a:noFill/>
        </p:spPr>
        <p:txBody>
          <a:bodyPr wrap="square" lIns="0" rIns="0" tIns="0" bIns="0">
            <a:spAutoFit/>
          </a:bodyPr>
          <a:lstStyle/>
          <a:p>
            <a:pPr algn="just">
              <a:lnSpc>
                <a:spcPts val="850"/>
              </a:lnSpc>
              <a:spcAft>
                <a:spcPts val="0"/>
              </a:spcAft>
            </a:pPr>
            <a:r>
              <a:rPr sz="670" b="0">
                <a:solidFill>
                  <a:srgbClr val="000000"/>
                </a:solidFill>
                <a:latin typeface="Ubuntu Mono"/>
                <a:ea typeface="Ubuntu Mono"/>
                <a:cs typeface="Ubuntu Mono"/>
                <a:sym typeface="Ubuntu Mono"/>
              </a:rPr>
              <a:t>Please specify: 1. tool O.D. and ref.  2. top and bottom connections  3. up and down latch release settings (standard or adjusted, within the maximum)  4. hole diameter and drilling program (directional, horizontal or extended reach).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