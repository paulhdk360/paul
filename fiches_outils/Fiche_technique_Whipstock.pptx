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Ubuntu Mono" charset="1" panose="020B0509030602030204"/>
      <p:regular r:id="rId7"/>
    </p:embeddedFont>
    <p:embeddedFont>
      <p:font typeface="Ubuntu Mono Bold" charset="1" panose="020B080903060203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92000"/>
          </a:xfrm>
          <a:custGeom>
            <a:avLst/>
            <a:gdLst/>
            <a:ahLst/>
            <a:cxnLst/>
            <a:rect r="r" b="b" t="t" l="l"/>
            <a:pathLst>
              <a:path h="10692000" w="7560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226" t="-1069" r="-22226" b="-106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98589" y="2749692"/>
            <a:ext cx="3376379" cy="837955"/>
            <a:chOff x="0" y="0"/>
            <a:chExt cx="1210018" cy="300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0018" cy="300304"/>
            </a:xfrm>
            <a:custGeom>
              <a:avLst/>
              <a:gdLst/>
              <a:ahLst/>
              <a:cxnLst/>
              <a:rect r="r" b="b" t="t" l="l"/>
              <a:pathLst>
                <a:path h="300304" w="1210018">
                  <a:moveTo>
                    <a:pt x="0" y="0"/>
                  </a:moveTo>
                  <a:lnTo>
                    <a:pt x="1210018" y="0"/>
                  </a:lnTo>
                  <a:lnTo>
                    <a:pt x="1210018" y="300304"/>
                  </a:lnTo>
                  <a:lnTo>
                    <a:pt x="0" y="300304"/>
                  </a:lnTo>
                  <a:close/>
                </a:path>
              </a:pathLst>
            </a:custGeom>
            <a:solidFill>
              <a:srgbClr val="1CB2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10018" cy="300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07385" y="2570502"/>
            <a:ext cx="6036246" cy="1196335"/>
            <a:chOff x="0" y="0"/>
            <a:chExt cx="3262422" cy="646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2422" cy="646585"/>
            </a:xfrm>
            <a:custGeom>
              <a:avLst/>
              <a:gdLst/>
              <a:ahLst/>
              <a:cxnLst/>
              <a:rect r="r" b="b" t="t" l="l"/>
              <a:pathLst>
                <a:path h="646585" w="3262422">
                  <a:moveTo>
                    <a:pt x="3059222" y="0"/>
                  </a:moveTo>
                  <a:lnTo>
                    <a:pt x="0" y="0"/>
                  </a:lnTo>
                  <a:lnTo>
                    <a:pt x="203200" y="646585"/>
                  </a:lnTo>
                  <a:lnTo>
                    <a:pt x="3262422" y="646585"/>
                  </a:lnTo>
                  <a:lnTo>
                    <a:pt x="3059222" y="0"/>
                  </a:lnTo>
                  <a:close/>
                </a:path>
              </a:pathLst>
            </a:custGeom>
            <a:solidFill>
              <a:srgbClr val="0250A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0"/>
              <a:ext cx="3059222" cy="646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595542" y="2339157"/>
            <a:ext cx="1876410" cy="342260"/>
          </a:xfrm>
          <a:custGeom>
            <a:avLst/>
            <a:gdLst/>
            <a:ahLst/>
            <a:cxnLst/>
            <a:rect r="r" b="b" t="t" l="l"/>
            <a:pathLst>
              <a:path h="342260" w="1876410">
                <a:moveTo>
                  <a:pt x="0" y="0"/>
                </a:moveTo>
                <a:lnTo>
                  <a:pt x="1876410" y="0"/>
                </a:lnTo>
                <a:lnTo>
                  <a:pt x="1876410" y="342260"/>
                </a:lnTo>
                <a:lnTo>
                  <a:pt x="0" y="342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0217" y="2667655"/>
            <a:ext cx="4433411" cy="55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4199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WHIPSTOCK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45720" y="3053100"/>
            <a:ext cx="23262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</a:pPr>
            <a:r>
              <a:rPr lang="en-US" sz="170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WHIPSTOCK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3314700"/>
            <a:ext cx="4191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3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RETRIEVABLE CASING SIDETRACK WHIPSTOCKS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40132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35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GENERAL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00" y="4229100"/>
            <a:ext cx="61341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1040"/>
              </a:lnSpc>
              <a:spcAft>
                <a:spcPts val="0"/>
              </a:spcAft>
            </a:pPr>
            <a:r>
              <a:rPr sz="760" b="0" spc="2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FAMILY OF RETRIEVABLE WHIPSTOCKS USED TO SIDETRACK OUT OF CASED HOLE, FOR RE-DRILLS, RE-ENTRIES AND MULTILATERAL WINDOWS. THE WHIPSTOCK IS RUN ON A STARTER MILL TOGETHER WITH ITS ANCHORING DEVICE, ORIENTED, SET, AND THE STARTER MILL IS SHEARED OFF THE WHIP; THE WINDOW IS THEN MILLED AND POLISHED ALONG THE WHIP FACE. THREE SETTING SYSTEMS ARE COVERED: A COMBINATION PACKER AND WHIPSTOCK (SET HYDRAULICALLY, SEALS THE HOLE), AN ANCHOR AND WHIPSTOCK (SET HYDRAULICALLY, NO SEAL) AND A MECHANICALLY SET BOTTOM-TRIP WHIPSTOCK. ALL HAVE A 3 DEGREE FACE ANGLE FOR POSITIVE KICK-OFF AND CAN BE RETRIEVED IN ONE TRIP. WINDOWS CAN BE MILLED THROUGH TWO STRINGS OF CASING.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53086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TECHNICAL CHARACTERISTICS - PACKER TYPE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11200" y="5486400"/>
          <a:ext cx="6134092" cy="1092200"/>
        </p:xfrm>
        <a:graphic>
          <a:graphicData uri="http://schemas.openxmlformats.org/drawingml/2006/table">
            <a:tbl>
              <a:tblPr/>
              <a:tblGrid>
                <a:gridCol w="538078"/>
                <a:gridCol w="618790"/>
                <a:gridCol w="591886"/>
                <a:gridCol w="618790"/>
                <a:gridCol w="672598"/>
                <a:gridCol w="591886"/>
                <a:gridCol w="591886"/>
                <a:gridCol w="699502"/>
                <a:gridCol w="618790"/>
                <a:gridCol w="591886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Casing size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Overall length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Body Ø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Packer length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Whip face length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Face angle (°)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Wt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Bypass valve length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Bypass valve Ø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Valve wt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4-3/16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585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980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229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5-15/16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146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1,400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261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178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2,500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240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338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251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6,595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11200" y="66802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TECHNICAL CHARACTERISTICS - MECHANICAL BOTTOM-TRIP TYPE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11200" y="6870700"/>
          <a:ext cx="6134099" cy="787400"/>
        </p:xfrm>
        <a:graphic>
          <a:graphicData uri="http://schemas.openxmlformats.org/drawingml/2006/table">
            <a:tbl>
              <a:tblPr/>
              <a:tblGrid>
                <a:gridCol w="868033"/>
                <a:gridCol w="954836"/>
                <a:gridCol w="810164"/>
                <a:gridCol w="868033"/>
                <a:gridCol w="954836"/>
                <a:gridCol w="868033"/>
                <a:gridCol w="810164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Casing size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Overall length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Body Ø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Anchor length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Whip face length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Face angle (°)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Wt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5 - 5-1/2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142-3/8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4-5/16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35-1/8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570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172-1/8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5-7/16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38-1/8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875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189-1/2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7-7/16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43-1/2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1,175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11200" y="7683500"/>
            <a:ext cx="6134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40"/>
              </a:lnSpc>
              <a:spcAft>
                <a:spcPts val="0"/>
              </a:spcAft>
            </a:pPr>
            <a:r>
              <a:rPr sz="620" b="0">
                <a:solidFill>
                  <a:srgbClr val="444444"/>
                </a:solidFill>
                <a:latin typeface="Ubuntu Mono"/>
                <a:ea typeface="Ubuntu Mono"/>
                <a:cs typeface="Ubuntu Mono"/>
                <a:sym typeface="Ubuntu Mono"/>
              </a:rPr>
              <a:t>Dimensions in inches, weights in lb (approximate). Packer type: bypass valve data listed separately. Bottom-trip type can also be set permanently; 7-5/8 and 9-5/8 sizes on request.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200" y="8013700"/>
            <a:ext cx="29845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DESIGN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8216900"/>
            <a:ext cx="29845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One trip: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anchor or packer, starter mill and whip run together; retrieved in one trip.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Anchor or packer: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large slip area reduces casing stress; ratchet ring and anti-rotation keys hold the whip.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Shear bolt: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confirms the anchor is fully set before milling starts.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Bottom-trip type: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sets with 3,600 lb on a trigger rod; no hydraulic pressure; slips retract on retrieval.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Orientation: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muleshoe sub, gyro or MWD.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0000" y="8013700"/>
            <a:ext cx="30353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SETTING PARAMETERS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810000" y="8204200"/>
          <a:ext cx="3035300" cy="952500"/>
        </p:xfrm>
        <a:graphic>
          <a:graphicData uri="http://schemas.openxmlformats.org/drawingml/2006/table">
            <a:tbl>
              <a:tblPr/>
              <a:tblGrid>
                <a:gridCol w="1397000"/>
                <a:gridCol w="1638300"/>
              </a:tblGrid>
              <a:tr h="190500"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Hydraulic set (packer, anchor)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3,000 - 3,500 psi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Bottom-trip set, shear-down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15,000 - 20,000 lb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Set depth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2 - 6 ft above a casing collar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Hole angle above 4°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Set within 90° of high side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Window milling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Starter, window, watermelon mills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3810000" y="9258300"/>
            <a:ext cx="30353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HOW TO ORDER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00" y="9436100"/>
            <a:ext cx="30353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840"/>
              </a:lnSpc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Please specify: 1. casing size and weight  2. setting system (packer, anchor or bottom-trip)  3. connections  4. orientation method.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DAGS_rYUj9A</dc:identifier>
  <dcterms:modified xsi:type="dcterms:W3CDTF">2011-08-01T06:04:30Z</dcterms:modified>
  <cp:revision>1</cp:revision>
  <dc:title>Catalogue outils</dc:title>
</cp:coreProperties>
</file>