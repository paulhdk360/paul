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Ubuntu Mono" charset="1" panose="020B0509030602030204"/>
      <p:regular r:id="rId7"/>
    </p:embeddedFont>
    <p:embeddedFont>
      <p:font typeface="Ubuntu Mono Bold" charset="1" panose="020B0809030602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26" t="-1069" r="-22226" b="-10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98589" y="2749692"/>
            <a:ext cx="3376379" cy="837955"/>
            <a:chOff x="0" y="0"/>
            <a:chExt cx="1210018" cy="300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0018" cy="300304"/>
            </a:xfrm>
            <a:custGeom>
              <a:avLst/>
              <a:gdLst/>
              <a:ahLst/>
              <a:cxnLst/>
              <a:rect r="r" b="b" t="t" l="l"/>
              <a:pathLst>
                <a:path h="300304" w="1210018">
                  <a:moveTo>
                    <a:pt x="0" y="0"/>
                  </a:moveTo>
                  <a:lnTo>
                    <a:pt x="1210018" y="0"/>
                  </a:lnTo>
                  <a:lnTo>
                    <a:pt x="1210018" y="300304"/>
                  </a:lnTo>
                  <a:lnTo>
                    <a:pt x="0" y="300304"/>
                  </a:lnTo>
                  <a:close/>
                </a:path>
              </a:pathLst>
            </a:custGeom>
            <a:solidFill>
              <a:srgbClr val="1CB2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10018" cy="300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07385" y="2570502"/>
            <a:ext cx="6036246" cy="1196335"/>
            <a:chOff x="0" y="0"/>
            <a:chExt cx="3262422" cy="646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2422" cy="646585"/>
            </a:xfrm>
            <a:custGeom>
              <a:avLst/>
              <a:gdLst/>
              <a:ahLst/>
              <a:cxnLst/>
              <a:rect r="r" b="b" t="t" l="l"/>
              <a:pathLst>
                <a:path h="646585" w="3262422">
                  <a:moveTo>
                    <a:pt x="3059222" y="0"/>
                  </a:moveTo>
                  <a:lnTo>
                    <a:pt x="0" y="0"/>
                  </a:lnTo>
                  <a:lnTo>
                    <a:pt x="203200" y="646585"/>
                  </a:lnTo>
                  <a:lnTo>
                    <a:pt x="3262422" y="646585"/>
                  </a:lnTo>
                  <a:lnTo>
                    <a:pt x="3059222" y="0"/>
                  </a:lnTo>
                  <a:close/>
                </a:path>
              </a:pathLst>
            </a:custGeom>
            <a:solidFill>
              <a:srgbClr val="0250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0"/>
              <a:ext cx="3059222" cy="646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595542" y="2339157"/>
            <a:ext cx="1876410" cy="342260"/>
          </a:xfrm>
          <a:custGeom>
            <a:avLst/>
            <a:gdLst/>
            <a:ahLst/>
            <a:cxnLst/>
            <a:rect r="r" b="b" t="t" l="l"/>
            <a:pathLst>
              <a:path h="342260" w="1876410">
                <a:moveTo>
                  <a:pt x="0" y="0"/>
                </a:moveTo>
                <a:lnTo>
                  <a:pt x="1876410" y="0"/>
                </a:lnTo>
                <a:lnTo>
                  <a:pt x="1876410" y="342260"/>
                </a:lnTo>
                <a:lnTo>
                  <a:pt x="0" y="34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0217" y="2667655"/>
            <a:ext cx="4433411" cy="55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SPX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5720" y="3053100"/>
            <a:ext cx="23262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70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ENLARGEMENT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3314700"/>
            <a:ext cx="4191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3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DRAG-TYPE UNDERREAMER, PDC CUTTERS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40132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35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GENERAL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4229100"/>
            <a:ext cx="613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1040"/>
              </a:lnSpc>
              <a:spcAft>
                <a:spcPts val="0"/>
              </a:spcAft>
            </a:pPr>
            <a:r>
              <a:rPr sz="760" b="0" spc="2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DRAG-TYPE UNDERREAMER WITH SPX PDC CUTTERS ON THE CUTTING EDGE: THE HARDNESS AND WEAR RESISTANCE OF POLYCRYSTALLINE DIAMOND, BACKED BY THE STRENGTH OF CEMENTED TUNGSTEN CARBIDE. THE CUTTERS SHEAR THROUGH SOFT TO MEDIUM-HARD FORMATIONS FASTER THAN CONVENTIONAL TOOLS AND NEED LESS TOOL WEIGHT. USED IN POORLY CONSOLIDATED SOFT TO MEDIUM FORMATIONS WHERE LARGER DIAMETERS ARE REQUIRED FOR GRAVEL PACKING OR CEMENTING. A PILOT HOLE CAN BE ENLARGED UP TO THREE TIMES THE BODY DIAMETER IN A SINGLE TRIP.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49530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TECHNICAL CHARACTERISTICS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11200" y="5156200"/>
          <a:ext cx="6134097" cy="1752600"/>
        </p:xfrm>
        <a:graphic>
          <a:graphicData uri="http://schemas.openxmlformats.org/drawingml/2006/table">
            <a:tbl>
              <a:tblPr/>
              <a:tblGrid>
                <a:gridCol w="434498"/>
                <a:gridCol w="408940"/>
                <a:gridCol w="485616"/>
                <a:gridCol w="1277937"/>
                <a:gridCol w="715645"/>
                <a:gridCol w="485616"/>
                <a:gridCol w="511175"/>
                <a:gridCol w="460057"/>
                <a:gridCol w="971232"/>
                <a:gridCol w="383381"/>
              </a:tblGrid>
              <a:tr h="4826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Tool series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Body Ø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Min. pilot hole Ø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Std. expanded Ø, SPX (PDC)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Std. expanded Ø, tungsten carbide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Fishing neck length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Fishing neck Ø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Overall length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Top pin API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Wt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N/A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26-1/2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tbc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6-1/2, 6-3/4, 8-1/2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Upon request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 IF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230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Upon request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2-7/8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tbc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7-1/2, 8, 8-1/2, 12, 13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10, 12-1/4, 13, 14, 15, 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10, 12-1/4, 14, 15, 16, 17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 or 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 or 6-5/8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tbc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12-1/4, 17-1/2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tbc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Upon request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 or 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 or 7-5/8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tbc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11200" y="6946900"/>
            <a:ext cx="6134100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All dimensions in inches, weights in lb (approximate). Other expanded diameters, orifices and connections available on request.  tbc: to be confirmed.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200" y="7213600"/>
            <a:ext cx="2984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DESIGN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7416800"/>
            <a:ext cx="30226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56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Self-cleaning arms: </a:t>
            </a:r>
            <a:r>
              <a:rPr sz="71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 circulation jet nozzle sends part of the flow out of each arm pocket, cleaning the cutting surfaces, improving cuttings removal and dissipating frictional heat.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56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Durable arms: </a:t>
            </a:r>
            <a:r>
              <a:rPr sz="71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dressed with long-wearing cutting-grade tungsten carbide.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56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Field serviceable: </a:t>
            </a:r>
            <a:r>
              <a:rPr sz="71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low-cost cutter arms and orifices can be replaced in the field.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56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Optional Flo-Tel: </a:t>
            </a:r>
            <a:r>
              <a:rPr sz="71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pump pressure drops by 200 - 250 psi when the arms are fully extended, confirming full-gauge underreaming.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0000" y="7213600"/>
            <a:ext cx="30353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PERFORMANCE PARAMETERS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810000" y="7416800"/>
          <a:ext cx="3035300" cy="960120"/>
        </p:xfrm>
        <a:graphic>
          <a:graphicData uri="http://schemas.openxmlformats.org/drawingml/2006/table">
            <a:tbl>
              <a:tblPr/>
              <a:tblGrid>
                <a:gridCol w="1320800"/>
                <a:gridCol w="1714500"/>
              </a:tblGrid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Rotary speed, cutting the shoulder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40 - 60 rpm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Flow rate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Increase gradually, 250 - 450 gpm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Weight on tool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Start at 3,000 lb, up to 10,000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With Flo-Tel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80 - 150 rpm at max. pump pressure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Circulating medium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Water, mud, air, aerated mud, foam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Max. enlargement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 x body Ø in a single trip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11200" y="8686800"/>
            <a:ext cx="2984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8890000"/>
            <a:ext cx="30226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56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Faster penetration and more time on bottom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56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Less rig time and lower total cost per foot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56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Quick drilling through producing zones limits formation damage and hole-stability problems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0" y="8686800"/>
            <a:ext cx="30353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HOW TO 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00" y="8877300"/>
            <a:ext cx="30353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880"/>
              </a:lnSpc>
              <a:spcAft>
                <a:spcPts val="0"/>
              </a:spcAft>
            </a:pP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Please specify: 1. tool series  2. top and bottom connections  3. fishing neck Ø  4. opening Ø  5. size and weight of casing to run through, if known  6. bullnose or bits (ordered separately)  7. cutting structure (milled tooth, TCI or PDC).</a:t>
            </a:r>
          </a:p>
        </p:txBody>
      </p:sp>
      <p:pic>
        <p:nvPicPr>
          <p:cNvPr id="32" name="Picture 31" descr="spx_tool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0" y="9626600"/>
            <a:ext cx="3810000" cy="6938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DAGS_rYUj9A</dc:identifier>
  <dcterms:modified xsi:type="dcterms:W3CDTF">2011-08-01T06:04:30Z</dcterms:modified>
  <cp:revision>1</cp:revision>
  <dc:title>Catalogue outils</dc:title>
</cp:coreProperties>
</file>