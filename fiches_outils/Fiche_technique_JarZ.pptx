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Ubuntu Mono" charset="1" panose="020B0509030602030204"/>
      <p:regular r:id="rId7"/>
    </p:embeddedFont>
    <p:embeddedFont>
      <p:font typeface="Ubuntu Mono Bold" charset="1" panose="020B08090306020302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font" Target="fonts/font7.fntdata"/><Relationship Id="rId8"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JAR Z</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JARRING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HYDRAULIC OIL JAR, STRAIGHT PULL</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STRAIGHT-PULL HYDRAULIC OIL JAR FOR FISHING, DRILL STEM TESTING AND CORING. A METERING PISTON DELAYS THE STROKE WHILE THE OPERATOR TAKES STRETCH IN THE STRING, SO THE BLOW CAN BE SET FROM VERY LIGHT TO VERY HIGH IMPACT WITH NO ADJUSTMENT BEFORE OR AFTER THE RUN. THE HYDRAULIC SYSTEM IS CLOSED: OIL CANNOT ESCAPE AND WELL FLUIDS CANNOT ENTER. THE JAR RESETS WITH ONLY A FEW HUNDRED POUNDS OF WEIGHT AND TRANSMITS FULL TORQUE IN BOTH DIRECTIONS AT ALL TIMES.</a:t>
            </a:r>
          </a:p>
        </p:txBody>
      </p:sp>
      <p:sp>
        <p:nvSpPr>
          <p:cNvPr id="21" name="TextBox 20"/>
          <p:cNvSpPr txBox="1"/>
          <p:nvPr/>
        </p:nvSpPr>
        <p:spPr>
          <a:xfrm>
            <a:off x="711200" y="4978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181600"/>
          <a:ext cx="6134097" cy="2753360"/>
        </p:xfrm>
        <a:graphic>
          <a:graphicData uri="http://schemas.openxmlformats.org/drawingml/2006/table">
            <a:tbl>
              <a:tblPr/>
              <a:tblGrid>
                <a:gridCol w="648539"/>
                <a:gridCol w="486404"/>
                <a:gridCol w="486404"/>
                <a:gridCol w="540449"/>
                <a:gridCol w="945786"/>
                <a:gridCol w="702584"/>
                <a:gridCol w="756629"/>
                <a:gridCol w="702584"/>
                <a:gridCol w="864718"/>
              </a:tblGrid>
              <a:tr h="330200">
                <a:tc>
                  <a:txBody>
                    <a:bodyPr wrap="square"/>
                    <a:lstStyle/>
                    <a:p>
                      <a:pPr algn="ctr">
                        <a:lnSpc>
                          <a:spcPts val="840"/>
                        </a:lnSpc>
                      </a:pPr>
                      <a:r>
                        <a:rPr sz="680" b="1">
                          <a:solidFill>
                            <a:srgbClr val="FEFEFF"/>
                          </a:solidFill>
                          <a:latin typeface="Ubuntu Mono"/>
                          <a:ea typeface="Ubuntu Mono"/>
                          <a:cs typeface="Ubuntu Mono"/>
                          <a:sym typeface="Ubuntu Mono"/>
                        </a:rPr>
                        <a:t>Connection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I.D.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Total stroke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Test pull load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Max. jarring load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Tensile at yield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Torque at yield (ft-lb)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Collar weight above jar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Sucker rod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1-5/8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7-1/16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5,000 - 8,500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15,400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46,300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1,100 - 1,450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1-13/16 WFJ</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6,000 - 10,000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18,000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59,400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1,360 - 1,800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1-1/4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6-15/16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7,200 - 12,000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21,000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118,500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1,560 - 2,100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2-3/8 PH-6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2-29/32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11-7/16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12,600 - 19,000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35,400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194,800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2,260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2,200 - 3,000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2-3/8 EUE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3-1/16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11-9/16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12,000 - 16,000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27,800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160,200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2,300 - 3,100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2-3/8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3-1/8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15,000 - 23,000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32,400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229,200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4,060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2,400 - 3,300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2-7/8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18,000 - 26,000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56,500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345,000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7,640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4,200 - 5,700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2-3/8 IF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12-1/8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15,000 - 26,000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299,700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5,340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3,400 - 4,600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2-3/8 EUE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10-1/8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15,000 - 26,000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46,500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179,500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2,980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3,500 - 4,700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2-7/8 IF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18,000 - 28,000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46,700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430,300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9,920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3,500 - 4,700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2-7/8 EUE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18,000 - 28,000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49,000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375,000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11,160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3,600 - 4,900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3-1/2 FH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28,000 - 45,000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85,000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591,900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18,420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6,300 - 8,500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3-1/2 FH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13-5/16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28,000 - 45,000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74,500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468,800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17,200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5,600 - 7,500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4-1/2 FH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11-7/16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41,000 - 62,000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136,400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937,000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34,320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10,200 - 13,800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4-1/2 IF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14-3/8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55,000 - 80,000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159,000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917,400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40,680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11,800 - 16,000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5-1/2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6-3/4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14-11/16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62,000 - 110,000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172,800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1,013,800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48,660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13,000 - 17,500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6-5/8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7-3/4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14-3/8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63,000 - 100,000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149,000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1,587,900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64,020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11,000 - 15,000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7-5/8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13-13/16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80,000 - 120,000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214,000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1,621,000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92,260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14,300 - 19,600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3" name="TextBox 22"/>
          <p:cNvSpPr txBox="1"/>
          <p:nvPr/>
        </p:nvSpPr>
        <p:spPr>
          <a:xfrm>
            <a:off x="711200" y="7973059"/>
            <a:ext cx="6134100" cy="2032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Dimensions in inches. Tensile strengths are calculated theoretical yield values (about +/-20%); torque at yield is the theoretical value, recommended operating torque is 50% of it. Figures are a guide only: apply a safety factor.</a:t>
            </a:r>
          </a:p>
        </p:txBody>
      </p:sp>
      <p:sp>
        <p:nvSpPr>
          <p:cNvPr id="24" name="TextBox 23"/>
          <p:cNvSpPr txBox="1"/>
          <p:nvPr/>
        </p:nvSpPr>
        <p:spPr>
          <a:xfrm>
            <a:off x="711200" y="8265159"/>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5" name="TextBox 24"/>
          <p:cNvSpPr txBox="1"/>
          <p:nvPr/>
        </p:nvSpPr>
        <p:spPr>
          <a:xfrm>
            <a:off x="711200" y="8455660"/>
            <a:ext cx="30226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Adjustable blow: </a:t>
            </a:r>
            <a:r>
              <a:rPr sz="700" b="0">
                <a:solidFill>
                  <a:srgbClr val="000000"/>
                </a:solidFill>
                <a:latin typeface="Ubuntu Mono"/>
                <a:ea typeface="Ubuntu Mono"/>
                <a:cs typeface="Ubuntu Mono"/>
                <a:sym typeface="Ubuntu Mono"/>
              </a:rPr>
              <a:t>impact set by the stretch taken in the string, no prior adjustment.</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Closed hydraulic system: </a:t>
            </a:r>
            <a:r>
              <a:rPr sz="700" b="0">
                <a:solidFill>
                  <a:srgbClr val="000000"/>
                </a:solidFill>
                <a:latin typeface="Ubuntu Mono"/>
                <a:ea typeface="Ubuntu Mono"/>
                <a:cs typeface="Ubuntu Mono"/>
                <a:sym typeface="Ubuntu Mono"/>
              </a:rPr>
              <a:t>internal parts are constantly lubricated; no leakage in or out.</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Easy reset: </a:t>
            </a:r>
            <a:r>
              <a:rPr sz="700" b="0">
                <a:solidFill>
                  <a:srgbClr val="000000"/>
                </a:solidFill>
                <a:latin typeface="Ubuntu Mono"/>
                <a:ea typeface="Ubuntu Mono"/>
                <a:cs typeface="Ubuntu Mono"/>
                <a:sym typeface="Ubuntu Mono"/>
              </a:rPr>
              <a:t>large piston ports open on closing, so only friction weight is needed.</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Full torque: </a:t>
            </a:r>
            <a:r>
              <a:rPr sz="700" b="0">
                <a:solidFill>
                  <a:srgbClr val="000000"/>
                </a:solidFill>
                <a:latin typeface="Ubuntu Mono"/>
                <a:ea typeface="Ubuntu Mono"/>
                <a:cs typeface="Ubuntu Mono"/>
                <a:sym typeface="Ubuntu Mono"/>
              </a:rPr>
              <a:t>transmitted in either direction at any point of the stroke.</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Fast repeat blows: </a:t>
            </a:r>
            <a:r>
              <a:rPr sz="700" b="0">
                <a:solidFill>
                  <a:srgbClr val="000000"/>
                </a:solidFill>
                <a:latin typeface="Ubuntu Mono"/>
                <a:ea typeface="Ubuntu Mono"/>
                <a:cs typeface="Ubuntu Mono"/>
                <a:sym typeface="Ubuntu Mono"/>
              </a:rPr>
              <a:t>limited only by the time to raise and lower the string.</a:t>
            </a:r>
          </a:p>
        </p:txBody>
      </p:sp>
      <p:sp>
        <p:nvSpPr>
          <p:cNvPr id="26" name="TextBox 25"/>
          <p:cNvSpPr txBox="1"/>
          <p:nvPr/>
        </p:nvSpPr>
        <p:spPr>
          <a:xfrm>
            <a:off x="3810000" y="8265159"/>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NOTES</a:t>
            </a:r>
          </a:p>
        </p:txBody>
      </p:sp>
      <p:sp>
        <p:nvSpPr>
          <p:cNvPr id="27" name="TextBox 26"/>
          <p:cNvSpPr txBox="1"/>
          <p:nvPr/>
        </p:nvSpPr>
        <p:spPr>
          <a:xfrm>
            <a:off x="3810000" y="8455660"/>
            <a:ext cx="30353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Fishing: </a:t>
            </a:r>
            <a:r>
              <a:rPr sz="700" b="0">
                <a:solidFill>
                  <a:srgbClr val="000000"/>
                </a:solidFill>
                <a:latin typeface="Ubuntu Mono"/>
                <a:ea typeface="Ubuntu Mono"/>
                <a:cs typeface="Ubuntu Mono"/>
                <a:sym typeface="Ubuntu Mono"/>
              </a:rPr>
              <a:t>run directly below the drill collars; add a jar intensifier about four collars above the jar.</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Drill stem testing, coring: </a:t>
            </a:r>
            <a:r>
              <a:rPr sz="700" b="0">
                <a:solidFill>
                  <a:srgbClr val="000000"/>
                </a:solidFill>
                <a:latin typeface="Ubuntu Mono"/>
                <a:ea typeface="Ubuntu Mono"/>
                <a:cs typeface="Ubuntu Mono"/>
                <a:sym typeface="Ubuntu Mono"/>
              </a:rPr>
              <a:t>3 to 15 collars above the jar; does not interfere with test tools.</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Never exceed the maximum jarring load. </a:t>
            </a:r>
            <a:r>
              <a:rPr sz="700" b="0">
                <a:solidFill>
                  <a:srgbClr val="000000"/>
                </a:solidFill>
                <a:latin typeface="Ubuntu Mono"/>
                <a:ea typeface="Ubuntu Mono"/>
                <a:cs typeface="Ubuntu Mono"/>
                <a:sym typeface="Ubuntu Mono"/>
              </a:rPr>
              <a:t>Do not tong the threaded joints; tong at least 4 in away.</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First blow: </a:t>
            </a:r>
            <a:r>
              <a:rPr sz="700" b="0">
                <a:solidFill>
                  <a:srgbClr val="000000"/>
                </a:solidFill>
                <a:latin typeface="Ubuntu Mono"/>
                <a:ea typeface="Ubuntu Mono"/>
                <a:cs typeface="Ubuntu Mono"/>
                <a:sym typeface="Ubuntu Mono"/>
              </a:rPr>
              <a:t>can take seconds to minutes, depending on depth, stretch, temperature and hole condition.</a:t>
            </a:r>
          </a:p>
        </p:txBody>
      </p:sp>
      <p:sp>
        <p:nvSpPr>
          <p:cNvPr id="28" name="TextBox 27"/>
          <p:cNvSpPr txBox="1"/>
          <p:nvPr/>
        </p:nvSpPr>
        <p:spPr>
          <a:xfrm>
            <a:off x="3810000" y="968756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29" name="TextBox 28"/>
          <p:cNvSpPr txBox="1"/>
          <p:nvPr/>
        </p:nvSpPr>
        <p:spPr>
          <a:xfrm>
            <a:off x="3810000" y="9878060"/>
            <a:ext cx="3035300" cy="508000"/>
          </a:xfrm>
          <a:prstGeom prst="rect">
            <a:avLst/>
          </a:prstGeom>
          <a:noFill/>
        </p:spPr>
        <p:txBody>
          <a:bodyPr wrap="square" lIns="0" rIns="0" tIns="0" bIns="0">
            <a:spAutoFit/>
          </a:bodyPr>
          <a:lstStyle/>
          <a:p>
            <a:pPr algn="just">
              <a:lnSpc>
                <a:spcPts val="860"/>
              </a:lnSpc>
              <a:spcAft>
                <a:spcPts val="0"/>
              </a:spcAft>
            </a:pPr>
            <a:r>
              <a:rPr sz="680" b="0">
                <a:solidFill>
                  <a:srgbClr val="000000"/>
                </a:solidFill>
                <a:latin typeface="Ubuntu Mono"/>
                <a:ea typeface="Ubuntu Mono"/>
                <a:cs typeface="Ubuntu Mono"/>
                <a:sym typeface="Ubuntu Mono"/>
              </a:rPr>
              <a:t>Please specify: 1. jar size (O.D. x I.D.)  2. top and bottom connections, if not standard  3. spares: packing set, piston assembly, non-extrusion and seal protector rings, fill plugs  4. service kit and jar oil.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DAGS_rYUj9A</dc:identifier>
  <dcterms:modified xsi:type="dcterms:W3CDTF">2011-08-01T06:04:30Z</dcterms:modified>
  <cp:revision>1</cp:revision>
  <dc:title>Catalogue outils</dc:title>
</cp:coreProperties>
</file>