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SECTION 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HYDRAULICALLY ACTUATED CASING SECTION MILL</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HYDRAULICALLY ACTUATED TOOL THAT MILLS A SECTION OUT OF CASING OR TUBING, AND CAN ALSO BE USED TO CUT A SINGLE STRING OF CASING. PUMP PRESSURE ACROSS THE PISTON PUSHES A CAM DOWN AND EXPANDS THE KNIVES AGAINST THE CASING: THE CUT-OUT KNIVES PART THE PIPE FIRST, THEN ALL THE KNIVES TAKE PART IN MILLING. WHEN CIRCULATION STOPS, THE PISTON SPRING RETRACTS THE CAM AND THE KNIVES FOLD BACK INTO THE BODY FOR RETRIEVAL. KNIVES ARE DRESSED WITH TUNGSTEN CARBIDE INSERTS, SUITED TO POORLY CEMENTED, SPLIT OR CORRODED CASING; A SECTION OF UP TO 60 FT IS TYPICALLY MILLED WITH ONE SET OF KNIVES.</a:t>
            </a:r>
          </a:p>
        </p:txBody>
      </p:sp>
      <p:sp>
        <p:nvSpPr>
          <p:cNvPr id="21" name="TextBox 20"/>
          <p:cNvSpPr txBox="1"/>
          <p:nvPr/>
        </p:nvSpPr>
        <p:spPr>
          <a:xfrm>
            <a:off x="711200" y="53340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537200"/>
          <a:ext cx="6134098" cy="1701800"/>
        </p:xfrm>
        <a:graphic>
          <a:graphicData uri="http://schemas.openxmlformats.org/drawingml/2006/table">
            <a:tbl>
              <a:tblPr/>
              <a:tblGrid>
                <a:gridCol w="613410"/>
                <a:gridCol w="920114"/>
                <a:gridCol w="613410"/>
                <a:gridCol w="836468"/>
                <a:gridCol w="836468"/>
                <a:gridCol w="724939"/>
                <a:gridCol w="975879"/>
                <a:gridCol w="613410"/>
              </a:tblGrid>
              <a:tr h="330200">
                <a:tc>
                  <a:txBody>
                    <a:bodyPr wrap="square"/>
                    <a:lstStyle/>
                    <a:p>
                      <a:pPr algn="ctr">
                        <a:lnSpc>
                          <a:spcPts val="880"/>
                        </a:lnSpc>
                      </a:pPr>
                      <a:r>
                        <a:rPr sz="720" b="1">
                          <a:solidFill>
                            <a:srgbClr val="FEFEFF"/>
                          </a:solidFill>
                          <a:latin typeface="Ubuntu Mono"/>
                          <a:ea typeface="Ubuntu Mono"/>
                          <a:cs typeface="Ubuntu Mono"/>
                          <a:sym typeface="Ubuntu Mono"/>
                        </a:rPr>
                        <a:t>Tool 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Casing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pin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3600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4100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4500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5500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6100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368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7200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 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554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8200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 or 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or 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9200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10-3/4, 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 or 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or 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11700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13-3/8, 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 or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7277100"/>
            <a:ext cx="6134100" cy="114300"/>
          </a:xfrm>
          <a:prstGeom prst="rect">
            <a:avLst/>
          </a:prstGeom>
          <a:noFill/>
        </p:spPr>
        <p:txBody>
          <a:bodyPr wrap="square" lIns="0" rIns="0" tIns="0" bIns="0">
            <a:spAutoFit/>
          </a:bodyPr>
          <a:lstStyle/>
          <a:p>
            <a:pPr algn="l">
              <a:spcAft>
                <a:spcPts val="0"/>
              </a:spcAft>
            </a:pPr>
            <a:r>
              <a:rPr sz="620" b="0">
                <a:solidFill>
                  <a:srgbClr val="444444"/>
                </a:solidFill>
                <a:latin typeface="Ubuntu Mono"/>
                <a:ea typeface="Ubuntu Mono"/>
                <a:cs typeface="Ubuntu Mono"/>
                <a:sym typeface="Ubuntu Mono"/>
              </a:rPr>
              <a:t>Dimensions in inches, weights in lb (approximate). Standard API regular pin connections; others on request.</a:t>
            </a:r>
          </a:p>
        </p:txBody>
      </p:sp>
      <p:sp>
        <p:nvSpPr>
          <p:cNvPr id="24" name="TextBox 23"/>
          <p:cNvSpPr txBox="1"/>
          <p:nvPr/>
        </p:nvSpPr>
        <p:spPr>
          <a:xfrm>
            <a:off x="711200" y="7594600"/>
            <a:ext cx="2921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7797800"/>
            <a:ext cx="29210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Staged knife opening: </a:t>
            </a:r>
            <a:r>
              <a:rPr sz="700" b="0">
                <a:solidFill>
                  <a:srgbClr val="000000"/>
                </a:solidFill>
                <a:latin typeface="Ubuntu Mono"/>
                <a:ea typeface="Ubuntu Mono"/>
                <a:cs typeface="Ubuntu Mono"/>
                <a:sym typeface="Ubuntu Mono"/>
              </a:rPr>
              <a:t>three knives cut out, then all six mill.</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Carbide cutting structure: </a:t>
            </a:r>
            <a:r>
              <a:rPr sz="700" b="0">
                <a:solidFill>
                  <a:srgbClr val="000000"/>
                </a:solidFill>
                <a:latin typeface="Ubuntu Mono"/>
                <a:ea typeface="Ubuntu Mono"/>
                <a:cs typeface="Ubuntu Mono"/>
                <a:sym typeface="Ubuntu Mono"/>
              </a:rPr>
              <a:t>inserts laid in a brick-work pattern for footage and penetration.</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Positive cut-out signal: </a:t>
            </a:r>
            <a:r>
              <a:rPr sz="700" b="0">
                <a:solidFill>
                  <a:srgbClr val="000000"/>
                </a:solidFill>
                <a:latin typeface="Ubuntu Mono"/>
                <a:ea typeface="Ubuntu Mono"/>
                <a:cs typeface="Ubuntu Mono"/>
                <a:sym typeface="Ubuntu Mono"/>
              </a:rPr>
              <a:t>the Flo-Tel option doubles the flow area once the casing is parted, giving a 200 - 250 psi pressure drop at surface. Standard on series 4100 to 11700; not available on 3600.</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Self-retracting: </a:t>
            </a:r>
            <a:r>
              <a:rPr sz="700" b="0">
                <a:solidFill>
                  <a:srgbClr val="000000"/>
                </a:solidFill>
                <a:latin typeface="Ubuntu Mono"/>
                <a:ea typeface="Ubuntu Mono"/>
                <a:cs typeface="Ubuntu Mono"/>
                <a:sym typeface="Ubuntu Mono"/>
              </a:rPr>
              <a:t>piston spring closes the knives when pumps stop.</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Jetted top sub: </a:t>
            </a:r>
            <a:r>
              <a:rPr sz="700" b="0">
                <a:solidFill>
                  <a:srgbClr val="000000"/>
                </a:solidFill>
                <a:latin typeface="Ubuntu Mono"/>
                <a:ea typeface="Ubuntu Mono"/>
                <a:cs typeface="Ubuntu Mono"/>
                <a:sym typeface="Ubuntu Mono"/>
              </a:rPr>
              <a:t>limits velocity through the piston above 300 gpm.</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Simple servicing: </a:t>
            </a:r>
            <a:r>
              <a:rPr sz="700" b="0">
                <a:solidFill>
                  <a:srgbClr val="000000"/>
                </a:solidFill>
                <a:latin typeface="Ubuntu Mono"/>
                <a:ea typeface="Ubuntu Mono"/>
                <a:cs typeface="Ubuntu Mono"/>
                <a:sym typeface="Ubuntu Mono"/>
              </a:rPr>
              <a:t>replaceable knives, arm-stop stabilizers and Flo-Tel unit.</a:t>
            </a:r>
          </a:p>
        </p:txBody>
      </p:sp>
      <p:sp>
        <p:nvSpPr>
          <p:cNvPr id="26" name="TextBox 25"/>
          <p:cNvSpPr txBox="1"/>
          <p:nvPr/>
        </p:nvSpPr>
        <p:spPr>
          <a:xfrm>
            <a:off x="3810000" y="75946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FLOW RATES (GPM)</a:t>
            </a:r>
          </a:p>
        </p:txBody>
      </p:sp>
      <p:graphicFrame>
        <p:nvGraphicFramePr>
          <p:cNvPr id="27" name="Table 26"/>
          <p:cNvGraphicFramePr>
            <a:graphicFrameLocks noGrp="1"/>
          </p:cNvGraphicFramePr>
          <p:nvPr/>
        </p:nvGraphicFramePr>
        <p:xfrm>
          <a:off x="3810000" y="7785100"/>
          <a:ext cx="3035300" cy="1318251"/>
        </p:xfrm>
        <a:graphic>
          <a:graphicData uri="http://schemas.openxmlformats.org/drawingml/2006/table">
            <a:tbl>
              <a:tblPr/>
              <a:tblGrid>
                <a:gridCol w="762000"/>
                <a:gridCol w="1143000"/>
                <a:gridCol w="1130300"/>
              </a:tblGrid>
              <a:tr h="152400">
                <a:tc>
                  <a:txBody>
                    <a:bodyPr wrap="square"/>
                    <a:lstStyle/>
                    <a:p>
                      <a:pPr algn="ctr">
                        <a:lnSpc>
                          <a:spcPts val="800"/>
                        </a:lnSpc>
                      </a:pPr>
                      <a:r>
                        <a:rPr sz="640" b="1">
                          <a:solidFill>
                            <a:srgbClr val="FEFEFF"/>
                          </a:solidFill>
                          <a:latin typeface="Ubuntu Mono"/>
                          <a:ea typeface="Ubuntu Mono"/>
                          <a:cs typeface="Ubuntu Mono"/>
                          <a:sym typeface="Ubuntu Mono"/>
                        </a:rPr>
                        <a:t>Tool 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During cut-out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During milling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3600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110 - 160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110 - 160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4100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110 - 160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4500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150 - 200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5500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200 - 250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6100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200 - 250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7200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200 - 300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8200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300 - 400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9200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350 - 450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11700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350 - 450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350 - 600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8" name="TextBox 27"/>
          <p:cNvSpPr txBox="1"/>
          <p:nvPr/>
        </p:nvSpPr>
        <p:spPr>
          <a:xfrm>
            <a:off x="3810000" y="920496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9" name="Table 28"/>
          <p:cNvGraphicFramePr>
            <a:graphicFrameLocks noGrp="1"/>
          </p:cNvGraphicFramePr>
          <p:nvPr/>
        </p:nvGraphicFramePr>
        <p:xfrm>
          <a:off x="3810000" y="9382760"/>
          <a:ext cx="3035300" cy="673100"/>
        </p:xfrm>
        <a:graphic>
          <a:graphicData uri="http://schemas.openxmlformats.org/drawingml/2006/table">
            <a:tbl>
              <a:tblPr/>
              <a:tblGrid>
                <a:gridCol w="1206500"/>
                <a:gridCol w="1828800"/>
              </a:tblGrid>
              <a:tr h="134620">
                <a:tc>
                  <a:txBody>
                    <a:bodyPr wrap="square"/>
                    <a:lstStyle/>
                    <a:p>
                      <a:pPr algn="l">
                        <a:lnSpc>
                          <a:spcPts val="800"/>
                        </a:lnSpc>
                      </a:pPr>
                      <a:r>
                        <a:rPr sz="640" b="0">
                          <a:solidFill>
                            <a:srgbClr val="FEFEFF"/>
                          </a:solidFill>
                          <a:latin typeface="Ubuntu Mono"/>
                          <a:ea typeface="Ubuntu Mono"/>
                          <a:cs typeface="Ubuntu Mono"/>
                          <a:sym typeface="Ubuntu Mono"/>
                        </a:rPr>
                        <a:t>Rotary speed, cut-out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60 rpm to start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Rotary speed, milling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80 - 120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Weight on mill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4,000 - 8,000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Min. pressure at tool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about 300 psi to cut out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Pipe cutter use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80 - 100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30" name="TextBox 29"/>
          <p:cNvSpPr txBox="1"/>
          <p:nvPr/>
        </p:nvSpPr>
        <p:spPr>
          <a:xfrm>
            <a:off x="3810000" y="1015746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1" name="TextBox 30"/>
          <p:cNvSpPr txBox="1"/>
          <p:nvPr/>
        </p:nvSpPr>
        <p:spPr>
          <a:xfrm>
            <a:off x="3810000" y="10335260"/>
            <a:ext cx="3035300" cy="381000"/>
          </a:xfrm>
          <a:prstGeom prst="rect">
            <a:avLst/>
          </a:prstGeom>
          <a:noFill/>
        </p:spPr>
        <p:txBody>
          <a:bodyPr wrap="square" lIns="0" rIns="0" tIns="0" bIns="0">
            <a:spAutoFit/>
          </a:bodyPr>
          <a:lstStyle/>
          <a:p>
            <a:pPr algn="just">
              <a:lnSpc>
                <a:spcPts val="840"/>
              </a:lnSpc>
              <a:spcAft>
                <a:spcPts val="0"/>
              </a:spcAft>
            </a:pPr>
            <a:r>
              <a:rPr sz="660" b="0">
                <a:solidFill>
                  <a:srgbClr val="000000"/>
                </a:solidFill>
                <a:latin typeface="Ubuntu Mono"/>
                <a:ea typeface="Ubuntu Mono"/>
                <a:cs typeface="Ubuntu Mono"/>
                <a:sym typeface="Ubuntu Mono"/>
              </a:rPr>
              <a:t>Please specify: 1. tool series  2. size and weight of casing to be milled  3. top pin connection.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