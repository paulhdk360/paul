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PILOT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PILOT MILL FOR TUBULARS AND LINERS</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MILLING TOOL WITH A GUIDE NOSE (PILOT) THAT ENTERS THE TUBULAR BEING MILLED AND KEEPS THE BLADES CENTRED ON IT. IT IS USED TO MILL WASHPIPE, SAFETY JOINTS, CROSSOVER SWAGES, WASHOVER SHOES, ADAPTERS, CASING, LINERS, DRILL PIPE AND SWAGED CASING. LINER HANGERS CAN BE MILLED EFFICIENTLY, AVOIDING INSIDE CUTS AND SPEAR RUNS. THE NOSE CAN BE DRESSED TO MILL ANY JUNK MET ALONG THE WAY.</a:t>
            </a:r>
          </a:p>
        </p:txBody>
      </p:sp>
      <p:sp>
        <p:nvSpPr>
          <p:cNvPr id="21" name="TextBox 20"/>
          <p:cNvSpPr txBox="1"/>
          <p:nvPr/>
        </p:nvSpPr>
        <p:spPr>
          <a:xfrm>
            <a:off x="711200" y="51816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372100"/>
          <a:ext cx="6134095" cy="1320800"/>
        </p:xfrm>
        <a:graphic>
          <a:graphicData uri="http://schemas.openxmlformats.org/drawingml/2006/table">
            <a:tbl>
              <a:tblPr/>
              <a:tblGrid>
                <a:gridCol w="1115290"/>
                <a:gridCol w="1115290"/>
                <a:gridCol w="1115290"/>
                <a:gridCol w="975879"/>
                <a:gridCol w="1115290"/>
                <a:gridCol w="697056"/>
              </a:tblGrid>
              <a:tr h="330200">
                <a:tc>
                  <a:txBody>
                    <a:bodyPr wrap="square"/>
                    <a:lstStyle/>
                    <a:p>
                      <a:pPr algn="ctr">
                        <a:lnSpc>
                          <a:spcPts val="919"/>
                        </a:lnSpc>
                      </a:pPr>
                      <a:r>
                        <a:rPr sz="760" b="1">
                          <a:solidFill>
                            <a:srgbClr val="FEFEFF"/>
                          </a:solidFill>
                          <a:latin typeface="Ubuntu Mono"/>
                          <a:ea typeface="Ubuntu Mono"/>
                          <a:cs typeface="Ubuntu Mono"/>
                          <a:sym typeface="Ubuntu Mono"/>
                        </a:rPr>
                        <a:t>Blade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Top pin conn.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Pilot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3-1/4 - 3-7/8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1-3/4 - 2-3/4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4-1/8 - 4-3/8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1-3/4 - 2-3/4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4-1/8 - 5-3/8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2-1/8 - 3-1/4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120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5-1/2 - 5-5/8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2-1/2 - 4-3/4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240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5-3/4 - 7-3/8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2-1/2 - 4-3/4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255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6-1/8 - 9-7/8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4-3/4 - 6-3/4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305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6743700"/>
            <a:ext cx="6134100" cy="2540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Dimensions in inches, weights in lb (approximate). Standard API regular pin. Other sizes on request.</a:t>
            </a:r>
          </a:p>
        </p:txBody>
      </p:sp>
      <p:sp>
        <p:nvSpPr>
          <p:cNvPr id="24" name="TextBox 23"/>
          <p:cNvSpPr txBox="1"/>
          <p:nvPr/>
        </p:nvSpPr>
        <p:spPr>
          <a:xfrm>
            <a:off x="711200" y="70485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251700"/>
            <a:ext cx="2984500" cy="127000"/>
          </a:xfrm>
          <a:prstGeom prst="rect">
            <a:avLst/>
          </a:prstGeom>
          <a:noFill/>
        </p:spPr>
        <p:txBody>
          <a:bodyPr wrap="square" lIns="0" rIns="0" tIns="0" bIns="0">
            <a:spAutoFit/>
          </a:bodyPr>
          <a:lstStyle/>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Guide nose: </a:t>
            </a:r>
            <a:r>
              <a:rPr sz="720" b="0">
                <a:solidFill>
                  <a:srgbClr val="000000"/>
                </a:solidFill>
                <a:latin typeface="Ubuntu Mono"/>
                <a:ea typeface="Ubuntu Mono"/>
                <a:cs typeface="Ubuntu Mono"/>
                <a:sym typeface="Ubuntu Mono"/>
              </a:rPr>
              <a:t>the pilot sits in the tubular bore and centres the blades.</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Blade size: </a:t>
            </a:r>
            <a:r>
              <a:rPr sz="720" b="0">
                <a:solidFill>
                  <a:srgbClr val="000000"/>
                </a:solidFill>
                <a:latin typeface="Ubuntu Mono"/>
                <a:ea typeface="Ubuntu Mono"/>
                <a:cs typeface="Ubuntu Mono"/>
                <a:sym typeface="Ubuntu Mono"/>
              </a:rPr>
              <a:t>about 1/4 in. over the O.D. of the tool joint or coupling to be milled.</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Pilot size: </a:t>
            </a:r>
            <a:r>
              <a:rPr sz="720" b="0">
                <a:solidFill>
                  <a:srgbClr val="000000"/>
                </a:solidFill>
                <a:latin typeface="Ubuntu Mono"/>
                <a:ea typeface="Ubuntu Mono"/>
                <a:cs typeface="Ubuntu Mono"/>
                <a:sym typeface="Ubuntu Mono"/>
              </a:rPr>
              <a:t>same as the drift diameter of the tubular.</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Dressable nose: </a:t>
            </a:r>
            <a:r>
              <a:rPr sz="720" b="0">
                <a:solidFill>
                  <a:srgbClr val="000000"/>
                </a:solidFill>
                <a:latin typeface="Ubuntu Mono"/>
                <a:ea typeface="Ubuntu Mono"/>
                <a:cs typeface="Ubuntu Mono"/>
                <a:sym typeface="Ubuntu Mono"/>
              </a:rPr>
              <a:t>can be dressed to mill junk.</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Fishing neck: </a:t>
            </a:r>
            <a:r>
              <a:rPr sz="720" b="0">
                <a:solidFill>
                  <a:srgbClr val="000000"/>
                </a:solidFill>
                <a:latin typeface="Ubuntu Mono"/>
                <a:ea typeface="Ubuntu Mono"/>
                <a:cs typeface="Ubuntu Mono"/>
                <a:sym typeface="Ubuntu Mono"/>
              </a:rPr>
              <a:t>standard neck for handling and recovery.</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Typical jobs: </a:t>
            </a:r>
            <a:r>
              <a:rPr sz="720" b="0">
                <a:solidFill>
                  <a:srgbClr val="000000"/>
                </a:solidFill>
                <a:latin typeface="Ubuntu Mono"/>
                <a:ea typeface="Ubuntu Mono"/>
                <a:cs typeface="Ubuntu Mono"/>
                <a:sym typeface="Ubuntu Mono"/>
              </a:rPr>
              <a:t>washpipe (most efficient tool for stuck washpipe), liners and hangers, adapters, swaged casing, drill collars with open I.D.</a:t>
            </a:r>
          </a:p>
        </p:txBody>
      </p:sp>
      <p:sp>
        <p:nvSpPr>
          <p:cNvPr id="26" name="TextBox 25"/>
          <p:cNvSpPr txBox="1"/>
          <p:nvPr/>
        </p:nvSpPr>
        <p:spPr>
          <a:xfrm>
            <a:off x="3860800" y="70485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7" name="Table 26"/>
          <p:cNvGraphicFramePr>
            <a:graphicFrameLocks noGrp="1"/>
          </p:cNvGraphicFramePr>
          <p:nvPr/>
        </p:nvGraphicFramePr>
        <p:xfrm>
          <a:off x="3860800" y="7239000"/>
          <a:ext cx="2984500" cy="990600"/>
        </p:xfrm>
        <a:graphic>
          <a:graphicData uri="http://schemas.openxmlformats.org/drawingml/2006/table">
            <a:tbl>
              <a:tblPr/>
              <a:tblGrid>
                <a:gridCol w="1270000"/>
                <a:gridCol w="1714500"/>
              </a:tblGrid>
              <a:tr h="165100">
                <a:tc>
                  <a:txBody>
                    <a:bodyPr wrap="square"/>
                    <a:lstStyle/>
                    <a:p>
                      <a:pPr algn="l">
                        <a:lnSpc>
                          <a:spcPts val="819"/>
                        </a:lnSpc>
                      </a:pPr>
                      <a:r>
                        <a:rPr sz="660" b="0">
                          <a:solidFill>
                            <a:srgbClr val="FEFEFF"/>
                          </a:solidFill>
                          <a:latin typeface="Ubuntu Mono"/>
                          <a:ea typeface="Ubuntu Mono"/>
                          <a:cs typeface="Ubuntu Mono"/>
                          <a:sym typeface="Ubuntu Mono"/>
                        </a:rPr>
                        <a:t>Rotary speed (start)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80 - 100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819"/>
                        </a:lnSpc>
                      </a:pPr>
                      <a:r>
                        <a:rPr sz="660" b="0">
                          <a:solidFill>
                            <a:srgbClr val="FEFEFF"/>
                          </a:solidFill>
                          <a:latin typeface="Ubuntu Mono"/>
                          <a:ea typeface="Ubuntu Mono"/>
                          <a:cs typeface="Ubuntu Mono"/>
                          <a:sym typeface="Ubuntu Mono"/>
                        </a:rPr>
                        <a:t>Tool weight (start)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2,000 - 6,000 lb or less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819"/>
                        </a:lnSpc>
                      </a:pPr>
                      <a:r>
                        <a:rPr sz="660" b="0">
                          <a:solidFill>
                            <a:srgbClr val="FEFEFF"/>
                          </a:solidFill>
                          <a:latin typeface="Ubuntu Mono"/>
                          <a:ea typeface="Ubuntu Mono"/>
                          <a:cs typeface="Ubuntu Mono"/>
                          <a:sym typeface="Ubuntu Mono"/>
                        </a:rPr>
                        <a:t>H-40 / K-55 casing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4,000 - 6,000 lb; 80 - 100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819"/>
                        </a:lnSpc>
                      </a:pPr>
                      <a:r>
                        <a:rPr sz="660" b="0">
                          <a:solidFill>
                            <a:srgbClr val="FEFEFF"/>
                          </a:solidFill>
                          <a:latin typeface="Ubuntu Mono"/>
                          <a:ea typeface="Ubuntu Mono"/>
                          <a:cs typeface="Ubuntu Mono"/>
                          <a:sym typeface="Ubuntu Mono"/>
                        </a:rPr>
                        <a:t>N-80 / P-110 / Q-135 casing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8,000 - 10,000 lb; 100 - 120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819"/>
                        </a:lnSpc>
                      </a:pPr>
                      <a:r>
                        <a:rPr sz="660" b="0">
                          <a:solidFill>
                            <a:srgbClr val="FEFEFF"/>
                          </a:solidFill>
                          <a:latin typeface="Ubuntu Mono"/>
                          <a:ea typeface="Ubuntu Mono"/>
                          <a:cs typeface="Ubuntu Mono"/>
                          <a:sym typeface="Ubuntu Mono"/>
                        </a:rPr>
                        <a:t>Entering the tubular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about 30 rpm, 2,000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819"/>
                        </a:lnSpc>
                      </a:pPr>
                      <a:r>
                        <a:rPr sz="660" b="0">
                          <a:solidFill>
                            <a:srgbClr val="FEFEFF"/>
                          </a:solidFill>
                          <a:latin typeface="Ubuntu Mono"/>
                          <a:ea typeface="Ubuntu Mono"/>
                          <a:cs typeface="Ubuntu Mono"/>
                          <a:sym typeface="Ubuntu Mono"/>
                        </a:rPr>
                        <a:t>Typical milling rate (casing)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8 - 12 ft/hr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8" name="TextBox 27"/>
          <p:cNvSpPr txBox="1"/>
          <p:nvPr/>
        </p:nvSpPr>
        <p:spPr>
          <a:xfrm>
            <a:off x="3860800" y="83566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9" name="TextBox 28"/>
          <p:cNvSpPr txBox="1"/>
          <p:nvPr/>
        </p:nvSpPr>
        <p:spPr>
          <a:xfrm>
            <a:off x="3860800" y="8559800"/>
            <a:ext cx="2984500" cy="127000"/>
          </a:xfrm>
          <a:prstGeom prst="rect">
            <a:avLst/>
          </a:prstGeom>
          <a:noFill/>
        </p:spPr>
        <p:txBody>
          <a:bodyPr wrap="square" lIns="0" rIns="0" tIns="0" bIns="0">
            <a:spAutoFit/>
          </a:bodyPr>
          <a:lstStyle/>
          <a:p>
            <a:pPr algn="l">
              <a:lnSpc>
                <a:spcPts val="880"/>
              </a:lnSpc>
              <a:spcAft>
                <a:spcPts val="25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Alignment check: </a:t>
            </a:r>
            <a:r>
              <a:rPr sz="700" b="0">
                <a:solidFill>
                  <a:srgbClr val="000000"/>
                </a:solidFill>
                <a:latin typeface="Ubuntu Mono"/>
                <a:ea typeface="Ubuntu Mono"/>
                <a:cs typeface="Ubuntu Mono"/>
                <a:sym typeface="Ubuntu Mono"/>
              </a:rPr>
              <a:t>rotate at about 125 rpm above the tubular to find neutral torque, then enter the pilot slowly; a gradual slow-down when rotation stops shows good alignment.</a:t>
            </a:r>
          </a:p>
          <a:p>
            <a:pPr algn="l">
              <a:lnSpc>
                <a:spcPts val="880"/>
              </a:lnSpc>
              <a:spcAft>
                <a:spcPts val="25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Steady feed: </a:t>
            </a:r>
            <a:r>
              <a:rPr sz="700" b="0">
                <a:solidFill>
                  <a:srgbClr val="000000"/>
                </a:solidFill>
                <a:latin typeface="Ubuntu Mono"/>
                <a:ea typeface="Ubuntu Mono"/>
                <a:cs typeface="Ubuntu Mono"/>
                <a:sym typeface="Ubuntu Mono"/>
              </a:rPr>
              <a:t>apply weight at a constant rate, do not drill off.</a:t>
            </a:r>
          </a:p>
          <a:p>
            <a:pPr algn="l">
              <a:lnSpc>
                <a:spcPts val="880"/>
              </a:lnSpc>
              <a:spcAft>
                <a:spcPts val="25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Cuttings: </a:t>
            </a:r>
            <a:r>
              <a:rPr sz="700" b="0">
                <a:solidFill>
                  <a:srgbClr val="000000"/>
                </a:solidFill>
                <a:latin typeface="Ubuntu Mono"/>
                <a:ea typeface="Ubuntu Mono"/>
                <a:cs typeface="Ubuntu Mono"/>
                <a:sym typeface="Ubuntu Mono"/>
              </a:rPr>
              <a:t>below a shoe, ream up and down every 15 - 20 ft milled; also in holes deviated 30 degrees or more.</a:t>
            </a:r>
          </a:p>
          <a:p>
            <a:pPr algn="l">
              <a:lnSpc>
                <a:spcPts val="880"/>
              </a:lnSpc>
              <a:spcAft>
                <a:spcPts val="25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Rate drop: </a:t>
            </a:r>
            <a:r>
              <a:rPr sz="700" b="0">
                <a:solidFill>
                  <a:srgbClr val="000000"/>
                </a:solidFill>
                <a:latin typeface="Ubuntu Mono"/>
                <a:ea typeface="Ubuntu Mono"/>
                <a:cs typeface="Ubuntu Mono"/>
                <a:sym typeface="Ubuntu Mono"/>
              </a:rPr>
              <a:t>may be a loose steel ring turning with the mill; spud gently. If cutting stops with no torque rise, a tubular section may be turning: pull and retrieve with a spear.</a:t>
            </a:r>
          </a:p>
          <a:p>
            <a:pPr algn="l">
              <a:lnSpc>
                <a:spcPts val="880"/>
              </a:lnSpc>
              <a:spcAft>
                <a:spcPts val="25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Wear pattern: </a:t>
            </a:r>
            <a:r>
              <a:rPr sz="700" b="0">
                <a:solidFill>
                  <a:srgbClr val="000000"/>
                </a:solidFill>
                <a:latin typeface="Ubuntu Mono"/>
                <a:ea typeface="Ubuntu Mono"/>
                <a:cs typeface="Ubuntu Mono"/>
                <a:sym typeface="Ubuntu Mono"/>
              </a:rPr>
              <a:t>hook wear means efficient cutting; taper wear means ease off the weight.</a:t>
            </a:r>
          </a:p>
        </p:txBody>
      </p:sp>
      <p:sp>
        <p:nvSpPr>
          <p:cNvPr id="30" name="TextBox 29"/>
          <p:cNvSpPr txBox="1"/>
          <p:nvPr/>
        </p:nvSpPr>
        <p:spPr>
          <a:xfrm>
            <a:off x="711200" y="91440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1" name="TextBox 30"/>
          <p:cNvSpPr txBox="1"/>
          <p:nvPr/>
        </p:nvSpPr>
        <p:spPr>
          <a:xfrm>
            <a:off x="711200" y="9334500"/>
            <a:ext cx="2984500" cy="508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Please specify: 1. size and weight of the casing to be milled  2. size and weight of the casing to run through, if known  3. top pin connection.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