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STRING MILL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MILLING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SPIRAL BLADE STRING MILL</a:t>
            </a:r>
          </a:p>
        </p:txBody>
      </p:sp>
      <p:pic>
        <p:nvPicPr>
          <p:cNvPr id="19" name="Picture 18" descr="stringmill_tool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1253495"/>
            <a:ext cx="3810000" cy="10490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THE STRING MILL IS A SPIRAL-BLADED MILLING TOOL RUN IN THE STRING TO REMOVE DEBRIS, PERFORATION BURRS AND OTHER FOREIGN MATERIAL LEFT IN THE CASING ID AFTER DRILLING, WELLBORE CLEAN-UP AND PRE-COMPLETION RUNNING OPERATIONS. ITS ALIGNED FLUID CHANNELS GIVE MAXIMUM FLUID BY-PASS AND 360 DEGREE COVER FOR BETTER RECOVERY. IT IS PARTICULARLY SUITED TO PREPARING CASING WINDOWS BEFORE RUNNING LINERS OR COMPLETIONS. IT IS RUN ALONGSIDE A NON-ROTATING CASING SCRAPER AHEAD OF THE DRIFT SUB, REMOVING DRILLING FLUID RESIDUE, SCALE AND CEMENT WHILE RUNNING IN HOLE AND RECIPROCATING THE STRING. THE BLADES CAN BE FACED WITH A CHOICE OF HARDFACING, DEPENDING ON OPERATIONAL REQUIREMENTS.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51816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11200" y="5384800"/>
          <a:ext cx="6134095" cy="1917700"/>
        </p:xfrm>
        <a:graphic>
          <a:graphicData uri="http://schemas.openxmlformats.org/drawingml/2006/table">
            <a:tbl>
              <a:tblPr/>
              <a:tblGrid>
                <a:gridCol w="405337"/>
                <a:gridCol w="513426"/>
                <a:gridCol w="594494"/>
                <a:gridCol w="594494"/>
                <a:gridCol w="405337"/>
                <a:gridCol w="459381"/>
                <a:gridCol w="459381"/>
                <a:gridCol w="432359"/>
                <a:gridCol w="594494"/>
                <a:gridCol w="540449"/>
                <a:gridCol w="540449"/>
                <a:gridCol w="594494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Casing (in)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Weight (lb/ft)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Drift (in)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 hard OD (in)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Body ID (in)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Overall length (in)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Neck length (in)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Neck OD (in)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Rig connection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Torsional yield (ft-lb)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Make-up torque (ft-lb)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Tensile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9.5 - 16.5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3.965 - 3.629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3.965 - 3.629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3.125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2-7/8 HT PAC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5,100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214,200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23 - 28.4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4.545 - 4.315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4.545 - 4.315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3.125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2-7/8 HT PAC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5,100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214,200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6.151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6.151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2.69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4.750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NC38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9,100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580,000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6.059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6.059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2.250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4.750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NC38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9,100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580,000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5.969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5.969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2.250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4.750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NC38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9,100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580,000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8.599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8.599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76.5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NC50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51,700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944,000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8.525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8.525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76.5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NC50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51,700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944,000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53.5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8.379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8.379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76.5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NC50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51,700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944,000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58.4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8.279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8.279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76.5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NC50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51,700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944,000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59.4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8.250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8.250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76.5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NC50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51,700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6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944,000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11200" y="7340600"/>
            <a:ext cx="61341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Other sizes, bespoke ODs and blade lengths on request. Dimensions in inches, loads in lb and ft-lb.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74930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OPERATING LIMITS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11200" y="7696200"/>
          <a:ext cx="6134100" cy="717550"/>
        </p:xfrm>
        <a:graphic>
          <a:graphicData uri="http://schemas.openxmlformats.org/drawingml/2006/table">
            <a:tbl>
              <a:tblPr/>
              <a:tblGrid>
                <a:gridCol w="1117600"/>
                <a:gridCol w="1117600"/>
                <a:gridCol w="1206500"/>
                <a:gridCol w="1524000"/>
                <a:gridCol w="1168400"/>
              </a:tblGrid>
              <a:tr h="279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Casing (in)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 run speed (ft/min)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 rotating speed (rpm)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 compression when rotating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 pressure test (psi)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4-1/2, 5-1/2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60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11200" y="8540750"/>
            <a:ext cx="2984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BENEFITS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" y="873125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60"/>
              </a:lnSpc>
              <a:spcAft>
                <a:spcPts val="18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High fluid by-pass: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fluid and debris flow past the tool body.</a:t>
            </a:r>
          </a:p>
          <a:p>
            <a:pPr algn="l">
              <a:lnSpc>
                <a:spcPts val="860"/>
              </a:lnSpc>
              <a:spcAft>
                <a:spcPts val="18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Compatible: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large inner bore, works with all standard clean-up tools and prevents surge and swab.</a:t>
            </a:r>
          </a:p>
          <a:p>
            <a:pPr algn="l">
              <a:lnSpc>
                <a:spcPts val="860"/>
              </a:lnSpc>
              <a:spcAft>
                <a:spcPts val="18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Robust: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no internal or external screws or bolts.</a:t>
            </a:r>
          </a:p>
          <a:p>
            <a:pPr algn="l">
              <a:lnSpc>
                <a:spcPts val="860"/>
              </a:lnSpc>
              <a:spcAft>
                <a:spcPts val="18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Flexible: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API and non-standard casing sizes, bespoke ODs and blade lengths.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0" y="854075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0" y="8731250"/>
            <a:ext cx="30353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60"/>
              </a:lnSpc>
              <a:spcAft>
                <a:spcPts val="0"/>
              </a:spcAft>
            </a:pP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casing size and weight  2. rig connection  3. blade length and hardfacing  4. other tools run in the string (scraper, drift sub).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