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txBody>
          <a:bodyPr/>
          <a:p/>
        </p:txBody>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txBody>
          <a:bodyPr/>
          <a:p/>
        </p:txBody>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VIPER PILOT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CASING REMOVAL AND SLOT RECOVERY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MILLING TOOL DESIGNED FOR THE EFFICIENT REMOVAL OF DOWNHOLE CASING STRINGS. IT IS USED MAINLY FOR OFFSHORE PLATFORM SLOT RECOVERY, WHERE INTERMEDIATE CASING IS REMOVED BACK TO THE SURFACE STRING OR CONDUCTOR SO THE WELL CAN BE RE-DRILLED TO A NEW TARGET INSTEAD OF BEING ABANDONED. WHERE THE CASING CEMENT IS POOR A MIX OF RETRIEVAL AND MILLING IS USED; WHERE CASING IS CEMENTED BACK TO THE SPOOLS, MILLING ALONE IS USED. THE BLADES CARRY A BRICK-PATTERN CARBIDE CUTTING STRUCTURE FOR HIGH PENETRATION RATE, IDEAL CUTTING SIZE AND LONG MILLING LIFE.</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7" cy="2311400"/>
        </p:xfrm>
        <a:graphic>
          <a:graphicData uri="http://schemas.openxmlformats.org/drawingml/2006/table">
            <a:tbl>
              <a:tblPr/>
              <a:tblGrid>
                <a:gridCol w="526175"/>
                <a:gridCol w="553869"/>
                <a:gridCol w="553869"/>
                <a:gridCol w="553869"/>
                <a:gridCol w="553869"/>
                <a:gridCol w="858497"/>
                <a:gridCol w="692336"/>
                <a:gridCol w="692336"/>
                <a:gridCol w="623102"/>
                <a:gridCol w="526175"/>
              </a:tblGrid>
              <a:tr h="330200">
                <a:tc>
                  <a:txBody>
                    <a:bodyPr wrap="square"/>
                    <a:lstStyle/>
                    <a:p>
                      <a:pPr algn="ctr">
                        <a:lnSpc>
                          <a:spcPts val="860"/>
                        </a:lnSpc>
                      </a:pPr>
                      <a:r>
                        <a:rPr sz="70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Body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Blade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No. of blades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Top pin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5.813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6600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7.906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7600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5-1/2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9600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10700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14.625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531100"/>
            <a:ext cx="6134100" cy="381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Pilot stabilisation and guide or taper mill are dressed to the casing drift diameter. stabiliser sleeve available on casing sizes 7-5/8 in. and larger.</a:t>
            </a:r>
          </a:p>
        </p:txBody>
      </p:sp>
      <p:pic>
        <p:nvPicPr>
          <p:cNvPr id="24" name="Picture 23" descr="viper_tool_blue.png"/>
          <p:cNvPicPr>
            <a:picLocks noChangeAspect="1"/>
          </p:cNvPicPr>
          <p:nvPr/>
        </p:nvPicPr>
        <p:blipFill>
          <a:blip r:embed="rId7"/>
          <a:stretch>
            <a:fillRect/>
          </a:stretch>
        </p:blipFill>
        <p:spPr>
          <a:xfrm>
            <a:off x="736600" y="7962900"/>
            <a:ext cx="326175" cy="2387600"/>
          </a:xfrm>
          <a:prstGeom prst="rect">
            <a:avLst/>
          </a:prstGeom>
        </p:spPr>
      </p:pic>
      <p:sp>
        <p:nvSpPr>
          <p:cNvPr id="25" name="TextBox 24"/>
          <p:cNvSpPr txBox="1"/>
          <p:nvPr/>
        </p:nvSpPr>
        <p:spPr>
          <a:xfrm>
            <a:off x="1397000" y="7937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397000" y="8140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Cutting structure: </a:t>
            </a:r>
            <a:r>
              <a:rPr sz="700" b="0">
                <a:solidFill>
                  <a:srgbClr val="000000"/>
                </a:solidFill>
                <a:latin typeface="Ubuntu Mono"/>
                <a:ea typeface="Ubuntu Mono"/>
                <a:cs typeface="Ubuntu Mono"/>
                <a:sym typeface="Ubuntu Mono"/>
              </a:rPr>
              <a:t>carbide inserts in a brick pattern, developed to resist early wear and breakage.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Blades: </a:t>
            </a:r>
            <a:r>
              <a:rPr sz="700" b="0">
                <a:solidFill>
                  <a:srgbClr val="000000"/>
                </a:solidFill>
                <a:latin typeface="Ubuntu Mono"/>
                <a:ea typeface="Ubuntu Mono"/>
                <a:cs typeface="Ubuntu Mono"/>
                <a:sym typeface="Ubuntu Mono"/>
              </a:rPr>
              <a:t>high-grade alloy steel, cutting edge set at the angle for maximum efficiency.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Extended blade length: </a:t>
            </a:r>
            <a:r>
              <a:rPr sz="700" b="0">
                <a:solidFill>
                  <a:srgbClr val="000000"/>
                </a:solidFill>
                <a:latin typeface="Ubuntu Mono"/>
                <a:ea typeface="Ubuntu Mono"/>
                <a:cs typeface="Ubuntu Mono"/>
                <a:sym typeface="Ubuntu Mono"/>
              </a:rPr>
              <a:t>more footage per mill.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Stabiliser: </a:t>
            </a:r>
            <a:r>
              <a:rPr sz="700" b="0">
                <a:solidFill>
                  <a:srgbClr val="000000"/>
                </a:solidFill>
                <a:latin typeface="Ubuntu Mono"/>
                <a:ea typeface="Ubuntu Mono"/>
                <a:cs typeface="Ubuntu Mono"/>
                <a:sym typeface="Ubuntu Mono"/>
              </a:rPr>
              <a:t>sleeve-type, changeable at the rig site; useful on eccentric casing strings.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Deviated holes: </a:t>
            </a:r>
            <a:r>
              <a:rPr sz="700" b="0">
                <a:solidFill>
                  <a:srgbClr val="000000"/>
                </a:solidFill>
                <a:latin typeface="Ubuntu Mono"/>
                <a:ea typeface="Ubuntu Mono"/>
                <a:cs typeface="Ubuntu Mono"/>
                <a:sym typeface="Ubuntu Mono"/>
              </a:rPr>
              <a:t>blade design does not skin the next casing string.</a:t>
            </a:r>
          </a:p>
        </p:txBody>
      </p:sp>
      <p:sp>
        <p:nvSpPr>
          <p:cNvPr id="27" name="TextBox 26"/>
          <p:cNvSpPr txBox="1"/>
          <p:nvPr/>
        </p:nvSpPr>
        <p:spPr>
          <a:xfrm>
            <a:off x="4089400" y="7937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89400" y="8128000"/>
          <a:ext cx="2755900" cy="472440"/>
        </p:xfrm>
        <a:graphic>
          <a:graphicData uri="http://schemas.openxmlformats.org/drawingml/2006/table">
            <a:tbl>
              <a:tblPr/>
              <a:tblGrid>
                <a:gridCol w="1117600"/>
                <a:gridCol w="1638300"/>
              </a:tblGrid>
              <a:tr h="157480">
                <a:tc>
                  <a:txBody>
                    <a:bodyPr wrap="square"/>
                    <a:lstStyle/>
                    <a:p>
                      <a:pPr algn="l">
                        <a:lnSpc>
                          <a:spcPts val="810"/>
                        </a:lnSpc>
                      </a:pPr>
                      <a:r>
                        <a:rPr sz="65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5,000 - 10,000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Cutting 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From surface speed and casing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9" name="TextBox 28"/>
          <p:cNvSpPr txBox="1"/>
          <p:nvPr/>
        </p:nvSpPr>
        <p:spPr>
          <a:xfrm>
            <a:off x="4089400" y="87274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MILL STABILITY</a:t>
            </a:r>
          </a:p>
        </p:txBody>
      </p:sp>
      <p:sp>
        <p:nvSpPr>
          <p:cNvPr id="30" name="TextBox 29"/>
          <p:cNvSpPr txBox="1"/>
          <p:nvPr/>
        </p:nvSpPr>
        <p:spPr>
          <a:xfrm>
            <a:off x="4089400" y="893064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Taper mill: </a:t>
            </a:r>
            <a:r>
              <a:rPr sz="700" b="0">
                <a:solidFill>
                  <a:srgbClr val="000000"/>
                </a:solidFill>
                <a:latin typeface="Ubuntu Mono"/>
                <a:ea typeface="Ubuntu Mono"/>
                <a:cs typeface="Ubuntu Mono"/>
                <a:sym typeface="Ubuntu Mono"/>
              </a:rPr>
              <a:t>run directly ahead of the mill to clear junk or enlarge the casing stub.</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Stabiliser: </a:t>
            </a:r>
            <a:r>
              <a:rPr sz="700" b="0">
                <a:solidFill>
                  <a:srgbClr val="000000"/>
                </a:solidFill>
                <a:latin typeface="Ubuntu Mono"/>
                <a:ea typeface="Ubuntu Mono"/>
                <a:cs typeface="Ubuntu Mono"/>
                <a:sym typeface="Ubuntu Mono"/>
              </a:rPr>
              <a:t>same diameter as the mill, run immediately above it.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Sizing: </a:t>
            </a:r>
            <a:r>
              <a:rPr sz="700" b="0">
                <a:solidFill>
                  <a:srgbClr val="000000"/>
                </a:solidFill>
                <a:latin typeface="Ubuntu Mono"/>
                <a:ea typeface="Ubuntu Mono"/>
                <a:cs typeface="Ubuntu Mono"/>
                <a:sym typeface="Ubuntu Mono"/>
              </a:rPr>
              <a:t>O.D. and stabilisation diameter set to avoid damage to outer casing strings.</a:t>
            </a:r>
          </a:p>
        </p:txBody>
      </p:sp>
      <p:sp>
        <p:nvSpPr>
          <p:cNvPr id="31" name="TextBox 30"/>
          <p:cNvSpPr txBox="1"/>
          <p:nvPr/>
        </p:nvSpPr>
        <p:spPr>
          <a:xfrm>
            <a:off x="4089400" y="97942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4089400" y="9984740"/>
            <a:ext cx="2755900" cy="381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size and weight of the casing to be milled  3. top pin connection.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