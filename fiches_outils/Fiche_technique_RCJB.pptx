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Lst>
  <p:sldSz cx="7556500" cy="10693400"/>
  <p:notesSz cx="6858000" cy="9144000"/>
  <p:embeddedFontLst>
    <p:embeddedFont>
      <p:font typeface="Ubuntu Mono" charset="1" panose="020B0509030602030204"/>
      <p:regular r:id="rId7"/>
    </p:embeddedFont>
    <p:embeddedFont>
      <p:font typeface="Ubuntu Mono Bold" charset="1" panose="020B0809030602030204"/>
      <p:regular r:id="rId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font" Target="fonts/font7.fntdata"/><Relationship Id="rId8" Type="http://schemas.openxmlformats.org/officeDocument/2006/relationships/font" Target="fonts/font8.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7560000" cy="10692000"/>
          </a:xfrm>
          <a:custGeom>
            <a:avLst/>
            <a:gdLst/>
            <a:ahLst/>
            <a:cxnLst/>
            <a:rect r="r" b="b" t="t" l="l"/>
            <a:pathLst>
              <a:path h="10692000" w="7560000">
                <a:moveTo>
                  <a:pt x="0" y="0"/>
                </a:moveTo>
                <a:lnTo>
                  <a:pt x="7560000" y="0"/>
                </a:lnTo>
                <a:lnTo>
                  <a:pt x="7560000" y="10692000"/>
                </a:lnTo>
                <a:lnTo>
                  <a:pt x="0" y="10692000"/>
                </a:lnTo>
                <a:lnTo>
                  <a:pt x="0" y="0"/>
                </a:lnTo>
                <a:close/>
              </a:path>
            </a:pathLst>
          </a:custGeom>
          <a:blipFill>
            <a:blip r:embed="rId2"/>
            <a:stretch>
              <a:fillRect l="-22226" t="-1069" r="-22226" b="-1069"/>
            </a:stretch>
          </a:blipFill>
        </p:spPr>
      </p:sp>
      <p:grpSp>
        <p:nvGrpSpPr>
          <p:cNvPr name="Group 3" id="3"/>
          <p:cNvGrpSpPr/>
          <p:nvPr/>
        </p:nvGrpSpPr>
        <p:grpSpPr>
          <a:xfrm rot="0">
            <a:off x="4198589" y="2749692"/>
            <a:ext cx="3376379" cy="837955"/>
            <a:chOff x="0" y="0"/>
            <a:chExt cx="1210018" cy="300304"/>
          </a:xfrm>
        </p:grpSpPr>
        <p:sp>
          <p:nvSpPr>
            <p:cNvPr name="Freeform 4" id="4"/>
            <p:cNvSpPr/>
            <p:nvPr/>
          </p:nvSpPr>
          <p:spPr>
            <a:xfrm flipH="false" flipV="false" rot="0">
              <a:off x="0" y="0"/>
              <a:ext cx="1210018" cy="300304"/>
            </a:xfrm>
            <a:custGeom>
              <a:avLst/>
              <a:gdLst/>
              <a:ahLst/>
              <a:cxnLst/>
              <a:rect r="r" b="b" t="t" l="l"/>
              <a:pathLst>
                <a:path h="300304" w="1210018">
                  <a:moveTo>
                    <a:pt x="0" y="0"/>
                  </a:moveTo>
                  <a:lnTo>
                    <a:pt x="1210018" y="0"/>
                  </a:lnTo>
                  <a:lnTo>
                    <a:pt x="1210018" y="300304"/>
                  </a:lnTo>
                  <a:lnTo>
                    <a:pt x="0" y="300304"/>
                  </a:lnTo>
                  <a:close/>
                </a:path>
              </a:pathLst>
            </a:custGeom>
            <a:solidFill>
              <a:srgbClr val="1CB2FE"/>
            </a:solidFill>
          </p:spPr>
        </p:sp>
        <p:sp>
          <p:nvSpPr>
            <p:cNvPr name="TextBox 5" id="5"/>
            <p:cNvSpPr txBox="true"/>
            <p:nvPr/>
          </p:nvSpPr>
          <p:spPr>
            <a:xfrm>
              <a:off x="0" y="0"/>
              <a:ext cx="1210018" cy="300304"/>
            </a:xfrm>
            <a:prstGeom prst="rect">
              <a:avLst/>
            </a:prstGeom>
          </p:spPr>
          <p:txBody>
            <a:bodyPr anchor="ctr" rtlCol="false" tIns="50800" lIns="50800" bIns="50800" rIns="50800"/>
            <a:lstStyle/>
            <a:p>
              <a:pPr algn="ctr">
                <a:lnSpc>
                  <a:spcPts val="1440"/>
                </a:lnSpc>
              </a:pPr>
            </a:p>
          </p:txBody>
        </p:sp>
      </p:grpSp>
      <p:grpSp>
        <p:nvGrpSpPr>
          <p:cNvPr name="Group 6" id="6"/>
          <p:cNvGrpSpPr/>
          <p:nvPr/>
        </p:nvGrpSpPr>
        <p:grpSpPr>
          <a:xfrm rot="0">
            <a:off x="-807385" y="2570502"/>
            <a:ext cx="6036246" cy="1196335"/>
            <a:chOff x="0" y="0"/>
            <a:chExt cx="3262422" cy="646585"/>
          </a:xfrm>
        </p:grpSpPr>
        <p:sp>
          <p:nvSpPr>
            <p:cNvPr name="Freeform 7" id="7"/>
            <p:cNvSpPr/>
            <p:nvPr/>
          </p:nvSpPr>
          <p:spPr>
            <a:xfrm flipH="false" flipV="false" rot="0">
              <a:off x="0" y="0"/>
              <a:ext cx="3262422" cy="646585"/>
            </a:xfrm>
            <a:custGeom>
              <a:avLst/>
              <a:gdLst/>
              <a:ahLst/>
              <a:cxnLst/>
              <a:rect r="r" b="b" t="t" l="l"/>
              <a:pathLst>
                <a:path h="646585" w="3262422">
                  <a:moveTo>
                    <a:pt x="3059222" y="0"/>
                  </a:moveTo>
                  <a:lnTo>
                    <a:pt x="0" y="0"/>
                  </a:lnTo>
                  <a:lnTo>
                    <a:pt x="203200" y="646585"/>
                  </a:lnTo>
                  <a:lnTo>
                    <a:pt x="3262422" y="646585"/>
                  </a:lnTo>
                  <a:lnTo>
                    <a:pt x="3059222" y="0"/>
                  </a:lnTo>
                  <a:close/>
                </a:path>
              </a:pathLst>
            </a:custGeom>
            <a:solidFill>
              <a:srgbClr val="0250A5"/>
            </a:solidFill>
          </p:spPr>
        </p:sp>
        <p:sp>
          <p:nvSpPr>
            <p:cNvPr name="TextBox 8" id="8"/>
            <p:cNvSpPr txBox="true"/>
            <p:nvPr/>
          </p:nvSpPr>
          <p:spPr>
            <a:xfrm>
              <a:off x="101600" y="0"/>
              <a:ext cx="3059222" cy="646585"/>
            </a:xfrm>
            <a:prstGeom prst="rect">
              <a:avLst/>
            </a:prstGeom>
          </p:spPr>
          <p:txBody>
            <a:bodyPr anchor="ctr" rtlCol="false" tIns="50800" lIns="50800" bIns="50800" rIns="50800"/>
            <a:lstStyle/>
            <a:p>
              <a:pPr algn="ctr">
                <a:lnSpc>
                  <a:spcPts val="1440"/>
                </a:lnSpc>
              </a:pPr>
            </a:p>
          </p:txBody>
        </p:sp>
      </p:grpSp>
      <p:sp>
        <p:nvSpPr>
          <p:cNvPr name="Freeform 10" id="10"/>
          <p:cNvSpPr/>
          <p:nvPr/>
        </p:nvSpPr>
        <p:spPr>
          <a:xfrm flipH="false" flipV="false" rot="0">
            <a:off x="5595542" y="2339157"/>
            <a:ext cx="1876410" cy="342260"/>
          </a:xfrm>
          <a:custGeom>
            <a:avLst/>
            <a:gdLst/>
            <a:ahLst/>
            <a:cxnLst/>
            <a:rect r="r" b="b" t="t" l="l"/>
            <a:pathLst>
              <a:path h="342260" w="1876410">
                <a:moveTo>
                  <a:pt x="0" y="0"/>
                </a:moveTo>
                <a:lnTo>
                  <a:pt x="1876410" y="0"/>
                </a:lnTo>
                <a:lnTo>
                  <a:pt x="1876410" y="342260"/>
                </a:lnTo>
                <a:lnTo>
                  <a:pt x="0" y="342260"/>
                </a:lnTo>
                <a:lnTo>
                  <a:pt x="0" y="0"/>
                </a:lnTo>
                <a:close/>
              </a:path>
            </a:pathLst>
          </a:custGeom>
          <a:blipFill>
            <a:blip r:embed="rId3"/>
            <a:stretch>
              <a:fillRect l="0" t="0" r="0" b="0"/>
            </a:stretch>
          </a:blipFill>
        </p:spPr>
      </p:sp>
      <p:sp>
        <p:nvSpPr>
          <p:cNvPr name="TextBox 16" id="16"/>
          <p:cNvSpPr txBox="true"/>
          <p:nvPr/>
        </p:nvSpPr>
        <p:spPr>
          <a:xfrm rot="0">
            <a:off x="710217" y="2667655"/>
            <a:ext cx="4433411" cy="554354"/>
          </a:xfrm>
          <a:prstGeom prst="rect">
            <a:avLst/>
          </a:prstGeom>
        </p:spPr>
        <p:txBody>
          <a:bodyPr anchor="t" rtlCol="false" tIns="0" lIns="0" bIns="0" rIns="0">
            <a:spAutoFit/>
          </a:bodyPr>
          <a:lstStyle/>
          <a:p>
            <a:pPr algn="l">
              <a:lnSpc>
                <a:spcPts val="4199"/>
              </a:lnSpc>
            </a:pPr>
            <a:r>
              <a:rPr lang="en-US" sz="4199">
                <a:solidFill>
                  <a:srgbClr val="FFFFFF"/>
                </a:solidFill>
                <a:latin typeface="Ubuntu Mono"/>
                <a:ea typeface="Ubuntu Mono"/>
                <a:cs typeface="Ubuntu Mono"/>
                <a:sym typeface="Ubuntu Mono"/>
              </a:rPr>
              <a:t>RCJB</a:t>
            </a:r>
          </a:p>
        </p:txBody>
      </p:sp>
      <p:sp>
        <p:nvSpPr>
          <p:cNvPr name="TextBox 17" id="17"/>
          <p:cNvSpPr txBox="true"/>
          <p:nvPr/>
        </p:nvSpPr>
        <p:spPr>
          <a:xfrm rot="0">
            <a:off x="5145720" y="3053100"/>
            <a:ext cx="2326232" cy="240665"/>
          </a:xfrm>
          <a:prstGeom prst="rect">
            <a:avLst/>
          </a:prstGeom>
        </p:spPr>
        <p:txBody>
          <a:bodyPr anchor="t" rtlCol="false" tIns="0" lIns="0" bIns="0" rIns="0">
            <a:spAutoFit/>
          </a:bodyPr>
          <a:lstStyle/>
          <a:p>
            <a:pPr algn="ctr">
              <a:lnSpc>
                <a:spcPts val="1870"/>
              </a:lnSpc>
            </a:pPr>
            <a:r>
              <a:rPr lang="en-US" sz="1700">
                <a:solidFill>
                  <a:srgbClr val="FFFFFF"/>
                </a:solidFill>
                <a:latin typeface="Ubuntu Mono"/>
                <a:ea typeface="Ubuntu Mono"/>
                <a:cs typeface="Ubuntu Mono"/>
                <a:sym typeface="Ubuntu Mono"/>
              </a:rPr>
              <a:t>FISHING</a:t>
            </a:r>
          </a:p>
        </p:txBody>
      </p:sp>
      <p:sp>
        <p:nvSpPr>
          <p:cNvPr id="18" name="TextBox 17"/>
          <p:cNvSpPr txBox="1"/>
          <p:nvPr/>
        </p:nvSpPr>
        <p:spPr>
          <a:xfrm>
            <a:off x="711200" y="3314700"/>
            <a:ext cx="4191000" cy="177800"/>
          </a:xfrm>
          <a:prstGeom prst="rect">
            <a:avLst/>
          </a:prstGeom>
          <a:noFill/>
        </p:spPr>
        <p:txBody>
          <a:bodyPr wrap="square" lIns="0" rIns="0" tIns="0" bIns="0">
            <a:spAutoFit/>
          </a:bodyPr>
          <a:lstStyle/>
          <a:p>
            <a:pPr algn="l">
              <a:spcAft>
                <a:spcPts val="0"/>
              </a:spcAft>
            </a:pPr>
            <a:r>
              <a:rPr sz="950" b="0" spc="30">
                <a:solidFill>
                  <a:srgbClr val="FFFFFF"/>
                </a:solidFill>
                <a:latin typeface="Ubuntu Mono"/>
                <a:ea typeface="Ubuntu Mono"/>
                <a:cs typeface="Ubuntu Mono"/>
                <a:sym typeface="Ubuntu Mono"/>
              </a:rPr>
              <a:t>REVERSE CIRCULATION JUNK BASKET</a:t>
            </a:r>
          </a:p>
        </p:txBody>
      </p:sp>
      <p:sp>
        <p:nvSpPr>
          <p:cNvPr id="19" name="TextBox 18"/>
          <p:cNvSpPr txBox="1"/>
          <p:nvPr/>
        </p:nvSpPr>
        <p:spPr>
          <a:xfrm>
            <a:off x="711200" y="4013200"/>
            <a:ext cx="6134100" cy="177800"/>
          </a:xfrm>
          <a:prstGeom prst="rect">
            <a:avLst/>
          </a:prstGeom>
          <a:noFill/>
        </p:spPr>
        <p:txBody>
          <a:bodyPr wrap="square" lIns="0" rIns="0" tIns="0" bIns="0">
            <a:spAutoFit/>
          </a:bodyPr>
          <a:lstStyle/>
          <a:p>
            <a:pPr algn="l">
              <a:spcAft>
                <a:spcPts val="0"/>
              </a:spcAft>
            </a:pPr>
            <a:r>
              <a:rPr sz="1050" b="1" spc="35">
                <a:solidFill>
                  <a:srgbClr val="194E9A"/>
                </a:solidFill>
                <a:latin typeface="Ubuntu Mono"/>
                <a:ea typeface="Ubuntu Mono"/>
                <a:cs typeface="Ubuntu Mono"/>
                <a:sym typeface="Ubuntu Mono"/>
              </a:rPr>
              <a:t>GENERAL DESCRIPTION</a:t>
            </a:r>
          </a:p>
        </p:txBody>
      </p:sp>
      <p:sp>
        <p:nvSpPr>
          <p:cNvPr id="20" name="TextBox 19"/>
          <p:cNvSpPr txBox="1"/>
          <p:nvPr/>
        </p:nvSpPr>
        <p:spPr>
          <a:xfrm>
            <a:off x="711200" y="4229100"/>
            <a:ext cx="6134100" cy="762000"/>
          </a:xfrm>
          <a:prstGeom prst="rect">
            <a:avLst/>
          </a:prstGeom>
          <a:noFill/>
        </p:spPr>
        <p:txBody>
          <a:bodyPr wrap="square" lIns="0" rIns="0" tIns="0" bIns="0">
            <a:spAutoFit/>
          </a:bodyPr>
          <a:lstStyle/>
          <a:p>
            <a:pPr algn="just">
              <a:lnSpc>
                <a:spcPts val="1040"/>
              </a:lnSpc>
              <a:spcAft>
                <a:spcPts val="0"/>
              </a:spcAft>
            </a:pPr>
            <a:r>
              <a:rPr sz="760" b="0" spc="20">
                <a:solidFill>
                  <a:srgbClr val="000000"/>
                </a:solidFill>
                <a:latin typeface="Ubuntu Mono"/>
                <a:ea typeface="Ubuntu Mono"/>
                <a:cs typeface="Ubuntu Mono"/>
                <a:sym typeface="Ubuntu Mono"/>
              </a:rPr>
              <a:t>JUNK BASKET THAT USES REVERSE CIRCULATION TO RECOVER SMALL JUNK THAT OTHER BASKETS WOULD MISS. FLUID IS JETTED OUT AND DOWN AGAINST THE FULL CIRCUMFERENCE OF THE HOLE, SWEEPS LOOSE OBJECTS TOWARD THE CENTRE AND RETURNS UP THROUGH THE BARREL AND OUT OF PORTS AT ITS UPPER END. A DRAIN THROUGH THE TOOL PREVENTS PULLING A WET STRING EVEN IF THE INNER BARREL IS PLUGGED BY CORE. IT RECOVERS BIT CONES AND BEARINGS, BROKEN SLIPS, WIRELINE, HAND TOOLS, MILLING CUTTINGS AND DEBRIS, AND CAN BE CONVERTED INTO A FISHING MAGNET.</a:t>
            </a:r>
          </a:p>
        </p:txBody>
      </p:sp>
      <p:sp>
        <p:nvSpPr>
          <p:cNvPr id="21" name="TextBox 20"/>
          <p:cNvSpPr txBox="1"/>
          <p:nvPr/>
        </p:nvSpPr>
        <p:spPr>
          <a:xfrm>
            <a:off x="711200" y="4978400"/>
            <a:ext cx="61341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TECHNICAL CHARACTERISTICS</a:t>
            </a:r>
          </a:p>
        </p:txBody>
      </p:sp>
      <p:sp>
        <p:nvSpPr>
          <p:cNvPr id="22" name="TextBox 21"/>
          <p:cNvSpPr txBox="1"/>
          <p:nvPr/>
        </p:nvSpPr>
        <p:spPr>
          <a:xfrm>
            <a:off x="711200" y="5181600"/>
            <a:ext cx="2997200" cy="127000"/>
          </a:xfrm>
          <a:prstGeom prst="rect">
            <a:avLst/>
          </a:prstGeom>
          <a:noFill/>
        </p:spPr>
        <p:txBody>
          <a:bodyPr wrap="square" lIns="0" rIns="0" tIns="0" bIns="0">
            <a:spAutoFit/>
          </a:bodyPr>
          <a:lstStyle/>
          <a:p>
            <a:pPr algn="ctr">
              <a:spcAft>
                <a:spcPts val="0"/>
              </a:spcAft>
            </a:pPr>
            <a:r>
              <a:rPr sz="700" b="1">
                <a:solidFill>
                  <a:srgbClr val="194E9A"/>
                </a:solidFill>
                <a:latin typeface="Ubuntu Mono"/>
                <a:ea typeface="Ubuntu Mono"/>
                <a:cs typeface="Ubuntu Mono"/>
                <a:sym typeface="Ubuntu Mono"/>
              </a:rPr>
              <a:t>STANDARD TYPE (popular bit cone sizes)</a:t>
            </a:r>
          </a:p>
        </p:txBody>
      </p:sp>
      <p:sp>
        <p:nvSpPr>
          <p:cNvPr id="23" name="TextBox 22"/>
          <p:cNvSpPr txBox="1"/>
          <p:nvPr/>
        </p:nvSpPr>
        <p:spPr>
          <a:xfrm>
            <a:off x="3848100" y="5181600"/>
            <a:ext cx="2997200" cy="127000"/>
          </a:xfrm>
          <a:prstGeom prst="rect">
            <a:avLst/>
          </a:prstGeom>
          <a:noFill/>
        </p:spPr>
        <p:txBody>
          <a:bodyPr wrap="square" lIns="0" rIns="0" tIns="0" bIns="0">
            <a:spAutoFit/>
          </a:bodyPr>
          <a:lstStyle/>
          <a:p>
            <a:pPr algn="ctr">
              <a:spcAft>
                <a:spcPts val="0"/>
              </a:spcAft>
            </a:pPr>
            <a:r>
              <a:rPr sz="700" b="1">
                <a:solidFill>
                  <a:srgbClr val="194E9A"/>
                </a:solidFill>
                <a:latin typeface="Ubuntu Mono"/>
                <a:ea typeface="Ubuntu Mono"/>
                <a:cs typeface="Ubuntu Mono"/>
                <a:sym typeface="Ubuntu Mono"/>
              </a:rPr>
              <a:t>W7R TYPE (W7R and other oversize cones)</a:t>
            </a:r>
          </a:p>
        </p:txBody>
      </p:sp>
      <p:graphicFrame>
        <p:nvGraphicFramePr>
          <p:cNvPr id="24" name="Table 23"/>
          <p:cNvGraphicFramePr>
            <a:graphicFrameLocks noGrp="1"/>
          </p:cNvGraphicFramePr>
          <p:nvPr/>
        </p:nvGraphicFramePr>
        <p:xfrm>
          <a:off x="711200" y="5334000"/>
          <a:ext cx="2997197" cy="2209800"/>
        </p:xfrm>
        <a:graphic>
          <a:graphicData uri="http://schemas.openxmlformats.org/drawingml/2006/table">
            <a:tbl>
              <a:tblPr/>
              <a:tblGrid>
                <a:gridCol w="737016"/>
                <a:gridCol w="466777"/>
                <a:gridCol w="540478"/>
                <a:gridCol w="466777"/>
                <a:gridCol w="343940"/>
                <a:gridCol w="442209"/>
              </a:tblGrid>
              <a:tr h="228600">
                <a:tc>
                  <a:txBody>
                    <a:bodyPr wrap="square"/>
                    <a:lstStyle/>
                    <a:p>
                      <a:pPr algn="ctr">
                        <a:lnSpc>
                          <a:spcPts val="819"/>
                        </a:lnSpc>
                      </a:pPr>
                      <a:r>
                        <a:rPr sz="660" b="1">
                          <a:solidFill>
                            <a:srgbClr val="FEFEFF"/>
                          </a:solidFill>
                          <a:latin typeface="Ubuntu Mono"/>
                          <a:ea typeface="Ubuntu Mono"/>
                          <a:cs typeface="Ubuntu Mono"/>
                          <a:sym typeface="Ubuntu Mono"/>
                        </a:rPr>
                        <a:t>Hole size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1">
                          <a:solidFill>
                            <a:srgbClr val="FEFEFF"/>
                          </a:solidFill>
                          <a:latin typeface="Ubuntu Mono"/>
                          <a:ea typeface="Ubuntu Mono"/>
                          <a:cs typeface="Ubuntu Mono"/>
                          <a:sym typeface="Ubuntu Mono"/>
                        </a:rPr>
                        <a:t>Barrel OD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1">
                          <a:solidFill>
                            <a:srgbClr val="FEFEFF"/>
                          </a:solidFill>
                          <a:latin typeface="Ubuntu Mono"/>
                          <a:ea typeface="Ubuntu Mono"/>
                          <a:cs typeface="Ubuntu Mono"/>
                          <a:sym typeface="Ubuntu Mono"/>
                        </a:rPr>
                        <a:t>Max. fish Ø</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1">
                          <a:solidFill>
                            <a:srgbClr val="FEFEFF"/>
                          </a:solidFill>
                          <a:latin typeface="Ubuntu Mono"/>
                          <a:ea typeface="Ubuntu Mono"/>
                          <a:cs typeface="Ubuntu Mono"/>
                          <a:sym typeface="Ubuntu Mono"/>
                        </a:rPr>
                        <a:t>Top conn.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1">
                          <a:solidFill>
                            <a:srgbClr val="FEFEFF"/>
                          </a:solidFill>
                          <a:latin typeface="Ubuntu Mono"/>
                          <a:ea typeface="Ubuntu Mono"/>
                          <a:cs typeface="Ubuntu Mono"/>
                          <a:sym typeface="Ubuntu Mono"/>
                        </a:rPr>
                        <a:t>Teeth</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1">
                          <a:solidFill>
                            <a:srgbClr val="FEFEFF"/>
                          </a:solidFill>
                          <a:latin typeface="Ubuntu Mono"/>
                          <a:ea typeface="Ubuntu Mono"/>
                          <a:cs typeface="Ubuntu Mono"/>
                          <a:sym typeface="Ubuntu Mono"/>
                        </a:rPr>
                        <a:t>Wt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r>
              <a:tr h="132080">
                <a:tc>
                  <a:txBody>
                    <a:bodyPr wrap="square"/>
                    <a:lstStyle/>
                    <a:p>
                      <a:pPr algn="ctr">
                        <a:lnSpc>
                          <a:spcPts val="819"/>
                        </a:lnSpc>
                      </a:pPr>
                      <a:r>
                        <a:rPr sz="660" b="0">
                          <a:solidFill>
                            <a:srgbClr val="FEFEFF"/>
                          </a:solidFill>
                          <a:latin typeface="Ubuntu Mono"/>
                          <a:ea typeface="Ubuntu Mono"/>
                          <a:cs typeface="Ubuntu Mono"/>
                          <a:sym typeface="Ubuntu Mono"/>
                        </a:rPr>
                        <a:t>3-3/4 - 4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0">
                          <a:solidFill>
                            <a:srgbClr val="000000"/>
                          </a:solidFill>
                          <a:latin typeface="Ubuntu Mono"/>
                          <a:ea typeface="Ubuntu Mono"/>
                          <a:cs typeface="Ubuntu Mono"/>
                          <a:sym typeface="Ubuntu Mono"/>
                        </a:rPr>
                        <a:t>3-5/8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2-1/4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2-3/8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85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2080">
                <a:tc>
                  <a:txBody>
                    <a:bodyPr wrap="square"/>
                    <a:lstStyle/>
                    <a:p>
                      <a:pPr algn="ctr">
                        <a:lnSpc>
                          <a:spcPts val="819"/>
                        </a:lnSpc>
                      </a:pPr>
                      <a:r>
                        <a:rPr sz="660" b="0">
                          <a:solidFill>
                            <a:srgbClr val="FEFEFF"/>
                          </a:solidFill>
                          <a:latin typeface="Ubuntu Mono"/>
                          <a:ea typeface="Ubuntu Mono"/>
                          <a:cs typeface="Ubuntu Mono"/>
                          <a:sym typeface="Ubuntu Mono"/>
                        </a:rPr>
                        <a:t>4-1/8 - 4-1/2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19"/>
                        </a:lnSpc>
                      </a:pPr>
                      <a:r>
                        <a:rPr sz="660" b="0">
                          <a:solidFill>
                            <a:srgbClr val="000000"/>
                          </a:solidFill>
                          <a:latin typeface="Ubuntu Mono"/>
                          <a:ea typeface="Ubuntu Mono"/>
                          <a:cs typeface="Ubuntu Mono"/>
                          <a:sym typeface="Ubuntu Mono"/>
                        </a:rPr>
                        <a:t>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2-1/2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2-3/8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98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2080">
                <a:tc>
                  <a:txBody>
                    <a:bodyPr wrap="square"/>
                    <a:lstStyle/>
                    <a:p>
                      <a:pPr algn="ctr">
                        <a:lnSpc>
                          <a:spcPts val="819"/>
                        </a:lnSpc>
                      </a:pPr>
                      <a:r>
                        <a:rPr sz="660" b="0">
                          <a:solidFill>
                            <a:srgbClr val="FEFEFF"/>
                          </a:solidFill>
                          <a:latin typeface="Ubuntu Mono"/>
                          <a:ea typeface="Ubuntu Mono"/>
                          <a:cs typeface="Ubuntu Mono"/>
                          <a:sym typeface="Ubuntu Mono"/>
                        </a:rPr>
                        <a:t>4-5/8 - 5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0">
                          <a:solidFill>
                            <a:srgbClr val="000000"/>
                          </a:solidFill>
                          <a:latin typeface="Ubuntu Mono"/>
                          <a:ea typeface="Ubuntu Mono"/>
                          <a:cs typeface="Ubuntu Mono"/>
                          <a:sym typeface="Ubuntu Mono"/>
                        </a:rPr>
                        <a:t>4-1/2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3-1/16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2-7/8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108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2080">
                <a:tc>
                  <a:txBody>
                    <a:bodyPr wrap="square"/>
                    <a:lstStyle/>
                    <a:p>
                      <a:pPr algn="ctr">
                        <a:lnSpc>
                          <a:spcPts val="819"/>
                        </a:lnSpc>
                      </a:pPr>
                      <a:r>
                        <a:rPr sz="660" b="0">
                          <a:solidFill>
                            <a:srgbClr val="FEFEFF"/>
                          </a:solidFill>
                          <a:latin typeface="Ubuntu Mono"/>
                          <a:ea typeface="Ubuntu Mono"/>
                          <a:cs typeface="Ubuntu Mono"/>
                          <a:sym typeface="Ubuntu Mono"/>
                        </a:rPr>
                        <a:t>5-1/8 - 5-1/2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19"/>
                        </a:lnSpc>
                      </a:pPr>
                      <a:r>
                        <a:rPr sz="660" b="0">
                          <a:solidFill>
                            <a:srgbClr val="000000"/>
                          </a:solidFill>
                          <a:latin typeface="Ubuntu Mono"/>
                          <a:ea typeface="Ubuntu Mono"/>
                          <a:cs typeface="Ubuntu Mono"/>
                          <a:sym typeface="Ubuntu Mono"/>
                        </a:rPr>
                        <a:t>4-7/8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3-9/16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2-7/8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128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2080">
                <a:tc>
                  <a:txBody>
                    <a:bodyPr wrap="square"/>
                    <a:lstStyle/>
                    <a:p>
                      <a:pPr algn="ctr">
                        <a:lnSpc>
                          <a:spcPts val="819"/>
                        </a:lnSpc>
                      </a:pPr>
                      <a:r>
                        <a:rPr sz="660" b="0">
                          <a:solidFill>
                            <a:srgbClr val="FEFEFF"/>
                          </a:solidFill>
                          <a:latin typeface="Ubuntu Mono"/>
                          <a:ea typeface="Ubuntu Mono"/>
                          <a:cs typeface="Ubuntu Mono"/>
                          <a:sym typeface="Ubuntu Mono"/>
                        </a:rPr>
                        <a:t>5-5/8 - 6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0">
                          <a:solidFill>
                            <a:srgbClr val="000000"/>
                          </a:solidFill>
                          <a:latin typeface="Ubuntu Mono"/>
                          <a:ea typeface="Ubuntu Mono"/>
                          <a:cs typeface="Ubuntu Mono"/>
                          <a:sym typeface="Ubuntu Mono"/>
                        </a:rPr>
                        <a:t>5-1/8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3-3/4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3-1/2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142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2080">
                <a:tc>
                  <a:txBody>
                    <a:bodyPr wrap="square"/>
                    <a:lstStyle/>
                    <a:p>
                      <a:pPr algn="ctr">
                        <a:lnSpc>
                          <a:spcPts val="819"/>
                        </a:lnSpc>
                      </a:pPr>
                      <a:r>
                        <a:rPr sz="660" b="0">
                          <a:solidFill>
                            <a:srgbClr val="FEFEFF"/>
                          </a:solidFill>
                          <a:latin typeface="Ubuntu Mono"/>
                          <a:ea typeface="Ubuntu Mono"/>
                          <a:cs typeface="Ubuntu Mono"/>
                          <a:sym typeface="Ubuntu Mono"/>
                        </a:rPr>
                        <a:t>6-1/8 - 6-1/2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19"/>
                        </a:lnSpc>
                      </a:pPr>
                      <a:r>
                        <a:rPr sz="660" b="0">
                          <a:solidFill>
                            <a:srgbClr val="000000"/>
                          </a:solidFill>
                          <a:latin typeface="Ubuntu Mono"/>
                          <a:ea typeface="Ubuntu Mono"/>
                          <a:cs typeface="Ubuntu Mono"/>
                          <a:sym typeface="Ubuntu Mono"/>
                        </a:rPr>
                        <a:t>5-3/4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4-3/8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3-1/2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185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2080">
                <a:tc>
                  <a:txBody>
                    <a:bodyPr wrap="square"/>
                    <a:lstStyle/>
                    <a:p>
                      <a:pPr algn="ctr">
                        <a:lnSpc>
                          <a:spcPts val="819"/>
                        </a:lnSpc>
                      </a:pPr>
                      <a:r>
                        <a:rPr sz="660" b="0">
                          <a:solidFill>
                            <a:srgbClr val="FEFEFF"/>
                          </a:solidFill>
                          <a:latin typeface="Ubuntu Mono"/>
                          <a:ea typeface="Ubuntu Mono"/>
                          <a:cs typeface="Ubuntu Mono"/>
                          <a:sym typeface="Ubuntu Mono"/>
                        </a:rPr>
                        <a:t>6-5/8 - 7-3/8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0">
                          <a:solidFill>
                            <a:srgbClr val="000000"/>
                          </a:solidFill>
                          <a:latin typeface="Ubuntu Mono"/>
                          <a:ea typeface="Ubuntu Mono"/>
                          <a:cs typeface="Ubuntu Mono"/>
                          <a:sym typeface="Ubuntu Mono"/>
                        </a:rPr>
                        <a:t>6-1/4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4-3/4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4-1/2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238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2080">
                <a:tc>
                  <a:txBody>
                    <a:bodyPr wrap="square"/>
                    <a:lstStyle/>
                    <a:p>
                      <a:pPr algn="ctr">
                        <a:lnSpc>
                          <a:spcPts val="819"/>
                        </a:lnSpc>
                      </a:pPr>
                      <a:r>
                        <a:rPr sz="660" b="0">
                          <a:solidFill>
                            <a:srgbClr val="FEFEFF"/>
                          </a:solidFill>
                          <a:latin typeface="Ubuntu Mono"/>
                          <a:ea typeface="Ubuntu Mono"/>
                          <a:cs typeface="Ubuntu Mono"/>
                          <a:sym typeface="Ubuntu Mono"/>
                        </a:rPr>
                        <a:t>7-1/2 - 8-1/4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19"/>
                        </a:lnSpc>
                      </a:pPr>
                      <a:r>
                        <a:rPr sz="660" b="0">
                          <a:solidFill>
                            <a:srgbClr val="000000"/>
                          </a:solidFill>
                          <a:latin typeface="Ubuntu Mono"/>
                          <a:ea typeface="Ubuntu Mono"/>
                          <a:cs typeface="Ubuntu Mono"/>
                          <a:sym typeface="Ubuntu Mono"/>
                        </a:rPr>
                        <a:t>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5-1/8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4-1/2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293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2080">
                <a:tc>
                  <a:txBody>
                    <a:bodyPr wrap="square"/>
                    <a:lstStyle/>
                    <a:p>
                      <a:pPr algn="ctr">
                        <a:lnSpc>
                          <a:spcPts val="819"/>
                        </a:lnSpc>
                      </a:pPr>
                      <a:r>
                        <a:rPr sz="660" b="0">
                          <a:solidFill>
                            <a:srgbClr val="FEFEFF"/>
                          </a:solidFill>
                          <a:latin typeface="Ubuntu Mono"/>
                          <a:ea typeface="Ubuntu Mono"/>
                          <a:cs typeface="Ubuntu Mono"/>
                          <a:sym typeface="Ubuntu Mono"/>
                        </a:rPr>
                        <a:t>8-3/8 - 9-1/2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0">
                          <a:solidFill>
                            <a:srgbClr val="000000"/>
                          </a:solidFill>
                          <a:latin typeface="Ubuntu Mono"/>
                          <a:ea typeface="Ubuntu Mono"/>
                          <a:cs typeface="Ubuntu Mono"/>
                          <a:sym typeface="Ubuntu Mono"/>
                        </a:rPr>
                        <a:t>7-7/8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6-1/16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5-1/2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374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2080">
                <a:tc>
                  <a:txBody>
                    <a:bodyPr wrap="square"/>
                    <a:lstStyle/>
                    <a:p>
                      <a:pPr algn="ctr">
                        <a:lnSpc>
                          <a:spcPts val="819"/>
                        </a:lnSpc>
                      </a:pPr>
                      <a:r>
                        <a:rPr sz="660" b="0">
                          <a:solidFill>
                            <a:srgbClr val="FEFEFF"/>
                          </a:solidFill>
                          <a:latin typeface="Ubuntu Mono"/>
                          <a:ea typeface="Ubuntu Mono"/>
                          <a:cs typeface="Ubuntu Mono"/>
                          <a:sym typeface="Ubuntu Mono"/>
                        </a:rPr>
                        <a:t>9-5/8 - 10-5/8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19"/>
                        </a:lnSpc>
                      </a:pPr>
                      <a:r>
                        <a:rPr sz="660" b="0">
                          <a:solidFill>
                            <a:srgbClr val="000000"/>
                          </a:solidFill>
                          <a:latin typeface="Ubuntu Mono"/>
                          <a:ea typeface="Ubuntu Mono"/>
                          <a:cs typeface="Ubuntu Mono"/>
                          <a:sym typeface="Ubuntu Mono"/>
                        </a:rPr>
                        <a:t>9-1/8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7-1/16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6-5/8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10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441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2080">
                <a:tc>
                  <a:txBody>
                    <a:bodyPr wrap="square"/>
                    <a:lstStyle/>
                    <a:p>
                      <a:pPr algn="ctr">
                        <a:lnSpc>
                          <a:spcPts val="819"/>
                        </a:lnSpc>
                      </a:pPr>
                      <a:r>
                        <a:rPr sz="660" b="0">
                          <a:solidFill>
                            <a:srgbClr val="FEFEFF"/>
                          </a:solidFill>
                          <a:latin typeface="Ubuntu Mono"/>
                          <a:ea typeface="Ubuntu Mono"/>
                          <a:cs typeface="Ubuntu Mono"/>
                          <a:sym typeface="Ubuntu Mono"/>
                        </a:rPr>
                        <a:t>10-3/4 - 11-5/8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0">
                          <a:solidFill>
                            <a:srgbClr val="000000"/>
                          </a:solidFill>
                          <a:latin typeface="Ubuntu Mono"/>
                          <a:ea typeface="Ubuntu Mono"/>
                          <a:cs typeface="Ubuntu Mono"/>
                          <a:sym typeface="Ubuntu Mono"/>
                        </a:rPr>
                        <a:t>10-1/8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7-5/8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6-5/8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10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576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2080">
                <a:tc>
                  <a:txBody>
                    <a:bodyPr wrap="square"/>
                    <a:lstStyle/>
                    <a:p>
                      <a:pPr algn="ctr">
                        <a:lnSpc>
                          <a:spcPts val="819"/>
                        </a:lnSpc>
                      </a:pPr>
                      <a:r>
                        <a:rPr sz="660" b="0">
                          <a:solidFill>
                            <a:srgbClr val="FEFEFF"/>
                          </a:solidFill>
                          <a:latin typeface="Ubuntu Mono"/>
                          <a:ea typeface="Ubuntu Mono"/>
                          <a:cs typeface="Ubuntu Mono"/>
                          <a:sym typeface="Ubuntu Mono"/>
                        </a:rPr>
                        <a:t>11-3/4 - 12-1/2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19"/>
                        </a:lnSpc>
                      </a:pPr>
                      <a:r>
                        <a:rPr sz="660" b="0">
                          <a:solidFill>
                            <a:srgbClr val="000000"/>
                          </a:solidFill>
                          <a:latin typeface="Ubuntu Mono"/>
                          <a:ea typeface="Ubuntu Mono"/>
                          <a:cs typeface="Ubuntu Mono"/>
                          <a:sym typeface="Ubuntu Mono"/>
                        </a:rPr>
                        <a:t>11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8-5/16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6-5/8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665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2080">
                <a:tc>
                  <a:txBody>
                    <a:bodyPr wrap="square"/>
                    <a:lstStyle/>
                    <a:p>
                      <a:pPr algn="ctr">
                        <a:lnSpc>
                          <a:spcPts val="819"/>
                        </a:lnSpc>
                      </a:pPr>
                      <a:r>
                        <a:rPr sz="660" b="0">
                          <a:solidFill>
                            <a:srgbClr val="FEFEFF"/>
                          </a:solidFill>
                          <a:latin typeface="Ubuntu Mono"/>
                          <a:ea typeface="Ubuntu Mono"/>
                          <a:cs typeface="Ubuntu Mono"/>
                          <a:sym typeface="Ubuntu Mono"/>
                        </a:rPr>
                        <a:t>12-5/8 - 13-5/8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0">
                          <a:solidFill>
                            <a:srgbClr val="000000"/>
                          </a:solidFill>
                          <a:latin typeface="Ubuntu Mono"/>
                          <a:ea typeface="Ubuntu Mono"/>
                          <a:cs typeface="Ubuntu Mono"/>
                          <a:sym typeface="Ubuntu Mono"/>
                        </a:rPr>
                        <a:t>11-7/8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8-1/2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6-5/8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797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2080">
                <a:tc>
                  <a:txBody>
                    <a:bodyPr wrap="square"/>
                    <a:lstStyle/>
                    <a:p>
                      <a:pPr algn="ctr">
                        <a:lnSpc>
                          <a:spcPts val="819"/>
                        </a:lnSpc>
                      </a:pPr>
                      <a:r>
                        <a:rPr sz="660" b="0">
                          <a:solidFill>
                            <a:srgbClr val="FEFEFF"/>
                          </a:solidFill>
                          <a:latin typeface="Ubuntu Mono"/>
                          <a:ea typeface="Ubuntu Mono"/>
                          <a:cs typeface="Ubuntu Mono"/>
                          <a:sym typeface="Ubuntu Mono"/>
                        </a:rPr>
                        <a:t>13-3/4 - 16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19"/>
                        </a:lnSpc>
                      </a:pPr>
                      <a:r>
                        <a:rPr sz="660" b="0">
                          <a:solidFill>
                            <a:srgbClr val="000000"/>
                          </a:solidFill>
                          <a:latin typeface="Ubuntu Mono"/>
                          <a:ea typeface="Ubuntu Mono"/>
                          <a:cs typeface="Ubuntu Mono"/>
                          <a:sym typeface="Ubuntu Mono"/>
                        </a:rPr>
                        <a:t>13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9-13/16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6-5/8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932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2080">
                <a:tc>
                  <a:txBody>
                    <a:bodyPr wrap="square"/>
                    <a:lstStyle/>
                    <a:p>
                      <a:pPr algn="ctr">
                        <a:lnSpc>
                          <a:spcPts val="819"/>
                        </a:lnSpc>
                      </a:pPr>
                      <a:r>
                        <a:rPr sz="660" b="0">
                          <a:solidFill>
                            <a:srgbClr val="FEFEFF"/>
                          </a:solidFill>
                          <a:latin typeface="Ubuntu Mono"/>
                          <a:ea typeface="Ubuntu Mono"/>
                          <a:cs typeface="Ubuntu Mono"/>
                          <a:sym typeface="Ubuntu Mono"/>
                        </a:rPr>
                        <a:t>16 - 17-1/2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0">
                          <a:solidFill>
                            <a:srgbClr val="000000"/>
                          </a:solidFill>
                          <a:latin typeface="Ubuntu Mono"/>
                          <a:ea typeface="Ubuntu Mono"/>
                          <a:cs typeface="Ubuntu Mono"/>
                          <a:sym typeface="Ubuntu Mono"/>
                        </a:rPr>
                        <a:t>15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11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6-5/8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1,563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bl>
          </a:graphicData>
        </a:graphic>
      </p:graphicFrame>
      <p:graphicFrame>
        <p:nvGraphicFramePr>
          <p:cNvPr id="25" name="Table 24"/>
          <p:cNvGraphicFramePr>
            <a:graphicFrameLocks noGrp="1"/>
          </p:cNvGraphicFramePr>
          <p:nvPr/>
        </p:nvGraphicFramePr>
        <p:xfrm>
          <a:off x="3848100" y="5334000"/>
          <a:ext cx="2997197" cy="1945640"/>
        </p:xfrm>
        <a:graphic>
          <a:graphicData uri="http://schemas.openxmlformats.org/drawingml/2006/table">
            <a:tbl>
              <a:tblPr/>
              <a:tblGrid>
                <a:gridCol w="737016"/>
                <a:gridCol w="466777"/>
                <a:gridCol w="540478"/>
                <a:gridCol w="466777"/>
                <a:gridCol w="343940"/>
                <a:gridCol w="442209"/>
              </a:tblGrid>
              <a:tr h="228600">
                <a:tc>
                  <a:txBody>
                    <a:bodyPr wrap="square"/>
                    <a:lstStyle/>
                    <a:p>
                      <a:pPr algn="ctr">
                        <a:lnSpc>
                          <a:spcPts val="819"/>
                        </a:lnSpc>
                      </a:pPr>
                      <a:r>
                        <a:rPr sz="660" b="1">
                          <a:solidFill>
                            <a:srgbClr val="FEFEFF"/>
                          </a:solidFill>
                          <a:latin typeface="Ubuntu Mono"/>
                          <a:ea typeface="Ubuntu Mono"/>
                          <a:cs typeface="Ubuntu Mono"/>
                          <a:sym typeface="Ubuntu Mono"/>
                        </a:rPr>
                        <a:t>Hole size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1">
                          <a:solidFill>
                            <a:srgbClr val="FEFEFF"/>
                          </a:solidFill>
                          <a:latin typeface="Ubuntu Mono"/>
                          <a:ea typeface="Ubuntu Mono"/>
                          <a:cs typeface="Ubuntu Mono"/>
                          <a:sym typeface="Ubuntu Mono"/>
                        </a:rPr>
                        <a:t>Barrel OD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1">
                          <a:solidFill>
                            <a:srgbClr val="FEFEFF"/>
                          </a:solidFill>
                          <a:latin typeface="Ubuntu Mono"/>
                          <a:ea typeface="Ubuntu Mono"/>
                          <a:cs typeface="Ubuntu Mono"/>
                          <a:sym typeface="Ubuntu Mono"/>
                        </a:rPr>
                        <a:t>Max. fish Ø</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1">
                          <a:solidFill>
                            <a:srgbClr val="FEFEFF"/>
                          </a:solidFill>
                          <a:latin typeface="Ubuntu Mono"/>
                          <a:ea typeface="Ubuntu Mono"/>
                          <a:cs typeface="Ubuntu Mono"/>
                          <a:sym typeface="Ubuntu Mono"/>
                        </a:rPr>
                        <a:t>Top conn.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1">
                          <a:solidFill>
                            <a:srgbClr val="FEFEFF"/>
                          </a:solidFill>
                          <a:latin typeface="Ubuntu Mono"/>
                          <a:ea typeface="Ubuntu Mono"/>
                          <a:cs typeface="Ubuntu Mono"/>
                          <a:sym typeface="Ubuntu Mono"/>
                        </a:rPr>
                        <a:t>Teeth</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1">
                          <a:solidFill>
                            <a:srgbClr val="FEFEFF"/>
                          </a:solidFill>
                          <a:latin typeface="Ubuntu Mono"/>
                          <a:ea typeface="Ubuntu Mono"/>
                          <a:cs typeface="Ubuntu Mono"/>
                          <a:sym typeface="Ubuntu Mono"/>
                        </a:rPr>
                        <a:t>Wt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r>
              <a:tr h="132080">
                <a:tc>
                  <a:txBody>
                    <a:bodyPr wrap="square"/>
                    <a:lstStyle/>
                    <a:p>
                      <a:pPr algn="ctr">
                        <a:lnSpc>
                          <a:spcPts val="819"/>
                        </a:lnSpc>
                      </a:pPr>
                      <a:r>
                        <a:rPr sz="660" b="0">
                          <a:solidFill>
                            <a:srgbClr val="FEFEFF"/>
                          </a:solidFill>
                          <a:latin typeface="Ubuntu Mono"/>
                          <a:ea typeface="Ubuntu Mono"/>
                          <a:cs typeface="Ubuntu Mono"/>
                          <a:sym typeface="Ubuntu Mono"/>
                        </a:rPr>
                        <a:t>3-3/4 - 4-1/8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0">
                          <a:solidFill>
                            <a:srgbClr val="000000"/>
                          </a:solidFill>
                          <a:latin typeface="Ubuntu Mono"/>
                          <a:ea typeface="Ubuntu Mono"/>
                          <a:cs typeface="Ubuntu Mono"/>
                          <a:sym typeface="Ubuntu Mono"/>
                        </a:rPr>
                        <a:t>3-5/8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2-3/4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2-3/8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2080">
                <a:tc>
                  <a:txBody>
                    <a:bodyPr wrap="square"/>
                    <a:lstStyle/>
                    <a:p>
                      <a:pPr algn="ctr">
                        <a:lnSpc>
                          <a:spcPts val="819"/>
                        </a:lnSpc>
                      </a:pPr>
                      <a:r>
                        <a:rPr sz="660" b="0">
                          <a:solidFill>
                            <a:srgbClr val="FEFEFF"/>
                          </a:solidFill>
                          <a:latin typeface="Ubuntu Mono"/>
                          <a:ea typeface="Ubuntu Mono"/>
                          <a:cs typeface="Ubuntu Mono"/>
                          <a:sym typeface="Ubuntu Mono"/>
                        </a:rPr>
                        <a:t>4-1/4 - 4-1/2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19"/>
                        </a:lnSpc>
                      </a:pPr>
                      <a:r>
                        <a:rPr sz="660" b="0">
                          <a:solidFill>
                            <a:srgbClr val="000000"/>
                          </a:solidFill>
                          <a:latin typeface="Ubuntu Mono"/>
                          <a:ea typeface="Ubuntu Mono"/>
                          <a:cs typeface="Ubuntu Mono"/>
                          <a:sym typeface="Ubuntu Mono"/>
                        </a:rPr>
                        <a:t>4-1/8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2-3/8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85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2080">
                <a:tc>
                  <a:txBody>
                    <a:bodyPr wrap="square"/>
                    <a:lstStyle/>
                    <a:p>
                      <a:pPr algn="ctr">
                        <a:lnSpc>
                          <a:spcPts val="819"/>
                        </a:lnSpc>
                      </a:pPr>
                      <a:r>
                        <a:rPr sz="660" b="0">
                          <a:solidFill>
                            <a:srgbClr val="FEFEFF"/>
                          </a:solidFill>
                          <a:latin typeface="Ubuntu Mono"/>
                          <a:ea typeface="Ubuntu Mono"/>
                          <a:cs typeface="Ubuntu Mono"/>
                          <a:sym typeface="Ubuntu Mono"/>
                        </a:rPr>
                        <a:t>4-5/8 - 5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0">
                          <a:solidFill>
                            <a:srgbClr val="000000"/>
                          </a:solidFill>
                          <a:latin typeface="Ubuntu Mono"/>
                          <a:ea typeface="Ubuntu Mono"/>
                          <a:cs typeface="Ubuntu Mono"/>
                          <a:sym typeface="Ubuntu Mono"/>
                        </a:rPr>
                        <a:t>4-1/2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3-3/8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2-3/8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95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2080">
                <a:tc>
                  <a:txBody>
                    <a:bodyPr wrap="square"/>
                    <a:lstStyle/>
                    <a:p>
                      <a:pPr algn="ctr">
                        <a:lnSpc>
                          <a:spcPts val="819"/>
                        </a:lnSpc>
                      </a:pPr>
                      <a:r>
                        <a:rPr sz="660" b="0">
                          <a:solidFill>
                            <a:srgbClr val="FEFEFF"/>
                          </a:solidFill>
                          <a:latin typeface="Ubuntu Mono"/>
                          <a:ea typeface="Ubuntu Mono"/>
                          <a:cs typeface="Ubuntu Mono"/>
                          <a:sym typeface="Ubuntu Mono"/>
                        </a:rPr>
                        <a:t>5-1/8 - 5-1/2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19"/>
                        </a:lnSpc>
                      </a:pPr>
                      <a:r>
                        <a:rPr sz="660" b="0">
                          <a:solidFill>
                            <a:srgbClr val="000000"/>
                          </a:solidFill>
                          <a:latin typeface="Ubuntu Mono"/>
                          <a:ea typeface="Ubuntu Mono"/>
                          <a:cs typeface="Ubuntu Mono"/>
                          <a:sym typeface="Ubuntu Mono"/>
                        </a:rPr>
                        <a:t>4-7/8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3-5/8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2-7/8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108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2080">
                <a:tc>
                  <a:txBody>
                    <a:bodyPr wrap="square"/>
                    <a:lstStyle/>
                    <a:p>
                      <a:pPr algn="ctr">
                        <a:lnSpc>
                          <a:spcPts val="819"/>
                        </a:lnSpc>
                      </a:pPr>
                      <a:r>
                        <a:rPr sz="660" b="0">
                          <a:solidFill>
                            <a:srgbClr val="FEFEFF"/>
                          </a:solidFill>
                          <a:latin typeface="Ubuntu Mono"/>
                          <a:ea typeface="Ubuntu Mono"/>
                          <a:cs typeface="Ubuntu Mono"/>
                          <a:sym typeface="Ubuntu Mono"/>
                        </a:rPr>
                        <a:t>5-5/8 - 6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0">
                          <a:solidFill>
                            <a:srgbClr val="000000"/>
                          </a:solidFill>
                          <a:latin typeface="Ubuntu Mono"/>
                          <a:ea typeface="Ubuntu Mono"/>
                          <a:cs typeface="Ubuntu Mono"/>
                          <a:sym typeface="Ubuntu Mono"/>
                        </a:rPr>
                        <a:t>5-3/8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4-1/16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2-7/8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141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2080">
                <a:tc>
                  <a:txBody>
                    <a:bodyPr wrap="square"/>
                    <a:lstStyle/>
                    <a:p>
                      <a:pPr algn="ctr">
                        <a:lnSpc>
                          <a:spcPts val="819"/>
                        </a:lnSpc>
                      </a:pPr>
                      <a:r>
                        <a:rPr sz="660" b="0">
                          <a:solidFill>
                            <a:srgbClr val="FEFEFF"/>
                          </a:solidFill>
                          <a:latin typeface="Ubuntu Mono"/>
                          <a:ea typeface="Ubuntu Mono"/>
                          <a:cs typeface="Ubuntu Mono"/>
                          <a:sym typeface="Ubuntu Mono"/>
                        </a:rPr>
                        <a:t>6-1/8 - 7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19"/>
                        </a:lnSpc>
                      </a:pPr>
                      <a:r>
                        <a:rPr sz="660" b="0">
                          <a:solidFill>
                            <a:srgbClr val="000000"/>
                          </a:solidFill>
                          <a:latin typeface="Ubuntu Mono"/>
                          <a:ea typeface="Ubuntu Mono"/>
                          <a:cs typeface="Ubuntu Mono"/>
                          <a:sym typeface="Ubuntu Mono"/>
                        </a:rPr>
                        <a:t>5-7/8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4-5/8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3-1/2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173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2080">
                <a:tc>
                  <a:txBody>
                    <a:bodyPr wrap="square"/>
                    <a:lstStyle/>
                    <a:p>
                      <a:pPr algn="ctr">
                        <a:lnSpc>
                          <a:spcPts val="819"/>
                        </a:lnSpc>
                      </a:pPr>
                      <a:r>
                        <a:rPr sz="660" b="0">
                          <a:solidFill>
                            <a:srgbClr val="FEFEFF"/>
                          </a:solidFill>
                          <a:latin typeface="Ubuntu Mono"/>
                          <a:ea typeface="Ubuntu Mono"/>
                          <a:cs typeface="Ubuntu Mono"/>
                          <a:sym typeface="Ubuntu Mono"/>
                        </a:rPr>
                        <a:t>7-1/8 - 7-1/2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0">
                          <a:solidFill>
                            <a:srgbClr val="000000"/>
                          </a:solidFill>
                          <a:latin typeface="Ubuntu Mono"/>
                          <a:ea typeface="Ubuntu Mono"/>
                          <a:cs typeface="Ubuntu Mono"/>
                          <a:sym typeface="Ubuntu Mono"/>
                        </a:rPr>
                        <a:t>6-3/4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5-1/4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3-1/2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223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2080">
                <a:tc>
                  <a:txBody>
                    <a:bodyPr wrap="square"/>
                    <a:lstStyle/>
                    <a:p>
                      <a:pPr algn="ctr">
                        <a:lnSpc>
                          <a:spcPts val="819"/>
                        </a:lnSpc>
                      </a:pPr>
                      <a:r>
                        <a:rPr sz="660" b="0">
                          <a:solidFill>
                            <a:srgbClr val="FEFEFF"/>
                          </a:solidFill>
                          <a:latin typeface="Ubuntu Mono"/>
                          <a:ea typeface="Ubuntu Mono"/>
                          <a:cs typeface="Ubuntu Mono"/>
                          <a:sym typeface="Ubuntu Mono"/>
                        </a:rPr>
                        <a:t>7-5/8 - 8-1/2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19"/>
                        </a:lnSpc>
                      </a:pPr>
                      <a:r>
                        <a:rPr sz="660" b="0">
                          <a:solidFill>
                            <a:srgbClr val="000000"/>
                          </a:solidFill>
                          <a:latin typeface="Ubuntu Mono"/>
                          <a:ea typeface="Ubuntu Mono"/>
                          <a:cs typeface="Ubuntu Mono"/>
                          <a:sym typeface="Ubuntu Mono"/>
                        </a:rPr>
                        <a:t>7-5/16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5-5/8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4-1/2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280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2080">
                <a:tc>
                  <a:txBody>
                    <a:bodyPr wrap="square"/>
                    <a:lstStyle/>
                    <a:p>
                      <a:pPr algn="ctr">
                        <a:lnSpc>
                          <a:spcPts val="819"/>
                        </a:lnSpc>
                      </a:pPr>
                      <a:r>
                        <a:rPr sz="660" b="0">
                          <a:solidFill>
                            <a:srgbClr val="FEFEFF"/>
                          </a:solidFill>
                          <a:latin typeface="Ubuntu Mono"/>
                          <a:ea typeface="Ubuntu Mono"/>
                          <a:cs typeface="Ubuntu Mono"/>
                          <a:sym typeface="Ubuntu Mono"/>
                        </a:rPr>
                        <a:t>8-5/8 - 9-1/2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0">
                          <a:solidFill>
                            <a:srgbClr val="000000"/>
                          </a:solidFill>
                          <a:latin typeface="Ubuntu Mono"/>
                          <a:ea typeface="Ubuntu Mono"/>
                          <a:cs typeface="Ubuntu Mono"/>
                          <a:sym typeface="Ubuntu Mono"/>
                        </a:rPr>
                        <a:t>8-3/16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6-1/2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4-1/2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10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380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2080">
                <a:tc>
                  <a:txBody>
                    <a:bodyPr wrap="square"/>
                    <a:lstStyle/>
                    <a:p>
                      <a:pPr algn="ctr">
                        <a:lnSpc>
                          <a:spcPts val="819"/>
                        </a:lnSpc>
                      </a:pPr>
                      <a:r>
                        <a:rPr sz="660" b="0">
                          <a:solidFill>
                            <a:srgbClr val="FEFEFF"/>
                          </a:solidFill>
                          <a:latin typeface="Ubuntu Mono"/>
                          <a:ea typeface="Ubuntu Mono"/>
                          <a:cs typeface="Ubuntu Mono"/>
                          <a:sym typeface="Ubuntu Mono"/>
                        </a:rPr>
                        <a:t>9-5/8 - 10-3/8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19"/>
                        </a:lnSpc>
                      </a:pPr>
                      <a:r>
                        <a:rPr sz="660" b="0">
                          <a:solidFill>
                            <a:srgbClr val="000000"/>
                          </a:solidFill>
                          <a:latin typeface="Ubuntu Mono"/>
                          <a:ea typeface="Ubuntu Mono"/>
                          <a:cs typeface="Ubuntu Mono"/>
                          <a:sym typeface="Ubuntu Mono"/>
                        </a:rPr>
                        <a:t>9-1/8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7-1/8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5-1/2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10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407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2080">
                <a:tc>
                  <a:txBody>
                    <a:bodyPr wrap="square"/>
                    <a:lstStyle/>
                    <a:p>
                      <a:pPr algn="ctr">
                        <a:lnSpc>
                          <a:spcPts val="819"/>
                        </a:lnSpc>
                      </a:pPr>
                      <a:r>
                        <a:rPr sz="660" b="0">
                          <a:solidFill>
                            <a:srgbClr val="FEFEFF"/>
                          </a:solidFill>
                          <a:latin typeface="Ubuntu Mono"/>
                          <a:ea typeface="Ubuntu Mono"/>
                          <a:cs typeface="Ubuntu Mono"/>
                          <a:sym typeface="Ubuntu Mono"/>
                        </a:rPr>
                        <a:t>10-1/2 - 11-5/8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0">
                          <a:solidFill>
                            <a:srgbClr val="000000"/>
                          </a:solidFill>
                          <a:latin typeface="Ubuntu Mono"/>
                          <a:ea typeface="Ubuntu Mono"/>
                          <a:cs typeface="Ubuntu Mono"/>
                          <a:sym typeface="Ubuntu Mono"/>
                        </a:rPr>
                        <a:t>9-7/8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7-3/4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5-1/2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10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484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2080">
                <a:tc>
                  <a:txBody>
                    <a:bodyPr wrap="square"/>
                    <a:lstStyle/>
                    <a:p>
                      <a:pPr algn="ctr">
                        <a:lnSpc>
                          <a:spcPts val="819"/>
                        </a:lnSpc>
                      </a:pPr>
                      <a:r>
                        <a:rPr sz="660" b="0">
                          <a:solidFill>
                            <a:srgbClr val="FEFEFF"/>
                          </a:solidFill>
                          <a:latin typeface="Ubuntu Mono"/>
                          <a:ea typeface="Ubuntu Mono"/>
                          <a:cs typeface="Ubuntu Mono"/>
                          <a:sym typeface="Ubuntu Mono"/>
                        </a:rPr>
                        <a:t>11-3/4 - 13-3/8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19"/>
                        </a:lnSpc>
                      </a:pPr>
                      <a:r>
                        <a:rPr sz="660" b="0">
                          <a:solidFill>
                            <a:srgbClr val="000000"/>
                          </a:solidFill>
                          <a:latin typeface="Ubuntu Mono"/>
                          <a:ea typeface="Ubuntu Mono"/>
                          <a:cs typeface="Ubuntu Mono"/>
                          <a:sym typeface="Ubuntu Mono"/>
                        </a:rPr>
                        <a:t>11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8-5/8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6-5/8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597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2080">
                <a:tc>
                  <a:txBody>
                    <a:bodyPr wrap="square"/>
                    <a:lstStyle/>
                    <a:p>
                      <a:pPr algn="ctr">
                        <a:lnSpc>
                          <a:spcPts val="819"/>
                        </a:lnSpc>
                      </a:pPr>
                      <a:r>
                        <a:rPr sz="660" b="0">
                          <a:solidFill>
                            <a:srgbClr val="FEFEFF"/>
                          </a:solidFill>
                          <a:latin typeface="Ubuntu Mono"/>
                          <a:ea typeface="Ubuntu Mono"/>
                          <a:cs typeface="Ubuntu Mono"/>
                          <a:sym typeface="Ubuntu Mono"/>
                        </a:rPr>
                        <a:t>13-1/2 - 15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0">
                          <a:solidFill>
                            <a:srgbClr val="000000"/>
                          </a:solidFill>
                          <a:latin typeface="Ubuntu Mono"/>
                          <a:ea typeface="Ubuntu Mono"/>
                          <a:cs typeface="Ubuntu Mono"/>
                          <a:sym typeface="Ubuntu Mono"/>
                        </a:rPr>
                        <a:t>12-3/4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9-15/16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6-5/8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794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bl>
          </a:graphicData>
        </a:graphic>
      </p:graphicFrame>
      <p:sp>
        <p:nvSpPr>
          <p:cNvPr id="26" name="TextBox 25"/>
          <p:cNvSpPr txBox="1"/>
          <p:nvPr/>
        </p:nvSpPr>
        <p:spPr>
          <a:xfrm>
            <a:off x="711200" y="7581900"/>
            <a:ext cx="6134100" cy="114300"/>
          </a:xfrm>
          <a:prstGeom prst="rect">
            <a:avLst/>
          </a:prstGeom>
          <a:noFill/>
        </p:spPr>
        <p:txBody>
          <a:bodyPr wrap="square" lIns="0" rIns="0" tIns="0" bIns="0">
            <a:spAutoFit/>
          </a:bodyPr>
          <a:lstStyle/>
          <a:p>
            <a:pPr algn="l">
              <a:lnSpc>
                <a:spcPts val="740"/>
              </a:lnSpc>
              <a:spcAft>
                <a:spcPts val="0"/>
              </a:spcAft>
            </a:pPr>
            <a:r>
              <a:rPr sz="620" b="0">
                <a:solidFill>
                  <a:srgbClr val="444444"/>
                </a:solidFill>
                <a:latin typeface="Ubuntu Mono"/>
                <a:ea typeface="Ubuntu Mono"/>
                <a:cs typeface="Ubuntu Mono"/>
                <a:sym typeface="Ubuntu Mono"/>
              </a:rPr>
              <a:t>Dimensions in inches, weights in lb (approximate). Hole size is the range the tool is designed for; max. fish Ø applies to the mill shoe.</a:t>
            </a:r>
          </a:p>
        </p:txBody>
      </p:sp>
      <p:pic>
        <p:nvPicPr>
          <p:cNvPr id="27" name="Picture 26" descr="rcjb_tool_blue.png"/>
          <p:cNvPicPr>
            <a:picLocks noChangeAspect="1"/>
          </p:cNvPicPr>
          <p:nvPr/>
        </p:nvPicPr>
        <p:blipFill>
          <a:blip r:embed="rId7"/>
          <a:stretch>
            <a:fillRect/>
          </a:stretch>
        </p:blipFill>
        <p:spPr>
          <a:xfrm>
            <a:off x="711200" y="7785100"/>
            <a:ext cx="476661" cy="2730500"/>
          </a:xfrm>
          <a:prstGeom prst="rect">
            <a:avLst/>
          </a:prstGeom>
        </p:spPr>
      </p:pic>
      <p:sp>
        <p:nvSpPr>
          <p:cNvPr id="28" name="TextBox 27"/>
          <p:cNvSpPr txBox="1"/>
          <p:nvPr/>
        </p:nvSpPr>
        <p:spPr>
          <a:xfrm>
            <a:off x="1346200" y="7759700"/>
            <a:ext cx="25400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DESIGN FEATURES</a:t>
            </a:r>
          </a:p>
        </p:txBody>
      </p:sp>
      <p:sp>
        <p:nvSpPr>
          <p:cNvPr id="29" name="TextBox 28"/>
          <p:cNvSpPr txBox="1"/>
          <p:nvPr/>
        </p:nvSpPr>
        <p:spPr>
          <a:xfrm>
            <a:off x="1346200" y="7962900"/>
            <a:ext cx="2603500" cy="127000"/>
          </a:xfrm>
          <a:prstGeom prst="rect">
            <a:avLst/>
          </a:prstGeom>
          <a:noFill/>
        </p:spPr>
        <p:txBody>
          <a:bodyPr wrap="square" lIns="0" rIns="0" tIns="0" bIns="0">
            <a:spAutoFit/>
          </a:bodyPr>
          <a:lstStyle/>
          <a:p>
            <a:pPr algn="l">
              <a:lnSpc>
                <a:spcPts val="840"/>
              </a:lnSpc>
              <a:spcAft>
                <a:spcPts val="180"/>
              </a:spcAft>
            </a:pPr>
            <a:r>
              <a:rPr sz="530" b="0">
                <a:solidFill>
                  <a:srgbClr val="01ADEE"/>
                </a:solidFill>
                <a:latin typeface="Ubuntu Mono"/>
                <a:ea typeface="Ubuntu Mono"/>
                <a:cs typeface="Ubuntu Mono"/>
                <a:sym typeface="Ubuntu Mono"/>
              </a:rPr>
              <a:t>■ </a:t>
            </a:r>
            <a:r>
              <a:rPr sz="680" b="1">
                <a:solidFill>
                  <a:srgbClr val="000000"/>
                </a:solidFill>
                <a:latin typeface="Ubuntu Mono"/>
                <a:ea typeface="Ubuntu Mono"/>
                <a:cs typeface="Ubuntu Mono"/>
                <a:sym typeface="Ubuntu Mono"/>
              </a:rPr>
              <a:t>Reverse circulation: </a:t>
            </a:r>
            <a:r>
              <a:rPr sz="680" b="0">
                <a:solidFill>
                  <a:srgbClr val="000000"/>
                </a:solidFill>
                <a:latin typeface="Ubuntu Mono"/>
                <a:ea typeface="Ubuntu Mono"/>
                <a:cs typeface="Ubuntu Mono"/>
                <a:sym typeface="Ubuntu Mono"/>
              </a:rPr>
              <a:t>a steel ball dropped down the string seats in the valve and sends flow through the barrel passages, out against the hole wall and back up the barrel.</a:t>
            </a:r>
          </a:p>
          <a:p>
            <a:pPr algn="l">
              <a:lnSpc>
                <a:spcPts val="840"/>
              </a:lnSpc>
              <a:spcAft>
                <a:spcPts val="180"/>
              </a:spcAft>
            </a:pPr>
            <a:r>
              <a:rPr sz="530" b="0">
                <a:solidFill>
                  <a:srgbClr val="01ADEE"/>
                </a:solidFill>
                <a:latin typeface="Ubuntu Mono"/>
                <a:ea typeface="Ubuntu Mono"/>
                <a:cs typeface="Ubuntu Mono"/>
                <a:sym typeface="Ubuntu Mono"/>
              </a:rPr>
              <a:t>■ </a:t>
            </a:r>
            <a:r>
              <a:rPr sz="680" b="1">
                <a:solidFill>
                  <a:srgbClr val="000000"/>
                </a:solidFill>
                <a:latin typeface="Ubuntu Mono"/>
                <a:ea typeface="Ubuntu Mono"/>
                <a:cs typeface="Ubuntu Mono"/>
                <a:sym typeface="Ubuntu Mono"/>
              </a:rPr>
              <a:t>Junk catcher: </a:t>
            </a:r>
            <a:r>
              <a:rPr sz="680" b="0">
                <a:solidFill>
                  <a:srgbClr val="000000"/>
                </a:solidFill>
                <a:latin typeface="Ubuntu Mono"/>
                <a:ea typeface="Ubuntu Mono"/>
                <a:cs typeface="Ubuntu Mono"/>
                <a:sym typeface="Ubuntu Mono"/>
              </a:rPr>
              <a:t>spring-loaded fingers fold back to admit core and fish, then dig in on pulling to cut off the core.</a:t>
            </a:r>
          </a:p>
          <a:p>
            <a:pPr algn="l">
              <a:lnSpc>
                <a:spcPts val="840"/>
              </a:lnSpc>
              <a:spcAft>
                <a:spcPts val="180"/>
              </a:spcAft>
            </a:pPr>
            <a:r>
              <a:rPr sz="530" b="0">
                <a:solidFill>
                  <a:srgbClr val="01ADEE"/>
                </a:solidFill>
                <a:latin typeface="Ubuntu Mono"/>
                <a:ea typeface="Ubuntu Mono"/>
                <a:cs typeface="Ubuntu Mono"/>
                <a:sym typeface="Ubuntu Mono"/>
              </a:rPr>
              <a:t>■ </a:t>
            </a:r>
            <a:r>
              <a:rPr sz="680" b="1">
                <a:solidFill>
                  <a:srgbClr val="000000"/>
                </a:solidFill>
                <a:latin typeface="Ubuntu Mono"/>
                <a:ea typeface="Ubuntu Mono"/>
                <a:cs typeface="Ubuntu Mono"/>
                <a:sym typeface="Ubuntu Mono"/>
              </a:rPr>
              <a:t>Mill shoes: </a:t>
            </a:r>
            <a:r>
              <a:rPr sz="680" b="0">
                <a:solidFill>
                  <a:srgbClr val="000000"/>
                </a:solidFill>
                <a:latin typeface="Ubuntu Mono"/>
                <a:ea typeface="Ubuntu Mono"/>
                <a:cs typeface="Ubuntu Mono"/>
                <a:sym typeface="Ubuntu Mono"/>
              </a:rPr>
              <a:t>type A with side wings (standard); type B hard-faced with sintered tungsten carbide; type C flat-bottomed, hard-faced, for cutting cores.</a:t>
            </a:r>
          </a:p>
          <a:p>
            <a:pPr algn="l">
              <a:lnSpc>
                <a:spcPts val="840"/>
              </a:lnSpc>
              <a:spcAft>
                <a:spcPts val="180"/>
              </a:spcAft>
            </a:pPr>
            <a:r>
              <a:rPr sz="530" b="0">
                <a:solidFill>
                  <a:srgbClr val="01ADEE"/>
                </a:solidFill>
                <a:latin typeface="Ubuntu Mono"/>
                <a:ea typeface="Ubuntu Mono"/>
                <a:cs typeface="Ubuntu Mono"/>
                <a:sym typeface="Ubuntu Mono"/>
              </a:rPr>
              <a:t>■ </a:t>
            </a:r>
            <a:r>
              <a:rPr sz="680" b="1">
                <a:solidFill>
                  <a:srgbClr val="000000"/>
                </a:solidFill>
                <a:latin typeface="Ubuntu Mono"/>
                <a:ea typeface="Ubuntu Mono"/>
                <a:cs typeface="Ubuntu Mono"/>
                <a:sym typeface="Ubuntu Mono"/>
              </a:rPr>
              <a:t>Finger shoe: </a:t>
            </a:r>
            <a:r>
              <a:rPr sz="680" b="0">
                <a:solidFill>
                  <a:srgbClr val="000000"/>
                </a:solidFill>
                <a:latin typeface="Ubuntu Mono"/>
                <a:ea typeface="Ubuntu Mono"/>
                <a:cs typeface="Ubuntu Mono"/>
                <a:sym typeface="Ubuntu Mono"/>
              </a:rPr>
              <a:t>for loose or larger junk; fingers close beneath the fish; replaceable fingers.</a:t>
            </a:r>
          </a:p>
          <a:p>
            <a:pPr algn="l">
              <a:lnSpc>
                <a:spcPts val="840"/>
              </a:lnSpc>
              <a:spcAft>
                <a:spcPts val="180"/>
              </a:spcAft>
            </a:pPr>
            <a:r>
              <a:rPr sz="530" b="0">
                <a:solidFill>
                  <a:srgbClr val="01ADEE"/>
                </a:solidFill>
                <a:latin typeface="Ubuntu Mono"/>
                <a:ea typeface="Ubuntu Mono"/>
                <a:cs typeface="Ubuntu Mono"/>
                <a:sym typeface="Ubuntu Mono"/>
              </a:rPr>
              <a:t>■ </a:t>
            </a:r>
            <a:r>
              <a:rPr sz="680" b="1">
                <a:solidFill>
                  <a:srgbClr val="000000"/>
                </a:solidFill>
                <a:latin typeface="Ubuntu Mono"/>
                <a:ea typeface="Ubuntu Mono"/>
                <a:cs typeface="Ubuntu Mono"/>
                <a:sym typeface="Ubuntu Mono"/>
              </a:rPr>
              <a:t>Magnet insert: </a:t>
            </a:r>
            <a:r>
              <a:rPr sz="680" b="0">
                <a:solidFill>
                  <a:srgbClr val="000000"/>
                </a:solidFill>
                <a:latin typeface="Ubuntu Mono"/>
                <a:ea typeface="Ubuntu Mono"/>
                <a:cs typeface="Ubuntu Mono"/>
                <a:sym typeface="Ubuntu Mono"/>
              </a:rPr>
              <a:t>fits the catcher recess, converts to a fishing magnet and keeps reverse circulation.</a:t>
            </a:r>
          </a:p>
        </p:txBody>
      </p:sp>
      <p:sp>
        <p:nvSpPr>
          <p:cNvPr id="30" name="TextBox 29"/>
          <p:cNvSpPr txBox="1"/>
          <p:nvPr/>
        </p:nvSpPr>
        <p:spPr>
          <a:xfrm>
            <a:off x="4089400" y="7759700"/>
            <a:ext cx="27559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OPERATING PARAMETERS</a:t>
            </a:r>
          </a:p>
        </p:txBody>
      </p:sp>
      <p:graphicFrame>
        <p:nvGraphicFramePr>
          <p:cNvPr id="31" name="Table 30"/>
          <p:cNvGraphicFramePr>
            <a:graphicFrameLocks noGrp="1"/>
          </p:cNvGraphicFramePr>
          <p:nvPr/>
        </p:nvGraphicFramePr>
        <p:xfrm>
          <a:off x="4089400" y="7962900"/>
          <a:ext cx="2755900" cy="863600"/>
        </p:xfrm>
        <a:graphic>
          <a:graphicData uri="http://schemas.openxmlformats.org/drawingml/2006/table">
            <a:tbl>
              <a:tblPr/>
              <a:tblGrid>
                <a:gridCol w="787400"/>
                <a:gridCol w="1968500"/>
              </a:tblGrid>
              <a:tr h="215900">
                <a:tc>
                  <a:txBody>
                    <a:bodyPr wrap="square"/>
                    <a:lstStyle/>
                    <a:p>
                      <a:pPr algn="l">
                        <a:lnSpc>
                          <a:spcPts val="800"/>
                        </a:lnSpc>
                      </a:pPr>
                      <a:r>
                        <a:rPr sz="640" b="0">
                          <a:solidFill>
                            <a:srgbClr val="FEFEFF"/>
                          </a:solidFill>
                          <a:latin typeface="Ubuntu Mono"/>
                          <a:ea typeface="Ubuntu Mono"/>
                          <a:cs typeface="Ubuntu Mono"/>
                          <a:sym typeface="Ubuntu Mono"/>
                        </a:rPr>
                        <a:t>Before dropping ball</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00"/>
                        </a:lnSpc>
                      </a:pPr>
                      <a:r>
                        <a:rPr sz="640" b="0">
                          <a:solidFill>
                            <a:srgbClr val="000000"/>
                          </a:solidFill>
                          <a:latin typeface="Ubuntu Mono"/>
                          <a:ea typeface="Ubuntu Mono"/>
                          <a:cs typeface="Ubuntu Mono"/>
                          <a:sym typeface="Ubuntu Mono"/>
                        </a:rPr>
                        <a:t>Circulate a few minutes about 10 ft off bottom</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215900">
                <a:tc>
                  <a:txBody>
                    <a:bodyPr wrap="square"/>
                    <a:lstStyle/>
                    <a:p>
                      <a:pPr algn="l">
                        <a:lnSpc>
                          <a:spcPts val="800"/>
                        </a:lnSpc>
                      </a:pPr>
                      <a:r>
                        <a:rPr sz="640" b="0">
                          <a:solidFill>
                            <a:srgbClr val="FEFEFF"/>
                          </a:solidFill>
                          <a:latin typeface="Ubuntu Mono"/>
                          <a:ea typeface="Ubuntu Mono"/>
                          <a:cs typeface="Ubuntu Mono"/>
                          <a:sym typeface="Ubuntu Mono"/>
                        </a:rPr>
                        <a:t>Mill shoe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00"/>
                        </a:lnSpc>
                      </a:pPr>
                      <a:r>
                        <a:rPr sz="640" b="0">
                          <a:solidFill>
                            <a:srgbClr val="000000"/>
                          </a:solidFill>
                          <a:latin typeface="Ubuntu Mono"/>
                          <a:ea typeface="Ubuntu Mono"/>
                          <a:cs typeface="Ubuntu Mono"/>
                          <a:sym typeface="Ubuntu Mono"/>
                        </a:rPr>
                        <a:t>Cut a core of at least 10 in.; 1 ton on hard-faced shoes, 50 - 150 rpm</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215900">
                <a:tc>
                  <a:txBody>
                    <a:bodyPr wrap="square"/>
                    <a:lstStyle/>
                    <a:p>
                      <a:pPr algn="l">
                        <a:lnSpc>
                          <a:spcPts val="800"/>
                        </a:lnSpc>
                      </a:pPr>
                      <a:r>
                        <a:rPr sz="640" b="0">
                          <a:solidFill>
                            <a:srgbClr val="FEFEFF"/>
                          </a:solidFill>
                          <a:latin typeface="Ubuntu Mono"/>
                          <a:ea typeface="Ubuntu Mono"/>
                          <a:cs typeface="Ubuntu Mono"/>
                          <a:sym typeface="Ubuntu Mono"/>
                        </a:rPr>
                        <a:t>Finger shoe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00"/>
                        </a:lnSpc>
                      </a:pPr>
                      <a:r>
                        <a:rPr sz="640" b="0">
                          <a:solidFill>
                            <a:srgbClr val="000000"/>
                          </a:solidFill>
                          <a:latin typeface="Ubuntu Mono"/>
                          <a:ea typeface="Ubuntu Mono"/>
                          <a:cs typeface="Ubuntu Mono"/>
                          <a:sym typeface="Ubuntu Mono"/>
                        </a:rPr>
                        <a:t>Rotate slowly, lower to about 2 tons on bottom</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215900">
                <a:tc>
                  <a:txBody>
                    <a:bodyPr wrap="square"/>
                    <a:lstStyle/>
                    <a:p>
                      <a:pPr algn="l">
                        <a:lnSpc>
                          <a:spcPts val="800"/>
                        </a:lnSpc>
                      </a:pPr>
                      <a:r>
                        <a:rPr sz="640" b="0">
                          <a:solidFill>
                            <a:srgbClr val="FEFEFF"/>
                          </a:solidFill>
                          <a:latin typeface="Ubuntu Mono"/>
                          <a:ea typeface="Ubuntu Mono"/>
                          <a:cs typeface="Ubuntu Mono"/>
                          <a:sym typeface="Ubuntu Mono"/>
                        </a:rPr>
                        <a:t>Precaution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00"/>
                        </a:lnSpc>
                      </a:pPr>
                      <a:r>
                        <a:rPr sz="640" b="0">
                          <a:solidFill>
                            <a:srgbClr val="000000"/>
                          </a:solidFill>
                          <a:latin typeface="Ubuntu Mono"/>
                          <a:ea typeface="Ubuntu Mono"/>
                          <a:cs typeface="Ubuntu Mono"/>
                          <a:sym typeface="Ubuntu Mono"/>
                        </a:rPr>
                        <a:t>String tool-joint IDs must pass the steel ball; keep the ball at surface while running in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bl>
          </a:graphicData>
        </a:graphic>
      </p:graphicFrame>
      <p:sp>
        <p:nvSpPr>
          <p:cNvPr id="32" name="TextBox 31"/>
          <p:cNvSpPr txBox="1"/>
          <p:nvPr/>
        </p:nvSpPr>
        <p:spPr>
          <a:xfrm>
            <a:off x="4089400" y="8928100"/>
            <a:ext cx="2755900" cy="381000"/>
          </a:xfrm>
          <a:prstGeom prst="rect">
            <a:avLst/>
          </a:prstGeom>
          <a:noFill/>
        </p:spPr>
        <p:txBody>
          <a:bodyPr wrap="square" lIns="0" rIns="0" tIns="0" bIns="0">
            <a:spAutoFit/>
          </a:bodyPr>
          <a:lstStyle/>
          <a:p>
            <a:pPr algn="just">
              <a:lnSpc>
                <a:spcPts val="819"/>
              </a:lnSpc>
              <a:spcAft>
                <a:spcPts val="0"/>
              </a:spcAft>
            </a:pPr>
            <a:r>
              <a:rPr sz="660" b="0">
                <a:solidFill>
                  <a:srgbClr val="000000"/>
                </a:solidFill>
                <a:latin typeface="Ubuntu Mono"/>
                <a:ea typeface="Ubuntu Mono"/>
                <a:cs typeface="Ubuntu Mono"/>
                <a:sym typeface="Ubuntu Mono"/>
              </a:rPr>
              <a:t>Add a junk sub above the top sub if small junk is prevalent. Wash the tool after each job, paying attention to the space between inner and outer barrels.</a:t>
            </a:r>
          </a:p>
        </p:txBody>
      </p:sp>
      <p:sp>
        <p:nvSpPr>
          <p:cNvPr id="33" name="TextBox 32"/>
          <p:cNvSpPr txBox="1"/>
          <p:nvPr/>
        </p:nvSpPr>
        <p:spPr>
          <a:xfrm>
            <a:off x="4089400" y="9359900"/>
            <a:ext cx="27559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HOW TO ORDER</a:t>
            </a:r>
          </a:p>
        </p:txBody>
      </p:sp>
      <p:sp>
        <p:nvSpPr>
          <p:cNvPr id="34" name="TextBox 33"/>
          <p:cNvSpPr txBox="1"/>
          <p:nvPr/>
        </p:nvSpPr>
        <p:spPr>
          <a:xfrm>
            <a:off x="4089400" y="9550400"/>
            <a:ext cx="2755900" cy="508000"/>
          </a:xfrm>
          <a:prstGeom prst="rect">
            <a:avLst/>
          </a:prstGeom>
          <a:noFill/>
        </p:spPr>
        <p:txBody>
          <a:bodyPr wrap="square" lIns="0" rIns="0" tIns="0" bIns="0">
            <a:spAutoFit/>
          </a:bodyPr>
          <a:lstStyle/>
          <a:p>
            <a:pPr algn="just">
              <a:lnSpc>
                <a:spcPts val="819"/>
              </a:lnSpc>
              <a:spcAft>
                <a:spcPts val="0"/>
              </a:spcAft>
            </a:pPr>
            <a:r>
              <a:rPr sz="660" b="0">
                <a:solidFill>
                  <a:srgbClr val="000000"/>
                </a:solidFill>
                <a:latin typeface="Ubuntu Mono"/>
                <a:ea typeface="Ubuntu Mono"/>
                <a:cs typeface="Ubuntu Mono"/>
                <a:sym typeface="Ubuntu Mono"/>
              </a:rPr>
              <a:t>Please specify: 1. tool name and type (standard or W7R)  2. OD and type of shoe  3. top connection  4. recommended spares: 2 junk catchers, 2 mill shoes, 1 valve cup, 1 valve seat, 1 steel ball  5. accessories: 2 finger shoes, 4 finger shoe replacements, 1 magnet insert.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DAGS_rYUj9A</dc:identifier>
  <dcterms:modified xsi:type="dcterms:W3CDTF">2011-08-01T06:04:30Z</dcterms:modified>
  <cp:revision>1</cp:revision>
  <dc:title>Catalogue outils</dc:title>
</cp:coreProperties>
</file>