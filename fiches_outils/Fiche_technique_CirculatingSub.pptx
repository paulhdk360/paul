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Ubuntu Mono" charset="1" panose="020B0509030602030204"/>
      <p:regular r:id="rId7"/>
    </p:embeddedFont>
    <p:embeddedFont>
      <p:font typeface="Ubuntu Mono Bold" charset="1" panose="020B080903060203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CIRCULATING SUB</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DRILLING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BALL-DROP CIRCULATION SUB</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SIMPLE, RUGGED CONVENTIONAL BALL-DROP CIRCULATION SUB IN A SINGLE-COLLAR CONFIGURATION WITH NO MID-BODY CONNECTION. IT IS EASY TO USE AND OFFERS VARIABLE CYCLE CAPABILITY. A NOVEL BALL DISPOSAL SYSTEM LETS THE BALLS BE EMPTIED WITHOUT DISASSEMBLY, ALLOWING FIELD SERVICE AND MULTIPLE RUNS. STANDARD API CONNECTIONS AND HIGH-STRENGTH MATERIAL OPTIONS FOR DEEP GAS ARE AVAILABLE.</a:t>
            </a:r>
          </a:p>
        </p:txBody>
      </p:sp>
      <p:sp>
        <p:nvSpPr>
          <p:cNvPr id="21" name="TextBox 20"/>
          <p:cNvSpPr txBox="1"/>
          <p:nvPr/>
        </p:nvSpPr>
        <p:spPr>
          <a:xfrm>
            <a:off x="711200" y="50292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APPLICATIONS</a:t>
            </a:r>
          </a:p>
        </p:txBody>
      </p:sp>
      <p:sp>
        <p:nvSpPr>
          <p:cNvPr id="22" name="TextBox 21"/>
          <p:cNvSpPr txBox="1"/>
          <p:nvPr/>
        </p:nvSpPr>
        <p:spPr>
          <a:xfrm>
            <a:off x="711200" y="5245100"/>
            <a:ext cx="3022600" cy="127000"/>
          </a:xfrm>
          <a:prstGeom prst="rect">
            <a:avLst/>
          </a:prstGeom>
          <a:noFill/>
        </p:spPr>
        <p:txBody>
          <a:bodyPr wrap="square" lIns="0" rIns="0" tIns="0" bIns="0">
            <a:spAutoFit/>
          </a:bodyPr>
          <a:lstStyle/>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Wellbore cleanout</a:t>
            </a:r>
          </a:p>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Managed pressure drilling</a:t>
            </a:r>
          </a:p>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Underbalanced drilling</a:t>
            </a:r>
          </a:p>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Cementing operations</a:t>
            </a:r>
          </a:p>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Workover and completions</a:t>
            </a:r>
          </a:p>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Stuck pipe mitigation operations</a:t>
            </a:r>
          </a:p>
        </p:txBody>
      </p:sp>
      <p:sp>
        <p:nvSpPr>
          <p:cNvPr id="23" name="TextBox 22"/>
          <p:cNvSpPr txBox="1"/>
          <p:nvPr/>
        </p:nvSpPr>
        <p:spPr>
          <a:xfrm>
            <a:off x="3810000" y="50292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4" name="TextBox 23"/>
          <p:cNvSpPr txBox="1"/>
          <p:nvPr/>
        </p:nvSpPr>
        <p:spPr>
          <a:xfrm>
            <a:off x="3810000" y="5245100"/>
            <a:ext cx="3035300" cy="127000"/>
          </a:xfrm>
          <a:prstGeom prst="rect">
            <a:avLst/>
          </a:prstGeom>
          <a:noFill/>
        </p:spPr>
        <p:txBody>
          <a:bodyPr wrap="square" lIns="0" rIns="0" tIns="0" bIns="0">
            <a:spAutoFit/>
          </a:bodyPr>
          <a:lstStyle/>
          <a:p>
            <a:pPr algn="l">
              <a:lnSpc>
                <a:spcPts val="1100"/>
              </a:lnSpc>
              <a:spcAft>
                <a:spcPts val="300"/>
              </a:spcAft>
            </a:pPr>
            <a:r>
              <a:rPr sz="700" b="0">
                <a:solidFill>
                  <a:srgbClr val="01ADEE"/>
                </a:solidFill>
                <a:latin typeface="Ubuntu Mono"/>
                <a:ea typeface="Ubuntu Mono"/>
                <a:cs typeface="Ubuntu Mono"/>
                <a:sym typeface="Ubuntu Mono"/>
              </a:rPr>
              <a:t>■ </a:t>
            </a:r>
            <a:r>
              <a:rPr sz="850" b="1">
                <a:solidFill>
                  <a:srgbClr val="000000"/>
                </a:solidFill>
                <a:latin typeface="Ubuntu Mono"/>
                <a:ea typeface="Ubuntu Mono"/>
                <a:cs typeface="Ubuntu Mono"/>
                <a:sym typeface="Ubuntu Mono"/>
              </a:rPr>
              <a:t>Single collar design: </a:t>
            </a:r>
            <a:r>
              <a:rPr sz="850" b="0">
                <a:solidFill>
                  <a:srgbClr val="000000"/>
                </a:solidFill>
                <a:latin typeface="Ubuntu Mono"/>
                <a:ea typeface="Ubuntu Mono"/>
                <a:cs typeface="Ubuntu Mono"/>
                <a:sym typeface="Ubuntu Mono"/>
              </a:rPr>
              <a:t>no mid-body connections.</a:t>
            </a:r>
          </a:p>
          <a:p>
            <a:pPr algn="l">
              <a:lnSpc>
                <a:spcPts val="1100"/>
              </a:lnSpc>
              <a:spcAft>
                <a:spcPts val="300"/>
              </a:spcAft>
            </a:pPr>
            <a:r>
              <a:rPr sz="700" b="0">
                <a:solidFill>
                  <a:srgbClr val="01ADEE"/>
                </a:solidFill>
                <a:latin typeface="Ubuntu Mono"/>
                <a:ea typeface="Ubuntu Mono"/>
                <a:cs typeface="Ubuntu Mono"/>
                <a:sym typeface="Ubuntu Mono"/>
              </a:rPr>
              <a:t>■ </a:t>
            </a:r>
            <a:r>
              <a:rPr sz="850" b="1">
                <a:solidFill>
                  <a:srgbClr val="000000"/>
                </a:solidFill>
                <a:latin typeface="Ubuntu Mono"/>
                <a:ea typeface="Ubuntu Mono"/>
                <a:cs typeface="Ubuntu Mono"/>
                <a:sym typeface="Ubuntu Mono"/>
              </a:rPr>
              <a:t>Variable cycle capability.</a:t>
            </a:r>
          </a:p>
          <a:p>
            <a:pPr algn="l">
              <a:lnSpc>
                <a:spcPts val="1100"/>
              </a:lnSpc>
              <a:spcAft>
                <a:spcPts val="300"/>
              </a:spcAft>
            </a:pPr>
            <a:r>
              <a:rPr sz="700" b="0">
                <a:solidFill>
                  <a:srgbClr val="01ADEE"/>
                </a:solidFill>
                <a:latin typeface="Ubuntu Mono"/>
                <a:ea typeface="Ubuntu Mono"/>
                <a:cs typeface="Ubuntu Mono"/>
                <a:sym typeface="Ubuntu Mono"/>
              </a:rPr>
              <a:t>■ </a:t>
            </a:r>
            <a:r>
              <a:rPr sz="850" b="1">
                <a:solidFill>
                  <a:srgbClr val="000000"/>
                </a:solidFill>
                <a:latin typeface="Ubuntu Mono"/>
                <a:ea typeface="Ubuntu Mono"/>
                <a:cs typeface="Ubuntu Mono"/>
                <a:sym typeface="Ubuntu Mono"/>
              </a:rPr>
              <a:t>Standard API connections.</a:t>
            </a:r>
          </a:p>
          <a:p>
            <a:pPr algn="l">
              <a:lnSpc>
                <a:spcPts val="1100"/>
              </a:lnSpc>
              <a:spcAft>
                <a:spcPts val="300"/>
              </a:spcAft>
            </a:pPr>
            <a:r>
              <a:rPr sz="700" b="0">
                <a:solidFill>
                  <a:srgbClr val="01ADEE"/>
                </a:solidFill>
                <a:latin typeface="Ubuntu Mono"/>
                <a:ea typeface="Ubuntu Mono"/>
                <a:cs typeface="Ubuntu Mono"/>
                <a:sym typeface="Ubuntu Mono"/>
              </a:rPr>
              <a:t>■ </a:t>
            </a:r>
            <a:r>
              <a:rPr sz="850" b="1">
                <a:solidFill>
                  <a:srgbClr val="000000"/>
                </a:solidFill>
                <a:latin typeface="Ubuntu Mono"/>
                <a:ea typeface="Ubuntu Mono"/>
                <a:cs typeface="Ubuntu Mono"/>
                <a:sym typeface="Ubuntu Mono"/>
              </a:rPr>
              <a:t>Ball drop activation: </a:t>
            </a:r>
            <a:r>
              <a:rPr sz="850" b="0">
                <a:solidFill>
                  <a:srgbClr val="000000"/>
                </a:solidFill>
                <a:latin typeface="Ubuntu Mono"/>
                <a:ea typeface="Ubuntu Mono"/>
                <a:cs typeface="Ubuntu Mono"/>
                <a:sym typeface="Ubuntu Mono"/>
              </a:rPr>
              <a:t>rugged and proven.</a:t>
            </a:r>
          </a:p>
          <a:p>
            <a:pPr algn="l">
              <a:lnSpc>
                <a:spcPts val="1100"/>
              </a:lnSpc>
              <a:spcAft>
                <a:spcPts val="300"/>
              </a:spcAft>
            </a:pPr>
            <a:r>
              <a:rPr sz="700" b="0">
                <a:solidFill>
                  <a:srgbClr val="01ADEE"/>
                </a:solidFill>
                <a:latin typeface="Ubuntu Mono"/>
                <a:ea typeface="Ubuntu Mono"/>
                <a:cs typeface="Ubuntu Mono"/>
                <a:sym typeface="Ubuntu Mono"/>
              </a:rPr>
              <a:t>■ </a:t>
            </a:r>
            <a:r>
              <a:rPr sz="850" b="1">
                <a:solidFill>
                  <a:srgbClr val="000000"/>
                </a:solidFill>
                <a:latin typeface="Ubuntu Mono"/>
                <a:ea typeface="Ubuntu Mono"/>
                <a:cs typeface="Ubuntu Mono"/>
                <a:sym typeface="Ubuntu Mono"/>
              </a:rPr>
              <a:t>Ball disposal: </a:t>
            </a:r>
            <a:r>
              <a:rPr sz="850" b="0">
                <a:solidFill>
                  <a:srgbClr val="000000"/>
                </a:solidFill>
                <a:latin typeface="Ubuntu Mono"/>
                <a:ea typeface="Ubuntu Mono"/>
                <a:cs typeface="Ubuntu Mono"/>
                <a:sym typeface="Ubuntu Mono"/>
              </a:rPr>
              <a:t>balls emptied without disassembly; field serviceable, multi-run.</a:t>
            </a:r>
          </a:p>
          <a:p>
            <a:pPr algn="l">
              <a:lnSpc>
                <a:spcPts val="1100"/>
              </a:lnSpc>
              <a:spcAft>
                <a:spcPts val="300"/>
              </a:spcAft>
            </a:pPr>
            <a:r>
              <a:rPr sz="700" b="0">
                <a:solidFill>
                  <a:srgbClr val="01ADEE"/>
                </a:solidFill>
                <a:latin typeface="Ubuntu Mono"/>
                <a:ea typeface="Ubuntu Mono"/>
                <a:cs typeface="Ubuntu Mono"/>
                <a:sym typeface="Ubuntu Mono"/>
              </a:rPr>
              <a:t>■ </a:t>
            </a:r>
            <a:r>
              <a:rPr sz="850" b="1">
                <a:solidFill>
                  <a:srgbClr val="000000"/>
                </a:solidFill>
                <a:latin typeface="Ubuntu Mono"/>
                <a:ea typeface="Ubuntu Mono"/>
                <a:cs typeface="Ubuntu Mono"/>
                <a:sym typeface="Ubuntu Mono"/>
              </a:rPr>
              <a:t>High-strength material options </a:t>
            </a:r>
            <a:r>
              <a:rPr sz="850" b="0">
                <a:solidFill>
                  <a:srgbClr val="000000"/>
                </a:solidFill>
                <a:latin typeface="Ubuntu Mono"/>
                <a:ea typeface="Ubuntu Mono"/>
                <a:cs typeface="Ubuntu Mono"/>
                <a:sym typeface="Ubuntu Mono"/>
              </a:rPr>
              <a:t>for deep gas.</a:t>
            </a:r>
          </a:p>
        </p:txBody>
      </p:sp>
      <p:sp>
        <p:nvSpPr>
          <p:cNvPr id="25" name="TextBox 24"/>
          <p:cNvSpPr txBox="1"/>
          <p:nvPr/>
        </p:nvSpPr>
        <p:spPr>
          <a:xfrm>
            <a:off x="711200" y="69342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ITEMS TO DISCUSS</a:t>
            </a:r>
          </a:p>
        </p:txBody>
      </p:sp>
      <p:sp>
        <p:nvSpPr>
          <p:cNvPr id="26" name="TextBox 25"/>
          <p:cNvSpPr txBox="1"/>
          <p:nvPr/>
        </p:nvSpPr>
        <p:spPr>
          <a:xfrm>
            <a:off x="711200" y="7150100"/>
            <a:ext cx="3022600" cy="127000"/>
          </a:xfrm>
          <a:prstGeom prst="rect">
            <a:avLst/>
          </a:prstGeom>
          <a:noFill/>
        </p:spPr>
        <p:txBody>
          <a:bodyPr wrap="square" lIns="0" rIns="0" tIns="0" bIns="0">
            <a:spAutoFit/>
          </a:bodyPr>
          <a:lstStyle/>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Customizable housing for increased cycles</a:t>
            </a:r>
          </a:p>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Operating temperature range for the application</a:t>
            </a:r>
          </a:p>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Repair and maintenance options for staged repairs</a:t>
            </a:r>
          </a:p>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Chemical compatibility with specialist drilling fluids</a:t>
            </a:r>
          </a:p>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Compatibility and operation with third-party downhole tools</a:t>
            </a:r>
          </a:p>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Installation, handling and operating guidelines</a:t>
            </a:r>
          </a:p>
        </p:txBody>
      </p:sp>
      <p:sp>
        <p:nvSpPr>
          <p:cNvPr id="27" name="TextBox 26"/>
          <p:cNvSpPr txBox="1"/>
          <p:nvPr/>
        </p:nvSpPr>
        <p:spPr>
          <a:xfrm>
            <a:off x="3810000" y="69342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28" name="TextBox 27"/>
          <p:cNvSpPr txBox="1"/>
          <p:nvPr/>
        </p:nvSpPr>
        <p:spPr>
          <a:xfrm>
            <a:off x="3810000" y="7150100"/>
            <a:ext cx="3035300" cy="1016000"/>
          </a:xfrm>
          <a:prstGeom prst="rect">
            <a:avLst/>
          </a:prstGeom>
          <a:noFill/>
        </p:spPr>
        <p:txBody>
          <a:bodyPr wrap="square" lIns="0" rIns="0" tIns="0" bIns="0">
            <a:spAutoFit/>
          </a:bodyPr>
          <a:lstStyle/>
          <a:p>
            <a:pPr algn="just">
              <a:lnSpc>
                <a:spcPts val="1050"/>
              </a:lnSpc>
              <a:spcAft>
                <a:spcPts val="500"/>
              </a:spcAft>
            </a:pPr>
            <a:r>
              <a:rPr sz="800" b="0">
                <a:solidFill>
                  <a:srgbClr val="000000"/>
                </a:solidFill>
                <a:latin typeface="Ubuntu Mono"/>
                <a:ea typeface="Ubuntu Mono"/>
                <a:cs typeface="Ubuntu Mono"/>
                <a:sym typeface="Ubuntu Mono"/>
              </a:rPr>
              <a:t>Please specify: 1. tool size and top and bottom connections (standard API)  2. number of cycles required  3. material grade (high strength for deep gas, if needed)  4. operating temperature range  5. drilling fluid and chemical compatibility  6. third-party tools in the string.</a:t>
            </a:r>
          </a:p>
          <a:p>
            <a:pPr algn="just">
              <a:lnSpc>
                <a:spcPts val="1050"/>
              </a:lnSpc>
              <a:spcAft>
                <a:spcPts val="500"/>
              </a:spcAft>
            </a:pPr>
            <a:r>
              <a:rPr sz="800" b="0">
                <a:solidFill>
                  <a:srgbClr val="000000"/>
                </a:solidFill>
                <a:latin typeface="Ubuntu Mono"/>
                <a:ea typeface="Ubuntu Mono"/>
                <a:cs typeface="Ubuntu Mono"/>
                <a:sym typeface="Ubuntu Mono"/>
              </a:rPr>
              <a:t>A high-temperature / high-pressure version is available for demanding applications: ask for details.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DAGS_rYUj9A</dc:identifier>
  <dcterms:modified xsi:type="dcterms:W3CDTF">2011-08-01T06:04:30Z</dcterms:modified>
  <cp:revision>1</cp:revision>
  <dc:title>Catalogue outils</dc:title>
</cp:coreProperties>
</file>