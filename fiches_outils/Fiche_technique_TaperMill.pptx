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7556500" cy="10693400"/>
  <p:notesSz cx="6858000" cy="9144000"/>
  <p:embeddedFontLst>
    <p:embeddedFont>
      <p:font typeface="Ubuntu Mono" charset="1" panose="020B0509030602030204"/>
      <p:regular r:id="rId7"/>
    </p:embeddedFont>
    <p:embeddedFont>
      <p:font typeface="Ubuntu Mono Bold" charset="1" panose="020B0809030602030204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font" Target="fonts/font7.fntdata"/><Relationship Id="rId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26" t="-1069" r="-22226" b="-1069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98589" y="2749692"/>
            <a:ext cx="3376379" cy="837955"/>
            <a:chOff x="0" y="0"/>
            <a:chExt cx="1210018" cy="3003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0018" cy="300304"/>
            </a:xfrm>
            <a:custGeom>
              <a:avLst/>
              <a:gdLst/>
              <a:ahLst/>
              <a:cxnLst/>
              <a:rect r="r" b="b" t="t" l="l"/>
              <a:pathLst>
                <a:path h="300304" w="1210018">
                  <a:moveTo>
                    <a:pt x="0" y="0"/>
                  </a:moveTo>
                  <a:lnTo>
                    <a:pt x="1210018" y="0"/>
                  </a:lnTo>
                  <a:lnTo>
                    <a:pt x="1210018" y="300304"/>
                  </a:lnTo>
                  <a:lnTo>
                    <a:pt x="0" y="300304"/>
                  </a:lnTo>
                  <a:close/>
                </a:path>
              </a:pathLst>
            </a:custGeom>
            <a:solidFill>
              <a:srgbClr val="1CB2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1210018" cy="300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807385" y="2570502"/>
            <a:ext cx="6036246" cy="1196335"/>
            <a:chOff x="0" y="0"/>
            <a:chExt cx="3262422" cy="64658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62422" cy="646585"/>
            </a:xfrm>
            <a:custGeom>
              <a:avLst/>
              <a:gdLst/>
              <a:ahLst/>
              <a:cxnLst/>
              <a:rect r="r" b="b" t="t" l="l"/>
              <a:pathLst>
                <a:path h="646585" w="3262422">
                  <a:moveTo>
                    <a:pt x="3059222" y="0"/>
                  </a:moveTo>
                  <a:lnTo>
                    <a:pt x="0" y="0"/>
                  </a:lnTo>
                  <a:lnTo>
                    <a:pt x="203200" y="646585"/>
                  </a:lnTo>
                  <a:lnTo>
                    <a:pt x="3262422" y="646585"/>
                  </a:lnTo>
                  <a:lnTo>
                    <a:pt x="3059222" y="0"/>
                  </a:lnTo>
                  <a:close/>
                </a:path>
              </a:pathLst>
            </a:custGeom>
            <a:solidFill>
              <a:srgbClr val="0250A5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01600" y="0"/>
              <a:ext cx="3059222" cy="646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44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5595542" y="2339157"/>
            <a:ext cx="1876410" cy="342260"/>
          </a:xfrm>
          <a:custGeom>
            <a:avLst/>
            <a:gdLst/>
            <a:ahLst/>
            <a:cxnLst/>
            <a:rect r="r" b="b" t="t" l="l"/>
            <a:pathLst>
              <a:path h="342260" w="1876410">
                <a:moveTo>
                  <a:pt x="0" y="0"/>
                </a:moveTo>
                <a:lnTo>
                  <a:pt x="1876410" y="0"/>
                </a:lnTo>
                <a:lnTo>
                  <a:pt x="1876410" y="342260"/>
                </a:lnTo>
                <a:lnTo>
                  <a:pt x="0" y="34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10217" y="2667655"/>
            <a:ext cx="4433411" cy="554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4199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TAPER MILL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145720" y="3053100"/>
            <a:ext cx="2326232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0"/>
              </a:lnSpc>
            </a:pPr>
            <a:r>
              <a:rPr lang="en-US" sz="170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3314700"/>
            <a:ext cx="41910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spc="3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CP AND CT TAPER MILLS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1200" y="40132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35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GENERAL DESCRIPTION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200" y="4229100"/>
            <a:ext cx="61341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1040"/>
              </a:lnSpc>
              <a:spcAft>
                <a:spcPts val="0"/>
              </a:spcAft>
            </a:pPr>
            <a:r>
              <a:rPr sz="760" b="0" spc="2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TAPER MILLS REMOVE RESTRICTIONS AND MILL THROUGH PINCHED OR COLLAPSED CASING. THEY CARRY A TAPERED OR SHORT BLUNT NOSE THAT SERVES AS A GUIDE. TWO VERSIONS: THE CP, WITH A SHORT BLUNT NOSE AND A SHORT TAPER, PRODUCES MUCH LESS TORQUE AND CAN TAKE MORE WEIGHT, SUITING THE TOUGHEST JOBS WHERE A LONG NOSE MIGHT BREAK; THE CT, WITH SPIRAL BLADES AND A POINTED NOSE, IS DESIGNED TO MILL THROUGH RESTRICTIONS.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1200" y="518160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TECHNICAL CHARACTERISTICS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711200" y="5372100"/>
          <a:ext cx="6134095" cy="2463800"/>
        </p:xfrm>
        <a:graphic>
          <a:graphicData uri="http://schemas.openxmlformats.org/drawingml/2006/table">
            <a:tbl>
              <a:tblPr/>
              <a:tblGrid>
                <a:gridCol w="1003761"/>
                <a:gridCol w="975879"/>
                <a:gridCol w="585527"/>
                <a:gridCol w="585527"/>
                <a:gridCol w="724939"/>
                <a:gridCol w="920114"/>
                <a:gridCol w="669174"/>
                <a:gridCol w="669174"/>
              </a:tblGrid>
              <a:tr h="3302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Dressed 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Top pin conn. (API reg.)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Length CT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Length CP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length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neck O.D.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CT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1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Wt CP (lb)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3-1/4 - 3-7/8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4 - 4-3/8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4-1/2 - 5-3/8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5-1/2 - 5-5/8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5-3/4 - 6-3/8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6-1/2 - 7-3/8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7-1/2 - 7-7/8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13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8-3/8 - 9-1/2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220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9-3/8 - 9-7/8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4-1/2 or 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5-3/4 or 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345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280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10-3/8 - 11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11-1/2 - 12-1/4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455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390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14-3/4 - 15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17 - 17-1/2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595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530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"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20 - 26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6-5/8 or 7-5/8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66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18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7-3/4 or 9-1/2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1,250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ts val="880"/>
                        </a:lnSpc>
                      </a:pPr>
                      <a:r>
                        <a:rPr sz="72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1,125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711200" y="7886700"/>
            <a:ext cx="6134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>
                <a:solidFill>
                  <a:srgbClr val="444444"/>
                </a:solidFill>
                <a:latin typeface="Ubuntu Mono"/>
                <a:ea typeface="Ubuntu Mono"/>
                <a:cs typeface="Ubuntu Mono"/>
                <a:sym typeface="Ubuntu Mono"/>
              </a:rPr>
              <a:t>Dimensions in inches (overall lengths in inches), weights in lb (approximate). Ranges as dressed diameters of each size group.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1200" y="81915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DESIGN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200" y="8394700"/>
            <a:ext cx="2984500" cy="12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900"/>
              </a:lnSpc>
              <a:spcAft>
                <a:spcPts val="250"/>
              </a:spcAft>
            </a:pPr>
            <a:r>
              <a:rPr sz="57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2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CP: </a:t>
            </a:r>
            <a:r>
              <a:rPr sz="72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blunt nose, short taper; low torque, tolerates more weight.</a:t>
            </a:r>
          </a:p>
          <a:p>
            <a:pPr algn="l">
              <a:lnSpc>
                <a:spcPts val="900"/>
              </a:lnSpc>
              <a:spcAft>
                <a:spcPts val="250"/>
              </a:spcAft>
            </a:pPr>
            <a:r>
              <a:rPr sz="57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2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CT: </a:t>
            </a:r>
            <a:r>
              <a:rPr sz="72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spiral blades and pointed nose for restrictions.</a:t>
            </a:r>
          </a:p>
          <a:p>
            <a:pPr algn="l">
              <a:lnSpc>
                <a:spcPts val="900"/>
              </a:lnSpc>
              <a:spcAft>
                <a:spcPts val="250"/>
              </a:spcAft>
            </a:pPr>
            <a:r>
              <a:rPr sz="57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2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Typical jobs: </a:t>
            </a:r>
            <a:r>
              <a:rPr sz="72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reaming collapsed casing and liners, cleaning permanent whipstock windows, milling jagged or split shoes, enlarging restrictions through retainers and adapters.</a:t>
            </a:r>
          </a:p>
          <a:p>
            <a:pPr algn="l">
              <a:lnSpc>
                <a:spcPts val="900"/>
              </a:lnSpc>
              <a:spcAft>
                <a:spcPts val="250"/>
              </a:spcAft>
            </a:pPr>
            <a:r>
              <a:rPr sz="570" b="0">
                <a:solidFill>
                  <a:srgbClr val="01ADE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20" b="1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Stabilising: </a:t>
            </a:r>
            <a:r>
              <a:rPr sz="72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keep 1/2 to 1 in. under drift diameter.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60800" y="8191500"/>
            <a:ext cx="29845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PARAMETERS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3860800" y="8382000"/>
          <a:ext cx="2984500" cy="1111250"/>
        </p:xfrm>
        <a:graphic>
          <a:graphicData uri="http://schemas.openxmlformats.org/drawingml/2006/table">
            <a:tbl>
              <a:tblPr/>
              <a:tblGrid>
                <a:gridCol w="1270000"/>
                <a:gridCol w="1714500"/>
              </a:tblGrid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Weight range (general)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2,000 - 4,000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Start rotation above collapse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75 rpm (min. 75 rpm)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Weight increase in collapse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1,000 - 2,000 lb, slowly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Collapsed casing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about 50 rpm; 2,000 - 3,000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Whipstock window clean-up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40 rpm; under 1,000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Retainers / adapters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01AD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about 70 rpm; 2,000 - 6,000 lb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EEF6FD"/>
                    </a:solidFill>
                  </a:tcPr>
                </a:tc>
              </a:tr>
              <a:tr h="158750"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FEFE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After clearing restriction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ts val="819"/>
                        </a:lnSpc>
                      </a:pPr>
                      <a:r>
                        <a:rPr sz="660" b="0">
                          <a:solidFill>
                            <a:srgbClr val="000000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80 - 100 rpm</a:t>
                      </a:r>
                    </a:p>
                  </a:txBody>
                  <a:tcPr marL="27940" marR="27940" marT="15240" marB="15240" anchor="ctr">
                    <a:lnL w="4762" cap="flat" cmpd="sng" algn="ctr">
                      <a:solidFill>
                        <a:srgbClr val="000000"/>
                      </a:solidFill>
                      <a:prstDash val="soli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711200" y="959485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OPERATING NOTES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9785350"/>
            <a:ext cx="61341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just">
              <a:lnSpc>
                <a:spcPts val="860"/>
              </a:lnSpc>
              <a:spcAft>
                <a:spcPts val="0"/>
              </a:spcAft>
            </a:pPr>
            <a:r>
              <a:rPr sz="68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Run a mill about 1/4 in. larger than the minimum I.D. of the collapse and enlarge in stages; do not use a taper mill if the collapse has passed centre. A string taper mill can be used if there is a danger of sidetracking. Governing factor is torque: reduce speed and weight if it rises. For a window, run the same diameter as the largest window mill, rotate slowly its full length and repeat until torque is minimal; do not try to make hole.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200" y="10344150"/>
            <a:ext cx="6134100" cy="177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 spc="2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HOW TO ORDER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10534650"/>
            <a:ext cx="61341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80" b="0">
                <a:solidFill>
                  <a:srgbClr val="000000"/>
                </a:solidFill>
                <a:latin typeface="Ubuntu Mono"/>
                <a:ea typeface="Ubuntu Mono"/>
                <a:cs typeface="Ubuntu Mono"/>
                <a:sym typeface="Ubuntu Mono"/>
              </a:rPr>
              <a:t>Please specify: 1. type (CP or CT)  2. dressed diameter  3. top pin connection  4. fishing neck diameter, if different from standard.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DAGS_rYUj9A</dc:identifier>
  <dcterms:modified xsi:type="dcterms:W3CDTF">2011-08-01T06:04:30Z</dcterms:modified>
  <cp:revision>1</cp:revision>
  <dc:title>Catalogue outils</dc:title>
</cp:coreProperties>
</file>