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Lst>
  <p:sldSz cx="7556500" cy="10693400"/>
  <p:notesSz cx="6858000" cy="9144000"/>
  <p:embeddedFontLst>
    <p:embeddedFont>
      <p:font typeface="Ubuntu Mono" charset="1" panose="020B0509030602030204"/>
      <p:regular r:id="rId7"/>
    </p:embeddedFont>
    <p:embeddedFont>
      <p:font typeface="Ubuntu Mono Bold" charset="1" panose="020B0809030602030204"/>
      <p:regular r:id="rId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font" Target="fonts/font7.fntdata"/><Relationship Id="rId8" Type="http://schemas.openxmlformats.org/officeDocument/2006/relationships/font" Target="fonts/font8.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7560000" cy="10692000"/>
          </a:xfrm>
          <a:custGeom>
            <a:avLst/>
            <a:gdLst/>
            <a:ahLst/>
            <a:cxnLst/>
            <a:rect r="r" b="b" t="t" l="l"/>
            <a:pathLst>
              <a:path h="10692000" w="7560000">
                <a:moveTo>
                  <a:pt x="0" y="0"/>
                </a:moveTo>
                <a:lnTo>
                  <a:pt x="7560000" y="0"/>
                </a:lnTo>
                <a:lnTo>
                  <a:pt x="7560000" y="10692000"/>
                </a:lnTo>
                <a:lnTo>
                  <a:pt x="0" y="10692000"/>
                </a:lnTo>
                <a:lnTo>
                  <a:pt x="0" y="0"/>
                </a:lnTo>
                <a:close/>
              </a:path>
            </a:pathLst>
          </a:custGeom>
          <a:blipFill>
            <a:blip r:embed="rId2"/>
            <a:stretch>
              <a:fillRect l="-22226" t="-1069" r="-22226" b="-1069"/>
            </a:stretch>
          </a:blipFill>
        </p:spPr>
      </p:sp>
      <p:grpSp>
        <p:nvGrpSpPr>
          <p:cNvPr name="Group 3" id="3"/>
          <p:cNvGrpSpPr/>
          <p:nvPr/>
        </p:nvGrpSpPr>
        <p:grpSpPr>
          <a:xfrm rot="0">
            <a:off x="4198589" y="2749692"/>
            <a:ext cx="3376379" cy="837955"/>
            <a:chOff x="0" y="0"/>
            <a:chExt cx="1210018" cy="300304"/>
          </a:xfrm>
        </p:grpSpPr>
        <p:sp>
          <p:nvSpPr>
            <p:cNvPr name="Freeform 4" id="4"/>
            <p:cNvSpPr/>
            <p:nvPr/>
          </p:nvSpPr>
          <p:spPr>
            <a:xfrm flipH="false" flipV="false" rot="0">
              <a:off x="0" y="0"/>
              <a:ext cx="1210018" cy="300304"/>
            </a:xfrm>
            <a:custGeom>
              <a:avLst/>
              <a:gdLst/>
              <a:ahLst/>
              <a:cxnLst/>
              <a:rect r="r" b="b" t="t" l="l"/>
              <a:pathLst>
                <a:path h="300304" w="1210018">
                  <a:moveTo>
                    <a:pt x="0" y="0"/>
                  </a:moveTo>
                  <a:lnTo>
                    <a:pt x="1210018" y="0"/>
                  </a:lnTo>
                  <a:lnTo>
                    <a:pt x="1210018" y="300304"/>
                  </a:lnTo>
                  <a:lnTo>
                    <a:pt x="0" y="300304"/>
                  </a:lnTo>
                  <a:close/>
                </a:path>
              </a:pathLst>
            </a:custGeom>
            <a:solidFill>
              <a:srgbClr val="1CB2FE"/>
            </a:solidFill>
          </p:spPr>
        </p:sp>
        <p:sp>
          <p:nvSpPr>
            <p:cNvPr name="TextBox 5" id="5"/>
            <p:cNvSpPr txBox="true"/>
            <p:nvPr/>
          </p:nvSpPr>
          <p:spPr>
            <a:xfrm>
              <a:off x="0" y="0"/>
              <a:ext cx="1210018" cy="300304"/>
            </a:xfrm>
            <a:prstGeom prst="rect">
              <a:avLst/>
            </a:prstGeom>
          </p:spPr>
          <p:txBody>
            <a:bodyPr anchor="ctr" rtlCol="false" tIns="50800" lIns="50800" bIns="50800" rIns="50800"/>
            <a:lstStyle/>
            <a:p>
              <a:pPr algn="ctr">
                <a:lnSpc>
                  <a:spcPts val="1440"/>
                </a:lnSpc>
              </a:pPr>
            </a:p>
          </p:txBody>
        </p:sp>
      </p:grpSp>
      <p:grpSp>
        <p:nvGrpSpPr>
          <p:cNvPr name="Group 6" id="6"/>
          <p:cNvGrpSpPr/>
          <p:nvPr/>
        </p:nvGrpSpPr>
        <p:grpSpPr>
          <a:xfrm rot="0">
            <a:off x="-807385" y="2570502"/>
            <a:ext cx="6036246" cy="1196335"/>
            <a:chOff x="0" y="0"/>
            <a:chExt cx="3262422" cy="646585"/>
          </a:xfrm>
        </p:grpSpPr>
        <p:sp>
          <p:nvSpPr>
            <p:cNvPr name="Freeform 7" id="7"/>
            <p:cNvSpPr/>
            <p:nvPr/>
          </p:nvSpPr>
          <p:spPr>
            <a:xfrm flipH="false" flipV="false" rot="0">
              <a:off x="0" y="0"/>
              <a:ext cx="3262422" cy="646585"/>
            </a:xfrm>
            <a:custGeom>
              <a:avLst/>
              <a:gdLst/>
              <a:ahLst/>
              <a:cxnLst/>
              <a:rect r="r" b="b" t="t" l="l"/>
              <a:pathLst>
                <a:path h="646585" w="3262422">
                  <a:moveTo>
                    <a:pt x="3059222" y="0"/>
                  </a:moveTo>
                  <a:lnTo>
                    <a:pt x="0" y="0"/>
                  </a:lnTo>
                  <a:lnTo>
                    <a:pt x="203200" y="646585"/>
                  </a:lnTo>
                  <a:lnTo>
                    <a:pt x="3262422" y="646585"/>
                  </a:lnTo>
                  <a:lnTo>
                    <a:pt x="3059222" y="0"/>
                  </a:lnTo>
                  <a:close/>
                </a:path>
              </a:pathLst>
            </a:custGeom>
            <a:solidFill>
              <a:srgbClr val="0250A5"/>
            </a:solidFill>
          </p:spPr>
        </p:sp>
        <p:sp>
          <p:nvSpPr>
            <p:cNvPr name="TextBox 8" id="8"/>
            <p:cNvSpPr txBox="true"/>
            <p:nvPr/>
          </p:nvSpPr>
          <p:spPr>
            <a:xfrm>
              <a:off x="101600" y="0"/>
              <a:ext cx="3059222" cy="646585"/>
            </a:xfrm>
            <a:prstGeom prst="rect">
              <a:avLst/>
            </a:prstGeom>
          </p:spPr>
          <p:txBody>
            <a:bodyPr anchor="ctr" rtlCol="false" tIns="50800" lIns="50800" bIns="50800" rIns="50800"/>
            <a:lstStyle/>
            <a:p>
              <a:pPr algn="ctr">
                <a:lnSpc>
                  <a:spcPts val="1440"/>
                </a:lnSpc>
              </a:pPr>
            </a:p>
          </p:txBody>
        </p:sp>
      </p:grpSp>
      <p:sp>
        <p:nvSpPr>
          <p:cNvPr name="Freeform 10" id="10"/>
          <p:cNvSpPr/>
          <p:nvPr/>
        </p:nvSpPr>
        <p:spPr>
          <a:xfrm flipH="false" flipV="false" rot="0">
            <a:off x="5595542" y="2339157"/>
            <a:ext cx="1876410" cy="342260"/>
          </a:xfrm>
          <a:custGeom>
            <a:avLst/>
            <a:gdLst/>
            <a:ahLst/>
            <a:cxnLst/>
            <a:rect r="r" b="b" t="t" l="l"/>
            <a:pathLst>
              <a:path h="342260" w="1876410">
                <a:moveTo>
                  <a:pt x="0" y="0"/>
                </a:moveTo>
                <a:lnTo>
                  <a:pt x="1876410" y="0"/>
                </a:lnTo>
                <a:lnTo>
                  <a:pt x="1876410" y="342260"/>
                </a:lnTo>
                <a:lnTo>
                  <a:pt x="0" y="342260"/>
                </a:lnTo>
                <a:lnTo>
                  <a:pt x="0" y="0"/>
                </a:lnTo>
                <a:close/>
              </a:path>
            </a:pathLst>
          </a:custGeom>
          <a:blipFill>
            <a:blip r:embed="rId3"/>
            <a:stretch>
              <a:fillRect l="0" t="0" r="0" b="0"/>
            </a:stretch>
          </a:blipFill>
        </p:spPr>
      </p:sp>
      <p:sp>
        <p:nvSpPr>
          <p:cNvPr name="TextBox 16" id="16"/>
          <p:cNvSpPr txBox="true"/>
          <p:nvPr/>
        </p:nvSpPr>
        <p:spPr>
          <a:xfrm rot="0">
            <a:off x="710217" y="2667655"/>
            <a:ext cx="4433411" cy="554354"/>
          </a:xfrm>
          <a:prstGeom prst="rect">
            <a:avLst/>
          </a:prstGeom>
        </p:spPr>
        <p:txBody>
          <a:bodyPr anchor="t" rtlCol="false" tIns="0" lIns="0" bIns="0" rIns="0">
            <a:spAutoFit/>
          </a:bodyPr>
          <a:lstStyle/>
          <a:p>
            <a:pPr algn="l">
              <a:lnSpc>
                <a:spcPts val="4199"/>
              </a:lnSpc>
            </a:pPr>
            <a:r>
              <a:rPr lang="en-US" sz="4199">
                <a:solidFill>
                  <a:srgbClr val="FFFFFF"/>
                </a:solidFill>
                <a:latin typeface="Ubuntu Mono"/>
                <a:ea typeface="Ubuntu Mono"/>
                <a:cs typeface="Ubuntu Mono"/>
                <a:sym typeface="Ubuntu Mono"/>
              </a:rPr>
              <a:t>BOOST MWD</a:t>
            </a:r>
          </a:p>
        </p:txBody>
      </p:sp>
      <p:sp>
        <p:nvSpPr>
          <p:cNvPr name="TextBox 17" id="17"/>
          <p:cNvSpPr txBox="true"/>
          <p:nvPr/>
        </p:nvSpPr>
        <p:spPr>
          <a:xfrm rot="0">
            <a:off x="5145720" y="3053100"/>
            <a:ext cx="2326232" cy="240665"/>
          </a:xfrm>
          <a:prstGeom prst="rect">
            <a:avLst/>
          </a:prstGeom>
        </p:spPr>
        <p:txBody>
          <a:bodyPr anchor="t" rtlCol="false" tIns="0" lIns="0" bIns="0" rIns="0">
            <a:spAutoFit/>
          </a:bodyPr>
          <a:lstStyle/>
          <a:p>
            <a:pPr algn="ctr">
              <a:lnSpc>
                <a:spcPts val="1870"/>
              </a:lnSpc>
            </a:pPr>
            <a:r>
              <a:rPr lang="en-US" sz="1700">
                <a:solidFill>
                  <a:srgbClr val="FFFFFF"/>
                </a:solidFill>
                <a:latin typeface="Ubuntu Mono"/>
                <a:ea typeface="Ubuntu Mono"/>
                <a:cs typeface="Ubuntu Mono"/>
                <a:sym typeface="Ubuntu Mono"/>
              </a:rPr>
              <a:t>DRILLING</a:t>
            </a:r>
          </a:p>
        </p:txBody>
      </p:sp>
      <p:sp>
        <p:nvSpPr>
          <p:cNvPr id="18" name="TextBox 17"/>
          <p:cNvSpPr txBox="1"/>
          <p:nvPr/>
        </p:nvSpPr>
        <p:spPr>
          <a:xfrm>
            <a:off x="711200" y="3314700"/>
            <a:ext cx="4191000" cy="177800"/>
          </a:xfrm>
          <a:prstGeom prst="rect">
            <a:avLst/>
          </a:prstGeom>
          <a:noFill/>
        </p:spPr>
        <p:txBody>
          <a:bodyPr wrap="square" lIns="0" rIns="0" tIns="0" bIns="0">
            <a:spAutoFit/>
          </a:bodyPr>
          <a:lstStyle/>
          <a:p>
            <a:pPr algn="l">
              <a:spcAft>
                <a:spcPts val="0"/>
              </a:spcAft>
            </a:pPr>
            <a:r>
              <a:rPr sz="950" b="0" spc="30">
                <a:solidFill>
                  <a:srgbClr val="FFFFFF"/>
                </a:solidFill>
                <a:latin typeface="Ubuntu Mono"/>
                <a:ea typeface="Ubuntu Mono"/>
                <a:cs typeface="Ubuntu Mono"/>
                <a:sym typeface="Ubuntu Mono"/>
              </a:rPr>
              <a:t>MUD PULSE MWD SYSTEM</a:t>
            </a:r>
          </a:p>
        </p:txBody>
      </p:sp>
      <p:sp>
        <p:nvSpPr>
          <p:cNvPr id="19" name="TextBox 18"/>
          <p:cNvSpPr txBox="1"/>
          <p:nvPr/>
        </p:nvSpPr>
        <p:spPr>
          <a:xfrm>
            <a:off x="711200" y="4013200"/>
            <a:ext cx="6134100" cy="177800"/>
          </a:xfrm>
          <a:prstGeom prst="rect">
            <a:avLst/>
          </a:prstGeom>
          <a:noFill/>
        </p:spPr>
        <p:txBody>
          <a:bodyPr wrap="square" lIns="0" rIns="0" tIns="0" bIns="0">
            <a:spAutoFit/>
          </a:bodyPr>
          <a:lstStyle/>
          <a:p>
            <a:pPr algn="l">
              <a:spcAft>
                <a:spcPts val="0"/>
              </a:spcAft>
            </a:pPr>
            <a:r>
              <a:rPr sz="1050" b="1" spc="35">
                <a:solidFill>
                  <a:srgbClr val="194E9A"/>
                </a:solidFill>
                <a:latin typeface="Ubuntu Mono"/>
                <a:ea typeface="Ubuntu Mono"/>
                <a:cs typeface="Ubuntu Mono"/>
                <a:sym typeface="Ubuntu Mono"/>
              </a:rPr>
              <a:t>GENERAL DESCRIPTION</a:t>
            </a:r>
          </a:p>
        </p:txBody>
      </p:sp>
      <p:sp>
        <p:nvSpPr>
          <p:cNvPr id="20" name="TextBox 19"/>
          <p:cNvSpPr txBox="1"/>
          <p:nvPr/>
        </p:nvSpPr>
        <p:spPr>
          <a:xfrm>
            <a:off x="711200" y="4229100"/>
            <a:ext cx="6134100" cy="762000"/>
          </a:xfrm>
          <a:prstGeom prst="rect">
            <a:avLst/>
          </a:prstGeom>
          <a:noFill/>
        </p:spPr>
        <p:txBody>
          <a:bodyPr wrap="square" lIns="0" rIns="0" tIns="0" bIns="0">
            <a:spAutoFit/>
          </a:bodyPr>
          <a:lstStyle/>
          <a:p>
            <a:pPr algn="just">
              <a:lnSpc>
                <a:spcPts val="1040"/>
              </a:lnSpc>
              <a:spcAft>
                <a:spcPts val="0"/>
              </a:spcAft>
            </a:pPr>
            <a:r>
              <a:rPr sz="760" b="0" spc="20">
                <a:solidFill>
                  <a:srgbClr val="000000"/>
                </a:solidFill>
                <a:latin typeface="Ubuntu Mono"/>
                <a:ea typeface="Ubuntu Mono"/>
                <a:cs typeface="Ubuntu Mono"/>
                <a:sym typeface="Ubuntu Mono"/>
              </a:rPr>
              <a:t>BOOST IS A POSITIVE MUD PULSE MWD SYSTEM THAT SENDS SURVEYS, DIRECTIONAL TELEMETRY, GAMMA RAY AND OTHER SENSOR DATA TO SURFACE IN REAL TIME, USING PRESSURE SIGNALS IN THE WELLBORE. THE CORE SYSTEM INCLUDES PULSERS, ELECTRONICS, SENSORS AND BATTERIES, WITH MANY CONFIGURABLE OPTIONS. ADJUSTABLE MODULE PLACEMENT ALLOWS ALTERNATIVE SENSOR POSITIONS, AND DOWN-LINKING ALLOWS ADJUSTABLE LOGGING SEQUENCES.</a:t>
            </a:r>
          </a:p>
        </p:txBody>
      </p:sp>
      <p:sp>
        <p:nvSpPr>
          <p:cNvPr id="21" name="TextBox 20"/>
          <p:cNvSpPr txBox="1"/>
          <p:nvPr/>
        </p:nvSpPr>
        <p:spPr>
          <a:xfrm>
            <a:off x="711200" y="4978400"/>
            <a:ext cx="61341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TECHNICAL CHARACTERISTICS</a:t>
            </a:r>
          </a:p>
        </p:txBody>
      </p:sp>
      <p:graphicFrame>
        <p:nvGraphicFramePr>
          <p:cNvPr id="22" name="Table 21"/>
          <p:cNvGraphicFramePr>
            <a:graphicFrameLocks noGrp="1"/>
          </p:cNvGraphicFramePr>
          <p:nvPr/>
        </p:nvGraphicFramePr>
        <p:xfrm>
          <a:off x="711200" y="5168900"/>
          <a:ext cx="3009900" cy="2042160"/>
        </p:xfrm>
        <a:graphic>
          <a:graphicData uri="http://schemas.openxmlformats.org/drawingml/2006/table">
            <a:tbl>
              <a:tblPr/>
              <a:tblGrid>
                <a:gridCol w="1041400"/>
                <a:gridCol w="1968500"/>
              </a:tblGrid>
              <a:tr h="170180">
                <a:tc>
                  <a:txBody>
                    <a:bodyPr wrap="square"/>
                    <a:lstStyle/>
                    <a:p>
                      <a:pPr algn="l">
                        <a:lnSpc>
                          <a:spcPts val="860"/>
                        </a:lnSpc>
                      </a:pPr>
                      <a:r>
                        <a:rPr sz="700" b="0">
                          <a:solidFill>
                            <a:srgbClr val="FEFEFF"/>
                          </a:solidFill>
                          <a:latin typeface="Ubuntu Mono"/>
                          <a:ea typeface="Ubuntu Mono"/>
                          <a:cs typeface="Ubuntu Mono"/>
                          <a:sym typeface="Ubuntu Mono"/>
                        </a:rPr>
                        <a:t>Outside diameter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47.625 mm (1.875")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1 battery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5.28 m (17.3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Length, 2 batteries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6.94 m (22.8 ft)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Pressure rating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137,895 kPa (20,000 psi)</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Operating 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-20 to +185 °C (-4 to 347 °F)</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High-temp. version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200 °C available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Rotary speed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60 rpm recommended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Wireline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Retrievable, re-insertable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Min. I.D. to retrieve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57 mm (2.25")</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Bend radius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20° / 10 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Collar sizes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89 - 203 mm (3.5" - 8")</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rate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0.28 - 4.45 m³/min (75 - 1,200 gpm)</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graphicFrame>
        <p:nvGraphicFramePr>
          <p:cNvPr id="23" name="Table 22"/>
          <p:cNvGraphicFramePr>
            <a:graphicFrameLocks noGrp="1"/>
          </p:cNvGraphicFramePr>
          <p:nvPr/>
        </p:nvGraphicFramePr>
        <p:xfrm>
          <a:off x="3835400" y="5168900"/>
          <a:ext cx="3009900" cy="2042160"/>
        </p:xfrm>
        <a:graphic>
          <a:graphicData uri="http://schemas.openxmlformats.org/drawingml/2006/table">
            <a:tbl>
              <a:tblPr/>
              <a:tblGrid>
                <a:gridCol w="1117600"/>
                <a:gridCol w="1892300"/>
              </a:tblGrid>
              <a:tr h="170180">
                <a:tc>
                  <a:txBody>
                    <a:bodyPr wrap="square"/>
                    <a:lstStyle/>
                    <a:p>
                      <a:pPr algn="l">
                        <a:lnSpc>
                          <a:spcPts val="860"/>
                        </a:lnSpc>
                      </a:pPr>
                      <a:r>
                        <a:rPr sz="700" b="0">
                          <a:solidFill>
                            <a:srgbClr val="FEFEFF"/>
                          </a:solidFill>
                          <a:latin typeface="Ubuntu Mono"/>
                          <a:ea typeface="Ubuntu Mono"/>
                          <a:cs typeface="Ubuntu Mono"/>
                          <a:sym typeface="Ubuntu Mono"/>
                        </a:rPr>
                        <a:t>Data transmission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Positive mud pulse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Power supply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Lithium 28 VDC / 3 A</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Battery capacity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400+ h (2 battery modules)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Flow switch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Vibration, in pulser driver electronics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Shock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500 g, 0.5 ms, half sine, all axes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Vibration limit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5 - 30 Hz @ 1" d.a.; 30 - 500 Hz, 20 g</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LCM tolerance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40 - 50 ppb, any size, premixed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Pulse width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0.250 - 2.00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Transmission time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10 - 28 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Internal memory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24 MB</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Programmable sequences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l">
                        <a:lnSpc>
                          <a:spcPts val="860"/>
                        </a:lnSpc>
                      </a:pPr>
                      <a:r>
                        <a:rPr sz="700" b="0">
                          <a:solidFill>
                            <a:srgbClr val="000000"/>
                          </a:solidFill>
                          <a:latin typeface="Ubuntu Mono"/>
                          <a:ea typeface="Ubuntu Mono"/>
                          <a:cs typeface="Ubuntu Mono"/>
                          <a:sym typeface="Ubuntu Mono"/>
                        </a:rPr>
                        <a:t>4</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70180">
                <a:tc>
                  <a:txBody>
                    <a:bodyPr wrap="square"/>
                    <a:lstStyle/>
                    <a:p>
                      <a:pPr algn="l">
                        <a:lnSpc>
                          <a:spcPts val="860"/>
                        </a:lnSpc>
                      </a:pPr>
                      <a:r>
                        <a:rPr sz="700" b="0">
                          <a:solidFill>
                            <a:srgbClr val="FEFEFF"/>
                          </a:solidFill>
                          <a:latin typeface="Ubuntu Mono"/>
                          <a:ea typeface="Ubuntu Mono"/>
                          <a:cs typeface="Ubuntu Mono"/>
                          <a:sym typeface="Ubuntu Mono"/>
                        </a:rPr>
                        <a:t>Top or bottom mounted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l">
                        <a:lnSpc>
                          <a:spcPts val="860"/>
                        </a:lnSpc>
                      </a:pPr>
                      <a:r>
                        <a:rPr sz="700" b="0">
                          <a:solidFill>
                            <a:srgbClr val="000000"/>
                          </a:solidFill>
                          <a:latin typeface="Ubuntu Mono"/>
                          <a:ea typeface="Ubuntu Mono"/>
                          <a:cs typeface="Ubuntu Mono"/>
                          <a:sym typeface="Ubuntu Mono"/>
                        </a:rPr>
                        <a:t>Both positive pulse versions</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4" name="TextBox 23"/>
          <p:cNvSpPr txBox="1"/>
          <p:nvPr/>
        </p:nvSpPr>
        <p:spPr>
          <a:xfrm>
            <a:off x="711200" y="7287259"/>
            <a:ext cx="6134100" cy="114300"/>
          </a:xfrm>
          <a:prstGeom prst="rect">
            <a:avLst/>
          </a:prstGeom>
          <a:noFill/>
        </p:spPr>
        <p:txBody>
          <a:bodyPr wrap="square" lIns="0" rIns="0" tIns="0" bIns="0">
            <a:spAutoFit/>
          </a:bodyPr>
          <a:lstStyle/>
          <a:p>
            <a:pPr algn="l">
              <a:spcAft>
                <a:spcPts val="0"/>
              </a:spcAft>
            </a:pPr>
            <a:r>
              <a:rPr sz="620" b="0">
                <a:solidFill>
                  <a:srgbClr val="444444"/>
                </a:solidFill>
                <a:latin typeface="Ubuntu Mono"/>
                <a:ea typeface="Ubuntu Mono"/>
                <a:cs typeface="Ubuntu Mono"/>
                <a:sym typeface="Ubuntu Mono"/>
              </a:rPr>
              <a:t>d.a.: double amplitude.  Standard tools are rated to 185 °C; high-temperature options are available.</a:t>
            </a:r>
          </a:p>
        </p:txBody>
      </p:sp>
      <p:sp>
        <p:nvSpPr>
          <p:cNvPr id="25" name="TextBox 24"/>
          <p:cNvSpPr txBox="1"/>
          <p:nvPr/>
        </p:nvSpPr>
        <p:spPr>
          <a:xfrm>
            <a:off x="7112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SENSOR SPECIFICATIONS</a:t>
            </a:r>
          </a:p>
        </p:txBody>
      </p:sp>
      <p:graphicFrame>
        <p:nvGraphicFramePr>
          <p:cNvPr id="26" name="Table 25"/>
          <p:cNvGraphicFramePr>
            <a:graphicFrameLocks noGrp="1"/>
          </p:cNvGraphicFramePr>
          <p:nvPr/>
        </p:nvGraphicFramePr>
        <p:xfrm>
          <a:off x="711200" y="7655559"/>
          <a:ext cx="3009900" cy="1168400"/>
        </p:xfrm>
        <a:graphic>
          <a:graphicData uri="http://schemas.openxmlformats.org/drawingml/2006/table">
            <a:tbl>
              <a:tblPr/>
              <a:tblGrid>
                <a:gridCol w="787400"/>
                <a:gridCol w="787400"/>
                <a:gridCol w="723900"/>
                <a:gridCol w="711200"/>
              </a:tblGrid>
              <a:tr h="177800">
                <a:tc>
                  <a:txBody>
                    <a:bodyPr wrap="square"/>
                    <a:lstStyle/>
                    <a:p>
                      <a:pPr algn="ctr">
                        <a:lnSpc>
                          <a:spcPts val="860"/>
                        </a:lnSpc>
                      </a:pPr>
                      <a:r>
                        <a:rPr sz="700" b="1">
                          <a:solidFill>
                            <a:srgbClr val="FEFEFF"/>
                          </a:solidFill>
                          <a:latin typeface="Ubuntu Mono"/>
                          <a:ea typeface="Ubuntu Mono"/>
                          <a:cs typeface="Ubuntu Mono"/>
                          <a:sym typeface="Ubuntu Mono"/>
                        </a:rPr>
                        <a:t>Parameter</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Range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Accuracy</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1">
                          <a:solidFill>
                            <a:srgbClr val="FEFEFF"/>
                          </a:solidFill>
                          <a:latin typeface="Ubuntu Mono"/>
                          <a:ea typeface="Ubuntu Mono"/>
                          <a:cs typeface="Ubuntu Mono"/>
                          <a:sym typeface="Ubuntu Mono"/>
                        </a:rPr>
                        <a:t>Spread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Inclination</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0 - 180°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0.10°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Azimuth</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0.50°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Tool face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0 - 360°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Dip angle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 90°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0.2°</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0.40°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Magnetic field</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194E9A"/>
                    </a:solidFill>
                  </a:tcPr>
                </a:tc>
                <a:tc>
                  <a:txBody>
                    <a:bodyPr wrap="square"/>
                    <a:lstStyle/>
                    <a:p>
                      <a:pPr algn="ctr">
                        <a:lnSpc>
                          <a:spcPts val="860"/>
                        </a:lnSpc>
                      </a:pPr>
                      <a:r>
                        <a:rPr sz="700" b="0">
                          <a:solidFill>
                            <a:srgbClr val="000000"/>
                          </a:solidFill>
                          <a:latin typeface="Ubuntu Mono"/>
                          <a:ea typeface="Ubuntu Mono"/>
                          <a:cs typeface="Ubuntu Mono"/>
                          <a:sym typeface="Ubuntu Mono"/>
                        </a:rPr>
                        <a:t>0 - 100,000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 125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c>
                  <a:txBody>
                    <a:bodyPr wrap="square"/>
                    <a:lstStyle/>
                    <a:p>
                      <a:pPr algn="ctr">
                        <a:lnSpc>
                          <a:spcPts val="860"/>
                        </a:lnSpc>
                      </a:pPr>
                      <a:r>
                        <a:rPr sz="700" b="0">
                          <a:solidFill>
                            <a:srgbClr val="000000"/>
                          </a:solidFill>
                          <a:latin typeface="Ubuntu Mono"/>
                          <a:ea typeface="Ubuntu Mono"/>
                          <a:cs typeface="Ubuntu Mono"/>
                          <a:sym typeface="Ubuntu Mono"/>
                        </a:rPr>
                        <a:t>250 nT</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FFFFFF"/>
                    </a:solidFill>
                  </a:tcPr>
                </a:tc>
              </a:tr>
              <a:tr h="165100">
                <a:tc>
                  <a:txBody>
                    <a:bodyPr wrap="square"/>
                    <a:lstStyle/>
                    <a:p>
                      <a:pPr algn="ctr">
                        <a:lnSpc>
                          <a:spcPts val="860"/>
                        </a:lnSpc>
                      </a:pPr>
                      <a:r>
                        <a:rPr sz="700" b="0">
                          <a:solidFill>
                            <a:srgbClr val="FEFEFF"/>
                          </a:solidFill>
                          <a:latin typeface="Ubuntu Mono"/>
                          <a:ea typeface="Ubuntu Mono"/>
                          <a:cs typeface="Ubuntu Mono"/>
                          <a:sym typeface="Ubuntu Mono"/>
                        </a:rPr>
                        <a:t>Temperature</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01ADEE"/>
                    </a:solidFill>
                  </a:tcPr>
                </a:tc>
                <a:tc>
                  <a:txBody>
                    <a:bodyPr wrap="square"/>
                    <a:lstStyle/>
                    <a:p>
                      <a:pPr algn="ctr">
                        <a:lnSpc>
                          <a:spcPts val="860"/>
                        </a:lnSpc>
                      </a:pPr>
                      <a:r>
                        <a:rPr sz="700" b="0">
                          <a:solidFill>
                            <a:srgbClr val="000000"/>
                          </a:solidFill>
                          <a:latin typeface="Ubuntu Mono"/>
                          <a:ea typeface="Ubuntu Mono"/>
                          <a:cs typeface="Ubuntu Mono"/>
                          <a:sym typeface="Ubuntu Mono"/>
                        </a:rPr>
                        <a:t>-35 - 200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 0.5 °C</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c>
                  <a:txBody>
                    <a:bodyPr wrap="square"/>
                    <a:lstStyle/>
                    <a:p>
                      <a:pPr algn="ctr">
                        <a:lnSpc>
                          <a:spcPts val="860"/>
                        </a:lnSpc>
                      </a:pPr>
                      <a:r>
                        <a:rPr sz="700" b="0">
                          <a:solidFill>
                            <a:srgbClr val="000000"/>
                          </a:solidFill>
                          <a:latin typeface="Ubuntu Mono"/>
                          <a:ea typeface="Ubuntu Mono"/>
                          <a:cs typeface="Ubuntu Mono"/>
                          <a:sym typeface="Ubuntu Mono"/>
                        </a:rPr>
                        <a:t>1.00</a:t>
                      </a:r>
                    </a:p>
                  </a:txBody>
                  <a:tcPr marL="27940" marR="27940" marT="15240" marB="15240" anchor="ctr">
                    <a:lnL w="4762" cap="flat" cmpd="sng" algn="ctr">
                      <a:solidFill>
                        <a:srgbClr val="000000"/>
                      </a:solidFill>
                      <a:prstDash val="solid"/>
                    </a:lnL>
                    <a:lnR w="4762" cap="flat" cmpd="sng" algn="ctr">
                      <a:solidFill>
                        <a:srgbClr val="000000"/>
                      </a:solidFill>
                      <a:prstDash val="solid"/>
                    </a:lnR>
                    <a:lnT w="4762" cap="flat" cmpd="sng" algn="ctr">
                      <a:solidFill>
                        <a:srgbClr val="000000"/>
                      </a:solidFill>
                      <a:prstDash val="solid"/>
                    </a:lnT>
                    <a:lnB w="4762" cap="flat" cmpd="sng" algn="ctr">
                      <a:solidFill>
                        <a:srgbClr val="000000"/>
                      </a:solidFill>
                      <a:prstDash val="solid"/>
                    </a:lnB>
                    <a:solidFill>
                      <a:srgbClr val="EEF6FD"/>
                    </a:solidFill>
                  </a:tcPr>
                </a:tc>
              </a:tr>
            </a:tbl>
          </a:graphicData>
        </a:graphic>
      </p:graphicFrame>
      <p:sp>
        <p:nvSpPr>
          <p:cNvPr id="27" name="TextBox 26"/>
          <p:cNvSpPr txBox="1"/>
          <p:nvPr/>
        </p:nvSpPr>
        <p:spPr>
          <a:xfrm>
            <a:off x="711200" y="89509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TELEMETRY PARAMETERS</a:t>
            </a:r>
          </a:p>
        </p:txBody>
      </p:sp>
      <p:sp>
        <p:nvSpPr>
          <p:cNvPr id="28" name="TextBox 27"/>
          <p:cNvSpPr txBox="1"/>
          <p:nvPr/>
        </p:nvSpPr>
        <p:spPr>
          <a:xfrm>
            <a:off x="711200" y="9141460"/>
            <a:ext cx="3009900" cy="762000"/>
          </a:xfrm>
          <a:prstGeom prst="rect">
            <a:avLst/>
          </a:prstGeom>
          <a:noFill/>
        </p:spPr>
        <p:txBody>
          <a:bodyPr wrap="square" lIns="0" rIns="0" tIns="0" bIns="0">
            <a:spAutoFit/>
          </a:bodyPr>
          <a:lstStyle/>
          <a:p>
            <a:pPr algn="just">
              <a:lnSpc>
                <a:spcPts val="940"/>
              </a:lnSpc>
              <a:spcAft>
                <a:spcPts val="0"/>
              </a:spcAft>
            </a:pPr>
            <a:r>
              <a:rPr sz="720" b="0">
                <a:solidFill>
                  <a:srgbClr val="000000"/>
                </a:solidFill>
                <a:latin typeface="Ubuntu Mono"/>
                <a:ea typeface="Ubuntu Mono"/>
                <a:cs typeface="Ubuntu Mono"/>
                <a:sym typeface="Ubuntu Mono"/>
              </a:rPr>
              <a:t>Inclination, azimuth, magnetic, dip angle and gravity qualifiers, raw X, Y, Z survey, toolface, continuous inclination and azimuth, battery status, shock, vibration, RPM, stick-slip, temperature, generic variables, annular pressure, orbital gamma (360° available).</a:t>
            </a:r>
          </a:p>
        </p:txBody>
      </p:sp>
      <p:sp>
        <p:nvSpPr>
          <p:cNvPr id="29" name="TextBox 28"/>
          <p:cNvSpPr txBox="1"/>
          <p:nvPr/>
        </p:nvSpPr>
        <p:spPr>
          <a:xfrm>
            <a:off x="3835400" y="7465059"/>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DESIGN FEATURES</a:t>
            </a:r>
          </a:p>
        </p:txBody>
      </p:sp>
      <p:sp>
        <p:nvSpPr>
          <p:cNvPr id="30" name="TextBox 29"/>
          <p:cNvSpPr txBox="1"/>
          <p:nvPr/>
        </p:nvSpPr>
        <p:spPr>
          <a:xfrm>
            <a:off x="3835400" y="7668259"/>
            <a:ext cx="3009900" cy="127000"/>
          </a:xfrm>
          <a:prstGeom prst="rect">
            <a:avLst/>
          </a:prstGeom>
          <a:noFill/>
        </p:spPr>
        <p:txBody>
          <a:bodyPr wrap="square" lIns="0" rIns="0" tIns="0" bIns="0">
            <a:spAutoFit/>
          </a:bodyPr>
          <a:lstStyle/>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Field-proven design: </a:t>
            </a:r>
            <a:r>
              <a:rPr sz="710" b="0">
                <a:solidFill>
                  <a:srgbClr val="000000"/>
                </a:solidFill>
                <a:latin typeface="Ubuntu Mono"/>
                <a:ea typeface="Ubuntu Mono"/>
                <a:cs typeface="Ubuntu Mono"/>
                <a:sym typeface="Ubuntu Mono"/>
              </a:rPr>
              <a:t>rugged and dependable, for aggressive drilling conditions.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Anti-plugging pulser: </a:t>
            </a:r>
            <a:r>
              <a:rPr sz="710" b="0">
                <a:solidFill>
                  <a:srgbClr val="000000"/>
                </a:solidFill>
                <a:latin typeface="Ubuntu Mono"/>
                <a:ea typeface="Ubuntu Mono"/>
                <a:cs typeface="Ubuntu Mono"/>
                <a:sym typeface="Ubuntu Mono"/>
              </a:rPr>
              <a:t>motor driven, performs well in LCM and high-solids mud.</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Simple operation: </a:t>
            </a:r>
            <a:r>
              <a:rPr sz="710" b="0">
                <a:solidFill>
                  <a:srgbClr val="000000"/>
                </a:solidFill>
                <a:latin typeface="Ubuntu Mono"/>
                <a:ea typeface="Ubuntu Mono"/>
                <a:cs typeface="Ubuntu Mono"/>
                <a:sym typeface="Ubuntu Mono"/>
              </a:rPr>
              <a:t>wide range of flow rates and rotary speeds.</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Ratcheting military connector: </a:t>
            </a:r>
            <a:r>
              <a:rPr sz="710" b="0">
                <a:solidFill>
                  <a:srgbClr val="000000"/>
                </a:solidFill>
                <a:latin typeface="Ubuntu Mono"/>
                <a:ea typeface="Ubuntu Mono"/>
                <a:cs typeface="Ubuntu Mono"/>
                <a:sym typeface="Ubuntu Mono"/>
              </a:rPr>
              <a:t>robust barrel-to-barrel inter-module link, easy to assemble and service.</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Stable in the hole: </a:t>
            </a:r>
            <a:r>
              <a:rPr sz="710" b="0">
                <a:solidFill>
                  <a:srgbClr val="000000"/>
                </a:solidFill>
                <a:latin typeface="Ubuntu Mono"/>
                <a:ea typeface="Ubuntu Mono"/>
                <a:cs typeface="Ubuntu Mono"/>
                <a:sym typeface="Ubuntu Mono"/>
              </a:rPr>
              <a:t>precision-trimmed centralizers; shock mitigation absorbs vibration, reduces wear and improves MTBF.</a:t>
            </a:r>
          </a:p>
          <a:p>
            <a:pPr algn="l">
              <a:lnSpc>
                <a:spcPts val="900"/>
              </a:lnSpc>
              <a:spcAft>
                <a:spcPts val="240"/>
              </a:spcAft>
            </a:pPr>
            <a:r>
              <a:rPr sz="560" b="0">
                <a:solidFill>
                  <a:srgbClr val="01ADEE"/>
                </a:solidFill>
                <a:latin typeface="Ubuntu Mono"/>
                <a:ea typeface="Ubuntu Mono"/>
                <a:cs typeface="Ubuntu Mono"/>
                <a:sym typeface="Ubuntu Mono"/>
              </a:rPr>
              <a:t>■ </a:t>
            </a:r>
            <a:r>
              <a:rPr sz="710" b="1">
                <a:solidFill>
                  <a:srgbClr val="000000"/>
                </a:solidFill>
                <a:latin typeface="Ubuntu Mono"/>
                <a:ea typeface="Ubuntu Mono"/>
                <a:cs typeface="Ubuntu Mono"/>
                <a:sym typeface="Ubuntu Mono"/>
              </a:rPr>
              <a:t>Custom configuration: </a:t>
            </a:r>
            <a:r>
              <a:rPr sz="710" b="0">
                <a:solidFill>
                  <a:srgbClr val="000000"/>
                </a:solidFill>
                <a:latin typeface="Ubuntu Mono"/>
                <a:ea typeface="Ubuntu Mono"/>
                <a:cs typeface="Ubuntu Mono"/>
                <a:sym typeface="Ubuntu Mono"/>
              </a:rPr>
              <a:t>adjustable module placement, down-linking, configurable options.</a:t>
            </a:r>
          </a:p>
        </p:txBody>
      </p:sp>
      <p:sp>
        <p:nvSpPr>
          <p:cNvPr id="31" name="TextBox 30"/>
          <p:cNvSpPr txBox="1"/>
          <p:nvPr/>
        </p:nvSpPr>
        <p:spPr>
          <a:xfrm>
            <a:off x="3835400" y="9166860"/>
            <a:ext cx="3009900" cy="177800"/>
          </a:xfrm>
          <a:prstGeom prst="rect">
            <a:avLst/>
          </a:prstGeom>
          <a:noFill/>
        </p:spPr>
        <p:txBody>
          <a:bodyPr wrap="square" lIns="0" rIns="0" tIns="0" bIns="0">
            <a:spAutoFit/>
          </a:bodyPr>
          <a:lstStyle/>
          <a:p>
            <a:pPr algn="ctr">
              <a:spcAft>
                <a:spcPts val="0"/>
              </a:spcAft>
            </a:pPr>
            <a:r>
              <a:rPr sz="1050" b="1" spc="20">
                <a:solidFill>
                  <a:srgbClr val="194E9A"/>
                </a:solidFill>
                <a:latin typeface="Ubuntu Mono"/>
                <a:ea typeface="Ubuntu Mono"/>
                <a:cs typeface="Ubuntu Mono"/>
                <a:sym typeface="Ubuntu Mono"/>
              </a:rPr>
              <a:t>HOW TO ORDER</a:t>
            </a:r>
          </a:p>
        </p:txBody>
      </p:sp>
      <p:sp>
        <p:nvSpPr>
          <p:cNvPr id="32" name="TextBox 31"/>
          <p:cNvSpPr txBox="1"/>
          <p:nvPr/>
        </p:nvSpPr>
        <p:spPr>
          <a:xfrm>
            <a:off x="3835400" y="9357360"/>
            <a:ext cx="3009900" cy="635000"/>
          </a:xfrm>
          <a:prstGeom prst="rect">
            <a:avLst/>
          </a:prstGeom>
          <a:noFill/>
        </p:spPr>
        <p:txBody>
          <a:bodyPr wrap="square" lIns="0" rIns="0" tIns="0" bIns="0">
            <a:spAutoFit/>
          </a:bodyPr>
          <a:lstStyle/>
          <a:p>
            <a:pPr algn="just">
              <a:lnSpc>
                <a:spcPts val="840"/>
              </a:lnSpc>
              <a:spcAft>
                <a:spcPts val="0"/>
              </a:spcAft>
            </a:pPr>
            <a:r>
              <a:rPr sz="660" b="0">
                <a:solidFill>
                  <a:srgbClr val="000000"/>
                </a:solidFill>
                <a:latin typeface="Ubuntu Mono"/>
                <a:ea typeface="Ubuntu Mono"/>
                <a:cs typeface="Ubuntu Mono"/>
                <a:sym typeface="Ubuntu Mono"/>
              </a:rPr>
              <a:t>Please specify: 1. collar size  2. top or bottom mounted version  3. 1 or 2 battery modules  4. temperature rating (185 °C standard, 200 °C option)  5. sensor options (e.g. orbital gamma) and logging sequences.</a:t>
            </a:r>
          </a:p>
        </p:txBody>
      </p:sp>
      <p:pic>
        <p:nvPicPr>
          <p:cNvPr id="33" name="Picture 32" descr="mwd_tool_blue.png"/>
          <p:cNvPicPr>
            <a:picLocks noChangeAspect="1"/>
          </p:cNvPicPr>
          <p:nvPr/>
        </p:nvPicPr>
        <p:blipFill>
          <a:blip r:embed="rId7"/>
          <a:stretch>
            <a:fillRect/>
          </a:stretch>
        </p:blipFill>
        <p:spPr>
          <a:xfrm>
            <a:off x="4597400" y="9725660"/>
            <a:ext cx="1333500" cy="76819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DAGS_rYUj9A</dc:identifier>
  <dcterms:modified xsi:type="dcterms:W3CDTF">2011-08-01T06:04:30Z</dcterms:modified>
  <cp:revision>1</cp:revision>
  <dc:title>Catalogue outils</dc:title>
</cp:coreProperties>
</file>