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BOOST MWD</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DRILLING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MUD PULSE MWD SYSTEM</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BOOST IS A POSITIVE MUD PULSE MWD SYSTEM THAT SENDS SURVEYS, DIRECTIONAL TELEMETRY, GAMMA RAY AND OTHER SENSOR DATA TO SURFACE IN REAL TIME, USING PRESSURE SIGNALS IN THE WELLBORE. THE CORE SYSTEM INCLUDES PULSERS, ELECTRONICS, SENSORS AND BATTERIES, WITH MANY CONFIGURABLE OPTIONS. ADJUSTABLE MODULE PLACEMENT ALLOWS ALTERNATIVE SENSOR POSITIONS, AND DOWN-LINKING ALLOWS ADJUSTABLE LOGGING SEQUENCES.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68900"/>
          <a:ext cx="3009900" cy="1889760"/>
        </p:xfrm>
        <a:graphic>
          <a:graphicData uri="http://schemas.openxmlformats.org/drawingml/2006/table">
            <a:tbl>
              <a:tblPr/>
              <a:tblGrid>
                <a:gridCol w="1041400"/>
                <a:gridCol w="1968500"/>
              </a:tblGrid>
              <a:tr h="157480">
                <a:tc>
                  <a:txBody>
                    <a:bodyPr wrap="square"/>
                    <a:lstStyle/>
                    <a:p>
                      <a:pPr algn="l">
                        <a:lnSpc>
                          <a:spcPts val="800"/>
                        </a:lnSpc>
                      </a:pPr>
                      <a:r>
                        <a:rPr sz="640" b="0">
                          <a:solidFill>
                            <a:srgbClr val="FEFEFF"/>
                          </a:solidFill>
                          <a:latin typeface="Ubuntu Mono"/>
                          <a:ea typeface="Ubuntu Mono"/>
                          <a:cs typeface="Ubuntu Mono"/>
                          <a:sym typeface="Ubuntu Mono"/>
                        </a:rPr>
                        <a:t>Outside diameter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47.625 mm (1.875")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Length, 1 battery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5.28 m (17.3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Length, 2 batteries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6.94 m (22.8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Pressure rating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137,895 kPa (20,000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Operating temperature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-20 to +185 °C (-4 to 347 °F)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High-temp. version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200 °C available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60 rpm recommended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Wireline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Retrievable, re-insertable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Min. I.D. to retrieve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57 mm (2.25")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Bend radius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20° / 10 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Collar sizes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89 - 203 mm (3.5" - 8")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0.28 - 4.45 m³/min (75 - 1,200 gpm)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graphicFrame>
        <p:nvGraphicFramePr>
          <p:cNvPr id="23" name="Table 22"/>
          <p:cNvGraphicFramePr>
            <a:graphicFrameLocks noGrp="1"/>
          </p:cNvGraphicFramePr>
          <p:nvPr/>
        </p:nvGraphicFramePr>
        <p:xfrm>
          <a:off x="3835400" y="5168900"/>
          <a:ext cx="3009900" cy="1889760"/>
        </p:xfrm>
        <a:graphic>
          <a:graphicData uri="http://schemas.openxmlformats.org/drawingml/2006/table">
            <a:tbl>
              <a:tblPr/>
              <a:tblGrid>
                <a:gridCol w="1117600"/>
                <a:gridCol w="1892300"/>
              </a:tblGrid>
              <a:tr h="157480">
                <a:tc>
                  <a:txBody>
                    <a:bodyPr wrap="square"/>
                    <a:lstStyle/>
                    <a:p>
                      <a:pPr algn="l">
                        <a:lnSpc>
                          <a:spcPts val="800"/>
                        </a:lnSpc>
                      </a:pPr>
                      <a:r>
                        <a:rPr sz="640" b="0">
                          <a:solidFill>
                            <a:srgbClr val="FEFEFF"/>
                          </a:solidFill>
                          <a:latin typeface="Ubuntu Mono"/>
                          <a:ea typeface="Ubuntu Mono"/>
                          <a:cs typeface="Ubuntu Mono"/>
                          <a:sym typeface="Ubuntu Mono"/>
                        </a:rPr>
                        <a:t>Data transmission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Positive mud pulse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Power supply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Lithium 28 VDC / 3 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Battery capacity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400+ h (2 battery modules)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Flow switch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Vibration, in pulser driver electronics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Shock limit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500 g, 0.5 ms, half sine, all axes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Vibration limit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5 - 30 Hz @ 1" d.a.; 30 - 500 Hz, 20 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LCM tolerance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40 - 50 ppb, any size, premixed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Pulse width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0.250 - 2.00 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Transmission time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10 - 28 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Internal memory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24 MB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Programmable sequences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00"/>
                        </a:lnSpc>
                      </a:pPr>
                      <a:r>
                        <a:rPr sz="640" b="0">
                          <a:solidFill>
                            <a:srgbClr val="FEFEFF"/>
                          </a:solidFill>
                          <a:latin typeface="Ubuntu Mono"/>
                          <a:ea typeface="Ubuntu Mono"/>
                          <a:cs typeface="Ubuntu Mono"/>
                          <a:sym typeface="Ubuntu Mono"/>
                        </a:rPr>
                        <a:t>Top or bottom mounted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Both positive pulse versions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7134859"/>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d.a.: double amplitude.  Standard tools are rated to 185 °C; high-temperature options are available.</a:t>
            </a:r>
          </a:p>
        </p:txBody>
      </p:sp>
      <p:sp>
        <p:nvSpPr>
          <p:cNvPr id="25" name="TextBox 24"/>
          <p:cNvSpPr txBox="1"/>
          <p:nvPr/>
        </p:nvSpPr>
        <p:spPr>
          <a:xfrm>
            <a:off x="711200" y="7312659"/>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SENSOR SPECIFICATIONS</a:t>
            </a:r>
          </a:p>
        </p:txBody>
      </p:sp>
      <p:graphicFrame>
        <p:nvGraphicFramePr>
          <p:cNvPr id="26" name="Table 25"/>
          <p:cNvGraphicFramePr>
            <a:graphicFrameLocks noGrp="1"/>
          </p:cNvGraphicFramePr>
          <p:nvPr/>
        </p:nvGraphicFramePr>
        <p:xfrm>
          <a:off x="711200" y="7503159"/>
          <a:ext cx="3009900" cy="990600"/>
        </p:xfrm>
        <a:graphic>
          <a:graphicData uri="http://schemas.openxmlformats.org/drawingml/2006/table">
            <a:tbl>
              <a:tblPr/>
              <a:tblGrid>
                <a:gridCol w="787400"/>
                <a:gridCol w="787400"/>
                <a:gridCol w="723900"/>
                <a:gridCol w="711200"/>
              </a:tblGrid>
              <a:tr h="152400">
                <a:tc>
                  <a:txBody>
                    <a:bodyPr wrap="square"/>
                    <a:lstStyle/>
                    <a:p>
                      <a:pPr algn="ctr">
                        <a:lnSpc>
                          <a:spcPts val="800"/>
                        </a:lnSpc>
                      </a:pPr>
                      <a:r>
                        <a:rPr sz="640" b="1">
                          <a:solidFill>
                            <a:srgbClr val="FEFEFF"/>
                          </a:solidFill>
                          <a:latin typeface="Ubuntu Mono"/>
                          <a:ea typeface="Ubuntu Mono"/>
                          <a:cs typeface="Ubuntu Mono"/>
                          <a:sym typeface="Ubuntu Mono"/>
                        </a:rPr>
                        <a:t>Parameter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Range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Accuracy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Spread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Inclination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0 - 180°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0.10°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Azimuth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0 - 360°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 0.50°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0.50°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Tool face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0 - 360°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0.40°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Dip angle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0 - ± 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 0.2°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0.40°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Magnetic field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0 - 100,000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125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250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Temperature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-35 - 200 °C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 0.5 °C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7" name="TextBox 26"/>
          <p:cNvSpPr txBox="1"/>
          <p:nvPr/>
        </p:nvSpPr>
        <p:spPr>
          <a:xfrm>
            <a:off x="711200" y="8595360"/>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TELEMETRY PARAMETERS</a:t>
            </a:r>
          </a:p>
        </p:txBody>
      </p:sp>
      <p:sp>
        <p:nvSpPr>
          <p:cNvPr id="28" name="TextBox 27"/>
          <p:cNvSpPr txBox="1"/>
          <p:nvPr/>
        </p:nvSpPr>
        <p:spPr>
          <a:xfrm>
            <a:off x="711200" y="8785860"/>
            <a:ext cx="3009900" cy="762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Inclination, azimuth, magnetic, dip angle and gravity qualifiers, raw X, Y, Z survey, toolface, continuous inclination and azimuth, battery status, shock, vibration, RPM, stick-slip, temperature, generic variables, annular pressure, orbital gamma (360° available).</a:t>
            </a:r>
          </a:p>
        </p:txBody>
      </p:sp>
      <p:sp>
        <p:nvSpPr>
          <p:cNvPr id="29" name="TextBox 28"/>
          <p:cNvSpPr txBox="1"/>
          <p:nvPr/>
        </p:nvSpPr>
        <p:spPr>
          <a:xfrm>
            <a:off x="3835400" y="7312659"/>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30" name="TextBox 29"/>
          <p:cNvSpPr txBox="1"/>
          <p:nvPr/>
        </p:nvSpPr>
        <p:spPr>
          <a:xfrm>
            <a:off x="3835400" y="7515859"/>
            <a:ext cx="3009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Field-proven design: </a:t>
            </a:r>
            <a:r>
              <a:rPr sz="700" b="0">
                <a:solidFill>
                  <a:srgbClr val="000000"/>
                </a:solidFill>
                <a:latin typeface="Ubuntu Mono"/>
                <a:ea typeface="Ubuntu Mono"/>
                <a:cs typeface="Ubuntu Mono"/>
                <a:sym typeface="Ubuntu Mono"/>
              </a:rPr>
              <a:t>rugged and dependable, for aggressive drilling conditions.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Anti-plugging pulser: </a:t>
            </a:r>
            <a:r>
              <a:rPr sz="700" b="0">
                <a:solidFill>
                  <a:srgbClr val="000000"/>
                </a:solidFill>
                <a:latin typeface="Ubuntu Mono"/>
                <a:ea typeface="Ubuntu Mono"/>
                <a:cs typeface="Ubuntu Mono"/>
                <a:sym typeface="Ubuntu Mono"/>
              </a:rPr>
              <a:t>motor driven, performs well in LCM and high-solids mud.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Simple operation: </a:t>
            </a:r>
            <a:r>
              <a:rPr sz="700" b="0">
                <a:solidFill>
                  <a:srgbClr val="000000"/>
                </a:solidFill>
                <a:latin typeface="Ubuntu Mono"/>
                <a:ea typeface="Ubuntu Mono"/>
                <a:cs typeface="Ubuntu Mono"/>
                <a:sym typeface="Ubuntu Mono"/>
              </a:rPr>
              <a:t>wide range of flow rates and rotary speeds.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Ratcheting military connector: </a:t>
            </a:r>
            <a:r>
              <a:rPr sz="700" b="0">
                <a:solidFill>
                  <a:srgbClr val="000000"/>
                </a:solidFill>
                <a:latin typeface="Ubuntu Mono"/>
                <a:ea typeface="Ubuntu Mono"/>
                <a:cs typeface="Ubuntu Mono"/>
                <a:sym typeface="Ubuntu Mono"/>
              </a:rPr>
              <a:t>robust barrel-to-barrel inter-module link, easy to assemble and service.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Stable in the hole: </a:t>
            </a:r>
            <a:r>
              <a:rPr sz="700" b="0">
                <a:solidFill>
                  <a:srgbClr val="000000"/>
                </a:solidFill>
                <a:latin typeface="Ubuntu Mono"/>
                <a:ea typeface="Ubuntu Mono"/>
                <a:cs typeface="Ubuntu Mono"/>
                <a:sym typeface="Ubuntu Mono"/>
              </a:rPr>
              <a:t>precision-trimmed centralizers; shock mitigation absorbs vibration, reduces wear and improves MTBF.</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Custom configuration: </a:t>
            </a:r>
            <a:r>
              <a:rPr sz="700" b="0">
                <a:solidFill>
                  <a:srgbClr val="000000"/>
                </a:solidFill>
                <a:latin typeface="Ubuntu Mono"/>
                <a:ea typeface="Ubuntu Mono"/>
                <a:cs typeface="Ubuntu Mono"/>
                <a:sym typeface="Ubuntu Mono"/>
              </a:rPr>
              <a:t>adjustable module placement, down-linking, configurable options.</a:t>
            </a:r>
          </a:p>
        </p:txBody>
      </p:sp>
      <p:pic>
        <p:nvPicPr>
          <p:cNvPr id="31" name="Picture 30" descr="mwd_tool_blue.png"/>
          <p:cNvPicPr>
            <a:picLocks noChangeAspect="1"/>
          </p:cNvPicPr>
          <p:nvPr/>
        </p:nvPicPr>
        <p:blipFill>
          <a:blip r:embed="rId7"/>
          <a:stretch>
            <a:fillRect/>
          </a:stretch>
        </p:blipFill>
        <p:spPr>
          <a:xfrm>
            <a:off x="965200" y="9420860"/>
            <a:ext cx="2159000" cy="1243747"/>
          </a:xfrm>
          <a:prstGeom prst="rect">
            <a:avLst/>
          </a:prstGeom>
        </p:spPr>
      </p:pic>
      <p:sp>
        <p:nvSpPr>
          <p:cNvPr id="32" name="TextBox 31"/>
          <p:cNvSpPr txBox="1"/>
          <p:nvPr/>
        </p:nvSpPr>
        <p:spPr>
          <a:xfrm>
            <a:off x="3835400" y="9045956"/>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3" name="TextBox 32"/>
          <p:cNvSpPr txBox="1"/>
          <p:nvPr/>
        </p:nvSpPr>
        <p:spPr>
          <a:xfrm>
            <a:off x="3835400" y="9236456"/>
            <a:ext cx="3009900" cy="635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collar size  2. top or bottom mounted version  3. 1 or 2 battery modules  4. temperature rating (185 °C standard, 200 °C option)  5. sensor options (e.g. orbital gamma) and logging sequences.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