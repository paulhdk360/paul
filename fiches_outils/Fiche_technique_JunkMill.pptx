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JUNK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CONVENTIONAL JUNK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THE WORKHORSE OF DOWNHOLE MILLING, USED TO MILL ALMOST ANYTHING IN THE HOLE INCLUDING CEMENT AND RUBBER PRODUCTS. IT IS THE ONLY TOOL ABLE TO MILL DRILL PIPE CEMENTED INSIDE AND OUT. IT IS ALSO USED TO MILL CAST-IRON BRIDGE PLUGS, AND TO MILL CASING THAT HAS BEEN MILLED TO THE POINT OF ROTATING, RUN ON A JOINT OF SLIGHTLY BENT DRILL PIPE. THREE DRESSING OPTIONS ARE LISTED: CONVENTIONAL, CONEBUSTER AND SUPER.</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84800"/>
          <a:ext cx="6134100" cy="1885950"/>
        </p:xfrm>
        <a:graphic>
          <a:graphicData uri="http://schemas.openxmlformats.org/drawingml/2006/table">
            <a:tbl>
              <a:tblPr/>
              <a:tblGrid>
                <a:gridCol w="933450"/>
                <a:gridCol w="880110"/>
                <a:gridCol w="1226820"/>
                <a:gridCol w="800100"/>
                <a:gridCol w="826770"/>
                <a:gridCol w="880110"/>
                <a:gridCol w="586740"/>
              </a:tblGrid>
              <a:tr h="457200">
                <a:tc>
                  <a:txBody>
                    <a:bodyPr wrap="square"/>
                    <a:lstStyle/>
                    <a:p>
                      <a:pPr algn="ctr">
                        <a:lnSpc>
                          <a:spcPts val="880"/>
                        </a:lnSpc>
                      </a:pPr>
                      <a:r>
                        <a:rPr sz="720" b="1">
                          <a:solidFill>
                            <a:srgbClr val="FEFEFF"/>
                          </a:solidFill>
                          <a:latin typeface="Ubuntu Mono"/>
                          <a:ea typeface="Ubuntu Mono"/>
                          <a:cs typeface="Ubuntu Mono"/>
                          <a:sym typeface="Ubuntu Mono"/>
                        </a:rPr>
                        <a:t>Cutting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conventional and Conebuster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Super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dia.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3-1/2 - 4-1/2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5-1/2 - 5-5/8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5-3/4 - 7-1/2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7-1/2 - 9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9-1/2 - 12-1/4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13 - 15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17 - 17-1/2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18-1/2 - 26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30885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a:t>
            </a:r>
          </a:p>
        </p:txBody>
      </p:sp>
      <p:sp>
        <p:nvSpPr>
          <p:cNvPr id="24" name="TextBox 23"/>
          <p:cNvSpPr txBox="1"/>
          <p:nvPr/>
        </p:nvSpPr>
        <p:spPr>
          <a:xfrm>
            <a:off x="711200" y="756285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76605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Fishing neck: </a:t>
            </a:r>
            <a:r>
              <a:rPr sz="720" b="0">
                <a:solidFill>
                  <a:srgbClr val="000000"/>
                </a:solidFill>
                <a:latin typeface="Ubuntu Mono"/>
                <a:ea typeface="Ubuntu Mono"/>
                <a:cs typeface="Ubuntu Mono"/>
                <a:sym typeface="Ubuntu Mono"/>
              </a:rPr>
              <a:t>allows retrieval of the mill if it is left in the hole.</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Dressing options: </a:t>
            </a:r>
            <a:r>
              <a:rPr sz="720" b="0">
                <a:solidFill>
                  <a:srgbClr val="000000"/>
                </a:solidFill>
                <a:latin typeface="Ubuntu Mono"/>
                <a:ea typeface="Ubuntu Mono"/>
                <a:cs typeface="Ubuntu Mono"/>
                <a:sym typeface="Ubuntu Mono"/>
              </a:rPr>
              <a:t>conventional, Conebuster or Super.</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Inside casing: </a:t>
            </a:r>
            <a:r>
              <a:rPr sz="720" b="0">
                <a:solidFill>
                  <a:srgbClr val="000000"/>
                </a:solidFill>
                <a:latin typeface="Ubuntu Mono"/>
                <a:ea typeface="Ubuntu Mono"/>
                <a:cs typeface="Ubuntu Mono"/>
                <a:sym typeface="Ubuntu Mono"/>
              </a:rPr>
              <a:t>mill head O.D. equal to the casing drift; wear pads of the same O.D. protect the casing; stabilizer of the same O.D. run directly above.</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Bridge plugs: </a:t>
            </a:r>
            <a:r>
              <a:rPr sz="720" b="0">
                <a:solidFill>
                  <a:srgbClr val="000000"/>
                </a:solidFill>
                <a:latin typeface="Ubuntu Mono"/>
                <a:ea typeface="Ubuntu Mono"/>
                <a:cs typeface="Ubuntu Mono"/>
                <a:sym typeface="Ubuntu Mono"/>
              </a:rPr>
              <a:t>mill O.D. about 1/8 in. under the plug size, to avoid skinning the casing.</a:t>
            </a:r>
          </a:p>
        </p:txBody>
      </p:sp>
      <p:sp>
        <p:nvSpPr>
          <p:cNvPr id="26" name="TextBox 25"/>
          <p:cNvSpPr txBox="1"/>
          <p:nvPr/>
        </p:nvSpPr>
        <p:spPr>
          <a:xfrm>
            <a:off x="711200" y="898525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7" name="TextBox 26"/>
          <p:cNvSpPr txBox="1"/>
          <p:nvPr/>
        </p:nvSpPr>
        <p:spPr>
          <a:xfrm>
            <a:off x="711200" y="918845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Open hole: </a:t>
            </a:r>
            <a:r>
              <a:rPr sz="720" b="0">
                <a:solidFill>
                  <a:srgbClr val="000000"/>
                </a:solidFill>
                <a:latin typeface="Ubuntu Mono"/>
                <a:ea typeface="Ubuntu Mono"/>
                <a:cs typeface="Ubuntu Mono"/>
                <a:sym typeface="Ubuntu Mono"/>
              </a:rPr>
              <a:t>mill O.D. about 1/8 in. under hole diameter; at least 10,000 lb of drill collars; junk sub directly above the mill.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Spudding: </a:t>
            </a:r>
            <a:r>
              <a:rPr sz="720" b="0">
                <a:solidFill>
                  <a:srgbClr val="000000"/>
                </a:solidFill>
                <a:latin typeface="Ubuntu Mono"/>
                <a:ea typeface="Ubuntu Mono"/>
                <a:cs typeface="Ubuntu Mono"/>
                <a:sym typeface="Ubuntu Mono"/>
              </a:rPr>
              <a:t>frequent spudding pounds loose junk onto bottom for effective milling; a rise in torque shows junk alongside the mill.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Starting: </a:t>
            </a:r>
            <a:r>
              <a:rPr sz="720" b="0">
                <a:solidFill>
                  <a:srgbClr val="000000"/>
                </a:solidFill>
                <a:latin typeface="Ubuntu Mono"/>
                <a:ea typeface="Ubuntu Mono"/>
                <a:cs typeface="Ubuntu Mono"/>
                <a:sym typeface="Ubuntu Mono"/>
              </a:rPr>
              <a:t>set down on the junk while turning, then bring weight up; never apply weight before rotating.</a:t>
            </a:r>
          </a:p>
        </p:txBody>
      </p:sp>
      <p:sp>
        <p:nvSpPr>
          <p:cNvPr id="28" name="TextBox 27"/>
          <p:cNvSpPr txBox="1"/>
          <p:nvPr/>
        </p:nvSpPr>
        <p:spPr>
          <a:xfrm>
            <a:off x="3810000" y="756285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9" name="Table 28"/>
          <p:cNvGraphicFramePr>
            <a:graphicFrameLocks noGrp="1"/>
          </p:cNvGraphicFramePr>
          <p:nvPr/>
        </p:nvGraphicFramePr>
        <p:xfrm>
          <a:off x="3810000" y="7753350"/>
          <a:ext cx="3035300" cy="1651000"/>
        </p:xfrm>
        <a:graphic>
          <a:graphicData uri="http://schemas.openxmlformats.org/drawingml/2006/table">
            <a:tbl>
              <a:tblPr/>
              <a:tblGrid>
                <a:gridCol w="1206500"/>
                <a:gridCol w="1828800"/>
              </a:tblGrid>
              <a:tr h="165100">
                <a:tc>
                  <a:txBody>
                    <a:bodyPr wrap="square"/>
                    <a:lstStyle/>
                    <a:p>
                      <a:pPr algn="l">
                        <a:lnSpc>
                          <a:spcPts val="790"/>
                        </a:lnSpc>
                      </a:pPr>
                      <a:r>
                        <a:rPr sz="63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4,000 - 10,000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Start-up 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60 - 80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Rotary speed once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80 - 100 rpm, normal pump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Weight, second pass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4,000 - 6,000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Surf. speed / (O.D. x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Loose junk cycle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Mill 1-2 ft, lift 15-20 ft, settle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Stationary junk cycle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Each 3-5 ft, lift 10-15 ft, ream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Rough running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Cut speed/weight, raise slowly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Stabilizer spacing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60 - 90 ft above mill (vertical)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0" name="TextBox 29"/>
          <p:cNvSpPr txBox="1"/>
          <p:nvPr/>
        </p:nvSpPr>
        <p:spPr>
          <a:xfrm>
            <a:off x="3810000" y="981075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10001250"/>
            <a:ext cx="30353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mill diameter  2. size and weight of the casing to run through, if available  3. top connection  4. dressing (conventional, Conebuster or Super).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