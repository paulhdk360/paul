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SUPER JUNK MILL</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
            </a:r>
          </a:p>
        </p:txBody>
      </p:sp>
      <p:pic>
        <p:nvPicPr>
          <p:cNvPr id="19" name="Picture 18" descr="sjm_a_rgba.png"/>
          <p:cNvPicPr>
            <a:picLocks noChangeAspect="1"/>
          </p:cNvPicPr>
          <p:nvPr/>
        </p:nvPicPr>
        <p:blipFill>
          <a:blip r:embed="rId7"/>
          <a:stretch>
            <a:fillRect/>
          </a:stretch>
        </p:blipFill>
        <p:spPr>
          <a:xfrm>
            <a:off x="3327400" y="177800"/>
            <a:ext cx="2032000" cy="411737"/>
          </a:xfrm>
          <a:prstGeom prst="rect">
            <a:avLst/>
          </a:prstGeom>
        </p:spPr>
      </p:pic>
      <p:pic>
        <p:nvPicPr>
          <p:cNvPr id="20" name="Picture 19" descr="sjm_b_rgba.png"/>
          <p:cNvPicPr>
            <a:picLocks noChangeAspect="1"/>
          </p:cNvPicPr>
          <p:nvPr/>
        </p:nvPicPr>
        <p:blipFill>
          <a:blip r:embed="rId8"/>
          <a:stretch>
            <a:fillRect/>
          </a:stretch>
        </p:blipFill>
        <p:spPr>
          <a:xfrm>
            <a:off x="1524000" y="1168400"/>
            <a:ext cx="2286000" cy="811306"/>
          </a:xfrm>
          <a:prstGeom prst="rect">
            <a:avLst/>
          </a:prstGeom>
        </p:spPr>
      </p:pic>
      <p:sp>
        <p:nvSpPr>
          <p:cNvPr id="21" name="TextBox 20"/>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2" name="TextBox 21"/>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THE JUNK MILL IS A HIGH-PERFORMANCE MILLING TOOL DESIGNED TO GRIND AND REMOVE METAL DEBRIS AND OBSTRUCTIONS IN THE WELLBORE, SUCH AS STUCK TOOLS, CASING FRAGMENTS OR DRILL BITS. IT IS USED IN TOUGH ENVIRONMENTS WHERE STANDARD MILLS MIGHT NOT SUFFICE, OFFERING SUPERIOR CUTTING POWER AND DURABILITY.</a:t>
            </a:r>
          </a:p>
        </p:txBody>
      </p:sp>
      <p:sp>
        <p:nvSpPr>
          <p:cNvPr id="23" name="TextBox 22"/>
          <p:cNvSpPr txBox="1"/>
          <p:nvPr/>
        </p:nvSpPr>
        <p:spPr>
          <a:xfrm>
            <a:off x="711200" y="4978400"/>
            <a:ext cx="3302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4" name="Table 23"/>
          <p:cNvGraphicFramePr>
            <a:graphicFrameLocks noGrp="1"/>
          </p:cNvGraphicFramePr>
          <p:nvPr/>
        </p:nvGraphicFramePr>
        <p:xfrm>
          <a:off x="711200" y="5207000"/>
          <a:ext cx="3302000" cy="1701800"/>
        </p:xfrm>
        <a:graphic>
          <a:graphicData uri="http://schemas.openxmlformats.org/drawingml/2006/table">
            <a:tbl>
              <a:tblPr/>
              <a:tblGrid>
                <a:gridCol w="1524000"/>
                <a:gridCol w="1778000"/>
              </a:tblGrid>
              <a:tr h="228600">
                <a:tc>
                  <a:txBody>
                    <a:bodyPr wrap="square"/>
                    <a:lstStyle/>
                    <a:p>
                      <a:pPr algn="ctr">
                        <a:lnSpc>
                          <a:spcPts val="919"/>
                        </a:lnSpc>
                      </a:pPr>
                      <a:r>
                        <a:rPr sz="760" b="1">
                          <a:solidFill>
                            <a:srgbClr val="FEFEFF"/>
                          </a:solidFill>
                          <a:latin typeface="Ubuntu Mono"/>
                          <a:ea typeface="Ubuntu Mono"/>
                          <a:cs typeface="Ubuntu Mono"/>
                          <a:sym typeface="Ubuntu Mono"/>
                        </a:rPr>
                        <a:t>Dressed OD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Top pin connection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3-1/2 - 4-1/4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2-3/8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4-1/2 - 5-1/2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2-7/8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5-1/2 - 7-1/2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3-1/2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7-1/2 - 9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4-1/2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9-1/2 - 12-1/4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6-5/8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13 - 15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6-5/8,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17 - 17-1/2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6-5/8,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18-1/2 - 26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6-5/8,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5" name="TextBox 24"/>
          <p:cNvSpPr txBox="1"/>
          <p:nvPr/>
        </p:nvSpPr>
        <p:spPr>
          <a:xfrm>
            <a:off x="4064000" y="4978400"/>
            <a:ext cx="2832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DRESSING OPTIONS</a:t>
            </a:r>
          </a:p>
        </p:txBody>
      </p:sp>
      <p:pic>
        <p:nvPicPr>
          <p:cNvPr id="26" name="Picture 25" descr="thumb0.png"/>
          <p:cNvPicPr>
            <a:picLocks noChangeAspect="1"/>
          </p:cNvPicPr>
          <p:nvPr/>
        </p:nvPicPr>
        <p:blipFill>
          <a:blip r:embed="rId9"/>
          <a:stretch>
            <a:fillRect/>
          </a:stretch>
        </p:blipFill>
        <p:spPr>
          <a:xfrm>
            <a:off x="4191000" y="5257800"/>
            <a:ext cx="533400" cy="533400"/>
          </a:xfrm>
          <a:prstGeom prst="rect">
            <a:avLst/>
          </a:prstGeom>
        </p:spPr>
      </p:pic>
      <p:sp>
        <p:nvSpPr>
          <p:cNvPr id="27" name="TextBox 26"/>
          <p:cNvSpPr txBox="1"/>
          <p:nvPr/>
        </p:nvSpPr>
        <p:spPr>
          <a:xfrm>
            <a:off x="4876800" y="5422900"/>
            <a:ext cx="1905000" cy="203200"/>
          </a:xfrm>
          <a:prstGeom prst="rect">
            <a:avLst/>
          </a:prstGeom>
          <a:noFill/>
        </p:spPr>
        <p:txBody>
          <a:bodyPr wrap="square" lIns="0" rIns="0" tIns="0" bIns="0">
            <a:spAutoFit/>
          </a:bodyPr>
          <a:lstStyle/>
          <a:p>
            <a:pPr algn="l">
              <a:spcAft>
                <a:spcPts val="0"/>
              </a:spcAft>
            </a:pPr>
            <a:r>
              <a:rPr sz="950" b="1">
                <a:solidFill>
                  <a:srgbClr val="194E9A"/>
                </a:solidFill>
                <a:latin typeface="Ubuntu Mono"/>
                <a:ea typeface="Ubuntu Mono"/>
                <a:cs typeface="Ubuntu Mono"/>
                <a:sym typeface="Ubuntu Mono"/>
              </a:rPr>
              <a:t>Conventional</a:t>
            </a:r>
          </a:p>
        </p:txBody>
      </p:sp>
      <p:pic>
        <p:nvPicPr>
          <p:cNvPr id="28" name="Picture 27" descr="thumb1.png"/>
          <p:cNvPicPr>
            <a:picLocks noChangeAspect="1"/>
          </p:cNvPicPr>
          <p:nvPr/>
        </p:nvPicPr>
        <p:blipFill>
          <a:blip r:embed="rId10"/>
          <a:stretch>
            <a:fillRect/>
          </a:stretch>
        </p:blipFill>
        <p:spPr>
          <a:xfrm>
            <a:off x="4191000" y="5892800"/>
            <a:ext cx="533400" cy="533400"/>
          </a:xfrm>
          <a:prstGeom prst="rect">
            <a:avLst/>
          </a:prstGeom>
        </p:spPr>
      </p:pic>
      <p:sp>
        <p:nvSpPr>
          <p:cNvPr id="29" name="TextBox 28"/>
          <p:cNvSpPr txBox="1"/>
          <p:nvPr/>
        </p:nvSpPr>
        <p:spPr>
          <a:xfrm>
            <a:off x="4876800" y="6057900"/>
            <a:ext cx="1905000" cy="203200"/>
          </a:xfrm>
          <a:prstGeom prst="rect">
            <a:avLst/>
          </a:prstGeom>
          <a:noFill/>
        </p:spPr>
        <p:txBody>
          <a:bodyPr wrap="square" lIns="0" rIns="0" tIns="0" bIns="0">
            <a:spAutoFit/>
          </a:bodyPr>
          <a:lstStyle/>
          <a:p>
            <a:pPr algn="l">
              <a:spcAft>
                <a:spcPts val="0"/>
              </a:spcAft>
            </a:pPr>
            <a:r>
              <a:rPr sz="950" b="1">
                <a:solidFill>
                  <a:srgbClr val="194E9A"/>
                </a:solidFill>
                <a:latin typeface="Ubuntu Mono"/>
                <a:ea typeface="Ubuntu Mono"/>
                <a:cs typeface="Ubuntu Mono"/>
                <a:sym typeface="Ubuntu Mono"/>
              </a:rPr>
              <a:t>Conebuster</a:t>
            </a:r>
          </a:p>
        </p:txBody>
      </p:sp>
      <p:pic>
        <p:nvPicPr>
          <p:cNvPr id="30" name="Picture 29" descr="thumb2.png"/>
          <p:cNvPicPr>
            <a:picLocks noChangeAspect="1"/>
          </p:cNvPicPr>
          <p:nvPr/>
        </p:nvPicPr>
        <p:blipFill>
          <a:blip r:embed="rId11"/>
          <a:stretch>
            <a:fillRect/>
          </a:stretch>
        </p:blipFill>
        <p:spPr>
          <a:xfrm>
            <a:off x="4191000" y="6527800"/>
            <a:ext cx="533400" cy="533400"/>
          </a:xfrm>
          <a:prstGeom prst="rect">
            <a:avLst/>
          </a:prstGeom>
        </p:spPr>
      </p:pic>
      <p:sp>
        <p:nvSpPr>
          <p:cNvPr id="31" name="TextBox 30"/>
          <p:cNvSpPr txBox="1"/>
          <p:nvPr/>
        </p:nvSpPr>
        <p:spPr>
          <a:xfrm>
            <a:off x="4876800" y="6692900"/>
            <a:ext cx="1905000" cy="203200"/>
          </a:xfrm>
          <a:prstGeom prst="rect">
            <a:avLst/>
          </a:prstGeom>
          <a:noFill/>
        </p:spPr>
        <p:txBody>
          <a:bodyPr wrap="square" lIns="0" rIns="0" tIns="0" bIns="0">
            <a:spAutoFit/>
          </a:bodyPr>
          <a:lstStyle/>
          <a:p>
            <a:pPr algn="l">
              <a:spcAft>
                <a:spcPts val="0"/>
              </a:spcAft>
            </a:pPr>
            <a:r>
              <a:rPr sz="950" b="1">
                <a:solidFill>
                  <a:srgbClr val="194E9A"/>
                </a:solidFill>
                <a:latin typeface="Ubuntu Mono"/>
                <a:ea typeface="Ubuntu Mono"/>
                <a:cs typeface="Ubuntu Mono"/>
                <a:sym typeface="Ubuntu Mono"/>
              </a:rPr>
              <a:t>Super</a:t>
            </a:r>
          </a:p>
        </p:txBody>
      </p:sp>
      <p:sp>
        <p:nvSpPr>
          <p:cNvPr id="32" name="TextBox 31"/>
          <p:cNvSpPr txBox="1"/>
          <p:nvPr/>
        </p:nvSpPr>
        <p:spPr>
          <a:xfrm>
            <a:off x="711200" y="73660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USAGE RECOMMENDATIONS</a:t>
            </a:r>
          </a:p>
        </p:txBody>
      </p:sp>
      <p:sp>
        <p:nvSpPr>
          <p:cNvPr id="33" name="TextBox 32"/>
          <p:cNvSpPr txBox="1"/>
          <p:nvPr/>
        </p:nvSpPr>
        <p:spPr>
          <a:xfrm>
            <a:off x="711200" y="7569200"/>
            <a:ext cx="3048000" cy="127000"/>
          </a:xfrm>
          <a:prstGeom prst="rect">
            <a:avLst/>
          </a:prstGeom>
          <a:noFill/>
        </p:spPr>
        <p:txBody>
          <a:bodyPr wrap="square" lIns="0" rIns="0" tIns="0" bIns="0">
            <a:spAutoFit/>
          </a:bodyPr>
          <a:lstStyle/>
          <a:p>
            <a:pPr algn="l">
              <a:lnSpc>
                <a:spcPts val="919"/>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Circulation: </a:t>
            </a:r>
            <a:r>
              <a:rPr sz="720" b="0">
                <a:solidFill>
                  <a:srgbClr val="000000"/>
                </a:solidFill>
                <a:latin typeface="Ubuntu Mono"/>
                <a:ea typeface="Ubuntu Mono"/>
                <a:cs typeface="Ubuntu Mono"/>
                <a:sym typeface="Ubuntu Mono"/>
              </a:rPr>
              <a:t>use with a robust circulation system to clear milling debris efficiently.</a:t>
            </a:r>
          </a:p>
          <a:p>
            <a:pPr algn="l">
              <a:lnSpc>
                <a:spcPts val="919"/>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Debris collection: </a:t>
            </a:r>
            <a:r>
              <a:rPr sz="720" b="0">
                <a:solidFill>
                  <a:srgbClr val="000000"/>
                </a:solidFill>
                <a:latin typeface="Ubuntu Mono"/>
                <a:ea typeface="Ubuntu Mono"/>
                <a:cs typeface="Ubuntu Mono"/>
                <a:sym typeface="Ubuntu Mono"/>
              </a:rPr>
              <a:t>often combined with a fishing magnet or a junk basket to collect any metallic debris left behind.</a:t>
            </a:r>
          </a:p>
          <a:p>
            <a:pPr algn="l">
              <a:lnSpc>
                <a:spcPts val="919"/>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Stabilizers: </a:t>
            </a:r>
            <a:r>
              <a:rPr sz="720" b="0">
                <a:solidFill>
                  <a:srgbClr val="000000"/>
                </a:solidFill>
                <a:latin typeface="Ubuntu Mono"/>
                <a:ea typeface="Ubuntu Mono"/>
                <a:cs typeface="Ubuntu Mono"/>
                <a:sym typeface="Ubuntu Mono"/>
              </a:rPr>
              <a:t>useful for tool stability, more consistent cutting action and longer mill life.</a:t>
            </a:r>
          </a:p>
        </p:txBody>
      </p:sp>
      <p:sp>
        <p:nvSpPr>
          <p:cNvPr id="34" name="TextBox 33"/>
          <p:cNvSpPr txBox="1"/>
          <p:nvPr/>
        </p:nvSpPr>
        <p:spPr>
          <a:xfrm>
            <a:off x="3810000" y="73660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TYPES OF DEBRIS MILLED</a:t>
            </a:r>
          </a:p>
        </p:txBody>
      </p:sp>
      <p:sp>
        <p:nvSpPr>
          <p:cNvPr id="35" name="TextBox 34"/>
          <p:cNvSpPr txBox="1"/>
          <p:nvPr/>
        </p:nvSpPr>
        <p:spPr>
          <a:xfrm>
            <a:off x="3810000" y="7569200"/>
            <a:ext cx="3035300" cy="127000"/>
          </a:xfrm>
          <a:prstGeom prst="rect">
            <a:avLst/>
          </a:prstGeom>
          <a:noFill/>
        </p:spPr>
        <p:txBody>
          <a:bodyPr wrap="square" lIns="0" rIns="0" tIns="0" bIns="0">
            <a:spAutoFit/>
          </a:bodyPr>
          <a:lstStyle/>
          <a:p>
            <a:pPr algn="l">
              <a:lnSpc>
                <a:spcPts val="919"/>
              </a:lnSpc>
              <a:spcAft>
                <a:spcPts val="250"/>
              </a:spcAft>
            </a:pPr>
            <a:r>
              <a:rPr sz="570" b="0">
                <a:solidFill>
                  <a:srgbClr val="01ADEE"/>
                </a:solidFill>
                <a:latin typeface="Ubuntu Mono"/>
                <a:ea typeface="Ubuntu Mono"/>
                <a:cs typeface="Ubuntu Mono"/>
                <a:sym typeface="Ubuntu Mono"/>
              </a:rPr>
              <a:t>■ </a:t>
            </a:r>
            <a:r>
              <a:rPr sz="720" b="0">
                <a:solidFill>
                  <a:srgbClr val="000000"/>
                </a:solidFill>
                <a:latin typeface="Ubuntu Mono"/>
                <a:ea typeface="Ubuntu Mono"/>
                <a:cs typeface="Ubuntu Mono"/>
                <a:sym typeface="Ubuntu Mono"/>
              </a:rPr>
              <a:t>Broken drill bits</a:t>
            </a:r>
          </a:p>
          <a:p>
            <a:pPr algn="l">
              <a:lnSpc>
                <a:spcPts val="919"/>
              </a:lnSpc>
              <a:spcAft>
                <a:spcPts val="250"/>
              </a:spcAft>
            </a:pPr>
            <a:r>
              <a:rPr sz="570" b="0">
                <a:solidFill>
                  <a:srgbClr val="01ADEE"/>
                </a:solidFill>
                <a:latin typeface="Ubuntu Mono"/>
                <a:ea typeface="Ubuntu Mono"/>
                <a:cs typeface="Ubuntu Mono"/>
                <a:sym typeface="Ubuntu Mono"/>
              </a:rPr>
              <a:t>■ </a:t>
            </a:r>
            <a:r>
              <a:rPr sz="720" b="0">
                <a:solidFill>
                  <a:srgbClr val="000000"/>
                </a:solidFill>
                <a:latin typeface="Ubuntu Mono"/>
                <a:ea typeface="Ubuntu Mono"/>
                <a:cs typeface="Ubuntu Mono"/>
                <a:sym typeface="Ubuntu Mono"/>
              </a:rPr>
              <a:t>Casing fragments</a:t>
            </a:r>
          </a:p>
          <a:p>
            <a:pPr algn="l">
              <a:lnSpc>
                <a:spcPts val="919"/>
              </a:lnSpc>
              <a:spcAft>
                <a:spcPts val="250"/>
              </a:spcAft>
            </a:pPr>
            <a:r>
              <a:rPr sz="570" b="0">
                <a:solidFill>
                  <a:srgbClr val="01ADEE"/>
                </a:solidFill>
                <a:latin typeface="Ubuntu Mono"/>
                <a:ea typeface="Ubuntu Mono"/>
                <a:cs typeface="Ubuntu Mono"/>
                <a:sym typeface="Ubuntu Mono"/>
              </a:rPr>
              <a:t>■ </a:t>
            </a:r>
            <a:r>
              <a:rPr sz="720" b="0">
                <a:solidFill>
                  <a:srgbClr val="000000"/>
                </a:solidFill>
                <a:latin typeface="Ubuntu Mono"/>
                <a:ea typeface="Ubuntu Mono"/>
                <a:cs typeface="Ubuntu Mono"/>
                <a:sym typeface="Ubuntu Mono"/>
              </a:rPr>
              <a:t>Stuck tools</a:t>
            </a:r>
          </a:p>
          <a:p>
            <a:pPr algn="l">
              <a:lnSpc>
                <a:spcPts val="919"/>
              </a:lnSpc>
              <a:spcAft>
                <a:spcPts val="250"/>
              </a:spcAft>
            </a:pPr>
            <a:r>
              <a:rPr sz="570" b="0">
                <a:solidFill>
                  <a:srgbClr val="01ADEE"/>
                </a:solidFill>
                <a:latin typeface="Ubuntu Mono"/>
                <a:ea typeface="Ubuntu Mono"/>
                <a:cs typeface="Ubuntu Mono"/>
                <a:sym typeface="Ubuntu Mono"/>
              </a:rPr>
              <a:t>■ </a:t>
            </a:r>
            <a:r>
              <a:rPr sz="720" b="0">
                <a:solidFill>
                  <a:srgbClr val="000000"/>
                </a:solidFill>
                <a:latin typeface="Ubuntu Mono"/>
                <a:ea typeface="Ubuntu Mono"/>
                <a:cs typeface="Ubuntu Mono"/>
                <a:sym typeface="Ubuntu Mono"/>
              </a:rPr>
              <a:t>Fishing equipment debris</a:t>
            </a:r>
          </a:p>
          <a:p>
            <a:pPr algn="l">
              <a:lnSpc>
                <a:spcPts val="919"/>
              </a:lnSpc>
              <a:spcAft>
                <a:spcPts val="250"/>
              </a:spcAft>
            </a:pPr>
            <a:r>
              <a:rPr sz="570" b="0">
                <a:solidFill>
                  <a:srgbClr val="01ADEE"/>
                </a:solidFill>
                <a:latin typeface="Ubuntu Mono"/>
                <a:ea typeface="Ubuntu Mono"/>
                <a:cs typeface="Ubuntu Mono"/>
                <a:sym typeface="Ubuntu Mono"/>
              </a:rPr>
              <a:t>■ </a:t>
            </a:r>
            <a:r>
              <a:rPr sz="720" b="0">
                <a:solidFill>
                  <a:srgbClr val="000000"/>
                </a:solidFill>
                <a:latin typeface="Ubuntu Mono"/>
                <a:ea typeface="Ubuntu Mono"/>
                <a:cs typeface="Ubuntu Mono"/>
                <a:sym typeface="Ubuntu Mono"/>
              </a:rPr>
              <a:t>Miscellaneous metallic obstructions</a:t>
            </a:r>
          </a:p>
        </p:txBody>
      </p:sp>
      <p:sp>
        <p:nvSpPr>
          <p:cNvPr id="36" name="TextBox 35"/>
          <p:cNvSpPr txBox="1"/>
          <p:nvPr/>
        </p:nvSpPr>
        <p:spPr>
          <a:xfrm>
            <a:off x="3810000" y="87630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7" name="TextBox 36"/>
          <p:cNvSpPr txBox="1"/>
          <p:nvPr/>
        </p:nvSpPr>
        <p:spPr>
          <a:xfrm>
            <a:off x="3810000" y="8966200"/>
            <a:ext cx="3035300" cy="508000"/>
          </a:xfrm>
          <a:prstGeom prst="rect">
            <a:avLst/>
          </a:prstGeom>
          <a:noFill/>
        </p:spPr>
        <p:txBody>
          <a:bodyPr wrap="square" lIns="0" rIns="0" tIns="0" bIns="0">
            <a:spAutoFit/>
          </a:bodyPr>
          <a:lstStyle/>
          <a:p>
            <a:pPr algn="just">
              <a:lnSpc>
                <a:spcPts val="900"/>
              </a:lnSpc>
              <a:spcAft>
                <a:spcPts val="0"/>
              </a:spcAft>
            </a:pPr>
            <a:r>
              <a:rPr sz="700" b="0">
                <a:solidFill>
                  <a:srgbClr val="000000"/>
                </a:solidFill>
                <a:latin typeface="Ubuntu Mono"/>
                <a:ea typeface="Ubuntu Mono"/>
                <a:cs typeface="Ubuntu Mono"/>
                <a:sym typeface="Ubuntu Mono"/>
              </a:rPr>
              <a:t>Please specify: 1. dressed OD  2. top pin connection  3. dressing (conventional, Conebuster or Super).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