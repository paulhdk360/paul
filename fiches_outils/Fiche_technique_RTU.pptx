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Lst>
  <p:sldSz cx="7556500" cy="10693400"/>
  <p:notesSz cx="6858000" cy="9144000"/>
  <p:embeddedFontLst>
    <p:embeddedFont>
      <p:font typeface="Ubuntu Mono" charset="1" panose="020B0509030602030204"/>
      <p:regular r:id="rId7"/>
    </p:embeddedFont>
    <p:embeddedFont>
      <p:font typeface="Ubuntu Mono Bold" charset="1" panose="020B0809030602030204"/>
      <p:regular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font" Target="fonts/font7.fntdata"/><Relationship Id="rId8" Type="http://schemas.openxmlformats.org/officeDocument/2006/relationships/font" Target="fonts/font8.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7560000" cy="10692000"/>
          </a:xfrm>
          <a:custGeom>
            <a:avLst/>
            <a:gdLst/>
            <a:ahLst/>
            <a:cxnLst/>
            <a:rect r="r" b="b" t="t" l="l"/>
            <a:pathLst>
              <a:path h="10692000" w="7560000">
                <a:moveTo>
                  <a:pt x="0" y="0"/>
                </a:moveTo>
                <a:lnTo>
                  <a:pt x="7560000" y="0"/>
                </a:lnTo>
                <a:lnTo>
                  <a:pt x="7560000" y="10692000"/>
                </a:lnTo>
                <a:lnTo>
                  <a:pt x="0" y="10692000"/>
                </a:lnTo>
                <a:lnTo>
                  <a:pt x="0" y="0"/>
                </a:lnTo>
                <a:close/>
              </a:path>
            </a:pathLst>
          </a:custGeom>
          <a:blipFill>
            <a:blip r:embed="rId2"/>
            <a:stretch>
              <a:fillRect l="-22226" t="-1069" r="-22226" b="-1069"/>
            </a:stretch>
          </a:blipFill>
        </p:spPr>
      </p:sp>
      <p:grpSp>
        <p:nvGrpSpPr>
          <p:cNvPr name="Group 3" id="3"/>
          <p:cNvGrpSpPr/>
          <p:nvPr/>
        </p:nvGrpSpPr>
        <p:grpSpPr>
          <a:xfrm rot="0">
            <a:off x="4198589" y="2749692"/>
            <a:ext cx="3376379" cy="837955"/>
            <a:chOff x="0" y="0"/>
            <a:chExt cx="1210018" cy="300304"/>
          </a:xfrm>
        </p:grpSpPr>
        <p:sp>
          <p:nvSpPr>
            <p:cNvPr name="Freeform 4" id="4"/>
            <p:cNvSpPr/>
            <p:nvPr/>
          </p:nvSpPr>
          <p:spPr>
            <a:xfrm flipH="false" flipV="false" rot="0">
              <a:off x="0" y="0"/>
              <a:ext cx="1210018" cy="300304"/>
            </a:xfrm>
            <a:custGeom>
              <a:avLst/>
              <a:gdLst/>
              <a:ahLst/>
              <a:cxnLst/>
              <a:rect r="r" b="b" t="t" l="l"/>
              <a:pathLst>
                <a:path h="300304" w="1210018">
                  <a:moveTo>
                    <a:pt x="0" y="0"/>
                  </a:moveTo>
                  <a:lnTo>
                    <a:pt x="1210018" y="0"/>
                  </a:lnTo>
                  <a:lnTo>
                    <a:pt x="1210018" y="300304"/>
                  </a:lnTo>
                  <a:lnTo>
                    <a:pt x="0" y="300304"/>
                  </a:lnTo>
                  <a:close/>
                </a:path>
              </a:pathLst>
            </a:custGeom>
            <a:solidFill>
              <a:srgbClr val="1CB2FE"/>
            </a:solidFill>
          </p:spPr>
        </p:sp>
        <p:sp>
          <p:nvSpPr>
            <p:cNvPr name="TextBox 5" id="5"/>
            <p:cNvSpPr txBox="true"/>
            <p:nvPr/>
          </p:nvSpPr>
          <p:spPr>
            <a:xfrm>
              <a:off x="0" y="0"/>
              <a:ext cx="1210018" cy="300304"/>
            </a:xfrm>
            <a:prstGeom prst="rect">
              <a:avLst/>
            </a:prstGeom>
          </p:spPr>
          <p:txBody>
            <a:bodyPr anchor="ctr" rtlCol="false" tIns="50800" lIns="50800" bIns="50800" rIns="50800"/>
            <a:lstStyle/>
            <a:p>
              <a:pPr algn="ctr">
                <a:lnSpc>
                  <a:spcPts val="1440"/>
                </a:lnSpc>
              </a:pPr>
            </a:p>
          </p:txBody>
        </p:sp>
      </p:grpSp>
      <p:grpSp>
        <p:nvGrpSpPr>
          <p:cNvPr name="Group 6" id="6"/>
          <p:cNvGrpSpPr/>
          <p:nvPr/>
        </p:nvGrpSpPr>
        <p:grpSpPr>
          <a:xfrm rot="0">
            <a:off x="-807385" y="2570502"/>
            <a:ext cx="6036246" cy="1196335"/>
            <a:chOff x="0" y="0"/>
            <a:chExt cx="3262422" cy="646585"/>
          </a:xfrm>
        </p:grpSpPr>
        <p:sp>
          <p:nvSpPr>
            <p:cNvPr name="Freeform 7" id="7"/>
            <p:cNvSpPr/>
            <p:nvPr/>
          </p:nvSpPr>
          <p:spPr>
            <a:xfrm flipH="false" flipV="false" rot="0">
              <a:off x="0" y="0"/>
              <a:ext cx="3262422" cy="646585"/>
            </a:xfrm>
            <a:custGeom>
              <a:avLst/>
              <a:gdLst/>
              <a:ahLst/>
              <a:cxnLst/>
              <a:rect r="r" b="b" t="t" l="l"/>
              <a:pathLst>
                <a:path h="646585" w="3262422">
                  <a:moveTo>
                    <a:pt x="3059222" y="0"/>
                  </a:moveTo>
                  <a:lnTo>
                    <a:pt x="0" y="0"/>
                  </a:lnTo>
                  <a:lnTo>
                    <a:pt x="203200" y="646585"/>
                  </a:lnTo>
                  <a:lnTo>
                    <a:pt x="3262422" y="646585"/>
                  </a:lnTo>
                  <a:lnTo>
                    <a:pt x="3059222" y="0"/>
                  </a:lnTo>
                  <a:close/>
                </a:path>
              </a:pathLst>
            </a:custGeom>
            <a:solidFill>
              <a:srgbClr val="0250A5"/>
            </a:solidFill>
          </p:spPr>
        </p:sp>
        <p:sp>
          <p:nvSpPr>
            <p:cNvPr name="TextBox 8" id="8"/>
            <p:cNvSpPr txBox="true"/>
            <p:nvPr/>
          </p:nvSpPr>
          <p:spPr>
            <a:xfrm>
              <a:off x="101600" y="0"/>
              <a:ext cx="3059222" cy="646585"/>
            </a:xfrm>
            <a:prstGeom prst="rect">
              <a:avLst/>
            </a:prstGeom>
          </p:spPr>
          <p:txBody>
            <a:bodyPr anchor="ctr" rtlCol="false" tIns="50800" lIns="50800" bIns="50800" rIns="50800"/>
            <a:lstStyle/>
            <a:p>
              <a:pPr algn="ctr">
                <a:lnSpc>
                  <a:spcPts val="1440"/>
                </a:lnSpc>
              </a:pPr>
            </a:p>
          </p:txBody>
        </p:sp>
      </p:grpSp>
      <p:sp>
        <p:nvSpPr>
          <p:cNvPr name="Freeform 10" id="10"/>
          <p:cNvSpPr/>
          <p:nvPr/>
        </p:nvSpPr>
        <p:spPr>
          <a:xfrm flipH="false" flipV="false" rot="0">
            <a:off x="5595542" y="2339157"/>
            <a:ext cx="1876410" cy="342260"/>
          </a:xfrm>
          <a:custGeom>
            <a:avLst/>
            <a:gdLst/>
            <a:ahLst/>
            <a:cxnLst/>
            <a:rect r="r" b="b" t="t" l="l"/>
            <a:pathLst>
              <a:path h="342260" w="1876410">
                <a:moveTo>
                  <a:pt x="0" y="0"/>
                </a:moveTo>
                <a:lnTo>
                  <a:pt x="1876410" y="0"/>
                </a:lnTo>
                <a:lnTo>
                  <a:pt x="1876410" y="342260"/>
                </a:lnTo>
                <a:lnTo>
                  <a:pt x="0" y="342260"/>
                </a:lnTo>
                <a:lnTo>
                  <a:pt x="0" y="0"/>
                </a:lnTo>
                <a:close/>
              </a:path>
            </a:pathLst>
          </a:custGeom>
          <a:blipFill>
            <a:blip r:embed="rId3"/>
            <a:stretch>
              <a:fillRect l="0" t="0" r="0" b="0"/>
            </a:stretch>
          </a:blipFill>
        </p:spPr>
      </p:sp>
      <p:sp>
        <p:nvSpPr>
          <p:cNvPr name="TextBox 16" id="16"/>
          <p:cNvSpPr txBox="true"/>
          <p:nvPr/>
        </p:nvSpPr>
        <p:spPr>
          <a:xfrm rot="0">
            <a:off x="710217" y="2667655"/>
            <a:ext cx="4433411" cy="554354"/>
          </a:xfrm>
          <a:prstGeom prst="rect">
            <a:avLst/>
          </a:prstGeom>
        </p:spPr>
        <p:txBody>
          <a:bodyPr anchor="t" rtlCol="false" tIns="0" lIns="0" bIns="0" rIns="0">
            <a:spAutoFit/>
          </a:bodyPr>
          <a:lstStyle/>
          <a:p>
            <a:pPr algn="l">
              <a:lnSpc>
                <a:spcPts val="4199"/>
              </a:lnSpc>
            </a:pPr>
            <a:r>
              <a:rPr lang="en-US" sz="4199">
                <a:solidFill>
                  <a:srgbClr val="FFFFFF"/>
                </a:solidFill>
                <a:latin typeface="Ubuntu Mono"/>
                <a:ea typeface="Ubuntu Mono"/>
                <a:cs typeface="Ubuntu Mono"/>
                <a:sym typeface="Ubuntu Mono"/>
              </a:rPr>
              <a:t>RTU</a:t>
            </a:r>
          </a:p>
        </p:txBody>
      </p:sp>
      <p:sp>
        <p:nvSpPr>
          <p:cNvPr name="TextBox 17" id="17"/>
          <p:cNvSpPr txBox="true"/>
          <p:nvPr/>
        </p:nvSpPr>
        <p:spPr>
          <a:xfrm rot="0">
            <a:off x="5145720" y="3053100"/>
            <a:ext cx="2326232" cy="240665"/>
          </a:xfrm>
          <a:prstGeom prst="rect">
            <a:avLst/>
          </a:prstGeom>
        </p:spPr>
        <p:txBody>
          <a:bodyPr anchor="t" rtlCol="false" tIns="0" lIns="0" bIns="0" rIns="0">
            <a:spAutoFit/>
          </a:bodyPr>
          <a:lstStyle/>
          <a:p>
            <a:pPr algn="ctr">
              <a:lnSpc>
                <a:spcPts val="1870"/>
              </a:lnSpc>
            </a:pPr>
            <a:r>
              <a:rPr lang="en-US" sz="1700">
                <a:solidFill>
                  <a:srgbClr val="FFFFFF"/>
                </a:solidFill>
                <a:latin typeface="Ubuntu Mono"/>
                <a:ea typeface="Ubuntu Mono"/>
                <a:cs typeface="Ubuntu Mono"/>
                <a:sym typeface="Ubuntu Mono"/>
              </a:rPr>
              <a:t>ENLARGEMENT</a:t>
            </a:r>
          </a:p>
        </p:txBody>
      </p:sp>
      <p:sp>
        <p:nvSpPr>
          <p:cNvPr id="18" name="TextBox 17"/>
          <p:cNvSpPr txBox="1"/>
          <p:nvPr/>
        </p:nvSpPr>
        <p:spPr>
          <a:xfrm>
            <a:off x="711200" y="3314700"/>
            <a:ext cx="4191000" cy="177800"/>
          </a:xfrm>
          <a:prstGeom prst="rect">
            <a:avLst/>
          </a:prstGeom>
          <a:noFill/>
        </p:spPr>
        <p:txBody>
          <a:bodyPr wrap="square" lIns="0" rIns="0" tIns="0" bIns="0">
            <a:spAutoFit/>
          </a:bodyPr>
          <a:lstStyle/>
          <a:p>
            <a:pPr algn="l">
              <a:spcAft>
                <a:spcPts val="0"/>
              </a:spcAft>
            </a:pPr>
            <a:r>
              <a:rPr sz="950" b="0" spc="30">
                <a:solidFill>
                  <a:srgbClr val="FFFFFF"/>
                </a:solidFill>
                <a:latin typeface="Ubuntu Mono"/>
                <a:ea typeface="Ubuntu Mono"/>
                <a:cs typeface="Ubuntu Mono"/>
                <a:sym typeface="Ubuntu Mono"/>
              </a:rPr>
              <a:t>ROCK-TYPE UNDERREAMER</a:t>
            </a:r>
          </a:p>
        </p:txBody>
      </p:sp>
      <p:sp>
        <p:nvSpPr>
          <p:cNvPr id="19" name="TextBox 18"/>
          <p:cNvSpPr txBox="1"/>
          <p:nvPr/>
        </p:nvSpPr>
        <p:spPr>
          <a:xfrm>
            <a:off x="711200" y="4013200"/>
            <a:ext cx="6134100" cy="177800"/>
          </a:xfrm>
          <a:prstGeom prst="rect">
            <a:avLst/>
          </a:prstGeom>
          <a:noFill/>
        </p:spPr>
        <p:txBody>
          <a:bodyPr wrap="square" lIns="0" rIns="0" tIns="0" bIns="0">
            <a:spAutoFit/>
          </a:bodyPr>
          <a:lstStyle/>
          <a:p>
            <a:pPr algn="l">
              <a:spcAft>
                <a:spcPts val="0"/>
              </a:spcAft>
            </a:pPr>
            <a:r>
              <a:rPr sz="1050" b="1" spc="35">
                <a:solidFill>
                  <a:srgbClr val="194E9A"/>
                </a:solidFill>
                <a:latin typeface="Ubuntu Mono"/>
                <a:ea typeface="Ubuntu Mono"/>
                <a:cs typeface="Ubuntu Mono"/>
                <a:sym typeface="Ubuntu Mono"/>
              </a:rPr>
              <a:t>GENERAL DESCRIPTION</a:t>
            </a:r>
          </a:p>
        </p:txBody>
      </p:sp>
      <p:sp>
        <p:nvSpPr>
          <p:cNvPr id="20" name="TextBox 19"/>
          <p:cNvSpPr txBox="1"/>
          <p:nvPr/>
        </p:nvSpPr>
        <p:spPr>
          <a:xfrm>
            <a:off x="711200" y="4229100"/>
            <a:ext cx="6134100" cy="762000"/>
          </a:xfrm>
          <a:prstGeom prst="rect">
            <a:avLst/>
          </a:prstGeom>
          <a:noFill/>
        </p:spPr>
        <p:txBody>
          <a:bodyPr wrap="square" lIns="0" rIns="0" tIns="0" bIns="0">
            <a:spAutoFit/>
          </a:bodyPr>
          <a:lstStyle/>
          <a:p>
            <a:pPr algn="just">
              <a:lnSpc>
                <a:spcPts val="1040"/>
              </a:lnSpc>
              <a:spcAft>
                <a:spcPts val="0"/>
              </a:spcAft>
            </a:pPr>
            <a:r>
              <a:rPr sz="760" b="0" spc="20">
                <a:solidFill>
                  <a:srgbClr val="000000"/>
                </a:solidFill>
                <a:latin typeface="Ubuntu Mono"/>
                <a:ea typeface="Ubuntu Mono"/>
                <a:cs typeface="Ubuntu Mono"/>
                <a:sym typeface="Ubuntu Mono"/>
              </a:rPr>
              <a:t>RUGGED THREE-CONE UNDERREAMER THAT ENLARGES A HOLE TO NEARLY TWICE ITS OWN BODY DIAMETER. A WIDE RANGE OF CONE TYPES MATCHES THE CUTTER TO THE FORMATION, AND A CHOICE OF ORIFICE SIZES TAILORS PERFORMANCE TO THE RIG HYDRAULICS. THE TOOL CAN BE SERVICED ON LOCATION, THE CUTTER ARMS ARE CHANGED QUICKLY ON THE RIG FLOOR, AND FULL CIRCULATION IS KEPT AT ALL TIMES WITH WATER, MUD, AIR, AERATED MUD OR FOAM.</a:t>
            </a:r>
          </a:p>
        </p:txBody>
      </p:sp>
      <p:sp>
        <p:nvSpPr>
          <p:cNvPr id="21" name="TextBox 20"/>
          <p:cNvSpPr txBox="1"/>
          <p:nvPr/>
        </p:nvSpPr>
        <p:spPr>
          <a:xfrm>
            <a:off x="711200" y="4826000"/>
            <a:ext cx="6134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TECHNICAL CHARACTERISTICS</a:t>
            </a:r>
          </a:p>
        </p:txBody>
      </p:sp>
      <p:graphicFrame>
        <p:nvGraphicFramePr>
          <p:cNvPr id="22" name="Table 21"/>
          <p:cNvGraphicFramePr>
            <a:graphicFrameLocks noGrp="1"/>
          </p:cNvGraphicFramePr>
          <p:nvPr/>
        </p:nvGraphicFramePr>
        <p:xfrm>
          <a:off x="711200" y="5029200"/>
          <a:ext cx="6134094" cy="2217420"/>
        </p:xfrm>
        <a:graphic>
          <a:graphicData uri="http://schemas.openxmlformats.org/drawingml/2006/table">
            <a:tbl>
              <a:tblPr/>
              <a:tblGrid>
                <a:gridCol w="503827"/>
                <a:gridCol w="604593"/>
                <a:gridCol w="654975"/>
                <a:gridCol w="453444"/>
                <a:gridCol w="478636"/>
                <a:gridCol w="730549"/>
                <a:gridCol w="529018"/>
                <a:gridCol w="529018"/>
                <a:gridCol w="503827"/>
                <a:gridCol w="705358"/>
                <a:gridCol w="440849"/>
              </a:tblGrid>
              <a:tr h="368300">
                <a:tc>
                  <a:txBody>
                    <a:bodyPr wrap="square"/>
                    <a:lstStyle/>
                    <a:p>
                      <a:pPr algn="ctr">
                        <a:lnSpc>
                          <a:spcPts val="880"/>
                        </a:lnSpc>
                      </a:pPr>
                      <a:r>
                        <a:rPr sz="720" b="1">
                          <a:solidFill>
                            <a:srgbClr val="FEFEFF"/>
                          </a:solidFill>
                          <a:latin typeface="Ubuntu Mono"/>
                          <a:ea typeface="Ubuntu Mono"/>
                          <a:cs typeface="Ubuntu Mono"/>
                          <a:sym typeface="Ubuntu Mono"/>
                        </a:rPr>
                        <a:t>Tool series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Std. opening Ø</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Optional opening Ø</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Body Ø</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Collapsed Ø</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Through casing Ø x lb/ft</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Fishing neck length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Fishing neck Ø</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Overall length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Top pin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Wt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3600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4-3/4 - 6-1/2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4-1/2 x 15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26-1/2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175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4500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6-1/2, 8-1/2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6 - 9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4-5/8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5-1/2 x 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4-1/8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67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2-7/8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235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5700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11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8 - 11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5-3/4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5-7/8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7 x 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76-1/2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5800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11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8 - 11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5-7/8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5-7/8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6-5/8 x 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76-1/2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3-1/2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380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6000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11 - 12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6-1/8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7 x 26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78-1/2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6100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11 - 12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6-1/8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6-1/8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7 x 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78-1/2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3-1/2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380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6200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11 - 13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6-1/4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6-1/4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7 x 17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78-1/2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7200*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9 - 14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7-1/4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7-3/8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8-5/8 x 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5-3/4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86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775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8200*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10 - 16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8-1/4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8-3/8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9-5/8 x 47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5-3/4 or 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89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4-1/2 or 6-5/8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920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9500*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17-1/2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13 - 18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9-1/2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9-3/4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10-3/4 x 45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91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6-5/8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1,160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11700*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17-1/2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14-3/4 - 22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11-3/4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12-1/4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13-3/8 x 68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91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6-5/8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1,670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15000 LP*</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26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17-1/2 - 30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16 x 75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8 or 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97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6-5/8 or 7-5/8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2,800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22000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32 - 40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32 - 40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24-1/2 x 113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9 or 10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124-1/4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7-5/8 or 8-5/8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5,900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bl>
          </a:graphicData>
        </a:graphic>
      </p:graphicFrame>
      <p:sp>
        <p:nvSpPr>
          <p:cNvPr id="23" name="TextBox 22"/>
          <p:cNvSpPr txBox="1"/>
          <p:nvPr/>
        </p:nvSpPr>
        <p:spPr>
          <a:xfrm>
            <a:off x="711200" y="7284720"/>
            <a:ext cx="6134100" cy="114300"/>
          </a:xfrm>
          <a:prstGeom prst="rect">
            <a:avLst/>
          </a:prstGeom>
          <a:noFill/>
        </p:spPr>
        <p:txBody>
          <a:bodyPr wrap="square" lIns="0" rIns="0" tIns="0" bIns="0">
            <a:spAutoFit/>
          </a:bodyPr>
          <a:lstStyle/>
          <a:p>
            <a:pPr algn="l">
              <a:spcAft>
                <a:spcPts val="0"/>
              </a:spcAft>
            </a:pPr>
            <a:r>
              <a:rPr sz="640" b="0">
                <a:solidFill>
                  <a:srgbClr val="444444"/>
                </a:solidFill>
                <a:latin typeface="Ubuntu Mono"/>
                <a:ea typeface="Ubuntu Mono"/>
                <a:cs typeface="Ubuntu Mono"/>
                <a:sym typeface="Ubuntu Mono"/>
              </a:rPr>
              <a:t>* Available with PDC Bearclaw cutters. Dimensions in inches, weights in lb (approximate). Optional opening diameters on request.</a:t>
            </a:r>
          </a:p>
        </p:txBody>
      </p:sp>
      <p:pic>
        <p:nvPicPr>
          <p:cNvPr id="24" name="Picture 23" descr="rtu_tool_blue.png"/>
          <p:cNvPicPr>
            <a:picLocks noChangeAspect="1"/>
          </p:cNvPicPr>
          <p:nvPr/>
        </p:nvPicPr>
        <p:blipFill>
          <a:blip r:embed="rId7"/>
          <a:stretch>
            <a:fillRect/>
          </a:stretch>
        </p:blipFill>
        <p:spPr>
          <a:xfrm>
            <a:off x="711200" y="7493000"/>
            <a:ext cx="617564" cy="2997200"/>
          </a:xfrm>
          <a:prstGeom prst="rect">
            <a:avLst/>
          </a:prstGeom>
        </p:spPr>
      </p:pic>
      <p:sp>
        <p:nvSpPr>
          <p:cNvPr id="25" name="TextBox 24"/>
          <p:cNvSpPr txBox="1"/>
          <p:nvPr/>
        </p:nvSpPr>
        <p:spPr>
          <a:xfrm>
            <a:off x="1498600" y="7467600"/>
            <a:ext cx="24130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DESIGN FEATURES</a:t>
            </a:r>
          </a:p>
        </p:txBody>
      </p:sp>
      <p:sp>
        <p:nvSpPr>
          <p:cNvPr id="26" name="TextBox 25"/>
          <p:cNvSpPr txBox="1"/>
          <p:nvPr/>
        </p:nvSpPr>
        <p:spPr>
          <a:xfrm>
            <a:off x="1498600" y="7670800"/>
            <a:ext cx="2413000" cy="127000"/>
          </a:xfrm>
          <a:prstGeom prst="rect">
            <a:avLst/>
          </a:prstGeom>
          <a:noFill/>
        </p:spPr>
        <p:txBody>
          <a:bodyPr wrap="square" lIns="0" rIns="0" tIns="0" bIns="0">
            <a:spAutoFit/>
          </a:bodyPr>
          <a:lstStyle/>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Three-cone cutters: </a:t>
            </a:r>
            <a:r>
              <a:rPr sz="700" b="0">
                <a:solidFill>
                  <a:srgbClr val="000000"/>
                </a:solidFill>
                <a:latin typeface="Ubuntu Mono"/>
                <a:ea typeface="Ubuntu Mono"/>
                <a:cs typeface="Ubuntu Mono"/>
                <a:sym typeface="Ubuntu Mono"/>
              </a:rPr>
              <a:t>enlarges to almost twice the body diameter.</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Cutter options: </a:t>
            </a:r>
            <a:r>
              <a:rPr sz="700" b="0">
                <a:solidFill>
                  <a:srgbClr val="000000"/>
                </a:solidFill>
                <a:latin typeface="Ubuntu Mono"/>
                <a:ea typeface="Ubuntu Mono"/>
                <a:cs typeface="Ubuntu Mono"/>
                <a:sym typeface="Ubuntu Mono"/>
              </a:rPr>
              <a:t>milled tooth, TCI or PDC Bearclaw cutting structures.</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Tailored hydraulics: </a:t>
            </a:r>
            <a:r>
              <a:rPr sz="700" b="0">
                <a:solidFill>
                  <a:srgbClr val="000000"/>
                </a:solidFill>
                <a:latin typeface="Ubuntu Mono"/>
                <a:ea typeface="Ubuntu Mono"/>
                <a:cs typeface="Ubuntu Mono"/>
                <a:sym typeface="Ubuntu Mono"/>
              </a:rPr>
              <a:t>orifice sizes selected to suit the rig conditions.</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Full circulation: </a:t>
            </a:r>
            <a:r>
              <a:rPr sz="700" b="0">
                <a:solidFill>
                  <a:srgbClr val="000000"/>
                </a:solidFill>
                <a:latin typeface="Ubuntu Mono"/>
                <a:ea typeface="Ubuntu Mono"/>
                <a:cs typeface="Ubuntu Mono"/>
                <a:sym typeface="Ubuntu Mono"/>
              </a:rPr>
              <a:t>constant flow volume through the tool.</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Field serviceable: </a:t>
            </a:r>
            <a:r>
              <a:rPr sz="700" b="0">
                <a:solidFill>
                  <a:srgbClr val="000000"/>
                </a:solidFill>
                <a:latin typeface="Ubuntu Mono"/>
                <a:ea typeface="Ubuntu Mono"/>
                <a:cs typeface="Ubuntu Mono"/>
                <a:sym typeface="Ubuntu Mono"/>
              </a:rPr>
              <a:t>serviced on location; arms swapped on the rig floor.</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Optional Flo-Tel: </a:t>
            </a:r>
            <a:r>
              <a:rPr sz="700" b="0">
                <a:solidFill>
                  <a:srgbClr val="000000"/>
                </a:solidFill>
                <a:latin typeface="Ubuntu Mono"/>
                <a:ea typeface="Ubuntu Mono"/>
                <a:cs typeface="Ubuntu Mono"/>
                <a:sym typeface="Ubuntu Mono"/>
              </a:rPr>
              <a:t>pump pressure drops 200 - 250 psi once the arms are fully extended, confirming full gauge and avoiding second trips.</a:t>
            </a:r>
          </a:p>
        </p:txBody>
      </p:sp>
      <p:sp>
        <p:nvSpPr>
          <p:cNvPr id="27" name="TextBox 26"/>
          <p:cNvSpPr txBox="1"/>
          <p:nvPr/>
        </p:nvSpPr>
        <p:spPr>
          <a:xfrm>
            <a:off x="1498600" y="9474200"/>
            <a:ext cx="24130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OPERATING NOTES</a:t>
            </a:r>
          </a:p>
        </p:txBody>
      </p:sp>
      <p:sp>
        <p:nvSpPr>
          <p:cNvPr id="28" name="TextBox 27"/>
          <p:cNvSpPr txBox="1"/>
          <p:nvPr/>
        </p:nvSpPr>
        <p:spPr>
          <a:xfrm>
            <a:off x="1498600" y="9677400"/>
            <a:ext cx="2413000" cy="127000"/>
          </a:xfrm>
          <a:prstGeom prst="rect">
            <a:avLst/>
          </a:prstGeom>
          <a:noFill/>
        </p:spPr>
        <p:txBody>
          <a:bodyPr wrap="square" lIns="0" rIns="0" tIns="0" bIns="0">
            <a:spAutoFit/>
          </a:bodyPr>
          <a:lstStyle/>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Running in: </a:t>
            </a:r>
            <a:r>
              <a:rPr sz="700" b="0">
                <a:solidFill>
                  <a:srgbClr val="000000"/>
                </a:solidFill>
                <a:latin typeface="Ubuntu Mono"/>
                <a:ea typeface="Ubuntu Mono"/>
                <a:cs typeface="Ubuntu Mono"/>
                <a:sym typeface="Ubuntu Mono"/>
              </a:rPr>
              <a:t>go slowly at the top of the section; surge pressure can open the arms and damage casing.</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Rate of penetration: </a:t>
            </a:r>
            <a:r>
              <a:rPr sz="700" b="0">
                <a:solidFill>
                  <a:srgbClr val="000000"/>
                </a:solidFill>
                <a:latin typeface="Ubuntu Mono"/>
                <a:ea typeface="Ubuntu Mono"/>
                <a:cs typeface="Ubuntu Mono"/>
                <a:sym typeface="Ubuntu Mono"/>
              </a:rPr>
              <a:t>keep below 100 ft/hr or the hole may not reach drift gauge.</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Dull cutters: </a:t>
            </a:r>
            <a:r>
              <a:rPr sz="700" b="0">
                <a:solidFill>
                  <a:srgbClr val="000000"/>
                </a:solidFill>
                <a:latin typeface="Ubuntu Mono"/>
                <a:ea typeface="Ubuntu Mono"/>
                <a:cs typeface="Ubuntu Mono"/>
                <a:sym typeface="Ubuntu Mono"/>
              </a:rPr>
              <a:t>pull at the first sign of dulling.</a:t>
            </a:r>
          </a:p>
        </p:txBody>
      </p:sp>
      <p:sp>
        <p:nvSpPr>
          <p:cNvPr id="29" name="TextBox 28"/>
          <p:cNvSpPr txBox="1"/>
          <p:nvPr/>
        </p:nvSpPr>
        <p:spPr>
          <a:xfrm>
            <a:off x="4089400" y="7467600"/>
            <a:ext cx="27559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PERFORMANCE PARAMETERS</a:t>
            </a:r>
          </a:p>
        </p:txBody>
      </p:sp>
      <p:graphicFrame>
        <p:nvGraphicFramePr>
          <p:cNvPr id="30" name="Table 29"/>
          <p:cNvGraphicFramePr>
            <a:graphicFrameLocks noGrp="1"/>
          </p:cNvGraphicFramePr>
          <p:nvPr/>
        </p:nvGraphicFramePr>
        <p:xfrm>
          <a:off x="4089400" y="7658100"/>
          <a:ext cx="2755900" cy="944880"/>
        </p:xfrm>
        <a:graphic>
          <a:graphicData uri="http://schemas.openxmlformats.org/drawingml/2006/table">
            <a:tbl>
              <a:tblPr/>
              <a:tblGrid>
                <a:gridCol w="1117600"/>
                <a:gridCol w="1638300"/>
              </a:tblGrid>
              <a:tr h="157480">
                <a:tc>
                  <a:txBody>
                    <a:bodyPr wrap="square"/>
                    <a:lstStyle/>
                    <a:p>
                      <a:pPr algn="l">
                        <a:lnSpc>
                          <a:spcPts val="810"/>
                        </a:lnSpc>
                      </a:pPr>
                      <a:r>
                        <a:rPr sz="650" b="0">
                          <a:solidFill>
                            <a:srgbClr val="FEFEFF"/>
                          </a:solidFill>
                          <a:latin typeface="Ubuntu Mono"/>
                          <a:ea typeface="Ubuntu Mono"/>
                          <a:cs typeface="Ubuntu Mono"/>
                          <a:sym typeface="Ubuntu Mono"/>
                        </a:rPr>
                        <a:t>Rpm to shoulder depth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10"/>
                        </a:lnSpc>
                      </a:pPr>
                      <a:r>
                        <a:rPr sz="650" b="0">
                          <a:solidFill>
                            <a:srgbClr val="000000"/>
                          </a:solidFill>
                          <a:latin typeface="Ubuntu Mono"/>
                          <a:ea typeface="Ubuntu Mono"/>
                          <a:cs typeface="Ubuntu Mono"/>
                          <a:sym typeface="Ubuntu Mono"/>
                        </a:rPr>
                        <a:t>30 - 50 rpm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7480">
                <a:tc>
                  <a:txBody>
                    <a:bodyPr wrap="square"/>
                    <a:lstStyle/>
                    <a:p>
                      <a:pPr algn="l">
                        <a:lnSpc>
                          <a:spcPts val="810"/>
                        </a:lnSpc>
                      </a:pPr>
                      <a:r>
                        <a:rPr sz="650" b="0">
                          <a:solidFill>
                            <a:srgbClr val="FEFEFF"/>
                          </a:solidFill>
                          <a:latin typeface="Ubuntu Mono"/>
                          <a:ea typeface="Ubuntu Mono"/>
                          <a:cs typeface="Ubuntu Mono"/>
                          <a:sym typeface="Ubuntu Mono"/>
                        </a:rPr>
                        <a:t>Rpm, cutting shoulder</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10"/>
                        </a:lnSpc>
                      </a:pPr>
                      <a:r>
                        <a:rPr sz="650" b="0">
                          <a:solidFill>
                            <a:srgbClr val="000000"/>
                          </a:solidFill>
                          <a:latin typeface="Ubuntu Mono"/>
                          <a:ea typeface="Ubuntu Mono"/>
                          <a:cs typeface="Ubuntu Mono"/>
                          <a:sym typeface="Ubuntu Mono"/>
                        </a:rPr>
                        <a:t>80 - 150 rpm max.</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7480">
                <a:tc>
                  <a:txBody>
                    <a:bodyPr wrap="square"/>
                    <a:lstStyle/>
                    <a:p>
                      <a:pPr algn="l">
                        <a:lnSpc>
                          <a:spcPts val="810"/>
                        </a:lnSpc>
                      </a:pPr>
                      <a:r>
                        <a:rPr sz="650" b="0">
                          <a:solidFill>
                            <a:srgbClr val="FEFEFF"/>
                          </a:solidFill>
                          <a:latin typeface="Ubuntu Mono"/>
                          <a:ea typeface="Ubuntu Mono"/>
                          <a:cs typeface="Ubuntu Mono"/>
                          <a:sym typeface="Ubuntu Mono"/>
                        </a:rPr>
                        <a:t>Rpm, underreaming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10"/>
                        </a:lnSpc>
                      </a:pPr>
                      <a:r>
                        <a:rPr sz="650" b="0">
                          <a:solidFill>
                            <a:srgbClr val="000000"/>
                          </a:solidFill>
                          <a:latin typeface="Ubuntu Mono"/>
                          <a:ea typeface="Ubuntu Mono"/>
                          <a:cs typeface="Ubuntu Mono"/>
                          <a:sym typeface="Ubuntu Mono"/>
                        </a:rPr>
                        <a:t>80 rpm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7480">
                <a:tc>
                  <a:txBody>
                    <a:bodyPr wrap="square"/>
                    <a:lstStyle/>
                    <a:p>
                      <a:pPr algn="l">
                        <a:lnSpc>
                          <a:spcPts val="810"/>
                        </a:lnSpc>
                      </a:pPr>
                      <a:r>
                        <a:rPr sz="650" b="0">
                          <a:solidFill>
                            <a:srgbClr val="FEFEFF"/>
                          </a:solidFill>
                          <a:latin typeface="Ubuntu Mono"/>
                          <a:ea typeface="Ubuntu Mono"/>
                          <a:cs typeface="Ubuntu Mono"/>
                          <a:sym typeface="Ubuntu Mono"/>
                        </a:rPr>
                        <a:t>Weight on tool</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10"/>
                        </a:lnSpc>
                      </a:pPr>
                      <a:r>
                        <a:rPr sz="650" b="0">
                          <a:solidFill>
                            <a:srgbClr val="000000"/>
                          </a:solidFill>
                          <a:latin typeface="Ubuntu Mono"/>
                          <a:ea typeface="Ubuntu Mono"/>
                          <a:cs typeface="Ubuntu Mono"/>
                          <a:sym typeface="Ubuntu Mono"/>
                        </a:rPr>
                        <a:t>1,000 lb per in. of body Ø</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7480">
                <a:tc>
                  <a:txBody>
                    <a:bodyPr wrap="square"/>
                    <a:lstStyle/>
                    <a:p>
                      <a:pPr algn="l">
                        <a:lnSpc>
                          <a:spcPts val="810"/>
                        </a:lnSpc>
                      </a:pPr>
                      <a:r>
                        <a:rPr sz="650" b="0">
                          <a:solidFill>
                            <a:srgbClr val="FEFEFF"/>
                          </a:solidFill>
                          <a:latin typeface="Ubuntu Mono"/>
                          <a:ea typeface="Ubuntu Mono"/>
                          <a:cs typeface="Ubuntu Mono"/>
                          <a:sym typeface="Ubuntu Mono"/>
                        </a:rPr>
                        <a:t>With Flo-Tel</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10"/>
                        </a:lnSpc>
                      </a:pPr>
                      <a:r>
                        <a:rPr sz="650" b="0">
                          <a:solidFill>
                            <a:srgbClr val="000000"/>
                          </a:solidFill>
                          <a:latin typeface="Ubuntu Mono"/>
                          <a:ea typeface="Ubuntu Mono"/>
                          <a:cs typeface="Ubuntu Mono"/>
                          <a:sym typeface="Ubuntu Mono"/>
                        </a:rPr>
                        <a:t>80 - 150 rpm, max. pump pressure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7480">
                <a:tc>
                  <a:txBody>
                    <a:bodyPr wrap="square"/>
                    <a:lstStyle/>
                    <a:p>
                      <a:pPr algn="l">
                        <a:lnSpc>
                          <a:spcPts val="810"/>
                        </a:lnSpc>
                      </a:pPr>
                      <a:r>
                        <a:rPr sz="650" b="0">
                          <a:solidFill>
                            <a:srgbClr val="FEFEFF"/>
                          </a:solidFill>
                          <a:latin typeface="Ubuntu Mono"/>
                          <a:ea typeface="Ubuntu Mono"/>
                          <a:cs typeface="Ubuntu Mono"/>
                          <a:sym typeface="Ubuntu Mono"/>
                        </a:rPr>
                        <a:t>Circulating medium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10"/>
                        </a:lnSpc>
                      </a:pPr>
                      <a:r>
                        <a:rPr sz="650" b="0">
                          <a:solidFill>
                            <a:srgbClr val="000000"/>
                          </a:solidFill>
                          <a:latin typeface="Ubuntu Mono"/>
                          <a:ea typeface="Ubuntu Mono"/>
                          <a:cs typeface="Ubuntu Mono"/>
                          <a:sym typeface="Ubuntu Mono"/>
                        </a:rPr>
                        <a:t>Water, mud, air, foam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bl>
          </a:graphicData>
        </a:graphic>
      </p:graphicFrame>
      <p:sp>
        <p:nvSpPr>
          <p:cNvPr id="31" name="TextBox 30"/>
          <p:cNvSpPr txBox="1"/>
          <p:nvPr/>
        </p:nvSpPr>
        <p:spPr>
          <a:xfrm>
            <a:off x="4089400" y="8729980"/>
            <a:ext cx="27559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CUTTING THE SHOULDER</a:t>
            </a:r>
          </a:p>
        </p:txBody>
      </p:sp>
      <p:sp>
        <p:nvSpPr>
          <p:cNvPr id="32" name="TextBox 31"/>
          <p:cNvSpPr txBox="1"/>
          <p:nvPr/>
        </p:nvSpPr>
        <p:spPr>
          <a:xfrm>
            <a:off x="4089400" y="8933180"/>
            <a:ext cx="2755900" cy="127000"/>
          </a:xfrm>
          <a:prstGeom prst="rect">
            <a:avLst/>
          </a:prstGeom>
          <a:noFill/>
        </p:spPr>
        <p:txBody>
          <a:bodyPr wrap="square" lIns="0" rIns="0" tIns="0" bIns="0">
            <a:spAutoFit/>
          </a:bodyPr>
          <a:lstStyle/>
          <a:p>
            <a:pPr algn="l">
              <a:lnSpc>
                <a:spcPts val="840"/>
              </a:lnSpc>
              <a:spcAft>
                <a:spcPts val="150"/>
              </a:spcAft>
            </a:pPr>
            <a:r>
              <a:rPr sz="530" b="0">
                <a:solidFill>
                  <a:srgbClr val="01ADEE"/>
                </a:solidFill>
                <a:latin typeface="Ubuntu Mono"/>
                <a:ea typeface="Ubuntu Mono"/>
                <a:cs typeface="Ubuntu Mono"/>
                <a:sym typeface="Ubuntu Mono"/>
              </a:rPr>
              <a:t>■ </a:t>
            </a:r>
            <a:r>
              <a:rPr sz="680" b="1">
                <a:solidFill>
                  <a:srgbClr val="000000"/>
                </a:solidFill>
                <a:latin typeface="Ubuntu Mono"/>
                <a:ea typeface="Ubuntu Mono"/>
                <a:cs typeface="Ubuntu Mono"/>
                <a:sym typeface="Ubuntu Mono"/>
              </a:rPr>
              <a:t>Start: </a:t>
            </a:r>
            <a:r>
              <a:rPr sz="680" b="0">
                <a:solidFill>
                  <a:srgbClr val="000000"/>
                </a:solidFill>
                <a:latin typeface="Ubuntu Mono"/>
                <a:ea typeface="Ubuntu Mono"/>
                <a:cs typeface="Ubuntu Mono"/>
                <a:sym typeface="Ubuntu Mono"/>
              </a:rPr>
              <a:t>establish flow, rotate at 80 - 150 rpm and drill off slowly for 5 - 10 minutes.</a:t>
            </a:r>
          </a:p>
          <a:p>
            <a:pPr algn="l">
              <a:lnSpc>
                <a:spcPts val="840"/>
              </a:lnSpc>
              <a:spcAft>
                <a:spcPts val="150"/>
              </a:spcAft>
            </a:pPr>
            <a:r>
              <a:rPr sz="530" b="0">
                <a:solidFill>
                  <a:srgbClr val="01ADEE"/>
                </a:solidFill>
                <a:latin typeface="Ubuntu Mono"/>
                <a:ea typeface="Ubuntu Mono"/>
                <a:cs typeface="Ubuntu Mono"/>
                <a:sym typeface="Ubuntu Mono"/>
              </a:rPr>
              <a:t>■ </a:t>
            </a:r>
            <a:r>
              <a:rPr sz="680" b="1">
                <a:solidFill>
                  <a:srgbClr val="000000"/>
                </a:solidFill>
                <a:latin typeface="Ubuntu Mono"/>
                <a:ea typeface="Ubuntu Mono"/>
                <a:cs typeface="Ubuntu Mono"/>
                <a:sym typeface="Ubuntu Mono"/>
              </a:rPr>
              <a:t>Open the arms: </a:t>
            </a:r>
            <a:r>
              <a:rPr sz="680" b="0">
                <a:solidFill>
                  <a:srgbClr val="000000"/>
                </a:solidFill>
                <a:latin typeface="Ubuntu Mono"/>
                <a:ea typeface="Ubuntu Mono"/>
                <a:cs typeface="Ubuntu Mono"/>
                <a:sym typeface="Ubuntu Mono"/>
              </a:rPr>
              <a:t>lift off with the pump on and repeat to be sure they are fully open.</a:t>
            </a:r>
          </a:p>
          <a:p>
            <a:pPr algn="l">
              <a:lnSpc>
                <a:spcPts val="840"/>
              </a:lnSpc>
              <a:spcAft>
                <a:spcPts val="150"/>
              </a:spcAft>
            </a:pPr>
            <a:r>
              <a:rPr sz="530" b="0">
                <a:solidFill>
                  <a:srgbClr val="01ADEE"/>
                </a:solidFill>
                <a:latin typeface="Ubuntu Mono"/>
                <a:ea typeface="Ubuntu Mono"/>
                <a:cs typeface="Ubuntu Mono"/>
                <a:sym typeface="Ubuntu Mono"/>
              </a:rPr>
              <a:t>■ </a:t>
            </a:r>
            <a:r>
              <a:rPr sz="680" b="1">
                <a:solidFill>
                  <a:srgbClr val="000000"/>
                </a:solidFill>
                <a:latin typeface="Ubuntu Mono"/>
                <a:ea typeface="Ubuntu Mono"/>
                <a:cs typeface="Ubuntu Mono"/>
                <a:sym typeface="Ubuntu Mono"/>
              </a:rPr>
              <a:t>Shoulder reached: </a:t>
            </a:r>
            <a:r>
              <a:rPr sz="680" b="0">
                <a:solidFill>
                  <a:srgbClr val="000000"/>
                </a:solidFill>
                <a:latin typeface="Ubuntu Mono"/>
                <a:ea typeface="Ubuntu Mono"/>
                <a:cs typeface="Ubuntu Mono"/>
                <a:sym typeface="Ubuntu Mono"/>
              </a:rPr>
              <a:t>weight starts to register, then add weight to underream.</a:t>
            </a:r>
          </a:p>
        </p:txBody>
      </p:sp>
      <p:sp>
        <p:nvSpPr>
          <p:cNvPr id="33" name="TextBox 32"/>
          <p:cNvSpPr txBox="1"/>
          <p:nvPr/>
        </p:nvSpPr>
        <p:spPr>
          <a:xfrm>
            <a:off x="4089400" y="9911080"/>
            <a:ext cx="27559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HOW TO ORDER</a:t>
            </a:r>
          </a:p>
        </p:txBody>
      </p:sp>
      <p:sp>
        <p:nvSpPr>
          <p:cNvPr id="34" name="TextBox 33"/>
          <p:cNvSpPr txBox="1"/>
          <p:nvPr/>
        </p:nvSpPr>
        <p:spPr>
          <a:xfrm>
            <a:off x="4089400" y="10101580"/>
            <a:ext cx="2755900" cy="508000"/>
          </a:xfrm>
          <a:prstGeom prst="rect">
            <a:avLst/>
          </a:prstGeom>
          <a:noFill/>
        </p:spPr>
        <p:txBody>
          <a:bodyPr wrap="square" lIns="0" rIns="0" tIns="0" bIns="0">
            <a:spAutoFit/>
          </a:bodyPr>
          <a:lstStyle/>
          <a:p>
            <a:pPr algn="just">
              <a:lnSpc>
                <a:spcPts val="880"/>
              </a:lnSpc>
              <a:spcAft>
                <a:spcPts val="0"/>
              </a:spcAft>
            </a:pPr>
            <a:r>
              <a:rPr sz="690" b="0">
                <a:solidFill>
                  <a:srgbClr val="000000"/>
                </a:solidFill>
                <a:latin typeface="Ubuntu Mono"/>
                <a:ea typeface="Ubuntu Mono"/>
                <a:cs typeface="Ubuntu Mono"/>
                <a:sym typeface="Ubuntu Mono"/>
              </a:rPr>
              <a:t>Please specify: 1. tool series  2. top and bottom connections  3. fishing neck Ø  4. opening Ø  5. size and weight of casing to run through, if known  6. bullnose or bits (ordered separately)  7. cutting structure (milled tooth, TCI or PDC).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DAGS_rYUj9A</dc:identifier>
  <dcterms:modified xsi:type="dcterms:W3CDTF">2011-08-01T06:04:30Z</dcterms:modified>
  <cp:revision>1</cp:revision>
  <dc:title>Catalogue outils</dc:title>
</cp:coreProperties>
</file>