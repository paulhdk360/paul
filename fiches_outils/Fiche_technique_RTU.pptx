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ROCK-TYPE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RUGGED THREE-CONE UNDERREAMER THAT ENLARGES A HOLE TO NEARLY TWICE ITS OWN BODY DIAMETER. A WIDE RANGE OF CONE TYPES MATCHES THE CUTTER TO THE FORMATION, AND A CHOICE OF ORIFICE SIZES TAILORS PERFORMANCE TO THE RIG HYDRAULICS. THE TOOL CAN BE SERVICED ON LOCATION, THE CUTTER ARMS ARE CHANGED QUICKLY ON THE RIG FLOOR, AND FULL CIRCULATION IS KEPT AT ALL TIMES WITH WATER, MUD, AIR, AERATED MUD OR FOAM.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094" cy="2217420"/>
        </p:xfrm>
        <a:graphic>
          <a:graphicData uri="http://schemas.openxmlformats.org/drawingml/2006/table">
            <a:tbl>
              <a:tblPr/>
              <a:tblGrid>
                <a:gridCol w="503827"/>
                <a:gridCol w="604593"/>
                <a:gridCol w="654975"/>
                <a:gridCol w="453444"/>
                <a:gridCol w="478636"/>
                <a:gridCol w="730549"/>
                <a:gridCol w="529018"/>
                <a:gridCol w="529018"/>
                <a:gridCol w="503827"/>
                <a:gridCol w="705358"/>
                <a:gridCol w="440849"/>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47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x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 LP*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8472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pic>
        <p:nvPicPr>
          <p:cNvPr id="24" name="Picture 23" descr="rtu_tool_blue.png"/>
          <p:cNvPicPr>
            <a:picLocks noChangeAspect="1"/>
          </p:cNvPicPr>
          <p:nvPr/>
        </p:nvPicPr>
        <p:blipFill>
          <a:blip r:embed="rId7"/>
          <a:stretch>
            <a:fillRect/>
          </a:stretch>
        </p:blipFill>
        <p:spPr>
          <a:xfrm>
            <a:off x="711200" y="7493000"/>
            <a:ext cx="617564" cy="2997200"/>
          </a:xfrm>
          <a:prstGeom prst="rect">
            <a:avLst/>
          </a:prstGeom>
        </p:spPr>
      </p:pic>
      <p:sp>
        <p:nvSpPr>
          <p:cNvPr id="25" name="TextBox 24"/>
          <p:cNvSpPr txBox="1"/>
          <p:nvPr/>
        </p:nvSpPr>
        <p:spPr>
          <a:xfrm>
            <a:off x="1498600" y="74676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98600" y="76708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Three-cone cutters: </a:t>
            </a:r>
            <a:r>
              <a:rPr sz="700" b="0">
                <a:solidFill>
                  <a:srgbClr val="000000"/>
                </a:solidFill>
                <a:latin typeface="Ubuntu Mono"/>
                <a:ea typeface="Ubuntu Mono"/>
                <a:cs typeface="Ubuntu Mono"/>
                <a:sym typeface="Ubuntu Mono"/>
              </a:rPr>
              <a:t>enlarges to almost twice the body diameter.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Cutter options: </a:t>
            </a:r>
            <a:r>
              <a:rPr sz="700" b="0">
                <a:solidFill>
                  <a:srgbClr val="000000"/>
                </a:solidFill>
                <a:latin typeface="Ubuntu Mono"/>
                <a:ea typeface="Ubuntu Mono"/>
                <a:cs typeface="Ubuntu Mono"/>
                <a:sym typeface="Ubuntu Mono"/>
              </a:rPr>
              <a:t>milled tooth, TCI or PDC Bearclaw cutting structures.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Tailored hydraulics: </a:t>
            </a:r>
            <a:r>
              <a:rPr sz="700" b="0">
                <a:solidFill>
                  <a:srgbClr val="000000"/>
                </a:solidFill>
                <a:latin typeface="Ubuntu Mono"/>
                <a:ea typeface="Ubuntu Mono"/>
                <a:cs typeface="Ubuntu Mono"/>
                <a:sym typeface="Ubuntu Mono"/>
              </a:rPr>
              <a:t>orifice sizes selected to suit the rig conditions.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circulation: </a:t>
            </a:r>
            <a:r>
              <a:rPr sz="700" b="0">
                <a:solidFill>
                  <a:srgbClr val="000000"/>
                </a:solidFill>
                <a:latin typeface="Ubuntu Mono"/>
                <a:ea typeface="Ubuntu Mono"/>
                <a:cs typeface="Ubuntu Mono"/>
                <a:sym typeface="Ubuntu Mono"/>
              </a:rPr>
              <a:t>constant flow volume through the tool.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Field serviceable: </a:t>
            </a:r>
            <a:r>
              <a:rPr sz="700" b="0">
                <a:solidFill>
                  <a:srgbClr val="000000"/>
                </a:solidFill>
                <a:latin typeface="Ubuntu Mono"/>
                <a:ea typeface="Ubuntu Mono"/>
                <a:cs typeface="Ubuntu Mono"/>
                <a:sym typeface="Ubuntu Mono"/>
              </a:rPr>
              <a:t>serviced on location; arms swapped on the rig floor.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Optional Flo-Tel: </a:t>
            </a:r>
            <a:r>
              <a:rPr sz="700" b="0">
                <a:solidFill>
                  <a:srgbClr val="000000"/>
                </a:solidFill>
                <a:latin typeface="Ubuntu Mono"/>
                <a:ea typeface="Ubuntu Mono"/>
                <a:cs typeface="Ubuntu Mono"/>
                <a:sym typeface="Ubuntu Mono"/>
              </a:rPr>
              <a:t>pump pressure drops 200 - 250 psi once the arms are fully extended, confirming full gauge and avoiding second trips.</a:t>
            </a:r>
          </a:p>
        </p:txBody>
      </p:sp>
      <p:sp>
        <p:nvSpPr>
          <p:cNvPr id="27" name="TextBox 26"/>
          <p:cNvSpPr txBox="1"/>
          <p:nvPr/>
        </p:nvSpPr>
        <p:spPr>
          <a:xfrm>
            <a:off x="1498600" y="94742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498600" y="96774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Running in: </a:t>
            </a:r>
            <a:r>
              <a:rPr sz="700" b="0">
                <a:solidFill>
                  <a:srgbClr val="000000"/>
                </a:solidFill>
                <a:latin typeface="Ubuntu Mono"/>
                <a:ea typeface="Ubuntu Mono"/>
                <a:cs typeface="Ubuntu Mono"/>
                <a:sym typeface="Ubuntu Mono"/>
              </a:rPr>
              <a:t>go slowly at the top of the section; surge pressure can open the arms and damage casing.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of penetration: </a:t>
            </a:r>
            <a:r>
              <a:rPr sz="700" b="0">
                <a:solidFill>
                  <a:srgbClr val="000000"/>
                </a:solidFill>
                <a:latin typeface="Ubuntu Mono"/>
                <a:ea typeface="Ubuntu Mono"/>
                <a:cs typeface="Ubuntu Mono"/>
                <a:sym typeface="Ubuntu Mono"/>
              </a:rPr>
              <a:t>keep below 100 ft/hr or the hole may not reach drift gauge.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Dull cutters: </a:t>
            </a:r>
            <a:r>
              <a:rPr sz="700" b="0">
                <a:solidFill>
                  <a:srgbClr val="000000"/>
                </a:solidFill>
                <a:latin typeface="Ubuntu Mono"/>
                <a:ea typeface="Ubuntu Mono"/>
                <a:cs typeface="Ubuntu Mono"/>
                <a:sym typeface="Ubuntu Mono"/>
              </a:rPr>
              <a:t>pull at the first sign of dulling.</a:t>
            </a:r>
          </a:p>
        </p:txBody>
      </p:sp>
      <p:sp>
        <p:nvSpPr>
          <p:cNvPr id="29" name="TextBox 28"/>
          <p:cNvSpPr txBox="1"/>
          <p:nvPr/>
        </p:nvSpPr>
        <p:spPr>
          <a:xfrm>
            <a:off x="4089400" y="7467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658100"/>
          <a:ext cx="2755900" cy="94488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Rpm to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cutting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1,000 lb per in.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Water, mud, air,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87299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THE SHOULDER</a:t>
            </a:r>
          </a:p>
        </p:txBody>
      </p:sp>
      <p:sp>
        <p:nvSpPr>
          <p:cNvPr id="32" name="TextBox 31"/>
          <p:cNvSpPr txBox="1"/>
          <p:nvPr/>
        </p:nvSpPr>
        <p:spPr>
          <a:xfrm>
            <a:off x="4089400" y="8933180"/>
            <a:ext cx="2755900" cy="127000"/>
          </a:xfrm>
          <a:prstGeom prst="rect">
            <a:avLst/>
          </a:prstGeom>
          <a:noFill/>
        </p:spPr>
        <p:txBody>
          <a:bodyPr wrap="square" lIns="0" rIns="0" tIns="0" bIns="0">
            <a:spAutoFit/>
          </a:bodyPr>
          <a:lstStyle/>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Start: </a:t>
            </a:r>
            <a:r>
              <a:rPr sz="680" b="0">
                <a:solidFill>
                  <a:srgbClr val="000000"/>
                </a:solidFill>
                <a:latin typeface="Ubuntu Mono"/>
                <a:ea typeface="Ubuntu Mono"/>
                <a:cs typeface="Ubuntu Mono"/>
                <a:sym typeface="Ubuntu Mono"/>
              </a:rPr>
              <a:t>establish flow, rotate at 80 - 150 rpm and drill off slowly for 5 - 10 minutes.</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Open the arms: </a:t>
            </a:r>
            <a:r>
              <a:rPr sz="680" b="0">
                <a:solidFill>
                  <a:srgbClr val="000000"/>
                </a:solidFill>
                <a:latin typeface="Ubuntu Mono"/>
                <a:ea typeface="Ubuntu Mono"/>
                <a:cs typeface="Ubuntu Mono"/>
                <a:sym typeface="Ubuntu Mono"/>
              </a:rPr>
              <a:t>lift off with the pump on and repeat to be sure they are fully open.</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Shoulder reached: </a:t>
            </a:r>
            <a:r>
              <a:rPr sz="680" b="0">
                <a:solidFill>
                  <a:srgbClr val="000000"/>
                </a:solidFill>
                <a:latin typeface="Ubuntu Mono"/>
                <a:ea typeface="Ubuntu Mono"/>
                <a:cs typeface="Ubuntu Mono"/>
                <a:sym typeface="Ubuntu Mono"/>
              </a:rPr>
              <a:t>weight starts to register, then add weight to underream.</a:t>
            </a:r>
          </a:p>
        </p:txBody>
      </p:sp>
      <p:sp>
        <p:nvSpPr>
          <p:cNvPr id="33" name="TextBox 32"/>
          <p:cNvSpPr txBox="1"/>
          <p:nvPr/>
        </p:nvSpPr>
        <p:spPr>
          <a:xfrm>
            <a:off x="4089400" y="100634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10253980"/>
            <a:ext cx="27559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