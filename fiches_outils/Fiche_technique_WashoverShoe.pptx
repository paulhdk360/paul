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WASHOVER SHOE</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shoeB.png"/>
          <p:cNvPicPr>
            <a:picLocks noChangeAspect="1"/>
          </p:cNvPicPr>
          <p:nvPr/>
        </p:nvPicPr>
        <p:blipFill>
          <a:blip r:embed="rId7"/>
          <a:stretch>
            <a:fillRect/>
          </a:stretch>
        </p:blipFill>
        <p:spPr>
          <a:xfrm>
            <a:off x="889000" y="609600"/>
            <a:ext cx="1714500" cy="1443140"/>
          </a:xfrm>
          <a:prstGeom prst="rect">
            <a:avLst/>
          </a:prstGeom>
        </p:spPr>
      </p:pic>
      <p:pic>
        <p:nvPicPr>
          <p:cNvPr id="20" name="Picture 19" descr="shoeA.png"/>
          <p:cNvPicPr>
            <a:picLocks noChangeAspect="1"/>
          </p:cNvPicPr>
          <p:nvPr/>
        </p:nvPicPr>
        <p:blipFill>
          <a:blip r:embed="rId8"/>
          <a:stretch>
            <a:fillRect/>
          </a:stretch>
        </p:blipFill>
        <p:spPr>
          <a:xfrm>
            <a:off x="3175000" y="203200"/>
            <a:ext cx="2222500" cy="1853127"/>
          </a:xfrm>
          <a:prstGeom prst="rect">
            <a:avLst/>
          </a:prstGeom>
        </p:spPr>
      </p:pic>
      <p:sp>
        <p:nvSpPr>
          <p:cNvPr id="21" name="TextBox 20"/>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2" name="TextBox 21"/>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WASHOVER SHOES ARE MADE IN VARIOUS SIZES AND STYLES TO MEET THE MANY CONDITIONS MET IN FISHING AND WASHOVER OPERATIONS. RUN AT THE BOTTOM OF THE WASHOVER STRING, THE SHOE CUTS A CLEARANCE BETWEEN THE FISH AND THE WALL OF THE WELLBORE DURING RETRIEVAL OPERATIONS, OR FREES STUCK DOWNHOLE OBJECTS. IT CAN BE DRESSED WITH CARBIDE INSERTS FOR HARD MILLING AND LONGER WORK DURATION. WASHOVER EXTENSIONS, WASHOVER PIPES AND TOP SUBS ARE AVAILABLE TO SUIT THE CONNECTION SIZE OF THE WASHOVER STRING, TOGETHER WITH THE APPROPRIATE LIFTING EQUIPMENT.</a:t>
            </a:r>
          </a:p>
        </p:txBody>
      </p:sp>
      <p:sp>
        <p:nvSpPr>
          <p:cNvPr id="23" name="TextBox 22"/>
          <p:cNvSpPr txBox="1"/>
          <p:nvPr/>
        </p:nvSpPr>
        <p:spPr>
          <a:xfrm>
            <a:off x="711200" y="5308600"/>
            <a:ext cx="3302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SHOE STYLES</a:t>
            </a:r>
          </a:p>
        </p:txBody>
      </p:sp>
      <p:pic>
        <p:nvPicPr>
          <p:cNvPr id="24" name="Picture 23" descr="shoeC.png"/>
          <p:cNvPicPr>
            <a:picLocks noChangeAspect="1"/>
          </p:cNvPicPr>
          <p:nvPr/>
        </p:nvPicPr>
        <p:blipFill>
          <a:blip r:embed="rId9"/>
          <a:stretch>
            <a:fillRect/>
          </a:stretch>
        </p:blipFill>
        <p:spPr>
          <a:xfrm>
            <a:off x="711200" y="5537200"/>
            <a:ext cx="3810000" cy="2576286"/>
          </a:xfrm>
          <a:prstGeom prst="rect">
            <a:avLst/>
          </a:prstGeom>
        </p:spPr>
      </p:pic>
      <p:sp>
        <p:nvSpPr>
          <p:cNvPr id="25" name="TextBox 24"/>
          <p:cNvSpPr txBox="1"/>
          <p:nvPr/>
        </p:nvSpPr>
        <p:spPr>
          <a:xfrm>
            <a:off x="4724400" y="5308600"/>
            <a:ext cx="2159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SIZE RANGE</a:t>
            </a:r>
          </a:p>
        </p:txBody>
      </p:sp>
      <p:graphicFrame>
        <p:nvGraphicFramePr>
          <p:cNvPr id="26" name="Table 25"/>
          <p:cNvGraphicFramePr>
            <a:graphicFrameLocks noGrp="1"/>
          </p:cNvGraphicFramePr>
          <p:nvPr/>
        </p:nvGraphicFramePr>
        <p:xfrm>
          <a:off x="4724400" y="5537200"/>
          <a:ext cx="2159000" cy="355600"/>
        </p:xfrm>
        <a:graphic>
          <a:graphicData uri="http://schemas.openxmlformats.org/drawingml/2006/table">
            <a:tbl>
              <a:tblPr/>
              <a:tblGrid>
                <a:gridCol w="1079500"/>
                <a:gridCol w="1079500"/>
              </a:tblGrid>
              <a:tr h="177800">
                <a:tc>
                  <a:txBody>
                    <a:bodyPr wrap="square"/>
                    <a:lstStyle/>
                    <a:p>
                      <a:pPr algn="l">
                        <a:lnSpc>
                          <a:spcPts val="840"/>
                        </a:lnSpc>
                      </a:pPr>
                      <a:r>
                        <a:rPr sz="680" b="0">
                          <a:solidFill>
                            <a:srgbClr val="FEFEFF"/>
                          </a:solidFill>
                          <a:latin typeface="Ubuntu Mono"/>
                          <a:ea typeface="Ubuntu Mono"/>
                          <a:cs typeface="Ubuntu Mono"/>
                          <a:sym typeface="Ubuntu Mono"/>
                        </a:rPr>
                        <a:t>Shoe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2-9/16 - 13-3/8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40"/>
                        </a:lnSpc>
                      </a:pPr>
                      <a:r>
                        <a:rPr sz="680" b="0">
                          <a:solidFill>
                            <a:srgbClr val="FEFEFF"/>
                          </a:solidFill>
                          <a:latin typeface="Ubuntu Mono"/>
                          <a:ea typeface="Ubuntu Mono"/>
                          <a:cs typeface="Ubuntu Mono"/>
                          <a:sym typeface="Ubuntu Mono"/>
                        </a:rPr>
                        <a:t>Metric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65 - 340 mm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7" name="TextBox 26"/>
          <p:cNvSpPr txBox="1"/>
          <p:nvPr/>
        </p:nvSpPr>
        <p:spPr>
          <a:xfrm>
            <a:off x="4724400" y="6121400"/>
            <a:ext cx="2159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724400" y="6350000"/>
          <a:ext cx="2159000" cy="571500"/>
        </p:xfrm>
        <a:graphic>
          <a:graphicData uri="http://schemas.openxmlformats.org/drawingml/2006/table">
            <a:tbl>
              <a:tblPr/>
              <a:tblGrid>
                <a:gridCol w="889000"/>
                <a:gridCol w="1270000"/>
              </a:tblGrid>
              <a:tr h="190500">
                <a:tc>
                  <a:txBody>
                    <a:bodyPr wrap="square"/>
                    <a:lstStyle/>
                    <a:p>
                      <a:pPr algn="l">
                        <a:lnSpc>
                          <a:spcPts val="819"/>
                        </a:lnSpc>
                      </a:pPr>
                      <a:r>
                        <a:rPr sz="66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60 - 80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Weight on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Technique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Pick up from time to time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9" name="TextBox 28"/>
          <p:cNvSpPr txBox="1"/>
          <p:nvPr/>
        </p:nvSpPr>
        <p:spPr>
          <a:xfrm>
            <a:off x="4724400" y="7010400"/>
            <a:ext cx="2159000" cy="381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Guideline values for washover shoes; adjust to the formation and the fish.</a:t>
            </a:r>
          </a:p>
        </p:txBody>
      </p:sp>
      <p:sp>
        <p:nvSpPr>
          <p:cNvPr id="30" name="TextBox 29"/>
          <p:cNvSpPr txBox="1"/>
          <p:nvPr/>
        </p:nvSpPr>
        <p:spPr>
          <a:xfrm>
            <a:off x="711200" y="8382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MAIN APPLICATIONS</a:t>
            </a:r>
          </a:p>
        </p:txBody>
      </p:sp>
      <p:sp>
        <p:nvSpPr>
          <p:cNvPr id="31" name="TextBox 30"/>
          <p:cNvSpPr txBox="1"/>
          <p:nvPr/>
        </p:nvSpPr>
        <p:spPr>
          <a:xfrm>
            <a:off x="711200" y="8585200"/>
            <a:ext cx="30226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Recovering stuck drill pipe, tubing or casing.</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Clearing wellbore restrictions caused by collapsed formations or debris.</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Assisting fishing operations with a clean passage around stuck equipment.</a:t>
            </a:r>
          </a:p>
        </p:txBody>
      </p:sp>
      <p:sp>
        <p:nvSpPr>
          <p:cNvPr id="32" name="TextBox 31"/>
          <p:cNvSpPr txBox="1"/>
          <p:nvPr/>
        </p:nvSpPr>
        <p:spPr>
          <a:xfrm>
            <a:off x="3810000" y="8382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FEATURES</a:t>
            </a:r>
          </a:p>
        </p:txBody>
      </p:sp>
      <p:sp>
        <p:nvSpPr>
          <p:cNvPr id="33" name="TextBox 32"/>
          <p:cNvSpPr txBox="1"/>
          <p:nvPr/>
        </p:nvSpPr>
        <p:spPr>
          <a:xfrm>
            <a:off x="3810000" y="8585200"/>
            <a:ext cx="30353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Cutting edge designed for efficient material removal.</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Many sizes to match casing and tubing diameters.</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Hardfaced or carbide-enhanced surfaces for durability and cutting efficiency.</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Optimised fluid ports to keep circulation and carry debris away.</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Compatible with various thread connections.</a:t>
            </a:r>
          </a:p>
        </p:txBody>
      </p:sp>
      <p:sp>
        <p:nvSpPr>
          <p:cNvPr id="34" name="TextBox 33"/>
          <p:cNvSpPr txBox="1"/>
          <p:nvPr/>
        </p:nvSpPr>
        <p:spPr>
          <a:xfrm>
            <a:off x="711200" y="97028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5" name="TextBox 34"/>
          <p:cNvSpPr txBox="1"/>
          <p:nvPr/>
        </p:nvSpPr>
        <p:spPr>
          <a:xfrm>
            <a:off x="711200" y="9906000"/>
            <a:ext cx="6134100" cy="304800"/>
          </a:xfrm>
          <a:prstGeom prst="rect">
            <a:avLst/>
          </a:prstGeom>
          <a:noFill/>
        </p:spPr>
        <p:txBody>
          <a:bodyPr wrap="square" lIns="0" rIns="0" tIns="0" bIns="0">
            <a:spAutoFit/>
          </a:bodyPr>
          <a:lstStyle/>
          <a:p>
            <a:pPr algn="just">
              <a:lnSpc>
                <a:spcPts val="860"/>
              </a:lnSpc>
              <a:spcAft>
                <a:spcPts val="0"/>
              </a:spcAft>
            </a:pPr>
            <a:r>
              <a:rPr sz="690" b="0">
                <a:solidFill>
                  <a:srgbClr val="000000"/>
                </a:solidFill>
                <a:latin typeface="Ubuntu Mono"/>
                <a:ea typeface="Ubuntu Mono"/>
                <a:cs typeface="Ubuntu Mono"/>
                <a:sym typeface="Ubuntu Mono"/>
              </a:rPr>
              <a:t>Please specify: 1. shoe OD and style  2. cutting surface (hardfacing or carbide inserts)  3. connection to the washover string  4. washover extensions, pipes and top subs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