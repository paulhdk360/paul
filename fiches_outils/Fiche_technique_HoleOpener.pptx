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HOLE OPENER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FIXED-DIAMETER HOLE OPENER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FIXED-DIAMETER HOLE OPENER THAT ENLARGES A PREVIOUSLY DRILLED PILOT HOLE FROM THE SURFACE. THE CUTTERS ARE RIGIDLY ATTACHED TO THE BODY: THERE IS NO HYDRAULIC ACTUATION, AND THE TOOL ALWAYS CUTS AT ITS FULL GAUGE. USED MAINLY FOR SURFACE HOLES AND CONDUCTOR CASING, WHERE A BIGGER HOLE GIVES ENOUGH CLEARANCE TO RUN AND CEMENT THE CASING (FOR EXAMPLE, A 17-1/2 IN. HOLE OPENED TO RUN 13-3/8 IN. CASING). THE CHOICE OF CUTTERS LETS IT HANDLE SOFT TO HARD-ABRASIVE FORMATIONS. CUTTER SIZES FROM 26 TO 42 IN.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4" cy="1648460"/>
        </p:xfrm>
        <a:graphic>
          <a:graphicData uri="http://schemas.openxmlformats.org/drawingml/2006/table">
            <a:tbl>
              <a:tblPr/>
              <a:tblGrid>
                <a:gridCol w="550143"/>
                <a:gridCol w="577650"/>
                <a:gridCol w="605157"/>
                <a:gridCol w="550143"/>
                <a:gridCol w="880229"/>
                <a:gridCol w="605157"/>
                <a:gridCol w="577650"/>
                <a:gridCol w="687679"/>
                <a:gridCol w="550143"/>
                <a:gridCol w="550143"/>
              </a:tblGrid>
              <a:tr h="368300">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box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bore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8681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approximate. Intermediate sizes or sizes larger than 42 in. available on request.</a:t>
            </a:r>
          </a:p>
        </p:txBody>
      </p:sp>
      <p:pic>
        <p:nvPicPr>
          <p:cNvPr id="24" name="Picture 23" descr="hole_opener_blue.png"/>
          <p:cNvPicPr>
            <a:picLocks noChangeAspect="1"/>
          </p:cNvPicPr>
          <p:nvPr/>
        </p:nvPicPr>
        <p:blipFill>
          <a:blip r:embed="rId7"/>
          <a:stretch>
            <a:fillRect/>
          </a:stretch>
        </p:blipFill>
        <p:spPr>
          <a:xfrm>
            <a:off x="711200" y="7137400"/>
            <a:ext cx="1499016" cy="3048000"/>
          </a:xfrm>
          <a:prstGeom prst="rect">
            <a:avLst/>
          </a:prstGeom>
        </p:spPr>
      </p:pic>
      <p:sp>
        <p:nvSpPr>
          <p:cNvPr id="25" name="TextBox 24"/>
          <p:cNvSpPr txBox="1"/>
          <p:nvPr/>
        </p:nvSpPr>
        <p:spPr>
          <a:xfrm>
            <a:off x="2260600" y="7112000"/>
            <a:ext cx="1905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2260600" y="7315200"/>
            <a:ext cx="18542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Fixed gauge: </a:t>
            </a:r>
            <a:r>
              <a:rPr sz="680" b="0">
                <a:solidFill>
                  <a:srgbClr val="000000"/>
                </a:solidFill>
                <a:latin typeface="Ubuntu Mono"/>
                <a:ea typeface="Ubuntu Mono"/>
                <a:cs typeface="Ubuntu Mono"/>
                <a:sym typeface="Ubuntu Mono"/>
              </a:rPr>
              <a:t>cutters rigidly mounted; no hydraulic actuation.</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Demountable cutters: </a:t>
            </a:r>
            <a:r>
              <a:rPr sz="680" b="0">
                <a:solidFill>
                  <a:srgbClr val="000000"/>
                </a:solidFill>
                <a:latin typeface="Ubuntu Mono"/>
                <a:ea typeface="Ubuntu Mono"/>
                <a:cs typeface="Ubuntu Mono"/>
                <a:sym typeface="Ubuntu Mono"/>
              </a:rPr>
              <a:t>easily replaced on the rig floor.</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Cutters: </a:t>
            </a:r>
            <a:r>
              <a:rPr sz="680" b="0">
                <a:solidFill>
                  <a:srgbClr val="000000"/>
                </a:solidFill>
                <a:latin typeface="Ubuntu Mono"/>
                <a:ea typeface="Ubuntu Mono"/>
                <a:cs typeface="Ubuntu Mono"/>
                <a:sym typeface="Ubuntu Mono"/>
              </a:rPr>
              <a:t>sealed-bearing milled tooth or tungsten carbide insert.</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Long fishing necks: </a:t>
            </a:r>
            <a:r>
              <a:rPr sz="680" b="0">
                <a:solidFill>
                  <a:srgbClr val="000000"/>
                </a:solidFill>
                <a:latin typeface="Ubuntu Mono"/>
                <a:ea typeface="Ubuntu Mono"/>
                <a:cs typeface="Ubuntu Mono"/>
                <a:sym typeface="Ubuntu Mono"/>
              </a:rPr>
              <a:t>can be made up below the rotary table despite the large size.</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Replaceable nozzles: </a:t>
            </a:r>
            <a:r>
              <a:rPr sz="680" b="0">
                <a:solidFill>
                  <a:srgbClr val="000000"/>
                </a:solidFill>
                <a:latin typeface="Ubuntu Mono"/>
                <a:ea typeface="Ubuntu Mono"/>
                <a:cs typeface="Ubuntu Mono"/>
                <a:sym typeface="Ubuntu Mono"/>
              </a:rPr>
              <a:t>effective hole cleaning.</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Wide formation range: </a:t>
            </a:r>
            <a:r>
              <a:rPr sz="680" b="0">
                <a:solidFill>
                  <a:srgbClr val="000000"/>
                </a:solidFill>
                <a:latin typeface="Ubuntu Mono"/>
                <a:ea typeface="Ubuntu Mono"/>
                <a:cs typeface="Ubuntu Mono"/>
                <a:sym typeface="Ubuntu Mono"/>
              </a:rPr>
              <a:t>soft to hard-abrasive.</a:t>
            </a:r>
          </a:p>
        </p:txBody>
      </p:sp>
      <p:sp>
        <p:nvSpPr>
          <p:cNvPr id="27" name="TextBox 26"/>
          <p:cNvSpPr txBox="1"/>
          <p:nvPr/>
        </p:nvSpPr>
        <p:spPr>
          <a:xfrm>
            <a:off x="2260600" y="8864600"/>
            <a:ext cx="1905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NOZZLES AND CUTTERS</a:t>
            </a:r>
          </a:p>
        </p:txBody>
      </p:sp>
      <p:sp>
        <p:nvSpPr>
          <p:cNvPr id="28" name="TextBox 27"/>
          <p:cNvSpPr txBox="1"/>
          <p:nvPr/>
        </p:nvSpPr>
        <p:spPr>
          <a:xfrm>
            <a:off x="2260600" y="9067800"/>
            <a:ext cx="18542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Nozzles: </a:t>
            </a:r>
            <a:r>
              <a:rPr sz="680" b="0">
                <a:solidFill>
                  <a:srgbClr val="000000"/>
                </a:solidFill>
                <a:latin typeface="Ubuntu Mono"/>
                <a:ea typeface="Ubuntu Mono"/>
                <a:cs typeface="Ubuntu Mono"/>
                <a:sym typeface="Ubuntu Mono"/>
              </a:rPr>
              <a:t>threaded retainer holds the jet nozzle in its sleeve; O-ring seal.</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 sets: </a:t>
            </a:r>
            <a:r>
              <a:rPr sz="680" b="0">
                <a:solidFill>
                  <a:srgbClr val="000000"/>
                </a:solidFill>
                <a:latin typeface="Ubuntu Mono"/>
                <a:ea typeface="Ubuntu Mono"/>
                <a:cs typeface="Ubuntu Mono"/>
                <a:sym typeface="Ubuntu Mono"/>
              </a:rPr>
              <a:t>replacement sets include all parts needed.</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Rebuild kits: </a:t>
            </a:r>
            <a:r>
              <a:rPr sz="680" b="0">
                <a:solidFill>
                  <a:srgbClr val="000000"/>
                </a:solidFill>
                <a:latin typeface="Ubuntu Mono"/>
                <a:ea typeface="Ubuntu Mono"/>
                <a:cs typeface="Ubuntu Mono"/>
                <a:sym typeface="Ubuntu Mono"/>
              </a:rPr>
              <a:t>cutter bearing rebuild kits on special order.</a:t>
            </a:r>
          </a:p>
        </p:txBody>
      </p:sp>
      <p:sp>
        <p:nvSpPr>
          <p:cNvPr id="29" name="TextBox 28"/>
          <p:cNvSpPr txBox="1"/>
          <p:nvPr/>
        </p:nvSpPr>
        <p:spPr>
          <a:xfrm>
            <a:off x="4089400" y="7112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0" name="Table 29"/>
          <p:cNvGraphicFramePr>
            <a:graphicFrameLocks noGrp="1"/>
          </p:cNvGraphicFramePr>
          <p:nvPr/>
        </p:nvGraphicFramePr>
        <p:xfrm>
          <a:off x="4089400" y="7302500"/>
          <a:ext cx="2755900" cy="698500"/>
        </p:xfrm>
        <a:graphic>
          <a:graphicData uri="http://schemas.openxmlformats.org/drawingml/2006/table">
            <a:tbl>
              <a:tblPr/>
              <a:tblGrid>
                <a:gridCol w="558800"/>
                <a:gridCol w="698500"/>
                <a:gridCol w="889000"/>
                <a:gridCol w="6096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Formation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Cutter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Soft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15,000 - 25,000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20,000 - 35,000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Button (TCI)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Hard, TCI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Extremely 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8026400"/>
            <a:ext cx="2755900" cy="2286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Guideline for 19-3/4 - 26 in. holes (lower sizes need less weight and higher rpm).</a:t>
            </a:r>
          </a:p>
        </p:txBody>
      </p:sp>
      <p:sp>
        <p:nvSpPr>
          <p:cNvPr id="32" name="TextBox 31"/>
          <p:cNvSpPr txBox="1"/>
          <p:nvPr/>
        </p:nvSpPr>
        <p:spPr>
          <a:xfrm>
            <a:off x="4089400" y="8229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GAUGE TOLERANCE (ARMS OPEN)</a:t>
            </a:r>
          </a:p>
        </p:txBody>
      </p:sp>
      <p:graphicFrame>
        <p:nvGraphicFramePr>
          <p:cNvPr id="33" name="Table 32"/>
          <p:cNvGraphicFramePr>
            <a:graphicFrameLocks noGrp="1"/>
          </p:cNvGraphicFramePr>
          <p:nvPr/>
        </p:nvGraphicFramePr>
        <p:xfrm>
          <a:off x="4089400" y="8420100"/>
          <a:ext cx="2755900" cy="558800"/>
        </p:xfrm>
        <a:graphic>
          <a:graphicData uri="http://schemas.openxmlformats.org/drawingml/2006/table">
            <a:tbl>
              <a:tblPr/>
              <a:tblGrid>
                <a:gridCol w="1016000"/>
                <a:gridCol w="863600"/>
                <a:gridCol w="8763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Plus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Minus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27 - 42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43 and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4" name="TextBox 33"/>
          <p:cNvSpPr txBox="1"/>
          <p:nvPr/>
        </p:nvSpPr>
        <p:spPr>
          <a:xfrm>
            <a:off x="4089400" y="9004300"/>
            <a:ext cx="2755900" cy="2286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Cutter gauge is as dressed, not ground. Applies to milled tooth and TCI.</a:t>
            </a:r>
          </a:p>
        </p:txBody>
      </p:sp>
      <p:sp>
        <p:nvSpPr>
          <p:cNvPr id="35" name="TextBox 34"/>
          <p:cNvSpPr txBox="1"/>
          <p:nvPr/>
        </p:nvSpPr>
        <p:spPr>
          <a:xfrm>
            <a:off x="4089400" y="9182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MASTER DRILLER (CONE ARM VERSION)</a:t>
            </a:r>
          </a:p>
        </p:txBody>
      </p:sp>
      <p:sp>
        <p:nvSpPr>
          <p:cNvPr id="36" name="TextBox 35"/>
          <p:cNvSpPr txBox="1"/>
          <p:nvPr/>
        </p:nvSpPr>
        <p:spPr>
          <a:xfrm>
            <a:off x="4089400" y="9372600"/>
            <a:ext cx="2755900" cy="508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Cone-segment arms, replaceable nozzles, bottom box for bit or bullnose. One body takes several arm sizes. Opens up to 36 in.; milled tooth, TCI or PDC cones. Soft to medium-hard formations.</a:t>
            </a:r>
          </a:p>
        </p:txBody>
      </p:sp>
      <p:graphicFrame>
        <p:nvGraphicFramePr>
          <p:cNvPr id="37" name="Table 36"/>
          <p:cNvGraphicFramePr>
            <a:graphicFrameLocks noGrp="1"/>
          </p:cNvGraphicFramePr>
          <p:nvPr/>
        </p:nvGraphicFramePr>
        <p:xfrm>
          <a:off x="4089400" y="9829800"/>
          <a:ext cx="2755900" cy="698500"/>
        </p:xfrm>
        <a:graphic>
          <a:graphicData uri="http://schemas.openxmlformats.org/drawingml/2006/table">
            <a:tbl>
              <a:tblPr/>
              <a:tblGrid>
                <a:gridCol w="431800"/>
                <a:gridCol w="812800"/>
                <a:gridCol w="762000"/>
                <a:gridCol w="406400"/>
                <a:gridCol w="342900"/>
              </a:tblGrid>
              <a:tr h="139700">
                <a:tc>
                  <a:txBody>
                    <a:bodyPr wrap="square"/>
                    <a:lstStyle/>
                    <a:p>
                      <a:pPr algn="ctr">
                        <a:lnSpc>
                          <a:spcPts val="740"/>
                        </a:lnSpc>
                      </a:pPr>
                      <a:r>
                        <a:rPr sz="580" b="1">
                          <a:solidFill>
                            <a:srgbClr val="FEFEFF"/>
                          </a:solidFill>
                          <a:latin typeface="Ubuntu Mono"/>
                          <a:ea typeface="Ubuntu Mono"/>
                          <a:cs typeface="Ubuntu Mono"/>
                          <a:sym typeface="Ubuntu Mono"/>
                        </a:rPr>
                        <a:t>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40"/>
                        </a:lnSpc>
                      </a:pPr>
                      <a:r>
                        <a:rPr sz="58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40"/>
                        </a:lnSpc>
                      </a:pPr>
                      <a:r>
                        <a:rPr sz="580" b="1">
                          <a:solidFill>
                            <a:srgbClr val="FEFEFF"/>
                          </a:solidFill>
                          <a:latin typeface="Ubuntu Mono"/>
                          <a:ea typeface="Ubuntu Mono"/>
                          <a:cs typeface="Ubuntu Mono"/>
                          <a:sym typeface="Ubuntu Mono"/>
                        </a:rPr>
                        <a:t>Min. pilot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40"/>
                        </a:lnSpc>
                      </a:pPr>
                      <a:r>
                        <a:rPr sz="58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40"/>
                        </a:lnSpc>
                      </a:pPr>
                      <a:r>
                        <a:rPr sz="5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740"/>
                        </a:lnSpc>
                      </a:pPr>
                      <a:r>
                        <a:rPr sz="58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40"/>
                        </a:lnSpc>
                      </a:pPr>
                      <a:r>
                        <a:rPr sz="5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40"/>
                        </a:lnSpc>
                      </a:pPr>
                      <a:r>
                        <a:rPr sz="5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40"/>
                        </a:lnSpc>
                      </a:pPr>
                      <a:r>
                        <a:rPr sz="58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40"/>
                        </a:lnSpc>
                      </a:pPr>
                      <a:r>
                        <a:rPr sz="580" b="0">
                          <a:solidFill>
                            <a:srgbClr val="000000"/>
                          </a:solidFill>
                          <a:latin typeface="Ubuntu Mono"/>
                          <a:ea typeface="Ubuntu Mono"/>
                          <a:cs typeface="Ubuntu Mono"/>
                          <a:sym typeface="Ubuntu Mono"/>
                        </a:rPr>
                        <a:t>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740"/>
                        </a:lnSpc>
                      </a:pPr>
                      <a:r>
                        <a:rPr sz="58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740"/>
                        </a:lnSpc>
                      </a:pPr>
                      <a:r>
                        <a:rPr sz="580" b="0">
                          <a:solidFill>
                            <a:srgbClr val="000000"/>
                          </a:solidFill>
                          <a:latin typeface="Ubuntu Mono"/>
                          <a:ea typeface="Ubuntu Mono"/>
                          <a:cs typeface="Ubuntu Mono"/>
                          <a:sym typeface="Ubuntu Mono"/>
                        </a:rPr>
                        <a:t>12-1/4 / 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40"/>
                        </a:lnSpc>
                      </a:pPr>
                      <a:r>
                        <a:rPr sz="580" b="0">
                          <a:solidFill>
                            <a:srgbClr val="000000"/>
                          </a:solidFill>
                          <a:latin typeface="Ubuntu Mono"/>
                          <a:ea typeface="Ubuntu Mono"/>
                          <a:cs typeface="Ubuntu Mono"/>
                          <a:sym typeface="Ubuntu Mono"/>
                        </a:rPr>
                        <a:t>8-1/2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40"/>
                        </a:lnSpc>
                      </a:pPr>
                      <a:r>
                        <a:rPr sz="58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40"/>
                        </a:lnSpc>
                      </a:pPr>
                      <a:r>
                        <a:rPr sz="580" b="0">
                          <a:solidFill>
                            <a:srgbClr val="000000"/>
                          </a:solidFill>
                          <a:latin typeface="Ubuntu Mono"/>
                          <a:ea typeface="Ubuntu Mono"/>
                          <a:cs typeface="Ubuntu Mono"/>
                          <a:sym typeface="Ubuntu Mono"/>
                        </a:rPr>
                        <a:t>915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740"/>
                        </a:lnSpc>
                      </a:pPr>
                      <a:r>
                        <a:rPr sz="580" b="0">
                          <a:solidFill>
                            <a:srgbClr val="FEFEFF"/>
                          </a:solidFill>
                          <a:latin typeface="Ubuntu Mono"/>
                          <a:ea typeface="Ubuntu Mono"/>
                          <a:cs typeface="Ubuntu Mono"/>
                          <a:sym typeface="Ubuntu Mono"/>
                        </a:rPr>
                        <a:t>11000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740"/>
                        </a:lnSpc>
                      </a:pPr>
                      <a:r>
                        <a:rPr sz="580" b="0">
                          <a:solidFill>
                            <a:srgbClr val="000000"/>
                          </a:solidFill>
                          <a:latin typeface="Ubuntu Mono"/>
                          <a:ea typeface="Ubuntu Mono"/>
                          <a:cs typeface="Ubuntu Mono"/>
                          <a:sym typeface="Ubuntu Mono"/>
                        </a:rPr>
                        <a:t>17-1/2 / 22-5/8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40"/>
                        </a:lnSpc>
                      </a:pPr>
                      <a:r>
                        <a:rPr sz="58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40"/>
                        </a:lnSpc>
                      </a:pPr>
                      <a:r>
                        <a:rPr sz="580" b="0">
                          <a:solidFill>
                            <a:srgbClr val="000000"/>
                          </a:solidFill>
                          <a:latin typeface="Ubuntu Mono"/>
                          <a:ea typeface="Ubuntu Mono"/>
                          <a:cs typeface="Ubuntu Mono"/>
                          <a:sym typeface="Ubuntu Mono"/>
                        </a:rPr>
                        <a:t>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740"/>
                        </a:lnSpc>
                      </a:pPr>
                      <a:r>
                        <a:rPr sz="580" b="0">
                          <a:solidFill>
                            <a:srgbClr val="000000"/>
                          </a:solidFill>
                          <a:latin typeface="Ubuntu Mono"/>
                          <a:ea typeface="Ubuntu Mono"/>
                          <a:cs typeface="Ubuntu Mono"/>
                          <a:sym typeface="Ubuntu Mono"/>
                        </a:rPr>
                        <a:t>1,100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740"/>
                        </a:lnSpc>
                      </a:pPr>
                      <a:r>
                        <a:rPr sz="580" b="0">
                          <a:solidFill>
                            <a:srgbClr val="FEFEFF"/>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740"/>
                        </a:lnSpc>
                      </a:pPr>
                      <a:r>
                        <a:rPr sz="580" b="0">
                          <a:solidFill>
                            <a:srgbClr val="000000"/>
                          </a:solidFill>
                          <a:latin typeface="Ubuntu Mono"/>
                          <a:ea typeface="Ubuntu Mono"/>
                          <a:cs typeface="Ubuntu Mono"/>
                          <a:sym typeface="Ubuntu Mono"/>
                        </a:rPr>
                        <a:t>17-1/2 / 26-5/8 / 36-5/8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40"/>
                        </a:lnSpc>
                      </a:pPr>
                      <a:r>
                        <a:rPr sz="580" b="0">
                          <a:solidFill>
                            <a:srgbClr val="000000"/>
                          </a:solidFill>
                          <a:latin typeface="Ubuntu Mono"/>
                          <a:ea typeface="Ubuntu Mono"/>
                          <a:cs typeface="Ubuntu Mono"/>
                          <a:sym typeface="Ubuntu Mono"/>
                        </a:rPr>
                        <a:t>9-1/2 / 12-1/4 / 24-5/8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40"/>
                        </a:lnSpc>
                      </a:pPr>
                      <a:r>
                        <a:rPr sz="580" b="0">
                          <a:solidFill>
                            <a:srgbClr val="000000"/>
                          </a:solidFill>
                          <a:latin typeface="Ubuntu Mono"/>
                          <a:ea typeface="Ubuntu Mono"/>
                          <a:cs typeface="Ubuntu Mono"/>
                          <a:sym typeface="Ubuntu Mono"/>
                        </a:rPr>
                        <a:t>15-5/8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740"/>
                        </a:lnSpc>
                      </a:pPr>
                      <a:r>
                        <a:rPr sz="580" b="0">
                          <a:solidFill>
                            <a:srgbClr val="000000"/>
                          </a:solidFill>
                          <a:latin typeface="Ubuntu Mono"/>
                          <a:ea typeface="Ubuntu Mono"/>
                          <a:cs typeface="Ubuntu Mono"/>
                          <a:sym typeface="Ubuntu Mono"/>
                        </a:rPr>
                        <a:t>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8" name="TextBox 37"/>
          <p:cNvSpPr txBox="1"/>
          <p:nvPr/>
        </p:nvSpPr>
        <p:spPr>
          <a:xfrm>
            <a:off x="4089400" y="10604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9" name="TextBox 38"/>
          <p:cNvSpPr txBox="1"/>
          <p:nvPr/>
        </p:nvSpPr>
        <p:spPr>
          <a:xfrm>
            <a:off x="4089400" y="10782300"/>
            <a:ext cx="2755900" cy="508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Please specify: 1. pilot hole size  2. hole opening size  3. top and bottom connections if not standard  4. fishing neck diameter if not standard  5. cutter type (milled tooth or tungsten carbide insert) and formation (soft or medium).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