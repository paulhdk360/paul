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7556500" cy="10693400"/>
  <p:notesSz cx="6858000" cy="9144000"/>
  <p:embeddedFontLst>
    <p:embeddedFont>
      <p:font typeface="Ubuntu Mono" charset="1" panose="020B0509030602030204"/>
      <p:regular r:id="rId7"/>
    </p:embeddedFont>
    <p:embeddedFont>
      <p:font typeface="Ubuntu Mono Bold" charset="1" panose="020B0809030602030204"/>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font" Target="fonts/font7.fntdata"/><Relationship Id="rId8"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HOLE OPENER</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ENLARGEMENT</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FIXED-DIAMETER HOLE OPENER</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FIXED-DIAMETER HOLE OPENER THAT ENLARGES A PREVIOUSLY DRILLED PILOT HOLE FROM THE SURFACE. THE CUTTERS ARE RIGIDLY ATTACHED TO THE BODY: THERE IS NO HYDRAULIC ACTUATION, AND THE TOOL ALWAYS CUTS AT ITS FULL GAUGE. USED MAINLY FOR SURFACE HOLES AND CONDUCTOR CASING, WHERE A BIGGER HOLE GIVES ENOUGH CLEARANCE TO RUN AND CEMENT THE CASING (FOR EXAMPLE, A 17-1/2 IN. HOLE OPENED TO RUN 13-3/8 IN. CASING). THE CHOICE OF CUTTERS LETS IT HANDLE SOFT TO HARD-ABRASIVE FORMATIONS. CUTTER SIZES FROM 26 TO 42 IN.</a:t>
            </a:r>
          </a:p>
        </p:txBody>
      </p:sp>
      <p:sp>
        <p:nvSpPr>
          <p:cNvPr id="21" name="TextBox 20"/>
          <p:cNvSpPr txBox="1"/>
          <p:nvPr/>
        </p:nvSpPr>
        <p:spPr>
          <a:xfrm>
            <a:off x="711200" y="49784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181600"/>
          <a:ext cx="6134094" cy="1648460"/>
        </p:xfrm>
        <a:graphic>
          <a:graphicData uri="http://schemas.openxmlformats.org/drawingml/2006/table">
            <a:tbl>
              <a:tblPr/>
              <a:tblGrid>
                <a:gridCol w="550143"/>
                <a:gridCol w="577650"/>
                <a:gridCol w="605157"/>
                <a:gridCol w="550143"/>
                <a:gridCol w="880229"/>
                <a:gridCol w="605157"/>
                <a:gridCol w="577650"/>
                <a:gridCol w="687679"/>
                <a:gridCol w="550143"/>
                <a:gridCol w="550143"/>
              </a:tblGrid>
              <a:tr h="368300">
                <a:tc>
                  <a:txBody>
                    <a:bodyPr wrap="square"/>
                    <a:lstStyle/>
                    <a:p>
                      <a:pPr algn="ctr">
                        <a:lnSpc>
                          <a:spcPts val="880"/>
                        </a:lnSpc>
                      </a:pPr>
                      <a:r>
                        <a:rPr sz="720" b="1">
                          <a:solidFill>
                            <a:srgbClr val="FEFEFF"/>
                          </a:solidFill>
                          <a:latin typeface="Ubuntu Mono"/>
                          <a:ea typeface="Ubuntu Mono"/>
                          <a:cs typeface="Ubuntu Mono"/>
                          <a:sym typeface="Ubuntu Mono"/>
                        </a:rPr>
                        <a:t>Std. opening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Min. pilot hole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Fishing neck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Fishing neck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Top pin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Bottom neck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Bottom neck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Bottom box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Body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Min. bore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26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6-5/8 - 7-5/8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28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6-5/8 - 7-5/8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6-5/8 - 7-5/8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32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7-5/8 - 8-5/8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22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7-5/8 - 8-5/8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36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24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7-5/8 - 8-5/8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26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28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42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3" name="TextBox 22"/>
          <p:cNvSpPr txBox="1"/>
          <p:nvPr/>
        </p:nvSpPr>
        <p:spPr>
          <a:xfrm>
            <a:off x="711200" y="6868159"/>
            <a:ext cx="6134100" cy="114300"/>
          </a:xfrm>
          <a:prstGeom prst="rect">
            <a:avLst/>
          </a:prstGeom>
          <a:noFill/>
        </p:spPr>
        <p:txBody>
          <a:bodyPr wrap="square" lIns="0" rIns="0" tIns="0" bIns="0">
            <a:spAutoFit/>
          </a:bodyPr>
          <a:lstStyle/>
          <a:p>
            <a:pPr algn="l">
              <a:spcAft>
                <a:spcPts val="0"/>
              </a:spcAft>
            </a:pPr>
            <a:r>
              <a:rPr sz="620" b="0">
                <a:solidFill>
                  <a:srgbClr val="444444"/>
                </a:solidFill>
                <a:latin typeface="Ubuntu Mono"/>
                <a:ea typeface="Ubuntu Mono"/>
                <a:cs typeface="Ubuntu Mono"/>
                <a:sym typeface="Ubuntu Mono"/>
              </a:rPr>
              <a:t>Dimensions in inches, approximate. Intermediate sizes or sizes larger than 42 in. available on request.</a:t>
            </a:r>
          </a:p>
        </p:txBody>
      </p:sp>
      <p:pic>
        <p:nvPicPr>
          <p:cNvPr id="24" name="Picture 23" descr="hole_opener_blue.png"/>
          <p:cNvPicPr>
            <a:picLocks noChangeAspect="1"/>
          </p:cNvPicPr>
          <p:nvPr/>
        </p:nvPicPr>
        <p:blipFill>
          <a:blip r:embed="rId7"/>
          <a:stretch>
            <a:fillRect/>
          </a:stretch>
        </p:blipFill>
        <p:spPr>
          <a:xfrm>
            <a:off x="711200" y="7061200"/>
            <a:ext cx="1499016" cy="3048000"/>
          </a:xfrm>
          <a:prstGeom prst="rect">
            <a:avLst/>
          </a:prstGeom>
        </p:spPr>
      </p:pic>
      <p:sp>
        <p:nvSpPr>
          <p:cNvPr id="25" name="TextBox 24"/>
          <p:cNvSpPr txBox="1"/>
          <p:nvPr/>
        </p:nvSpPr>
        <p:spPr>
          <a:xfrm>
            <a:off x="2260600" y="7035800"/>
            <a:ext cx="1778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6" name="TextBox 25"/>
          <p:cNvSpPr txBox="1"/>
          <p:nvPr/>
        </p:nvSpPr>
        <p:spPr>
          <a:xfrm>
            <a:off x="2260600" y="7239000"/>
            <a:ext cx="1778000" cy="127000"/>
          </a:xfrm>
          <a:prstGeom prst="rect">
            <a:avLst/>
          </a:prstGeom>
          <a:noFill/>
        </p:spPr>
        <p:txBody>
          <a:bodyPr wrap="square" lIns="0" rIns="0" tIns="0" bIns="0">
            <a:spAutoFit/>
          </a:bodyPr>
          <a:lstStyle/>
          <a:p>
            <a:pPr algn="l">
              <a:lnSpc>
                <a:spcPts val="840"/>
              </a:lnSpc>
              <a:spcAft>
                <a:spcPts val="20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Fixed gauge: </a:t>
            </a:r>
            <a:r>
              <a:rPr sz="680" b="0">
                <a:solidFill>
                  <a:srgbClr val="000000"/>
                </a:solidFill>
                <a:latin typeface="Ubuntu Mono"/>
                <a:ea typeface="Ubuntu Mono"/>
                <a:cs typeface="Ubuntu Mono"/>
                <a:sym typeface="Ubuntu Mono"/>
              </a:rPr>
              <a:t>cutters rigidly mounted; no hydraulic actuation.</a:t>
            </a:r>
          </a:p>
          <a:p>
            <a:pPr algn="l">
              <a:lnSpc>
                <a:spcPts val="840"/>
              </a:lnSpc>
              <a:spcAft>
                <a:spcPts val="20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Demountable cutters: </a:t>
            </a:r>
            <a:r>
              <a:rPr sz="680" b="0">
                <a:solidFill>
                  <a:srgbClr val="000000"/>
                </a:solidFill>
                <a:latin typeface="Ubuntu Mono"/>
                <a:ea typeface="Ubuntu Mono"/>
                <a:cs typeface="Ubuntu Mono"/>
                <a:sym typeface="Ubuntu Mono"/>
              </a:rPr>
              <a:t>easily replaced on the rig floor.</a:t>
            </a:r>
          </a:p>
          <a:p>
            <a:pPr algn="l">
              <a:lnSpc>
                <a:spcPts val="840"/>
              </a:lnSpc>
              <a:spcAft>
                <a:spcPts val="20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Cutters: </a:t>
            </a:r>
            <a:r>
              <a:rPr sz="680" b="0">
                <a:solidFill>
                  <a:srgbClr val="000000"/>
                </a:solidFill>
                <a:latin typeface="Ubuntu Mono"/>
                <a:ea typeface="Ubuntu Mono"/>
                <a:cs typeface="Ubuntu Mono"/>
                <a:sym typeface="Ubuntu Mono"/>
              </a:rPr>
              <a:t>sealed-bearing milled tooth or tungsten carbide insert.</a:t>
            </a:r>
          </a:p>
          <a:p>
            <a:pPr algn="l">
              <a:lnSpc>
                <a:spcPts val="840"/>
              </a:lnSpc>
              <a:spcAft>
                <a:spcPts val="20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Long fishing necks: </a:t>
            </a:r>
            <a:r>
              <a:rPr sz="680" b="0">
                <a:solidFill>
                  <a:srgbClr val="000000"/>
                </a:solidFill>
                <a:latin typeface="Ubuntu Mono"/>
                <a:ea typeface="Ubuntu Mono"/>
                <a:cs typeface="Ubuntu Mono"/>
                <a:sym typeface="Ubuntu Mono"/>
              </a:rPr>
              <a:t>can be made up below the rotary table despite the large size.</a:t>
            </a:r>
          </a:p>
          <a:p>
            <a:pPr algn="l">
              <a:lnSpc>
                <a:spcPts val="840"/>
              </a:lnSpc>
              <a:spcAft>
                <a:spcPts val="20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Replaceable nozzles: </a:t>
            </a:r>
            <a:r>
              <a:rPr sz="680" b="0">
                <a:solidFill>
                  <a:srgbClr val="000000"/>
                </a:solidFill>
                <a:latin typeface="Ubuntu Mono"/>
                <a:ea typeface="Ubuntu Mono"/>
                <a:cs typeface="Ubuntu Mono"/>
                <a:sym typeface="Ubuntu Mono"/>
              </a:rPr>
              <a:t>effective hole cleaning.</a:t>
            </a:r>
          </a:p>
          <a:p>
            <a:pPr algn="l">
              <a:lnSpc>
                <a:spcPts val="840"/>
              </a:lnSpc>
              <a:spcAft>
                <a:spcPts val="20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Wide formation range: </a:t>
            </a:r>
            <a:r>
              <a:rPr sz="680" b="0">
                <a:solidFill>
                  <a:srgbClr val="000000"/>
                </a:solidFill>
                <a:latin typeface="Ubuntu Mono"/>
                <a:ea typeface="Ubuntu Mono"/>
                <a:cs typeface="Ubuntu Mono"/>
                <a:sym typeface="Ubuntu Mono"/>
              </a:rPr>
              <a:t>soft to hard-abrasive.</a:t>
            </a:r>
          </a:p>
        </p:txBody>
      </p:sp>
      <p:sp>
        <p:nvSpPr>
          <p:cNvPr id="27" name="TextBox 26"/>
          <p:cNvSpPr txBox="1"/>
          <p:nvPr/>
        </p:nvSpPr>
        <p:spPr>
          <a:xfrm>
            <a:off x="2260600" y="8813800"/>
            <a:ext cx="1778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NOZZLES AND CUTTERS</a:t>
            </a:r>
          </a:p>
        </p:txBody>
      </p:sp>
      <p:sp>
        <p:nvSpPr>
          <p:cNvPr id="28" name="TextBox 27"/>
          <p:cNvSpPr txBox="1"/>
          <p:nvPr/>
        </p:nvSpPr>
        <p:spPr>
          <a:xfrm>
            <a:off x="2260600" y="9017000"/>
            <a:ext cx="1778000" cy="127000"/>
          </a:xfrm>
          <a:prstGeom prst="rect">
            <a:avLst/>
          </a:prstGeom>
          <a:noFill/>
        </p:spPr>
        <p:txBody>
          <a:bodyPr wrap="square" lIns="0" rIns="0" tIns="0" bIns="0">
            <a:spAutoFit/>
          </a:bodyPr>
          <a:lstStyle/>
          <a:p>
            <a:pPr algn="l">
              <a:lnSpc>
                <a:spcPts val="840"/>
              </a:lnSpc>
              <a:spcAft>
                <a:spcPts val="20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Nozzles: </a:t>
            </a:r>
            <a:r>
              <a:rPr sz="680" b="0">
                <a:solidFill>
                  <a:srgbClr val="000000"/>
                </a:solidFill>
                <a:latin typeface="Ubuntu Mono"/>
                <a:ea typeface="Ubuntu Mono"/>
                <a:cs typeface="Ubuntu Mono"/>
                <a:sym typeface="Ubuntu Mono"/>
              </a:rPr>
              <a:t>threaded retainer holds the jet nozzle in its sleeve; O-ring seal.</a:t>
            </a:r>
          </a:p>
          <a:p>
            <a:pPr algn="l">
              <a:lnSpc>
                <a:spcPts val="840"/>
              </a:lnSpc>
              <a:spcAft>
                <a:spcPts val="20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Cutter sets: </a:t>
            </a:r>
            <a:r>
              <a:rPr sz="680" b="0">
                <a:solidFill>
                  <a:srgbClr val="000000"/>
                </a:solidFill>
                <a:latin typeface="Ubuntu Mono"/>
                <a:ea typeface="Ubuntu Mono"/>
                <a:cs typeface="Ubuntu Mono"/>
                <a:sym typeface="Ubuntu Mono"/>
              </a:rPr>
              <a:t>replacement sets include all parts needed.</a:t>
            </a:r>
          </a:p>
          <a:p>
            <a:pPr algn="l">
              <a:lnSpc>
                <a:spcPts val="840"/>
              </a:lnSpc>
              <a:spcAft>
                <a:spcPts val="20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Rebuild kits: </a:t>
            </a:r>
            <a:r>
              <a:rPr sz="680" b="0">
                <a:solidFill>
                  <a:srgbClr val="000000"/>
                </a:solidFill>
                <a:latin typeface="Ubuntu Mono"/>
                <a:ea typeface="Ubuntu Mono"/>
                <a:cs typeface="Ubuntu Mono"/>
                <a:sym typeface="Ubuntu Mono"/>
              </a:rPr>
              <a:t>cutter bearing rebuild kits on special order.</a:t>
            </a:r>
          </a:p>
        </p:txBody>
      </p:sp>
      <p:sp>
        <p:nvSpPr>
          <p:cNvPr id="29" name="TextBox 28"/>
          <p:cNvSpPr txBox="1"/>
          <p:nvPr/>
        </p:nvSpPr>
        <p:spPr>
          <a:xfrm>
            <a:off x="4089400" y="703580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PARAMETERS</a:t>
            </a:r>
          </a:p>
        </p:txBody>
      </p:sp>
      <p:graphicFrame>
        <p:nvGraphicFramePr>
          <p:cNvPr id="30" name="Table 29"/>
          <p:cNvGraphicFramePr>
            <a:graphicFrameLocks noGrp="1"/>
          </p:cNvGraphicFramePr>
          <p:nvPr/>
        </p:nvGraphicFramePr>
        <p:xfrm>
          <a:off x="4089400" y="7226300"/>
          <a:ext cx="2755900" cy="698500"/>
        </p:xfrm>
        <a:graphic>
          <a:graphicData uri="http://schemas.openxmlformats.org/drawingml/2006/table">
            <a:tbl>
              <a:tblPr/>
              <a:tblGrid>
                <a:gridCol w="558800"/>
                <a:gridCol w="698500"/>
                <a:gridCol w="889000"/>
                <a:gridCol w="609600"/>
              </a:tblGrid>
              <a:tr h="139700">
                <a:tc>
                  <a:txBody>
                    <a:bodyPr wrap="square"/>
                    <a:lstStyle/>
                    <a:p>
                      <a:pPr algn="ctr">
                        <a:lnSpc>
                          <a:spcPts val="800"/>
                        </a:lnSpc>
                      </a:pPr>
                      <a:r>
                        <a:rPr sz="640" b="1">
                          <a:solidFill>
                            <a:srgbClr val="FEFEFF"/>
                          </a:solidFill>
                          <a:latin typeface="Ubuntu Mono"/>
                          <a:ea typeface="Ubuntu Mono"/>
                          <a:cs typeface="Ubuntu Mono"/>
                          <a:sym typeface="Ubuntu Mono"/>
                        </a:rPr>
                        <a:t>Formation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Cutter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Weight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39700">
                <a:tc>
                  <a:txBody>
                    <a:bodyPr wrap="square"/>
                    <a:lstStyle/>
                    <a:p>
                      <a:pPr algn="ctr">
                        <a:lnSpc>
                          <a:spcPts val="800"/>
                        </a:lnSpc>
                      </a:pPr>
                      <a:r>
                        <a:rPr sz="640" b="0">
                          <a:solidFill>
                            <a:srgbClr val="FEFEFF"/>
                          </a:solidFill>
                          <a:latin typeface="Ubuntu Mono"/>
                          <a:ea typeface="Ubuntu Mono"/>
                          <a:cs typeface="Ubuntu Mono"/>
                          <a:sym typeface="Ubuntu Mono"/>
                        </a:rPr>
                        <a:t>Soft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Milled tooth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15,000 - 25,000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125 - 150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00"/>
                        </a:lnSpc>
                      </a:pPr>
                      <a:r>
                        <a:rPr sz="640" b="0">
                          <a:solidFill>
                            <a:srgbClr val="FEFEFF"/>
                          </a:solidFill>
                          <a:latin typeface="Ubuntu Mono"/>
                          <a:ea typeface="Ubuntu Mono"/>
                          <a:cs typeface="Ubuntu Mono"/>
                          <a:sym typeface="Ubuntu Mono"/>
                        </a:rPr>
                        <a:t>Medium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Milled tooth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20,000 - 35,000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75 - 85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00"/>
                        </a:lnSpc>
                      </a:pPr>
                      <a:r>
                        <a:rPr sz="640" b="0">
                          <a:solidFill>
                            <a:srgbClr val="FEFEFF"/>
                          </a:solidFill>
                          <a:latin typeface="Ubuntu Mono"/>
                          <a:ea typeface="Ubuntu Mono"/>
                          <a:cs typeface="Ubuntu Mono"/>
                          <a:sym typeface="Ubuntu Mono"/>
                        </a:rPr>
                        <a:t>Hard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Button type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35,000 - 45,000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50 - 60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00"/>
                        </a:lnSpc>
                      </a:pPr>
                      <a:r>
                        <a:rPr sz="640" b="0">
                          <a:solidFill>
                            <a:srgbClr val="FEFEFF"/>
                          </a:solidFill>
                          <a:latin typeface="Ubuntu Mono"/>
                          <a:ea typeface="Ubuntu Mono"/>
                          <a:cs typeface="Ubuntu Mono"/>
                          <a:sym typeface="Ubuntu Mono"/>
                        </a:rPr>
                        <a:t>Extr. hard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TCI button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30,000 - 45,000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30 - 40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31" name="TextBox 30"/>
          <p:cNvSpPr txBox="1"/>
          <p:nvPr/>
        </p:nvSpPr>
        <p:spPr>
          <a:xfrm>
            <a:off x="4089400" y="7950200"/>
            <a:ext cx="2755900" cy="114300"/>
          </a:xfrm>
          <a:prstGeom prst="rect">
            <a:avLst/>
          </a:prstGeom>
          <a:noFill/>
        </p:spPr>
        <p:txBody>
          <a:bodyPr wrap="square" lIns="0" rIns="0" tIns="0" bIns="0">
            <a:spAutoFit/>
          </a:bodyPr>
          <a:lstStyle/>
          <a:p>
            <a:pPr algn="l">
              <a:lnSpc>
                <a:spcPts val="700"/>
              </a:lnSpc>
              <a:spcAft>
                <a:spcPts val="0"/>
              </a:spcAft>
            </a:pPr>
            <a:r>
              <a:rPr sz="600" b="0">
                <a:solidFill>
                  <a:srgbClr val="444444"/>
                </a:solidFill>
                <a:latin typeface="Ubuntu Mono"/>
                <a:ea typeface="Ubuntu Mono"/>
                <a:cs typeface="Ubuntu Mono"/>
                <a:sym typeface="Ubuntu Mono"/>
              </a:rPr>
              <a:t>Guideline for 19-3/4 - 26 in. holes; smaller sizes need less weight.</a:t>
            </a:r>
          </a:p>
        </p:txBody>
      </p:sp>
      <p:sp>
        <p:nvSpPr>
          <p:cNvPr id="32" name="TextBox 31"/>
          <p:cNvSpPr txBox="1"/>
          <p:nvPr/>
        </p:nvSpPr>
        <p:spPr>
          <a:xfrm>
            <a:off x="4089400" y="810260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GAUGE TOLERANCE (ARMS OPEN)</a:t>
            </a:r>
          </a:p>
        </p:txBody>
      </p:sp>
      <p:graphicFrame>
        <p:nvGraphicFramePr>
          <p:cNvPr id="33" name="Table 32"/>
          <p:cNvGraphicFramePr>
            <a:graphicFrameLocks noGrp="1"/>
          </p:cNvGraphicFramePr>
          <p:nvPr/>
        </p:nvGraphicFramePr>
        <p:xfrm>
          <a:off x="4089400" y="8293100"/>
          <a:ext cx="2755900" cy="558800"/>
        </p:xfrm>
        <a:graphic>
          <a:graphicData uri="http://schemas.openxmlformats.org/drawingml/2006/table">
            <a:tbl>
              <a:tblPr/>
              <a:tblGrid>
                <a:gridCol w="1016000"/>
                <a:gridCol w="863600"/>
                <a:gridCol w="876300"/>
              </a:tblGrid>
              <a:tr h="139700">
                <a:tc>
                  <a:txBody>
                    <a:bodyPr wrap="square"/>
                    <a:lstStyle/>
                    <a:p>
                      <a:pPr algn="ctr">
                        <a:lnSpc>
                          <a:spcPts val="800"/>
                        </a:lnSpc>
                      </a:pPr>
                      <a:r>
                        <a:rPr sz="640" b="1">
                          <a:solidFill>
                            <a:srgbClr val="FEFEFF"/>
                          </a:solidFill>
                          <a:latin typeface="Ubuntu Mono"/>
                          <a:ea typeface="Ubuntu Mono"/>
                          <a:cs typeface="Ubuntu Mono"/>
                          <a:sym typeface="Ubuntu Mono"/>
                        </a:rPr>
                        <a:t>Size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Plus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Minus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39700">
                <a:tc>
                  <a:txBody>
                    <a:bodyPr wrap="square"/>
                    <a:lstStyle/>
                    <a:p>
                      <a:pPr algn="ctr">
                        <a:lnSpc>
                          <a:spcPts val="800"/>
                        </a:lnSpc>
                      </a:pPr>
                      <a:r>
                        <a:rPr sz="640" b="0">
                          <a:solidFill>
                            <a:srgbClr val="000000"/>
                          </a:solidFill>
                          <a:latin typeface="Ubuntu Mono"/>
                          <a:ea typeface="Ubuntu Mono"/>
                          <a:cs typeface="Ubuntu Mono"/>
                          <a:sym typeface="Ubuntu Mono"/>
                        </a:rPr>
                        <a:t>18 - 26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- 1/16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00"/>
                        </a:lnSpc>
                      </a:pPr>
                      <a:r>
                        <a:rPr sz="640" b="0">
                          <a:solidFill>
                            <a:srgbClr val="000000"/>
                          </a:solidFill>
                          <a:latin typeface="Ubuntu Mono"/>
                          <a:ea typeface="Ubuntu Mono"/>
                          <a:cs typeface="Ubuntu Mono"/>
                          <a:sym typeface="Ubuntu Mono"/>
                        </a:rPr>
                        <a:t>27 - 42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+5/32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- 1/16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00"/>
                        </a:lnSpc>
                      </a:pPr>
                      <a:r>
                        <a:rPr sz="640" b="0">
                          <a:solidFill>
                            <a:srgbClr val="000000"/>
                          </a:solidFill>
                          <a:latin typeface="Ubuntu Mono"/>
                          <a:ea typeface="Ubuntu Mono"/>
                          <a:cs typeface="Ubuntu Mono"/>
                          <a:sym typeface="Ubuntu Mono"/>
                        </a:rPr>
                        <a:t>43 and larger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- 1/16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34" name="TextBox 33"/>
          <p:cNvSpPr txBox="1"/>
          <p:nvPr/>
        </p:nvSpPr>
        <p:spPr>
          <a:xfrm>
            <a:off x="4089400" y="8877300"/>
            <a:ext cx="2755900" cy="114300"/>
          </a:xfrm>
          <a:prstGeom prst="rect">
            <a:avLst/>
          </a:prstGeom>
          <a:noFill/>
        </p:spPr>
        <p:txBody>
          <a:bodyPr wrap="square" lIns="0" rIns="0" tIns="0" bIns="0">
            <a:spAutoFit/>
          </a:bodyPr>
          <a:lstStyle/>
          <a:p>
            <a:pPr algn="l">
              <a:lnSpc>
                <a:spcPts val="700"/>
              </a:lnSpc>
              <a:spcAft>
                <a:spcPts val="0"/>
              </a:spcAft>
            </a:pPr>
            <a:r>
              <a:rPr sz="600" b="0">
                <a:solidFill>
                  <a:srgbClr val="444444"/>
                </a:solidFill>
                <a:latin typeface="Ubuntu Mono"/>
                <a:ea typeface="Ubuntu Mono"/>
                <a:cs typeface="Ubuntu Mono"/>
                <a:sym typeface="Ubuntu Mono"/>
              </a:rPr>
              <a:t>Gauge as dressed, not ground; milled tooth and TCI.</a:t>
            </a:r>
          </a:p>
        </p:txBody>
      </p:sp>
      <p:sp>
        <p:nvSpPr>
          <p:cNvPr id="35" name="TextBox 34"/>
          <p:cNvSpPr txBox="1"/>
          <p:nvPr/>
        </p:nvSpPr>
        <p:spPr>
          <a:xfrm>
            <a:off x="4089400" y="901700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MASTER DRILLER (CONE ARM VERSION)</a:t>
            </a:r>
          </a:p>
        </p:txBody>
      </p:sp>
      <p:sp>
        <p:nvSpPr>
          <p:cNvPr id="36" name="TextBox 35"/>
          <p:cNvSpPr txBox="1"/>
          <p:nvPr/>
        </p:nvSpPr>
        <p:spPr>
          <a:xfrm>
            <a:off x="4089400" y="9207500"/>
            <a:ext cx="2755900" cy="508000"/>
          </a:xfrm>
          <a:prstGeom prst="rect">
            <a:avLst/>
          </a:prstGeom>
          <a:noFill/>
        </p:spPr>
        <p:txBody>
          <a:bodyPr wrap="square" lIns="0" rIns="0" tIns="0" bIns="0">
            <a:spAutoFit/>
          </a:bodyPr>
          <a:lstStyle/>
          <a:p>
            <a:pPr algn="just">
              <a:lnSpc>
                <a:spcPts val="780"/>
              </a:lnSpc>
              <a:spcAft>
                <a:spcPts val="0"/>
              </a:spcAft>
            </a:pPr>
            <a:r>
              <a:rPr sz="640" b="0">
                <a:solidFill>
                  <a:srgbClr val="000000"/>
                </a:solidFill>
                <a:latin typeface="Ubuntu Mono"/>
                <a:ea typeface="Ubuntu Mono"/>
                <a:cs typeface="Ubuntu Mono"/>
                <a:sym typeface="Ubuntu Mono"/>
              </a:rPr>
              <a:t>Cone-arm hole opener, up to 36 in.; one body takes several arm sizes. Bottom box for bit or bullnose. Milled tooth, TCI or PDC cones; soft to medium-hard formations.</a:t>
            </a:r>
          </a:p>
        </p:txBody>
      </p:sp>
      <p:graphicFrame>
        <p:nvGraphicFramePr>
          <p:cNvPr id="37" name="Table 36"/>
          <p:cNvGraphicFramePr>
            <a:graphicFrameLocks noGrp="1"/>
          </p:cNvGraphicFramePr>
          <p:nvPr/>
        </p:nvGraphicFramePr>
        <p:xfrm>
          <a:off x="4089400" y="9537700"/>
          <a:ext cx="2755900" cy="698500"/>
        </p:xfrm>
        <a:graphic>
          <a:graphicData uri="http://schemas.openxmlformats.org/drawingml/2006/table">
            <a:tbl>
              <a:tblPr/>
              <a:tblGrid>
                <a:gridCol w="381000"/>
                <a:gridCol w="838200"/>
                <a:gridCol w="812800"/>
                <a:gridCol w="381000"/>
                <a:gridCol w="342900"/>
              </a:tblGrid>
              <a:tr h="139700">
                <a:tc>
                  <a:txBody>
                    <a:bodyPr wrap="square"/>
                    <a:lstStyle/>
                    <a:p>
                      <a:pPr algn="ctr">
                        <a:lnSpc>
                          <a:spcPts val="719"/>
                        </a:lnSpc>
                      </a:pPr>
                      <a:r>
                        <a:rPr sz="560" b="1">
                          <a:solidFill>
                            <a:srgbClr val="FEFEFF"/>
                          </a:solidFill>
                          <a:latin typeface="Ubuntu Mono"/>
                          <a:ea typeface="Ubuntu Mono"/>
                          <a:cs typeface="Ubuntu Mono"/>
                          <a:sym typeface="Ubuntu Mono"/>
                        </a:rPr>
                        <a:t>Series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719"/>
                        </a:lnSpc>
                      </a:pPr>
                      <a:r>
                        <a:rPr sz="560" b="1">
                          <a:solidFill>
                            <a:srgbClr val="FEFEFF"/>
                          </a:solidFill>
                          <a:latin typeface="Ubuntu Mono"/>
                          <a:ea typeface="Ubuntu Mono"/>
                          <a:cs typeface="Ubuntu Mono"/>
                          <a:sym typeface="Ubuntu Mono"/>
                        </a:rPr>
                        <a:t>Std. opening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719"/>
                        </a:lnSpc>
                      </a:pPr>
                      <a:r>
                        <a:rPr sz="560" b="1">
                          <a:solidFill>
                            <a:srgbClr val="FEFEFF"/>
                          </a:solidFill>
                          <a:latin typeface="Ubuntu Mono"/>
                          <a:ea typeface="Ubuntu Mono"/>
                          <a:cs typeface="Ubuntu Mono"/>
                          <a:sym typeface="Ubuntu Mono"/>
                        </a:rPr>
                        <a:t>Min. pilot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719"/>
                        </a:lnSpc>
                      </a:pPr>
                      <a:r>
                        <a:rPr sz="560" b="1">
                          <a:solidFill>
                            <a:srgbClr val="FEFEFF"/>
                          </a:solidFill>
                          <a:latin typeface="Ubuntu Mono"/>
                          <a:ea typeface="Ubuntu Mono"/>
                          <a:cs typeface="Ubuntu Mono"/>
                          <a:sym typeface="Ubuntu Mono"/>
                        </a:rPr>
                        <a:t>Body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719"/>
                        </a:lnSpc>
                      </a:pPr>
                      <a:r>
                        <a:rPr sz="560" b="1">
                          <a:solidFill>
                            <a:srgbClr val="FEFEFF"/>
                          </a:solidFill>
                          <a:latin typeface="Ubuntu Mono"/>
                          <a:ea typeface="Ubuntu Mono"/>
                          <a:cs typeface="Ubuntu Mono"/>
                          <a:sym typeface="Ubuntu Mono"/>
                        </a:rPr>
                        <a:t>Wt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39700">
                <a:tc>
                  <a:txBody>
                    <a:bodyPr wrap="square"/>
                    <a:lstStyle/>
                    <a:p>
                      <a:pPr algn="ctr">
                        <a:lnSpc>
                          <a:spcPts val="719"/>
                        </a:lnSpc>
                      </a:pPr>
                      <a:r>
                        <a:rPr sz="560" b="0">
                          <a:solidFill>
                            <a:srgbClr val="FEFEFF"/>
                          </a:solidFill>
                          <a:latin typeface="Ubuntu Mono"/>
                          <a:ea typeface="Ubuntu Mono"/>
                          <a:cs typeface="Ubuntu Mono"/>
                          <a:sym typeface="Ubuntu Mono"/>
                        </a:rPr>
                        <a:t>8200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719"/>
                        </a:lnSpc>
                      </a:pPr>
                      <a:r>
                        <a:rPr sz="560" b="0">
                          <a:solidFill>
                            <a:srgbClr val="000000"/>
                          </a:solidFill>
                          <a:latin typeface="Ubuntu Mono"/>
                          <a:ea typeface="Ubuntu Mono"/>
                          <a:cs typeface="Ubuntu Mono"/>
                          <a:sym typeface="Ubuntu Mono"/>
                        </a:rPr>
                        <a:t>12-1/4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19"/>
                        </a:lnSpc>
                      </a:pPr>
                      <a:r>
                        <a:rPr sz="560" b="0">
                          <a:solidFill>
                            <a:srgbClr val="000000"/>
                          </a:solidFill>
                          <a:latin typeface="Ubuntu Mono"/>
                          <a:ea typeface="Ubuntu Mono"/>
                          <a:cs typeface="Ubuntu Mono"/>
                          <a:sym typeface="Ubuntu Mono"/>
                        </a:rPr>
                        <a:t>8-1/2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19"/>
                        </a:lnSpc>
                      </a:pPr>
                      <a:r>
                        <a:rPr sz="560" b="0">
                          <a:solidFill>
                            <a:srgbClr val="000000"/>
                          </a:solidFill>
                          <a:latin typeface="Ubuntu Mono"/>
                          <a:ea typeface="Ubuntu Mono"/>
                          <a:cs typeface="Ubuntu Mono"/>
                          <a:sym typeface="Ubuntu Mono"/>
                        </a:rPr>
                        <a:t>8-1/4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19"/>
                        </a:lnSpc>
                      </a:pPr>
                      <a:r>
                        <a:rPr sz="560" b="0">
                          <a:solidFill>
                            <a:srgbClr val="000000"/>
                          </a:solidFill>
                          <a:latin typeface="Ubuntu Mono"/>
                          <a:ea typeface="Ubuntu Mono"/>
                          <a:cs typeface="Ubuntu Mono"/>
                          <a:sym typeface="Ubuntu Mono"/>
                        </a:rPr>
                        <a:t>640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719"/>
                        </a:lnSpc>
                      </a:pPr>
                      <a:r>
                        <a:rPr sz="560" b="0">
                          <a:solidFill>
                            <a:srgbClr val="FEFEFF"/>
                          </a:solidFill>
                          <a:latin typeface="Ubuntu Mono"/>
                          <a:ea typeface="Ubuntu Mono"/>
                          <a:cs typeface="Ubuntu Mono"/>
                          <a:sym typeface="Ubuntu Mono"/>
                        </a:rPr>
                        <a:t>9500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719"/>
                        </a:lnSpc>
                      </a:pPr>
                      <a:r>
                        <a:rPr sz="560" b="0">
                          <a:solidFill>
                            <a:srgbClr val="000000"/>
                          </a:solidFill>
                          <a:latin typeface="Ubuntu Mono"/>
                          <a:ea typeface="Ubuntu Mono"/>
                          <a:cs typeface="Ubuntu Mono"/>
                          <a:sym typeface="Ubuntu Mono"/>
                        </a:rPr>
                        <a:t>12-1/4, 14-3/4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19"/>
                        </a:lnSpc>
                      </a:pPr>
                      <a:r>
                        <a:rPr sz="560" b="0">
                          <a:solidFill>
                            <a:srgbClr val="000000"/>
                          </a:solidFill>
                          <a:latin typeface="Ubuntu Mono"/>
                          <a:ea typeface="Ubuntu Mono"/>
                          <a:cs typeface="Ubuntu Mono"/>
                          <a:sym typeface="Ubuntu Mono"/>
                        </a:rPr>
                        <a:t>8-1/2, 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19"/>
                        </a:lnSpc>
                      </a:pPr>
                      <a:r>
                        <a:rPr sz="560" b="0">
                          <a:solidFill>
                            <a:srgbClr val="000000"/>
                          </a:solidFill>
                          <a:latin typeface="Ubuntu Mono"/>
                          <a:ea typeface="Ubuntu Mono"/>
                          <a:cs typeface="Ubuntu Mono"/>
                          <a:sym typeface="Ubuntu Mono"/>
                        </a:rPr>
                        <a:t>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19"/>
                        </a:lnSpc>
                      </a:pPr>
                      <a:r>
                        <a:rPr sz="560" b="0">
                          <a:solidFill>
                            <a:srgbClr val="000000"/>
                          </a:solidFill>
                          <a:latin typeface="Ubuntu Mono"/>
                          <a:ea typeface="Ubuntu Mono"/>
                          <a:cs typeface="Ubuntu Mono"/>
                          <a:sym typeface="Ubuntu Mono"/>
                        </a:rPr>
                        <a:t>915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719"/>
                        </a:lnSpc>
                      </a:pPr>
                      <a:r>
                        <a:rPr sz="560" b="0">
                          <a:solidFill>
                            <a:srgbClr val="FEFEFF"/>
                          </a:solidFill>
                          <a:latin typeface="Ubuntu Mono"/>
                          <a:ea typeface="Ubuntu Mono"/>
                          <a:cs typeface="Ubuntu Mono"/>
                          <a:sym typeface="Ubuntu Mono"/>
                        </a:rPr>
                        <a:t>11000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719"/>
                        </a:lnSpc>
                      </a:pPr>
                      <a:r>
                        <a:rPr sz="560" b="0">
                          <a:solidFill>
                            <a:srgbClr val="000000"/>
                          </a:solidFill>
                          <a:latin typeface="Ubuntu Mono"/>
                          <a:ea typeface="Ubuntu Mono"/>
                          <a:cs typeface="Ubuntu Mono"/>
                          <a:sym typeface="Ubuntu Mono"/>
                        </a:rPr>
                        <a:t>17-1/2, 22-5/8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19"/>
                        </a:lnSpc>
                      </a:pPr>
                      <a:r>
                        <a:rPr sz="560" b="0">
                          <a:solidFill>
                            <a:srgbClr val="000000"/>
                          </a:solidFill>
                          <a:latin typeface="Ubuntu Mono"/>
                          <a:ea typeface="Ubuntu Mono"/>
                          <a:cs typeface="Ubuntu Mono"/>
                          <a:sym typeface="Ubuntu Mono"/>
                        </a:rPr>
                        <a:t>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19"/>
                        </a:lnSpc>
                      </a:pPr>
                      <a:r>
                        <a:rPr sz="560" b="0">
                          <a:solidFill>
                            <a:srgbClr val="000000"/>
                          </a:solidFill>
                          <a:latin typeface="Ubuntu Mono"/>
                          <a:ea typeface="Ubuntu Mono"/>
                          <a:cs typeface="Ubuntu Mono"/>
                          <a:sym typeface="Ubuntu Mono"/>
                        </a:rPr>
                        <a:t>11-5/8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19"/>
                        </a:lnSpc>
                      </a:pPr>
                      <a:r>
                        <a:rPr sz="560" b="0">
                          <a:solidFill>
                            <a:srgbClr val="000000"/>
                          </a:solidFill>
                          <a:latin typeface="Ubuntu Mono"/>
                          <a:ea typeface="Ubuntu Mono"/>
                          <a:cs typeface="Ubuntu Mono"/>
                          <a:sym typeface="Ubuntu Mono"/>
                        </a:rPr>
                        <a:t>1,100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719"/>
                        </a:lnSpc>
                      </a:pPr>
                      <a:r>
                        <a:rPr sz="560" b="0">
                          <a:solidFill>
                            <a:srgbClr val="FEFEFF"/>
                          </a:solidFill>
                          <a:latin typeface="Ubuntu Mono"/>
                          <a:ea typeface="Ubuntu Mono"/>
                          <a:cs typeface="Ubuntu Mono"/>
                          <a:sym typeface="Ubuntu Mono"/>
                        </a:rPr>
                        <a:t>15000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719"/>
                        </a:lnSpc>
                      </a:pPr>
                      <a:r>
                        <a:rPr sz="560" b="0">
                          <a:solidFill>
                            <a:srgbClr val="000000"/>
                          </a:solidFill>
                          <a:latin typeface="Ubuntu Mono"/>
                          <a:ea typeface="Ubuntu Mono"/>
                          <a:cs typeface="Ubuntu Mono"/>
                          <a:sym typeface="Ubuntu Mono"/>
                        </a:rPr>
                        <a:t>17-1/2, 26-5/8, 36-5/8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19"/>
                        </a:lnSpc>
                      </a:pPr>
                      <a:r>
                        <a:rPr sz="560" b="0">
                          <a:solidFill>
                            <a:srgbClr val="000000"/>
                          </a:solidFill>
                          <a:latin typeface="Ubuntu Mono"/>
                          <a:ea typeface="Ubuntu Mono"/>
                          <a:cs typeface="Ubuntu Mono"/>
                          <a:sym typeface="Ubuntu Mono"/>
                        </a:rPr>
                        <a:t>9-1/2, 12-1/4, 24-5/8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19"/>
                        </a:lnSpc>
                      </a:pPr>
                      <a:r>
                        <a:rPr sz="560" b="0">
                          <a:solidFill>
                            <a:srgbClr val="000000"/>
                          </a:solidFill>
                          <a:latin typeface="Ubuntu Mono"/>
                          <a:ea typeface="Ubuntu Mono"/>
                          <a:cs typeface="Ubuntu Mono"/>
                          <a:sym typeface="Ubuntu Mono"/>
                        </a:rPr>
                        <a:t>15-5/8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19"/>
                        </a:lnSpc>
                      </a:pPr>
                      <a:r>
                        <a:rPr sz="560" b="0">
                          <a:solidFill>
                            <a:srgbClr val="000000"/>
                          </a:solidFill>
                          <a:latin typeface="Ubuntu Mono"/>
                          <a:ea typeface="Ubuntu Mono"/>
                          <a:cs typeface="Ubuntu Mono"/>
                          <a:sym typeface="Ubuntu Mono"/>
                        </a:rPr>
                        <a:t>1,900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38" name="TextBox 37"/>
          <p:cNvSpPr txBox="1"/>
          <p:nvPr/>
        </p:nvSpPr>
        <p:spPr>
          <a:xfrm>
            <a:off x="2260600" y="10007600"/>
            <a:ext cx="1778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9" name="TextBox 38"/>
          <p:cNvSpPr txBox="1"/>
          <p:nvPr/>
        </p:nvSpPr>
        <p:spPr>
          <a:xfrm>
            <a:off x="2260600" y="10185400"/>
            <a:ext cx="1778000" cy="762000"/>
          </a:xfrm>
          <a:prstGeom prst="rect">
            <a:avLst/>
          </a:prstGeom>
          <a:noFill/>
        </p:spPr>
        <p:txBody>
          <a:bodyPr wrap="square" lIns="0" rIns="0" tIns="0" bIns="0">
            <a:spAutoFit/>
          </a:bodyPr>
          <a:lstStyle/>
          <a:p>
            <a:pPr algn="just">
              <a:lnSpc>
                <a:spcPts val="780"/>
              </a:lnSpc>
              <a:spcAft>
                <a:spcPts val="0"/>
              </a:spcAft>
            </a:pPr>
            <a:r>
              <a:rPr sz="640" b="0">
                <a:solidFill>
                  <a:srgbClr val="000000"/>
                </a:solidFill>
                <a:latin typeface="Ubuntu Mono"/>
                <a:ea typeface="Ubuntu Mono"/>
                <a:cs typeface="Ubuntu Mono"/>
                <a:sym typeface="Ubuntu Mono"/>
              </a:rPr>
              <a:t>Please specify: 1. pilot hole size  2. hole opening size  3. top and bottom connections if not standard  4. fishing neck diameter if not standard  5. cutter type (milled tooth or tungsten carbide insert) and formation (soft or medium).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DAGS_rYUj9A</dc:identifier>
  <dcterms:modified xsi:type="dcterms:W3CDTF">2011-08-01T06:04:30Z</dcterms:modified>
  <cp:revision>1</cp:revision>
  <dc:title>Catalogue outils</dc:title>
</cp:coreProperties>
</file>