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Lst>
  <p:sldSz cx="7556500" cy="10693400"/>
  <p:notesSz cx="6858000" cy="9144000"/>
  <p:embeddedFontLst>
    <p:embeddedFont>
      <p:font typeface="Ubuntu Mono" charset="1" panose="020B0509030602030204"/>
      <p:regular r:id="rId7"/>
    </p:embeddedFont>
    <p:embeddedFont>
      <p:font typeface="Ubuntu Mono Bold" charset="1" panose="020B0809030602030204"/>
      <p:regular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font" Target="fonts/font7.fntdata"/><Relationship Id="rId8" Type="http://schemas.openxmlformats.org/officeDocument/2006/relationships/font" Target="fonts/font8.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7560000" cy="10692000"/>
          </a:xfrm>
          <a:custGeom>
            <a:avLst/>
            <a:gdLst/>
            <a:ahLst/>
            <a:cxnLst/>
            <a:rect r="r" b="b" t="t" l="l"/>
            <a:pathLst>
              <a:path h="10692000" w="7560000">
                <a:moveTo>
                  <a:pt x="0" y="0"/>
                </a:moveTo>
                <a:lnTo>
                  <a:pt x="7560000" y="0"/>
                </a:lnTo>
                <a:lnTo>
                  <a:pt x="7560000" y="10692000"/>
                </a:lnTo>
                <a:lnTo>
                  <a:pt x="0" y="10692000"/>
                </a:lnTo>
                <a:lnTo>
                  <a:pt x="0" y="0"/>
                </a:lnTo>
                <a:close/>
              </a:path>
            </a:pathLst>
          </a:custGeom>
          <a:blipFill>
            <a:blip r:embed="rId2"/>
            <a:stretch>
              <a:fillRect l="-22226" t="-1069" r="-22226" b="-1069"/>
            </a:stretch>
          </a:blipFill>
        </p:spPr>
      </p:sp>
      <p:grpSp>
        <p:nvGrpSpPr>
          <p:cNvPr name="Group 3" id="3"/>
          <p:cNvGrpSpPr/>
          <p:nvPr/>
        </p:nvGrpSpPr>
        <p:grpSpPr>
          <a:xfrm rot="0">
            <a:off x="4198589" y="2749692"/>
            <a:ext cx="3376379" cy="837955"/>
            <a:chOff x="0" y="0"/>
            <a:chExt cx="1210018" cy="300304"/>
          </a:xfrm>
        </p:grpSpPr>
        <p:sp>
          <p:nvSpPr>
            <p:cNvPr name="Freeform 4" id="4"/>
            <p:cNvSpPr/>
            <p:nvPr/>
          </p:nvSpPr>
          <p:spPr>
            <a:xfrm flipH="false" flipV="false" rot="0">
              <a:off x="0" y="0"/>
              <a:ext cx="1210018" cy="300304"/>
            </a:xfrm>
            <a:custGeom>
              <a:avLst/>
              <a:gdLst/>
              <a:ahLst/>
              <a:cxnLst/>
              <a:rect r="r" b="b" t="t" l="l"/>
              <a:pathLst>
                <a:path h="300304" w="1210018">
                  <a:moveTo>
                    <a:pt x="0" y="0"/>
                  </a:moveTo>
                  <a:lnTo>
                    <a:pt x="1210018" y="0"/>
                  </a:lnTo>
                  <a:lnTo>
                    <a:pt x="1210018" y="300304"/>
                  </a:lnTo>
                  <a:lnTo>
                    <a:pt x="0" y="300304"/>
                  </a:lnTo>
                  <a:close/>
                </a:path>
              </a:pathLst>
            </a:custGeom>
            <a:solidFill>
              <a:srgbClr val="1CB2FE"/>
            </a:solidFill>
          </p:spPr>
        </p:sp>
        <p:sp>
          <p:nvSpPr>
            <p:cNvPr name="TextBox 5" id="5"/>
            <p:cNvSpPr txBox="true"/>
            <p:nvPr/>
          </p:nvSpPr>
          <p:spPr>
            <a:xfrm>
              <a:off x="0" y="0"/>
              <a:ext cx="1210018" cy="300304"/>
            </a:xfrm>
            <a:prstGeom prst="rect">
              <a:avLst/>
            </a:prstGeom>
          </p:spPr>
          <p:txBody>
            <a:bodyPr anchor="ctr" rtlCol="false" tIns="50800" lIns="50800" bIns="50800" rIns="50800"/>
            <a:lstStyle/>
            <a:p>
              <a:pPr algn="ctr">
                <a:lnSpc>
                  <a:spcPts val="1440"/>
                </a:lnSpc>
              </a:pPr>
            </a:p>
          </p:txBody>
        </p:sp>
      </p:grpSp>
      <p:grpSp>
        <p:nvGrpSpPr>
          <p:cNvPr name="Group 6" id="6"/>
          <p:cNvGrpSpPr/>
          <p:nvPr/>
        </p:nvGrpSpPr>
        <p:grpSpPr>
          <a:xfrm rot="0">
            <a:off x="-807385" y="2570502"/>
            <a:ext cx="6036246" cy="1196335"/>
            <a:chOff x="0" y="0"/>
            <a:chExt cx="3262422" cy="646585"/>
          </a:xfrm>
        </p:grpSpPr>
        <p:sp>
          <p:nvSpPr>
            <p:cNvPr name="Freeform 7" id="7"/>
            <p:cNvSpPr/>
            <p:nvPr/>
          </p:nvSpPr>
          <p:spPr>
            <a:xfrm flipH="false" flipV="false" rot="0">
              <a:off x="0" y="0"/>
              <a:ext cx="3262422" cy="646585"/>
            </a:xfrm>
            <a:custGeom>
              <a:avLst/>
              <a:gdLst/>
              <a:ahLst/>
              <a:cxnLst/>
              <a:rect r="r" b="b" t="t" l="l"/>
              <a:pathLst>
                <a:path h="646585" w="3262422">
                  <a:moveTo>
                    <a:pt x="3059222" y="0"/>
                  </a:moveTo>
                  <a:lnTo>
                    <a:pt x="0" y="0"/>
                  </a:lnTo>
                  <a:lnTo>
                    <a:pt x="203200" y="646585"/>
                  </a:lnTo>
                  <a:lnTo>
                    <a:pt x="3262422" y="646585"/>
                  </a:lnTo>
                  <a:lnTo>
                    <a:pt x="3059222" y="0"/>
                  </a:lnTo>
                  <a:close/>
                </a:path>
              </a:pathLst>
            </a:custGeom>
            <a:solidFill>
              <a:srgbClr val="0250A5"/>
            </a:solidFill>
          </p:spPr>
        </p:sp>
        <p:sp>
          <p:nvSpPr>
            <p:cNvPr name="TextBox 8" id="8"/>
            <p:cNvSpPr txBox="true"/>
            <p:nvPr/>
          </p:nvSpPr>
          <p:spPr>
            <a:xfrm>
              <a:off x="101600" y="0"/>
              <a:ext cx="3059222" cy="646585"/>
            </a:xfrm>
            <a:prstGeom prst="rect">
              <a:avLst/>
            </a:prstGeom>
          </p:spPr>
          <p:txBody>
            <a:bodyPr anchor="ctr" rtlCol="false" tIns="50800" lIns="50800" bIns="50800" rIns="50800"/>
            <a:lstStyle/>
            <a:p>
              <a:pPr algn="ctr">
                <a:lnSpc>
                  <a:spcPts val="1440"/>
                </a:lnSpc>
              </a:pPr>
            </a:p>
          </p:txBody>
        </p:sp>
      </p:grpSp>
      <p:sp>
        <p:nvSpPr>
          <p:cNvPr name="Freeform 10" id="10"/>
          <p:cNvSpPr/>
          <p:nvPr/>
        </p:nvSpPr>
        <p:spPr>
          <a:xfrm flipH="false" flipV="false" rot="0">
            <a:off x="5595542" y="2339157"/>
            <a:ext cx="1876410" cy="342260"/>
          </a:xfrm>
          <a:custGeom>
            <a:avLst/>
            <a:gdLst/>
            <a:ahLst/>
            <a:cxnLst/>
            <a:rect r="r" b="b" t="t" l="l"/>
            <a:pathLst>
              <a:path h="342260" w="1876410">
                <a:moveTo>
                  <a:pt x="0" y="0"/>
                </a:moveTo>
                <a:lnTo>
                  <a:pt x="1876410" y="0"/>
                </a:lnTo>
                <a:lnTo>
                  <a:pt x="1876410" y="342260"/>
                </a:lnTo>
                <a:lnTo>
                  <a:pt x="0" y="342260"/>
                </a:lnTo>
                <a:lnTo>
                  <a:pt x="0" y="0"/>
                </a:lnTo>
                <a:close/>
              </a:path>
            </a:pathLst>
          </a:custGeom>
          <a:blipFill>
            <a:blip r:embed="rId3"/>
            <a:stretch>
              <a:fillRect l="0" t="0" r="0" b="0"/>
            </a:stretch>
          </a:blipFill>
        </p:spPr>
      </p:sp>
      <p:sp>
        <p:nvSpPr>
          <p:cNvPr name="TextBox 16" id="16"/>
          <p:cNvSpPr txBox="true"/>
          <p:nvPr/>
        </p:nvSpPr>
        <p:spPr>
          <a:xfrm rot="0">
            <a:off x="710217" y="2667655"/>
            <a:ext cx="4433411" cy="554354"/>
          </a:xfrm>
          <a:prstGeom prst="rect">
            <a:avLst/>
          </a:prstGeom>
        </p:spPr>
        <p:txBody>
          <a:bodyPr anchor="t" rtlCol="false" tIns="0" lIns="0" bIns="0" rIns="0">
            <a:spAutoFit/>
          </a:bodyPr>
          <a:lstStyle/>
          <a:p>
            <a:pPr algn="l">
              <a:lnSpc>
                <a:spcPts val="4199"/>
              </a:lnSpc>
            </a:pPr>
            <a:r>
              <a:rPr lang="en-US" sz="4199">
                <a:solidFill>
                  <a:srgbClr val="FFFFFF"/>
                </a:solidFill>
                <a:latin typeface="Ubuntu Mono"/>
                <a:ea typeface="Ubuntu Mono"/>
                <a:cs typeface="Ubuntu Mono"/>
                <a:sym typeface="Ubuntu Mono"/>
              </a:rPr>
              <a:t>SCRAPER</a:t>
            </a:r>
          </a:p>
        </p:txBody>
      </p:sp>
      <p:sp>
        <p:nvSpPr>
          <p:cNvPr name="TextBox 17" id="17"/>
          <p:cNvSpPr txBox="true"/>
          <p:nvPr/>
        </p:nvSpPr>
        <p:spPr>
          <a:xfrm rot="0">
            <a:off x="5145720" y="3053100"/>
            <a:ext cx="2326232" cy="240665"/>
          </a:xfrm>
          <a:prstGeom prst="rect">
            <a:avLst/>
          </a:prstGeom>
        </p:spPr>
        <p:txBody>
          <a:bodyPr anchor="t" rtlCol="false" tIns="0" lIns="0" bIns="0" rIns="0">
            <a:spAutoFit/>
          </a:bodyPr>
          <a:lstStyle/>
          <a:p>
            <a:pPr algn="ctr">
              <a:lnSpc>
                <a:spcPts val="1870"/>
              </a:lnSpc>
            </a:pPr>
            <a:r>
              <a:rPr lang="en-US" sz="1700">
                <a:solidFill>
                  <a:srgbClr val="FFFFFF"/>
                </a:solidFill>
                <a:latin typeface="Ubuntu Mono"/>
                <a:ea typeface="Ubuntu Mono"/>
                <a:cs typeface="Ubuntu Mono"/>
                <a:sym typeface="Ubuntu Mono"/>
              </a:rPr>
              <a:t>CLEANING</a:t>
            </a:r>
          </a:p>
        </p:txBody>
      </p:sp>
      <p:sp>
        <p:nvSpPr>
          <p:cNvPr id="18" name="TextBox 17"/>
          <p:cNvSpPr txBox="1"/>
          <p:nvPr/>
        </p:nvSpPr>
        <p:spPr>
          <a:xfrm>
            <a:off x="711200" y="3314700"/>
            <a:ext cx="4191000" cy="177800"/>
          </a:xfrm>
          <a:prstGeom prst="rect">
            <a:avLst/>
          </a:prstGeom>
          <a:noFill/>
        </p:spPr>
        <p:txBody>
          <a:bodyPr wrap="square" lIns="0" rIns="0" tIns="0" bIns="0">
            <a:spAutoFit/>
          </a:bodyPr>
          <a:lstStyle/>
          <a:p>
            <a:pPr algn="l">
              <a:spcAft>
                <a:spcPts val="0"/>
              </a:spcAft>
            </a:pPr>
            <a:r>
              <a:rPr sz="950" b="0" spc="30">
                <a:solidFill>
                  <a:srgbClr val="FFFFFF"/>
                </a:solidFill>
                <a:latin typeface="Ubuntu Mono"/>
                <a:ea typeface="Ubuntu Mono"/>
                <a:cs typeface="Ubuntu Mono"/>
                <a:sym typeface="Ubuntu Mono"/>
              </a:rPr>
              <a:t>FULL-CIRCLE CASING SCRAPER</a:t>
            </a:r>
          </a:p>
        </p:txBody>
      </p:sp>
      <p:sp>
        <p:nvSpPr>
          <p:cNvPr id="19" name="TextBox 18"/>
          <p:cNvSpPr txBox="1"/>
          <p:nvPr/>
        </p:nvSpPr>
        <p:spPr>
          <a:xfrm>
            <a:off x="711200" y="4013200"/>
            <a:ext cx="6134100" cy="177800"/>
          </a:xfrm>
          <a:prstGeom prst="rect">
            <a:avLst/>
          </a:prstGeom>
          <a:noFill/>
        </p:spPr>
        <p:txBody>
          <a:bodyPr wrap="square" lIns="0" rIns="0" tIns="0" bIns="0">
            <a:spAutoFit/>
          </a:bodyPr>
          <a:lstStyle/>
          <a:p>
            <a:pPr algn="l">
              <a:spcAft>
                <a:spcPts val="0"/>
              </a:spcAft>
            </a:pPr>
            <a:r>
              <a:rPr sz="1050" b="1" spc="35">
                <a:solidFill>
                  <a:srgbClr val="194E9A"/>
                </a:solidFill>
                <a:latin typeface="Ubuntu Mono"/>
                <a:ea typeface="Ubuntu Mono"/>
                <a:cs typeface="Ubuntu Mono"/>
                <a:sym typeface="Ubuntu Mono"/>
              </a:rPr>
              <a:t>GENERAL DESCRIPTION</a:t>
            </a:r>
          </a:p>
        </p:txBody>
      </p:sp>
      <p:sp>
        <p:nvSpPr>
          <p:cNvPr id="20" name="TextBox 19"/>
          <p:cNvSpPr txBox="1"/>
          <p:nvPr/>
        </p:nvSpPr>
        <p:spPr>
          <a:xfrm>
            <a:off x="711200" y="4229100"/>
            <a:ext cx="6134100" cy="762000"/>
          </a:xfrm>
          <a:prstGeom prst="rect">
            <a:avLst/>
          </a:prstGeom>
          <a:noFill/>
        </p:spPr>
        <p:txBody>
          <a:bodyPr wrap="square" lIns="0" rIns="0" tIns="0" bIns="0">
            <a:spAutoFit/>
          </a:bodyPr>
          <a:lstStyle/>
          <a:p>
            <a:pPr algn="just">
              <a:lnSpc>
                <a:spcPts val="1040"/>
              </a:lnSpc>
              <a:spcAft>
                <a:spcPts val="0"/>
              </a:spcAft>
            </a:pPr>
            <a:r>
              <a:rPr sz="760" b="0" spc="20">
                <a:solidFill>
                  <a:srgbClr val="000000"/>
                </a:solidFill>
                <a:latin typeface="Ubuntu Mono"/>
                <a:ea typeface="Ubuntu Mono"/>
                <a:cs typeface="Ubuntu Mono"/>
                <a:sym typeface="Ubuntu Mono"/>
              </a:rPr>
              <a:t>CASING SCRAPER THAT REMOVES MUD, CEMENT, BULLETS, RUST, SCALE, PARAFFIN AND PERFORATION BURRS FROM THE INSIDE WALL OF CASING. THE BLADES ARE SPACED TO CONTACT 600 DEGREES OF THE CASING SURFACE AT ONCE, SO EVERY PART OF THE WALL IS SCRAPED WHETHER THE TOOL IS ROTATED OR SPUDDED. SHORT AND COMPACT, WITH A LONG TAPER ON THE BLADES, IT PASSES THROUGH CASING JOINTS WITHOUT HANGING. IT WORKS IN VERTICAL OR ROTARY OPERATIONS AND CAN BE RUN ON DRILL PIPE, PIN UP OR PIN DOWN.</a:t>
            </a:r>
          </a:p>
        </p:txBody>
      </p:sp>
      <p:sp>
        <p:nvSpPr>
          <p:cNvPr id="21" name="TextBox 20"/>
          <p:cNvSpPr txBox="1"/>
          <p:nvPr/>
        </p:nvSpPr>
        <p:spPr>
          <a:xfrm>
            <a:off x="711200" y="4978400"/>
            <a:ext cx="6134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TECHNICAL CHARACTERISTICS</a:t>
            </a:r>
          </a:p>
        </p:txBody>
      </p:sp>
      <p:graphicFrame>
        <p:nvGraphicFramePr>
          <p:cNvPr id="22" name="Table 21"/>
          <p:cNvGraphicFramePr>
            <a:graphicFrameLocks noGrp="1"/>
          </p:cNvGraphicFramePr>
          <p:nvPr/>
        </p:nvGraphicFramePr>
        <p:xfrm>
          <a:off x="711200" y="5181600"/>
          <a:ext cx="6134095" cy="1549400"/>
        </p:xfrm>
        <a:graphic>
          <a:graphicData uri="http://schemas.openxmlformats.org/drawingml/2006/table">
            <a:tbl>
              <a:tblPr/>
              <a:tblGrid>
                <a:gridCol w="1157377"/>
                <a:gridCol w="896967"/>
                <a:gridCol w="665491"/>
                <a:gridCol w="665491"/>
                <a:gridCol w="839098"/>
                <a:gridCol w="752295"/>
                <a:gridCol w="578688"/>
                <a:gridCol w="578688"/>
              </a:tblGrid>
              <a:tr h="330200">
                <a:tc>
                  <a:txBody>
                    <a:bodyPr wrap="square"/>
                    <a:lstStyle/>
                    <a:p>
                      <a:pPr algn="ctr">
                        <a:lnSpc>
                          <a:spcPts val="880"/>
                        </a:lnSpc>
                      </a:pPr>
                      <a:r>
                        <a:rPr sz="720" b="1">
                          <a:solidFill>
                            <a:srgbClr val="FEFEFF"/>
                          </a:solidFill>
                          <a:latin typeface="Ubuntu Mono"/>
                          <a:ea typeface="Ubuntu Mono"/>
                          <a:cs typeface="Ubuntu Mono"/>
                          <a:sym typeface="Ubuntu Mono"/>
                        </a:rPr>
                        <a:t>Scraper for casing OD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Casing weight (lb/ft)</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Casing ID min.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Casing ID max.</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Top connection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Fishing neck Ø</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Tool ID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Tool OD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9.5 - 13.5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3.886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4.622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13/16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5-1/2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14.0 - 23.0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4.662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5.250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2-7/8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3-3/4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4-3/8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5-1/2, dressed for 6-5/8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20.0 - 33.0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5.600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6.188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4-3/8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17.0 - 38.0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5.850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6.688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3-1/2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4-1/4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5-1/2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7, dressed for 7-5/8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24.0 - 47.1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6.308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7.188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4-1/4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5-1/2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9-5/8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32.3 - 64.9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8.224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9.188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5-1/2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2-1/4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8-1/8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10-3/4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32.75 - 79.2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9.22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10.412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6-5/8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7-3/4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9-3/16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13-3/8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48.0 - 98.0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11.911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13.238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6-5/8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7-3/4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3-1/2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bl>
          </a:graphicData>
        </a:graphic>
      </p:graphicFrame>
      <p:sp>
        <p:nvSpPr>
          <p:cNvPr id="23" name="TextBox 22"/>
          <p:cNvSpPr txBox="1"/>
          <p:nvPr/>
        </p:nvSpPr>
        <p:spPr>
          <a:xfrm>
            <a:off x="711200" y="6769100"/>
            <a:ext cx="6134100" cy="114300"/>
          </a:xfrm>
          <a:prstGeom prst="rect">
            <a:avLst/>
          </a:prstGeom>
          <a:noFill/>
        </p:spPr>
        <p:txBody>
          <a:bodyPr wrap="square" lIns="0" rIns="0" tIns="0" bIns="0">
            <a:spAutoFit/>
          </a:bodyPr>
          <a:lstStyle/>
          <a:p>
            <a:pPr algn="l">
              <a:lnSpc>
                <a:spcPts val="740"/>
              </a:lnSpc>
              <a:spcAft>
                <a:spcPts val="0"/>
              </a:spcAft>
            </a:pPr>
            <a:r>
              <a:rPr sz="620" b="0">
                <a:solidFill>
                  <a:srgbClr val="444444"/>
                </a:solidFill>
                <a:latin typeface="Ubuntu Mono"/>
                <a:ea typeface="Ubuntu Mono"/>
                <a:cs typeface="Ubuntu Mono"/>
                <a:sym typeface="Ubuntu Mono"/>
              </a:rPr>
              <a:t>Dimensions in inches. One blade size covers a full range of casing weights for each casing OD. Casing ID range = recommended minimum and maximum.</a:t>
            </a:r>
          </a:p>
        </p:txBody>
      </p:sp>
      <p:pic>
        <p:nvPicPr>
          <p:cNvPr id="24" name="Picture 23" descr="scraper_tool_blue.png"/>
          <p:cNvPicPr>
            <a:picLocks noChangeAspect="1"/>
          </p:cNvPicPr>
          <p:nvPr/>
        </p:nvPicPr>
        <p:blipFill>
          <a:blip r:embed="rId7"/>
          <a:stretch>
            <a:fillRect/>
          </a:stretch>
        </p:blipFill>
        <p:spPr>
          <a:xfrm>
            <a:off x="711200" y="7073900"/>
            <a:ext cx="533894" cy="3327400"/>
          </a:xfrm>
          <a:prstGeom prst="rect">
            <a:avLst/>
          </a:prstGeom>
        </p:spPr>
      </p:pic>
      <p:sp>
        <p:nvSpPr>
          <p:cNvPr id="25" name="TextBox 24"/>
          <p:cNvSpPr txBox="1"/>
          <p:nvPr/>
        </p:nvSpPr>
        <p:spPr>
          <a:xfrm>
            <a:off x="1422400" y="7048500"/>
            <a:ext cx="25400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DESIGN FEATURES</a:t>
            </a:r>
          </a:p>
        </p:txBody>
      </p:sp>
      <p:sp>
        <p:nvSpPr>
          <p:cNvPr id="26" name="TextBox 25"/>
          <p:cNvSpPr txBox="1"/>
          <p:nvPr/>
        </p:nvSpPr>
        <p:spPr>
          <a:xfrm>
            <a:off x="1422400" y="7251700"/>
            <a:ext cx="2540000" cy="127000"/>
          </a:xfrm>
          <a:prstGeom prst="rect">
            <a:avLst/>
          </a:prstGeom>
          <a:noFill/>
        </p:spPr>
        <p:txBody>
          <a:bodyPr wrap="square" lIns="0" rIns="0" tIns="0" bIns="0">
            <a:spAutoFit/>
          </a:bodyPr>
          <a:lstStyle/>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Full-circle scraping: </a:t>
            </a:r>
            <a:r>
              <a:rPr sz="700" b="0">
                <a:solidFill>
                  <a:srgbClr val="000000"/>
                </a:solidFill>
                <a:latin typeface="Ubuntu Mono"/>
                <a:ea typeface="Ubuntu Mono"/>
                <a:cs typeface="Ubuntu Mono"/>
                <a:sym typeface="Ubuntu Mono"/>
              </a:rPr>
              <a:t>two rows of blades overlap, covering 600 degrees of casing wall.</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Spring-loaded blades: </a:t>
            </a:r>
            <a:r>
              <a:rPr sz="700" b="0">
                <a:solidFill>
                  <a:srgbClr val="000000"/>
                </a:solidFill>
                <a:latin typeface="Ubuntu Mono"/>
                <a:ea typeface="Ubuntu Mono"/>
                <a:cs typeface="Ubuntu Mono"/>
                <a:sym typeface="Ubuntu Mono"/>
              </a:rPr>
              <a:t>move in or out with gradual ID changes and stay on the clean wall without cutting the metal.</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Abrupt obstructions: </a:t>
            </a:r>
            <a:r>
              <a:rPr sz="700" b="0">
                <a:solidFill>
                  <a:srgbClr val="000000"/>
                </a:solidFill>
                <a:latin typeface="Ubuntu Mono"/>
                <a:ea typeface="Ubuntu Mono"/>
                <a:cs typeface="Ubuntu Mono"/>
                <a:sym typeface="Ubuntu Mono"/>
              </a:rPr>
              <a:t>a burr or cement fragment is held by the close-fitting blade slot, the mandrel and the split retainer ring.</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Wear-resistant blades: </a:t>
            </a:r>
            <a:r>
              <a:rPr sz="700" b="0">
                <a:solidFill>
                  <a:srgbClr val="000000"/>
                </a:solidFill>
                <a:latin typeface="Ubuntu Mono"/>
                <a:ea typeface="Ubuntu Mono"/>
                <a:cs typeface="Ubuntu Mono"/>
                <a:sym typeface="Ubuntu Mono"/>
              </a:rPr>
              <a:t>precision-cast tool steel, tough, slightly work-hardening in service.</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Secure construction: </a:t>
            </a:r>
            <a:r>
              <a:rPr sz="700" b="0">
                <a:solidFill>
                  <a:srgbClr val="000000"/>
                </a:solidFill>
                <a:latin typeface="Ubuntu Mono"/>
                <a:ea typeface="Ubuntu Mono"/>
                <a:cs typeface="Ubuntu Mono"/>
                <a:sym typeface="Ubuntu Mono"/>
              </a:rPr>
              <a:t>springs fully enclosed, blades fit closely over the spring housing, so loss downhole is virtually impossible.</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One-piece mandrel: </a:t>
            </a:r>
            <a:r>
              <a:rPr sz="700" b="0">
                <a:solidFill>
                  <a:srgbClr val="000000"/>
                </a:solidFill>
                <a:latin typeface="Ubuntu Mono"/>
                <a:ea typeface="Ubuntu Mono"/>
                <a:cs typeface="Ubuntu Mono"/>
                <a:sym typeface="Ubuntu Mono"/>
              </a:rPr>
              <a:t>heat-treated alloy steel, pin by box, with a fishing neck at both ends.</a:t>
            </a:r>
          </a:p>
        </p:txBody>
      </p:sp>
      <p:sp>
        <p:nvSpPr>
          <p:cNvPr id="27" name="TextBox 26"/>
          <p:cNvSpPr txBox="1"/>
          <p:nvPr/>
        </p:nvSpPr>
        <p:spPr>
          <a:xfrm>
            <a:off x="4089400" y="7048500"/>
            <a:ext cx="27559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APPLICATIONS</a:t>
            </a:r>
          </a:p>
        </p:txBody>
      </p:sp>
      <p:sp>
        <p:nvSpPr>
          <p:cNvPr id="28" name="TextBox 27"/>
          <p:cNvSpPr txBox="1"/>
          <p:nvPr/>
        </p:nvSpPr>
        <p:spPr>
          <a:xfrm>
            <a:off x="4089400" y="7251700"/>
            <a:ext cx="2755900" cy="127000"/>
          </a:xfrm>
          <a:prstGeom prst="rect">
            <a:avLst/>
          </a:prstGeom>
          <a:noFill/>
        </p:spPr>
        <p:txBody>
          <a:bodyPr wrap="square" lIns="0" rIns="0" tIns="0" bIns="0">
            <a:spAutoFit/>
          </a:bodyPr>
          <a:lstStyle/>
          <a:p>
            <a:pPr algn="l">
              <a:lnSpc>
                <a:spcPts val="880"/>
              </a:lnSpc>
              <a:spcAft>
                <a:spcPts val="200"/>
              </a:spcAft>
            </a:pPr>
            <a:r>
              <a:rPr sz="550" b="0">
                <a:solidFill>
                  <a:srgbClr val="01ADEE"/>
                </a:solidFill>
                <a:latin typeface="Ubuntu Mono"/>
                <a:ea typeface="Ubuntu Mono"/>
                <a:cs typeface="Ubuntu Mono"/>
                <a:sym typeface="Ubuntu Mono"/>
              </a:rPr>
              <a:t>■ </a:t>
            </a:r>
            <a:r>
              <a:rPr sz="700" b="0">
                <a:solidFill>
                  <a:srgbClr val="000000"/>
                </a:solidFill>
                <a:latin typeface="Ubuntu Mono"/>
                <a:ea typeface="Ubuntu Mono"/>
                <a:cs typeface="Ubuntu Mono"/>
                <a:sym typeface="Ubuntu Mono"/>
              </a:rPr>
              <a:t>Clean out cement, hardened mud and paraffin.</a:t>
            </a:r>
          </a:p>
          <a:p>
            <a:pPr algn="l">
              <a:lnSpc>
                <a:spcPts val="880"/>
              </a:lnSpc>
              <a:spcAft>
                <a:spcPts val="200"/>
              </a:spcAft>
            </a:pPr>
            <a:r>
              <a:rPr sz="550" b="0">
                <a:solidFill>
                  <a:srgbClr val="01ADEE"/>
                </a:solidFill>
                <a:latin typeface="Ubuntu Mono"/>
                <a:ea typeface="Ubuntu Mono"/>
                <a:cs typeface="Ubuntu Mono"/>
                <a:sym typeface="Ubuntu Mono"/>
              </a:rPr>
              <a:t>■ </a:t>
            </a:r>
            <a:r>
              <a:rPr sz="700" b="0">
                <a:solidFill>
                  <a:srgbClr val="000000"/>
                </a:solidFill>
                <a:latin typeface="Ubuntu Mono"/>
                <a:ea typeface="Ubuntu Mono"/>
                <a:cs typeface="Ubuntu Mono"/>
                <a:sym typeface="Ubuntu Mono"/>
              </a:rPr>
              <a:t>Remove perforation burrs and embedded bullets.</a:t>
            </a:r>
          </a:p>
          <a:p>
            <a:pPr algn="l">
              <a:lnSpc>
                <a:spcPts val="880"/>
              </a:lnSpc>
              <a:spcAft>
                <a:spcPts val="200"/>
              </a:spcAft>
            </a:pPr>
            <a:r>
              <a:rPr sz="550" b="0">
                <a:solidFill>
                  <a:srgbClr val="01ADEE"/>
                </a:solidFill>
                <a:latin typeface="Ubuntu Mono"/>
                <a:ea typeface="Ubuntu Mono"/>
                <a:cs typeface="Ubuntu Mono"/>
                <a:sym typeface="Ubuntu Mono"/>
              </a:rPr>
              <a:t>■ </a:t>
            </a:r>
            <a:r>
              <a:rPr sz="700" b="0">
                <a:solidFill>
                  <a:srgbClr val="000000"/>
                </a:solidFill>
                <a:latin typeface="Ubuntu Mono"/>
                <a:ea typeface="Ubuntu Mono"/>
                <a:cs typeface="Ubuntu Mono"/>
                <a:sym typeface="Ubuntu Mono"/>
              </a:rPr>
              <a:t>Dress burrs, nicks and tight spots left by bits, fishing tools or dents.</a:t>
            </a:r>
          </a:p>
          <a:p>
            <a:pPr algn="l">
              <a:lnSpc>
                <a:spcPts val="880"/>
              </a:lnSpc>
              <a:spcAft>
                <a:spcPts val="200"/>
              </a:spcAft>
            </a:pPr>
            <a:r>
              <a:rPr sz="550" b="0">
                <a:solidFill>
                  <a:srgbClr val="01ADEE"/>
                </a:solidFill>
                <a:latin typeface="Ubuntu Mono"/>
                <a:ea typeface="Ubuntu Mono"/>
                <a:cs typeface="Ubuntu Mono"/>
                <a:sym typeface="Ubuntu Mono"/>
              </a:rPr>
              <a:t>■ </a:t>
            </a:r>
            <a:r>
              <a:rPr sz="700" b="0">
                <a:solidFill>
                  <a:srgbClr val="000000"/>
                </a:solidFill>
                <a:latin typeface="Ubuntu Mono"/>
                <a:ea typeface="Ubuntu Mono"/>
                <a:cs typeface="Ubuntu Mono"/>
                <a:sym typeface="Ubuntu Mono"/>
              </a:rPr>
              <a:t>Prepare a clean casing ID before running packers, patches, spears, swabs and wireline tools.</a:t>
            </a:r>
          </a:p>
        </p:txBody>
      </p:sp>
      <p:sp>
        <p:nvSpPr>
          <p:cNvPr id="29" name="TextBox 28"/>
          <p:cNvSpPr txBox="1"/>
          <p:nvPr/>
        </p:nvSpPr>
        <p:spPr>
          <a:xfrm>
            <a:off x="4089400" y="8382000"/>
            <a:ext cx="27559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OPERATION AND MAINTENANCE</a:t>
            </a:r>
          </a:p>
        </p:txBody>
      </p:sp>
      <p:sp>
        <p:nvSpPr>
          <p:cNvPr id="30" name="TextBox 29"/>
          <p:cNvSpPr txBox="1"/>
          <p:nvPr/>
        </p:nvSpPr>
        <p:spPr>
          <a:xfrm>
            <a:off x="4089400" y="8585200"/>
            <a:ext cx="2755900" cy="127000"/>
          </a:xfrm>
          <a:prstGeom prst="rect">
            <a:avLst/>
          </a:prstGeom>
          <a:noFill/>
        </p:spPr>
        <p:txBody>
          <a:bodyPr wrap="square" lIns="0" rIns="0" tIns="0" bIns="0">
            <a:spAutoFit/>
          </a:bodyPr>
          <a:lstStyle/>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Run: </a:t>
            </a:r>
            <a:r>
              <a:rPr sz="700" b="0">
                <a:solidFill>
                  <a:srgbClr val="000000"/>
                </a:solidFill>
                <a:latin typeface="Ubuntu Mono"/>
                <a:ea typeface="Ubuntu Mono"/>
                <a:cs typeface="Ubuntu Mono"/>
                <a:sym typeface="Ubuntu Mono"/>
              </a:rPr>
              <a:t>usually pin up, with a bit installed below; scrape by rotating or spudding.</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After each run: </a:t>
            </a:r>
            <a:r>
              <a:rPr sz="700" b="0">
                <a:solidFill>
                  <a:srgbClr val="000000"/>
                </a:solidFill>
                <a:latin typeface="Ubuntu Mono"/>
                <a:ea typeface="Ubuntu Mono"/>
                <a:cs typeface="Ubuntu Mono"/>
                <a:sym typeface="Ubuntu Mono"/>
              </a:rPr>
              <a:t>disassemble, clean, inspect and replace worn parts; blades and springs are removed after taking out the four retainer-ring screws.</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Re-dressing: </a:t>
            </a:r>
            <a:r>
              <a:rPr sz="700" b="0">
                <a:solidFill>
                  <a:srgbClr val="000000"/>
                </a:solidFill>
                <a:latin typeface="Ubuntu Mono"/>
                <a:ea typeface="Ubuntu Mono"/>
                <a:cs typeface="Ubuntu Mono"/>
                <a:sym typeface="Ubuntu Mono"/>
              </a:rPr>
              <a:t>a blade installation tool (required accessory) compresses the blades during assembly.</a:t>
            </a:r>
          </a:p>
        </p:txBody>
      </p:sp>
      <p:sp>
        <p:nvSpPr>
          <p:cNvPr id="31" name="TextBox 30"/>
          <p:cNvSpPr txBox="1"/>
          <p:nvPr/>
        </p:nvSpPr>
        <p:spPr>
          <a:xfrm>
            <a:off x="4089400" y="9715500"/>
            <a:ext cx="27559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HOW TO ORDER</a:t>
            </a:r>
          </a:p>
        </p:txBody>
      </p:sp>
      <p:sp>
        <p:nvSpPr>
          <p:cNvPr id="32" name="TextBox 31"/>
          <p:cNvSpPr txBox="1"/>
          <p:nvPr/>
        </p:nvSpPr>
        <p:spPr>
          <a:xfrm>
            <a:off x="4089400" y="9906000"/>
            <a:ext cx="2755900" cy="508000"/>
          </a:xfrm>
          <a:prstGeom prst="rect">
            <a:avLst/>
          </a:prstGeom>
          <a:noFill/>
        </p:spPr>
        <p:txBody>
          <a:bodyPr wrap="square" lIns="0" rIns="0" tIns="0" bIns="0">
            <a:spAutoFit/>
          </a:bodyPr>
          <a:lstStyle/>
          <a:p>
            <a:pPr algn="just">
              <a:lnSpc>
                <a:spcPts val="860"/>
              </a:lnSpc>
              <a:spcAft>
                <a:spcPts val="0"/>
              </a:spcAft>
            </a:pPr>
            <a:r>
              <a:rPr sz="680" b="0">
                <a:solidFill>
                  <a:srgbClr val="000000"/>
                </a:solidFill>
                <a:latin typeface="Ubuntu Mono"/>
                <a:ea typeface="Ubuntu Mono"/>
                <a:cs typeface="Ubuntu Mono"/>
                <a:sym typeface="Ubuntu Mono"/>
              </a:rPr>
              <a:t>Please specify: 1. tool or part name  2. size and weight of casing  3. tool joint connection  4. recommended spares: one set of blades and one set of springs.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DAGS_rYUj9A</dc:identifier>
  <dcterms:modified xsi:type="dcterms:W3CDTF">2011-08-01T06:04:30Z</dcterms:modified>
  <cp:revision>1</cp:revision>
  <dc:title>Catalogue outils</dc:title>
</cp:coreProperties>
</file>