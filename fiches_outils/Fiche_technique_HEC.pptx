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</p:sldIdLst>
  <p:sldSz cx="7556500" cy="10693400"/>
  <p:notesSz cx="6858000" cy="9144000"/>
  <p:embeddedFontLst>
    <p:embeddedFont>
      <p:font typeface="Ubuntu Mono" charset="1" panose="020B0509030602030204"/>
      <p:regular r:id="rId7"/>
    </p:embeddedFont>
    <p:embeddedFont>
      <p:font typeface="Ubuntu Mono Bold" charset="1" panose="020B0809030602030204"/>
      <p:regular r:id="rId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font" Target="fonts/font7.fntdata"/><Relationship Id="rId8" Type="http://schemas.openxmlformats.org/officeDocument/2006/relationships/font" Target="fonts/font8.fntdata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7560000" cy="10692000"/>
          </a:xfrm>
          <a:custGeom>
            <a:avLst/>
            <a:gdLst/>
            <a:ahLst/>
            <a:cxnLst/>
            <a:rect r="r" b="b" t="t" l="l"/>
            <a:pathLst>
              <a:path h="10692000" w="7560000">
                <a:moveTo>
                  <a:pt x="0" y="0"/>
                </a:moveTo>
                <a:lnTo>
                  <a:pt x="7560000" y="0"/>
                </a:lnTo>
                <a:lnTo>
                  <a:pt x="7560000" y="10692000"/>
                </a:lnTo>
                <a:lnTo>
                  <a:pt x="0" y="10692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226" t="-1069" r="-22226" b="-1069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4198589" y="2749692"/>
            <a:ext cx="3376379" cy="837955"/>
            <a:chOff x="0" y="0"/>
            <a:chExt cx="1210018" cy="30030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210018" cy="300304"/>
            </a:xfrm>
            <a:custGeom>
              <a:avLst/>
              <a:gdLst/>
              <a:ahLst/>
              <a:cxnLst/>
              <a:rect r="r" b="b" t="t" l="l"/>
              <a:pathLst>
                <a:path h="300304" w="1210018">
                  <a:moveTo>
                    <a:pt x="0" y="0"/>
                  </a:moveTo>
                  <a:lnTo>
                    <a:pt x="1210018" y="0"/>
                  </a:lnTo>
                  <a:lnTo>
                    <a:pt x="1210018" y="300304"/>
                  </a:lnTo>
                  <a:lnTo>
                    <a:pt x="0" y="300304"/>
                  </a:lnTo>
                  <a:close/>
                </a:path>
              </a:pathLst>
            </a:custGeom>
            <a:solidFill>
              <a:srgbClr val="1CB2FE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0"/>
              <a:ext cx="1210018" cy="30030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440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-807385" y="2570502"/>
            <a:ext cx="6036246" cy="1196335"/>
            <a:chOff x="0" y="0"/>
            <a:chExt cx="3262422" cy="64658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262422" cy="646585"/>
            </a:xfrm>
            <a:custGeom>
              <a:avLst/>
              <a:gdLst/>
              <a:ahLst/>
              <a:cxnLst/>
              <a:rect r="r" b="b" t="t" l="l"/>
              <a:pathLst>
                <a:path h="646585" w="3262422">
                  <a:moveTo>
                    <a:pt x="3059222" y="0"/>
                  </a:moveTo>
                  <a:lnTo>
                    <a:pt x="0" y="0"/>
                  </a:lnTo>
                  <a:lnTo>
                    <a:pt x="203200" y="646585"/>
                  </a:lnTo>
                  <a:lnTo>
                    <a:pt x="3262422" y="646585"/>
                  </a:lnTo>
                  <a:lnTo>
                    <a:pt x="3059222" y="0"/>
                  </a:lnTo>
                  <a:close/>
                </a:path>
              </a:pathLst>
            </a:custGeom>
            <a:solidFill>
              <a:srgbClr val="0250A5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101600" y="0"/>
              <a:ext cx="3059222" cy="64658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440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5595542" y="2339157"/>
            <a:ext cx="1876410" cy="342260"/>
          </a:xfrm>
          <a:custGeom>
            <a:avLst/>
            <a:gdLst/>
            <a:ahLst/>
            <a:cxnLst/>
            <a:rect r="r" b="b" t="t" l="l"/>
            <a:pathLst>
              <a:path h="342260" w="1876410">
                <a:moveTo>
                  <a:pt x="0" y="0"/>
                </a:moveTo>
                <a:lnTo>
                  <a:pt x="1876410" y="0"/>
                </a:lnTo>
                <a:lnTo>
                  <a:pt x="1876410" y="342260"/>
                </a:lnTo>
                <a:lnTo>
                  <a:pt x="0" y="34226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710217" y="2667655"/>
            <a:ext cx="4433411" cy="5543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9"/>
              </a:lnSpc>
            </a:pPr>
            <a:r>
              <a:rPr lang="en-US" sz="4199">
                <a:solidFill>
                  <a:srgbClr val="FFFFFF"/>
                </a:solidFill>
                <a:latin typeface="Ubuntu Mono"/>
                <a:ea typeface="Ubuntu Mono"/>
                <a:cs typeface="Ubuntu Mono"/>
                <a:sym typeface="Ubuntu Mono"/>
              </a:rPr>
              <a:t>HEC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5145720" y="3053100"/>
            <a:ext cx="2326232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70"/>
              </a:lnSpc>
            </a:pPr>
            <a:r>
              <a:rPr lang="en-US" sz="1700">
                <a:solidFill>
                  <a:srgbClr val="FFFFFF"/>
                </a:solidFill>
                <a:latin typeface="Ubuntu Mono"/>
                <a:ea typeface="Ubuntu Mono"/>
                <a:cs typeface="Ubuntu Mono"/>
                <a:sym typeface="Ubuntu Mono"/>
              </a:rPr>
              <a:t>FISHING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1200" y="3314700"/>
            <a:ext cx="4191000" cy="177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 spc="30">
                <a:solidFill>
                  <a:srgbClr val="FFFFFF"/>
                </a:solidFill>
                <a:latin typeface="Ubuntu Mono"/>
                <a:ea typeface="Ubuntu Mono"/>
                <a:cs typeface="Ubuntu Mono"/>
                <a:sym typeface="Ubuntu Mono"/>
              </a:rPr>
              <a:t>HYDRAULIC EXTERNAL CUTTER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1200" y="4013200"/>
            <a:ext cx="6134100" cy="177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spc="35">
                <a:solidFill>
                  <a:srgbClr val="194E9A"/>
                </a:solidFill>
                <a:latin typeface="Ubuntu Mono"/>
                <a:ea typeface="Ubuntu Mono"/>
                <a:cs typeface="Ubuntu Mono"/>
                <a:sym typeface="Ubuntu Mono"/>
              </a:rPr>
              <a:t>GENERAL DESCRIPTION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1200" y="4229100"/>
            <a:ext cx="6134100" cy="76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just">
              <a:lnSpc>
                <a:spcPts val="1040"/>
              </a:lnSpc>
              <a:spcAft>
                <a:spcPts val="0"/>
              </a:spcAft>
            </a:pPr>
            <a:r>
              <a:rPr sz="760" b="0" spc="20">
                <a:solidFill>
                  <a:srgbClr val="000000"/>
                </a:solidFill>
                <a:latin typeface="Ubuntu Mono"/>
                <a:ea typeface="Ubuntu Mono"/>
                <a:cs typeface="Ubuntu Mono"/>
                <a:sym typeface="Ubuntu Mono"/>
              </a:rPr>
              <a:t>HYDRAULICALLY ACTUATED EXTERNAL CUTTER THAT CUTS AND RECOVERS TUBING OR DRILL PIPE IN A SINGLE TRIP. RUN ON A WASHOVER STRING, IT CUTS STUCK PIPE FROM THE OUTSIDE: THE KNIVES ARE FED BY PUMP PRESSURE, GIVING FAST, SMOOTH AND CLEAN CUTS UNDER SENSITIVE OPERATOR CONTROL. IT CUTS ALL TYPES OF DRILL PIPE AND TUBING, REGARDLESS OF TOOL-JOINT STYLE.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1200" y="4978400"/>
            <a:ext cx="6134100" cy="177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 spc="20">
                <a:solidFill>
                  <a:srgbClr val="194E9A"/>
                </a:solidFill>
                <a:latin typeface="Ubuntu Mono"/>
                <a:ea typeface="Ubuntu Mono"/>
                <a:cs typeface="Ubuntu Mono"/>
                <a:sym typeface="Ubuntu Mono"/>
              </a:rPr>
              <a:t>TECHNICAL CHARACTERISTICS</a:t>
            </a:r>
          </a:p>
        </p:txBody>
      </p:sp>
      <p:graphicFrame>
        <p:nvGraphicFramePr>
          <p:cNvPr id="22" name="Table 21"/>
          <p:cNvGraphicFramePr>
            <a:graphicFrameLocks noGrp="1"/>
          </p:cNvGraphicFramePr>
          <p:nvPr/>
        </p:nvGraphicFramePr>
        <p:xfrm>
          <a:off x="711200" y="5181600"/>
          <a:ext cx="6134096" cy="1397000"/>
        </p:xfrm>
        <a:graphic>
          <a:graphicData uri="http://schemas.openxmlformats.org/drawingml/2006/table">
            <a:tbl>
              <a:tblPr/>
              <a:tblGrid>
                <a:gridCol w="630608"/>
                <a:gridCol w="1089232"/>
                <a:gridCol w="802592"/>
                <a:gridCol w="802592"/>
                <a:gridCol w="1232552"/>
                <a:gridCol w="1003240"/>
                <a:gridCol w="573280"/>
              </a:tblGrid>
              <a:tr h="330200">
                <a:tc>
                  <a:txBody>
                    <a:bodyPr wrap="square"/>
                    <a:lstStyle/>
                    <a:p>
                      <a:pPr algn="ctr">
                        <a:lnSpc>
                          <a:spcPts val="880"/>
                        </a:lnSpc>
                      </a:pPr>
                      <a:r>
                        <a:rPr sz="720" b="1">
                          <a:solidFill>
                            <a:srgbClr val="FEFEFF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Cutter ref.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194E9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80"/>
                        </a:lnSpc>
                      </a:pPr>
                      <a:r>
                        <a:rPr sz="720" b="1">
                          <a:solidFill>
                            <a:srgbClr val="FEFEFF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Pipe to cut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194E9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80"/>
                        </a:lnSpc>
                      </a:pPr>
                      <a:r>
                        <a:rPr sz="720" b="1">
                          <a:solidFill>
                            <a:srgbClr val="FEFEFF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Cutter O.D.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194E9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80"/>
                        </a:lnSpc>
                      </a:pPr>
                      <a:r>
                        <a:rPr sz="720" b="1">
                          <a:solidFill>
                            <a:srgbClr val="FEFEFF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Cutter I.D.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194E9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80"/>
                        </a:lnSpc>
                      </a:pPr>
                      <a:r>
                        <a:rPr sz="720" b="1">
                          <a:solidFill>
                            <a:srgbClr val="FEFEFF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Max. size passed over*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194E9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80"/>
                        </a:lnSpc>
                      </a:pPr>
                      <a:r>
                        <a:rPr sz="720" b="1">
                          <a:solidFill>
                            <a:srgbClr val="FEFEFF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Min. hole to run in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194E9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80"/>
                        </a:lnSpc>
                      </a:pPr>
                      <a:r>
                        <a:rPr sz="720" b="1">
                          <a:solidFill>
                            <a:srgbClr val="FEFEFF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Wt (lb)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194E9A"/>
                    </a:solidFill>
                  </a:tcPr>
                </a:tc>
              </a:tr>
              <a:tr h="152400">
                <a:tc>
                  <a:txBody>
                    <a:bodyPr wrap="square"/>
                    <a:lstStyle/>
                    <a:p>
                      <a:pPr algn="ctr">
                        <a:lnSpc>
                          <a:spcPts val="880"/>
                        </a:lnSpc>
                      </a:pPr>
                      <a:r>
                        <a:rPr sz="720" b="0">
                          <a:solidFill>
                            <a:srgbClr val="FEFEFF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70086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194E9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80"/>
                        </a:lnSpc>
                      </a:pPr>
                      <a:r>
                        <a:rPr sz="72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1.315 - 2-1/16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80"/>
                        </a:lnSpc>
                      </a:pPr>
                      <a:r>
                        <a:rPr sz="72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3-3/4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80"/>
                        </a:lnSpc>
                      </a:pPr>
                      <a:r>
                        <a:rPr sz="72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2-7/8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80"/>
                        </a:lnSpc>
                      </a:pPr>
                      <a:r>
                        <a:rPr sz="72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2-3/4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80"/>
                        </a:lnSpc>
                      </a:pPr>
                      <a:r>
                        <a:rPr sz="72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4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80"/>
                        </a:lnSpc>
                      </a:pPr>
                      <a:r>
                        <a:rPr sz="72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55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52400">
                <a:tc>
                  <a:txBody>
                    <a:bodyPr wrap="square"/>
                    <a:lstStyle/>
                    <a:p>
                      <a:pPr algn="ctr">
                        <a:lnSpc>
                          <a:spcPts val="880"/>
                        </a:lnSpc>
                      </a:pPr>
                      <a:r>
                        <a:rPr sz="720" b="0">
                          <a:solidFill>
                            <a:srgbClr val="FEFEFF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34415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01AD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80"/>
                        </a:lnSpc>
                      </a:pPr>
                      <a:r>
                        <a:rPr sz="72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1.315 - 2-3/8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F6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80"/>
                        </a:lnSpc>
                      </a:pPr>
                      <a:r>
                        <a:rPr sz="72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4-1/16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F6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80"/>
                        </a:lnSpc>
                      </a:pPr>
                      <a:r>
                        <a:rPr sz="72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3-3/16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F6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80"/>
                        </a:lnSpc>
                      </a:pPr>
                      <a:r>
                        <a:rPr sz="72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3-1/16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F6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80"/>
                        </a:lnSpc>
                      </a:pPr>
                      <a:r>
                        <a:rPr sz="72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4-5/16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F6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80"/>
                        </a:lnSpc>
                      </a:pPr>
                      <a:r>
                        <a:rPr sz="72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60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F6FD"/>
                    </a:solidFill>
                  </a:tcPr>
                </a:tc>
              </a:tr>
              <a:tr h="152400">
                <a:tc>
                  <a:txBody>
                    <a:bodyPr wrap="square"/>
                    <a:lstStyle/>
                    <a:p>
                      <a:pPr algn="ctr">
                        <a:lnSpc>
                          <a:spcPts val="880"/>
                        </a:lnSpc>
                      </a:pPr>
                      <a:r>
                        <a:rPr sz="720" b="0">
                          <a:solidFill>
                            <a:srgbClr val="FEFEFF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70209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194E9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80"/>
                        </a:lnSpc>
                      </a:pPr>
                      <a:r>
                        <a:rPr sz="72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1.900 - 2-7/8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80"/>
                        </a:lnSpc>
                      </a:pPr>
                      <a:r>
                        <a:rPr sz="72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4-7/16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80"/>
                        </a:lnSpc>
                      </a:pPr>
                      <a:r>
                        <a:rPr sz="72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3-5/8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80"/>
                        </a:lnSpc>
                      </a:pPr>
                      <a:r>
                        <a:rPr sz="72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3-7/16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80"/>
                        </a:lnSpc>
                      </a:pPr>
                      <a:r>
                        <a:rPr sz="72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4-11/16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80"/>
                        </a:lnSpc>
                      </a:pPr>
                      <a:r>
                        <a:rPr sz="72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73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52400">
                <a:tc>
                  <a:txBody>
                    <a:bodyPr wrap="square"/>
                    <a:lstStyle/>
                    <a:p>
                      <a:pPr algn="ctr">
                        <a:lnSpc>
                          <a:spcPts val="880"/>
                        </a:lnSpc>
                      </a:pPr>
                      <a:r>
                        <a:rPr sz="720" b="0">
                          <a:solidFill>
                            <a:srgbClr val="FEFEFF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41727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01AD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80"/>
                        </a:lnSpc>
                      </a:pPr>
                      <a:r>
                        <a:rPr sz="72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1.900 - 2-7/8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F6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80"/>
                        </a:lnSpc>
                      </a:pPr>
                      <a:r>
                        <a:rPr sz="72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4-11/16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F6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80"/>
                        </a:lnSpc>
                      </a:pPr>
                      <a:r>
                        <a:rPr sz="72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3-7/8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F6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80"/>
                        </a:lnSpc>
                      </a:pPr>
                      <a:r>
                        <a:rPr sz="72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3-3/4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F6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80"/>
                        </a:lnSpc>
                      </a:pPr>
                      <a:r>
                        <a:rPr sz="72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4-15/16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F6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80"/>
                        </a:lnSpc>
                      </a:pPr>
                      <a:r>
                        <a:rPr sz="72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85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F6FD"/>
                    </a:solidFill>
                  </a:tcPr>
                </a:tc>
              </a:tr>
              <a:tr h="152400">
                <a:tc>
                  <a:txBody>
                    <a:bodyPr wrap="square"/>
                    <a:lstStyle/>
                    <a:p>
                      <a:pPr algn="ctr">
                        <a:lnSpc>
                          <a:spcPts val="880"/>
                        </a:lnSpc>
                      </a:pPr>
                      <a:r>
                        <a:rPr sz="720" b="0">
                          <a:solidFill>
                            <a:srgbClr val="FEFEFF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34551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194E9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80"/>
                        </a:lnSpc>
                      </a:pPr>
                      <a:r>
                        <a:rPr sz="72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2-1/16 - 4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80"/>
                        </a:lnSpc>
                      </a:pPr>
                      <a:r>
                        <a:rPr sz="72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5-5/8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80"/>
                        </a:lnSpc>
                      </a:pPr>
                      <a:r>
                        <a:rPr sz="72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4-5/16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80"/>
                        </a:lnSpc>
                      </a:pPr>
                      <a:r>
                        <a:rPr sz="72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4-3/16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80"/>
                        </a:lnSpc>
                      </a:pPr>
                      <a:r>
                        <a:rPr sz="72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5-7/8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80"/>
                        </a:lnSpc>
                      </a:pPr>
                      <a:r>
                        <a:rPr sz="72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95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52400">
                <a:tc>
                  <a:txBody>
                    <a:bodyPr wrap="square"/>
                    <a:lstStyle/>
                    <a:p>
                      <a:pPr algn="ctr">
                        <a:lnSpc>
                          <a:spcPts val="880"/>
                        </a:lnSpc>
                      </a:pPr>
                      <a:r>
                        <a:rPr sz="720" b="0">
                          <a:solidFill>
                            <a:srgbClr val="FEFEFF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51148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01AD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80"/>
                        </a:lnSpc>
                      </a:pPr>
                      <a:r>
                        <a:rPr sz="72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2-3/8 - 4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F6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80"/>
                        </a:lnSpc>
                      </a:pPr>
                      <a:r>
                        <a:rPr sz="72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6-1/16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F6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80"/>
                        </a:lnSpc>
                      </a:pPr>
                      <a:r>
                        <a:rPr sz="72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4-7/8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F6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80"/>
                        </a:lnSpc>
                      </a:pPr>
                      <a:r>
                        <a:rPr sz="72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4-13/16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F6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80"/>
                        </a:lnSpc>
                      </a:pPr>
                      <a:r>
                        <a:rPr sz="72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6-1/4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F6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80"/>
                        </a:lnSpc>
                      </a:pPr>
                      <a:r>
                        <a:rPr sz="72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105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F6FD"/>
                    </a:solidFill>
                  </a:tcPr>
                </a:tc>
              </a:tr>
              <a:tr h="152400">
                <a:tc>
                  <a:txBody>
                    <a:bodyPr wrap="square"/>
                    <a:lstStyle/>
                    <a:p>
                      <a:pPr algn="ctr">
                        <a:lnSpc>
                          <a:spcPts val="880"/>
                        </a:lnSpc>
                      </a:pPr>
                      <a:r>
                        <a:rPr sz="720" b="0">
                          <a:solidFill>
                            <a:srgbClr val="FEFEFF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35957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194E9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80"/>
                        </a:lnSpc>
                      </a:pPr>
                      <a:r>
                        <a:rPr sz="72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3-1/2 - 5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80"/>
                        </a:lnSpc>
                      </a:pPr>
                      <a:r>
                        <a:rPr sz="72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8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80"/>
                        </a:lnSpc>
                      </a:pPr>
                      <a:r>
                        <a:rPr sz="72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6-1/2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80"/>
                        </a:lnSpc>
                      </a:pPr>
                      <a:r>
                        <a:rPr sz="72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6-3/8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80"/>
                        </a:lnSpc>
                      </a:pPr>
                      <a:r>
                        <a:rPr sz="72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8-1/2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80"/>
                        </a:lnSpc>
                      </a:pPr>
                      <a:r>
                        <a:rPr sz="72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230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3" name="TextBox 22"/>
          <p:cNvSpPr txBox="1"/>
          <p:nvPr/>
        </p:nvSpPr>
        <p:spPr>
          <a:xfrm>
            <a:off x="711200" y="6616700"/>
            <a:ext cx="6134100" cy="1143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620" b="0">
                <a:solidFill>
                  <a:srgbClr val="444444"/>
                </a:solidFill>
                <a:latin typeface="Ubuntu Mono"/>
                <a:ea typeface="Ubuntu Mono"/>
                <a:cs typeface="Ubuntu Mono"/>
                <a:sym typeface="Ubuntu Mono"/>
              </a:rPr>
              <a:t>* Maximum pipe O.D. the cutter will pass over, dressed with the largest piston segment. Dimensions in inches, weights in lb (approximate).</a:t>
            </a:r>
          </a:p>
        </p:txBody>
      </p:sp>
      <p:pic>
        <p:nvPicPr>
          <p:cNvPr id="24" name="Picture 23" descr="hec_tool_blu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1200" y="6946900"/>
            <a:ext cx="514024" cy="325120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1397000" y="6921500"/>
            <a:ext cx="2540000" cy="177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 spc="20">
                <a:solidFill>
                  <a:srgbClr val="194E9A"/>
                </a:solidFill>
                <a:latin typeface="Ubuntu Mono"/>
                <a:ea typeface="Ubuntu Mono"/>
                <a:cs typeface="Ubuntu Mono"/>
                <a:sym typeface="Ubuntu Mono"/>
              </a:rPr>
              <a:t>DESIGN FEATURES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97000" y="7124700"/>
            <a:ext cx="2540000" cy="127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880"/>
              </a:lnSpc>
              <a:spcAft>
                <a:spcPts val="200"/>
              </a:spcAft>
            </a:pPr>
            <a:r>
              <a:rPr sz="550" b="0">
                <a:solidFill>
                  <a:srgbClr val="01ADEE"/>
                </a:solidFill>
                <a:latin typeface="Ubuntu Mono"/>
                <a:ea typeface="Ubuntu Mono"/>
                <a:cs typeface="Ubuntu Mono"/>
                <a:sym typeface="Ubuntu Mono"/>
              </a:rPr>
              <a:t>■ </a:t>
            </a:r>
            <a:r>
              <a:rPr sz="700" b="1">
                <a:solidFill>
                  <a:srgbClr val="000000"/>
                </a:solidFill>
                <a:latin typeface="Ubuntu Mono"/>
                <a:ea typeface="Ubuntu Mono"/>
                <a:cs typeface="Ubuntu Mono"/>
                <a:sym typeface="Ubuntu Mono"/>
              </a:rPr>
              <a:t>Cuts and recovers: </a:t>
            </a:r>
            <a:r>
              <a:rPr sz="700" b="0">
                <a:solidFill>
                  <a:srgbClr val="000000"/>
                </a:solidFill>
                <a:latin typeface="Ubuntu Mono"/>
                <a:ea typeface="Ubuntu Mono"/>
                <a:cs typeface="Ubuntu Mono"/>
                <a:sym typeface="Ubuntu Mono"/>
              </a:rPr>
              <a:t>tubing or drill pipe in one trip, inside a washover string.</a:t>
            </a:r>
          </a:p>
          <a:p>
            <a:pPr algn="l">
              <a:lnSpc>
                <a:spcPts val="880"/>
              </a:lnSpc>
              <a:spcAft>
                <a:spcPts val="200"/>
              </a:spcAft>
            </a:pPr>
            <a:r>
              <a:rPr sz="550" b="0">
                <a:solidFill>
                  <a:srgbClr val="01ADEE"/>
                </a:solidFill>
                <a:latin typeface="Ubuntu Mono"/>
                <a:ea typeface="Ubuntu Mono"/>
                <a:cs typeface="Ubuntu Mono"/>
                <a:sym typeface="Ubuntu Mono"/>
              </a:rPr>
              <a:t>■ </a:t>
            </a:r>
            <a:r>
              <a:rPr sz="700" b="1">
                <a:solidFill>
                  <a:srgbClr val="000000"/>
                </a:solidFill>
                <a:latin typeface="Ubuntu Mono"/>
                <a:ea typeface="Ubuntu Mono"/>
                <a:cs typeface="Ubuntu Mono"/>
                <a:sym typeface="Ubuntu Mono"/>
              </a:rPr>
              <a:t>Hydraulic feed: </a:t>
            </a:r>
            <a:r>
              <a:rPr sz="700" b="0">
                <a:solidFill>
                  <a:srgbClr val="000000"/>
                </a:solidFill>
                <a:latin typeface="Ubuntu Mono"/>
                <a:ea typeface="Ubuntu Mono"/>
                <a:cs typeface="Ubuntu Mono"/>
                <a:sym typeface="Ubuntu Mono"/>
              </a:rPr>
              <a:t>pump pressure drives the knives; sensitive control of the cut.</a:t>
            </a:r>
          </a:p>
          <a:p>
            <a:pPr algn="l">
              <a:lnSpc>
                <a:spcPts val="880"/>
              </a:lnSpc>
              <a:spcAft>
                <a:spcPts val="200"/>
              </a:spcAft>
            </a:pPr>
            <a:r>
              <a:rPr sz="550" b="0">
                <a:solidFill>
                  <a:srgbClr val="01ADEE"/>
                </a:solidFill>
                <a:latin typeface="Ubuntu Mono"/>
                <a:ea typeface="Ubuntu Mono"/>
                <a:cs typeface="Ubuntu Mono"/>
                <a:sym typeface="Ubuntu Mono"/>
              </a:rPr>
              <a:t>■ </a:t>
            </a:r>
            <a:r>
              <a:rPr sz="700" b="1">
                <a:solidFill>
                  <a:srgbClr val="000000"/>
                </a:solidFill>
                <a:latin typeface="Ubuntu Mono"/>
                <a:ea typeface="Ubuntu Mono"/>
                <a:cs typeface="Ubuntu Mono"/>
                <a:sym typeface="Ubuntu Mono"/>
              </a:rPr>
              <a:t>Run-in protection: </a:t>
            </a:r>
            <a:r>
              <a:rPr sz="700" b="0">
                <a:solidFill>
                  <a:srgbClr val="000000"/>
                </a:solidFill>
                <a:latin typeface="Ubuntu Mono"/>
                <a:ea typeface="Ubuntu Mono"/>
                <a:cs typeface="Ubuntu Mono"/>
                <a:sym typeface="Ubuntu Mono"/>
              </a:rPr>
              <a:t>shear pins hold the piston until the cut starts (about 145 psi).</a:t>
            </a:r>
          </a:p>
          <a:p>
            <a:pPr algn="l">
              <a:lnSpc>
                <a:spcPts val="880"/>
              </a:lnSpc>
              <a:spcAft>
                <a:spcPts val="200"/>
              </a:spcAft>
            </a:pPr>
            <a:r>
              <a:rPr sz="550" b="0">
                <a:solidFill>
                  <a:srgbClr val="01ADEE"/>
                </a:solidFill>
                <a:latin typeface="Ubuntu Mono"/>
                <a:ea typeface="Ubuntu Mono"/>
                <a:cs typeface="Ubuntu Mono"/>
                <a:sym typeface="Ubuntu Mono"/>
              </a:rPr>
              <a:t>■ </a:t>
            </a:r>
            <a:r>
              <a:rPr sz="700" b="1">
                <a:solidFill>
                  <a:srgbClr val="000000"/>
                </a:solidFill>
                <a:latin typeface="Ubuntu Mono"/>
                <a:ea typeface="Ubuntu Mono"/>
                <a:cs typeface="Ubuntu Mono"/>
                <a:sym typeface="Ubuntu Mono"/>
              </a:rPr>
              <a:t>Interchangeable piston segments: </a:t>
            </a:r>
            <a:r>
              <a:rPr sz="700" b="0">
                <a:solidFill>
                  <a:srgbClr val="000000"/>
                </a:solidFill>
                <a:latin typeface="Ubuntu Mono"/>
                <a:ea typeface="Ubuntu Mono"/>
                <a:cs typeface="Ubuntu Mono"/>
                <a:sym typeface="Ubuntu Mono"/>
              </a:rPr>
              <a:t>one cutter covers several pipe sizes; threaded-edge segments pass collars.</a:t>
            </a:r>
          </a:p>
          <a:p>
            <a:pPr algn="l">
              <a:lnSpc>
                <a:spcPts val="880"/>
              </a:lnSpc>
              <a:spcAft>
                <a:spcPts val="200"/>
              </a:spcAft>
            </a:pPr>
            <a:r>
              <a:rPr sz="550" b="0">
                <a:solidFill>
                  <a:srgbClr val="01ADEE"/>
                </a:solidFill>
                <a:latin typeface="Ubuntu Mono"/>
                <a:ea typeface="Ubuntu Mono"/>
                <a:cs typeface="Ubuntu Mono"/>
                <a:sym typeface="Ubuntu Mono"/>
              </a:rPr>
              <a:t>■ </a:t>
            </a:r>
            <a:r>
              <a:rPr sz="700" b="1">
                <a:solidFill>
                  <a:srgbClr val="000000"/>
                </a:solidFill>
                <a:latin typeface="Ubuntu Mono"/>
                <a:ea typeface="Ubuntu Mono"/>
                <a:cs typeface="Ubuntu Mono"/>
                <a:sym typeface="Ubuntu Mono"/>
              </a:rPr>
              <a:t>Cool, flushed cut: </a:t>
            </a:r>
            <a:r>
              <a:rPr sz="700" b="0">
                <a:solidFill>
                  <a:srgbClr val="000000"/>
                </a:solidFill>
                <a:latin typeface="Ubuntu Mono"/>
                <a:ea typeface="Ubuntu Mono"/>
                <a:cs typeface="Ubuntu Mono"/>
                <a:sym typeface="Ubuntu Mono"/>
              </a:rPr>
              <a:t>each segment has a fluid passage for flushing and cooling.</a:t>
            </a:r>
          </a:p>
          <a:p>
            <a:pPr algn="l">
              <a:lnSpc>
                <a:spcPts val="880"/>
              </a:lnSpc>
              <a:spcAft>
                <a:spcPts val="200"/>
              </a:spcAft>
            </a:pPr>
            <a:r>
              <a:rPr sz="550" b="0">
                <a:solidFill>
                  <a:srgbClr val="01ADEE"/>
                </a:solidFill>
                <a:latin typeface="Ubuntu Mono"/>
                <a:ea typeface="Ubuntu Mono"/>
                <a:cs typeface="Ubuntu Mono"/>
                <a:sym typeface="Ubuntu Mono"/>
              </a:rPr>
              <a:t>■ </a:t>
            </a:r>
            <a:r>
              <a:rPr sz="700" b="1">
                <a:solidFill>
                  <a:srgbClr val="000000"/>
                </a:solidFill>
                <a:latin typeface="Ubuntu Mono"/>
                <a:ea typeface="Ubuntu Mono"/>
                <a:cs typeface="Ubuntu Mono"/>
                <a:sym typeface="Ubuntu Mono"/>
              </a:rPr>
              <a:t>Hardened knives: </a:t>
            </a:r>
            <a:r>
              <a:rPr sz="700" b="0">
                <a:solidFill>
                  <a:srgbClr val="000000"/>
                </a:solidFill>
                <a:latin typeface="Ubuntu Mono"/>
                <a:ea typeface="Ubuntu Mono"/>
                <a:cs typeface="Ubuntu Mono"/>
                <a:sym typeface="Ubuntu Mono"/>
              </a:rPr>
              <a:t>tempered tool steel, replaceable in the field.</a:t>
            </a:r>
          </a:p>
          <a:p>
            <a:pPr algn="l">
              <a:lnSpc>
                <a:spcPts val="880"/>
              </a:lnSpc>
              <a:spcAft>
                <a:spcPts val="200"/>
              </a:spcAft>
            </a:pPr>
            <a:r>
              <a:rPr sz="550" b="0">
                <a:solidFill>
                  <a:srgbClr val="01ADEE"/>
                </a:solidFill>
                <a:latin typeface="Ubuntu Mono"/>
                <a:ea typeface="Ubuntu Mono"/>
                <a:cs typeface="Ubuntu Mono"/>
                <a:sym typeface="Ubuntu Mono"/>
              </a:rPr>
              <a:t>■ </a:t>
            </a:r>
            <a:r>
              <a:rPr sz="700" b="1">
                <a:solidFill>
                  <a:srgbClr val="000000"/>
                </a:solidFill>
                <a:latin typeface="Ubuntu Mono"/>
                <a:ea typeface="Ubuntu Mono"/>
                <a:cs typeface="Ubuntu Mono"/>
                <a:sym typeface="Ubuntu Mono"/>
              </a:rPr>
              <a:t>Guide options: </a:t>
            </a:r>
            <a:r>
              <a:rPr sz="700" b="0">
                <a:solidFill>
                  <a:srgbClr val="000000"/>
                </a:solidFill>
                <a:latin typeface="Ubuntu Mono"/>
                <a:ea typeface="Ubuntu Mono"/>
                <a:cs typeface="Ubuntu Mono"/>
                <a:sym typeface="Ubuntu Mono"/>
              </a:rPr>
              <a:t>standard cut-lip, extra long wall hook or mill-toothed.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97000" y="8953500"/>
            <a:ext cx="2540000" cy="177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 spc="20">
                <a:solidFill>
                  <a:srgbClr val="194E9A"/>
                </a:solidFill>
                <a:latin typeface="Ubuntu Mono"/>
                <a:ea typeface="Ubuntu Mono"/>
                <a:cs typeface="Ubuntu Mono"/>
                <a:sym typeface="Ubuntu Mono"/>
              </a:rPr>
              <a:t>OPERATING NOTES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97000" y="9156700"/>
            <a:ext cx="2540000" cy="127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880"/>
              </a:lnSpc>
              <a:spcAft>
                <a:spcPts val="200"/>
              </a:spcAft>
            </a:pPr>
            <a:r>
              <a:rPr sz="550" b="0">
                <a:solidFill>
                  <a:srgbClr val="01ADEE"/>
                </a:solidFill>
                <a:latin typeface="Ubuntu Mono"/>
                <a:ea typeface="Ubuntu Mono"/>
                <a:cs typeface="Ubuntu Mono"/>
                <a:sym typeface="Ubuntu Mono"/>
              </a:rPr>
              <a:t>■ </a:t>
            </a:r>
            <a:r>
              <a:rPr sz="700" b="1">
                <a:solidFill>
                  <a:srgbClr val="000000"/>
                </a:solidFill>
                <a:latin typeface="Ubuntu Mono"/>
                <a:ea typeface="Ubuntu Mono"/>
                <a:cs typeface="Ubuntu Mono"/>
                <a:sym typeface="Ubuntu Mono"/>
              </a:rPr>
              <a:t>Before the run: </a:t>
            </a:r>
            <a:r>
              <a:rPr sz="700" b="0">
                <a:solidFill>
                  <a:srgbClr val="000000"/>
                </a:solidFill>
                <a:latin typeface="Ubuntu Mono"/>
                <a:ea typeface="Ubuntu Mono"/>
                <a:cs typeface="Ubuntu Mono"/>
                <a:sym typeface="Ubuntu Mono"/>
              </a:rPr>
              <a:t>wash over the stuck pipe to centralise it at the cut point.</a:t>
            </a:r>
          </a:p>
          <a:p>
            <a:pPr algn="l">
              <a:lnSpc>
                <a:spcPts val="880"/>
              </a:lnSpc>
              <a:spcAft>
                <a:spcPts val="200"/>
              </a:spcAft>
            </a:pPr>
            <a:r>
              <a:rPr sz="550" b="0">
                <a:solidFill>
                  <a:srgbClr val="01ADEE"/>
                </a:solidFill>
                <a:latin typeface="Ubuntu Mono"/>
                <a:ea typeface="Ubuntu Mono"/>
                <a:cs typeface="Ubuntu Mono"/>
                <a:sym typeface="Ubuntu Mono"/>
              </a:rPr>
              <a:t>■ </a:t>
            </a:r>
            <a:r>
              <a:rPr sz="700" b="1">
                <a:solidFill>
                  <a:srgbClr val="000000"/>
                </a:solidFill>
                <a:latin typeface="Ubuntu Mono"/>
                <a:ea typeface="Ubuntu Mono"/>
                <a:cs typeface="Ubuntu Mono"/>
                <a:sym typeface="Ubuntu Mono"/>
              </a:rPr>
              <a:t>Avoid surging: </a:t>
            </a:r>
            <a:r>
              <a:rPr sz="700" b="0">
                <a:solidFill>
                  <a:srgbClr val="000000"/>
                </a:solidFill>
                <a:latin typeface="Ubuntu Mono"/>
                <a:ea typeface="Ubuntu Mono"/>
                <a:cs typeface="Ubuntu Mono"/>
                <a:sym typeface="Ubuntu Mono"/>
              </a:rPr>
              <a:t>pressure surges can break a knife tip.</a:t>
            </a:r>
          </a:p>
          <a:p>
            <a:pPr algn="l">
              <a:lnSpc>
                <a:spcPts val="880"/>
              </a:lnSpc>
              <a:spcAft>
                <a:spcPts val="200"/>
              </a:spcAft>
            </a:pPr>
            <a:r>
              <a:rPr sz="550" b="0">
                <a:solidFill>
                  <a:srgbClr val="01ADEE"/>
                </a:solidFill>
                <a:latin typeface="Ubuntu Mono"/>
                <a:ea typeface="Ubuntu Mono"/>
                <a:cs typeface="Ubuntu Mono"/>
                <a:sym typeface="Ubuntu Mono"/>
              </a:rPr>
              <a:t>■ </a:t>
            </a:r>
            <a:r>
              <a:rPr sz="700" b="1">
                <a:solidFill>
                  <a:srgbClr val="000000"/>
                </a:solidFill>
                <a:latin typeface="Ubuntu Mono"/>
                <a:ea typeface="Ubuntu Mono"/>
                <a:cs typeface="Ubuntu Mono"/>
                <a:sym typeface="Ubuntu Mono"/>
              </a:rPr>
              <a:t>After the cut: </a:t>
            </a:r>
            <a:r>
              <a:rPr sz="700" b="0">
                <a:solidFill>
                  <a:srgbClr val="000000"/>
                </a:solidFill>
                <a:latin typeface="Ubuntu Mono"/>
                <a:ea typeface="Ubuntu Mono"/>
                <a:cs typeface="Ubuntu Mono"/>
                <a:sym typeface="Ubuntu Mono"/>
              </a:rPr>
              <a:t>torque drops and the weight indicator rises; raise the string slowly to confirm.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089400" y="6921500"/>
            <a:ext cx="2755900" cy="177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 spc="20">
                <a:solidFill>
                  <a:srgbClr val="194E9A"/>
                </a:solidFill>
                <a:latin typeface="Ubuntu Mono"/>
                <a:ea typeface="Ubuntu Mono"/>
                <a:cs typeface="Ubuntu Mono"/>
                <a:sym typeface="Ubuntu Mono"/>
              </a:rPr>
              <a:t>PERFORMANCE PARAMETERS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4089400" y="7112000"/>
          <a:ext cx="2755900" cy="629920"/>
        </p:xfrm>
        <a:graphic>
          <a:graphicData uri="http://schemas.openxmlformats.org/drawingml/2006/table">
            <a:tbl>
              <a:tblPr/>
              <a:tblGrid>
                <a:gridCol w="1117600"/>
                <a:gridCol w="1638300"/>
              </a:tblGrid>
              <a:tr h="157480">
                <a:tc>
                  <a:txBody>
                    <a:bodyPr wrap="square"/>
                    <a:lstStyle/>
                    <a:p>
                      <a:pPr algn="l">
                        <a:lnSpc>
                          <a:spcPts val="810"/>
                        </a:lnSpc>
                      </a:pPr>
                      <a:r>
                        <a:rPr sz="650" b="0">
                          <a:solidFill>
                            <a:srgbClr val="FEFEFF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Rotary speed while cutting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194E9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810"/>
                        </a:lnSpc>
                      </a:pPr>
                      <a:r>
                        <a:rPr sz="65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15 - 25 rpm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57480">
                <a:tc>
                  <a:txBody>
                    <a:bodyPr wrap="square"/>
                    <a:lstStyle/>
                    <a:p>
                      <a:pPr algn="l">
                        <a:lnSpc>
                          <a:spcPts val="810"/>
                        </a:lnSpc>
                      </a:pPr>
                      <a:r>
                        <a:rPr sz="650" b="0">
                          <a:solidFill>
                            <a:srgbClr val="FEFEFF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Shear pins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01AD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810"/>
                        </a:lnSpc>
                      </a:pPr>
                      <a:r>
                        <a:rPr sz="65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1 pin: about 377 lb; 2 pins: 754 lb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F6FD"/>
                    </a:solidFill>
                  </a:tcPr>
                </a:tc>
              </a:tr>
              <a:tr h="157480">
                <a:tc>
                  <a:txBody>
                    <a:bodyPr wrap="square"/>
                    <a:lstStyle/>
                    <a:p>
                      <a:pPr algn="l">
                        <a:lnSpc>
                          <a:spcPts val="810"/>
                        </a:lnSpc>
                      </a:pPr>
                      <a:r>
                        <a:rPr sz="650" b="0">
                          <a:solidFill>
                            <a:srgbClr val="FEFEFF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Proving the cut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194E9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810"/>
                        </a:lnSpc>
                      </a:pPr>
                      <a:r>
                        <a:rPr sz="65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Torque drop, weight rise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57480">
                <a:tc>
                  <a:txBody>
                    <a:bodyPr wrap="square"/>
                    <a:lstStyle/>
                    <a:p>
                      <a:pPr algn="l">
                        <a:lnSpc>
                          <a:spcPts val="810"/>
                        </a:lnSpc>
                      </a:pPr>
                      <a:r>
                        <a:rPr sz="650" b="0">
                          <a:solidFill>
                            <a:srgbClr val="FEFEFF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Cut position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01AD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810"/>
                        </a:lnSpc>
                      </a:pPr>
                      <a:r>
                        <a:rPr sz="65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1 joint above washover shoe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F6FD"/>
                    </a:solidFill>
                  </a:tcPr>
                </a:tc>
              </a:tr>
            </a:tbl>
          </a:graphicData>
        </a:graphic>
      </p:graphicFrame>
      <p:sp>
        <p:nvSpPr>
          <p:cNvPr id="31" name="TextBox 30"/>
          <p:cNvSpPr txBox="1"/>
          <p:nvPr/>
        </p:nvSpPr>
        <p:spPr>
          <a:xfrm>
            <a:off x="4089400" y="7868920"/>
            <a:ext cx="2755900" cy="177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 spc="20">
                <a:solidFill>
                  <a:srgbClr val="194E9A"/>
                </a:solidFill>
                <a:latin typeface="Ubuntu Mono"/>
                <a:ea typeface="Ubuntu Mono"/>
                <a:cs typeface="Ubuntu Mono"/>
                <a:sym typeface="Ubuntu Mono"/>
              </a:rPr>
              <a:t>PULL CAPACITY AND HYDRAULICS</a:t>
            </a:r>
          </a:p>
        </p:txBody>
      </p:sp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4089400" y="8059420"/>
          <a:ext cx="2755900" cy="1130300"/>
        </p:xfrm>
        <a:graphic>
          <a:graphicData uri="http://schemas.openxmlformats.org/drawingml/2006/table">
            <a:tbl>
              <a:tblPr/>
              <a:tblGrid>
                <a:gridCol w="558800"/>
                <a:gridCol w="889000"/>
                <a:gridCol w="571500"/>
                <a:gridCol w="736600"/>
              </a:tblGrid>
              <a:tr h="152400">
                <a:tc>
                  <a:txBody>
                    <a:bodyPr wrap="square"/>
                    <a:lstStyle/>
                    <a:p>
                      <a:pPr algn="ctr">
                        <a:lnSpc>
                          <a:spcPts val="800"/>
                        </a:lnSpc>
                      </a:pPr>
                      <a:r>
                        <a:rPr sz="640" b="1">
                          <a:solidFill>
                            <a:srgbClr val="FEFEFF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Cutter ref.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194E9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00"/>
                        </a:lnSpc>
                      </a:pPr>
                      <a:r>
                        <a:rPr sz="640" b="1">
                          <a:solidFill>
                            <a:srgbClr val="FEFEFF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Max. load (lb)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194E9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00"/>
                        </a:lnSpc>
                      </a:pPr>
                      <a:r>
                        <a:rPr sz="640" b="1">
                          <a:solidFill>
                            <a:srgbClr val="FEFEFF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psi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194E9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00"/>
                        </a:lnSpc>
                      </a:pPr>
                      <a:r>
                        <a:rPr sz="640" b="1">
                          <a:solidFill>
                            <a:srgbClr val="FEFEFF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gpm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194E9A"/>
                    </a:solidFill>
                  </a:tcPr>
                </a:tc>
              </a:tr>
              <a:tr h="139700">
                <a:tc>
                  <a:txBody>
                    <a:bodyPr wrap="square"/>
                    <a:lstStyle/>
                    <a:p>
                      <a:pPr algn="ctr">
                        <a:lnSpc>
                          <a:spcPts val="800"/>
                        </a:lnSpc>
                      </a:pPr>
                      <a:r>
                        <a:rPr sz="640" b="0">
                          <a:solidFill>
                            <a:srgbClr val="FEFEFF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70086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194E9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00"/>
                        </a:lnSpc>
                      </a:pPr>
                      <a:r>
                        <a:rPr sz="64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2,530 - 7,910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00"/>
                        </a:lnSpc>
                      </a:pPr>
                      <a:r>
                        <a:rPr sz="64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20 - 40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00"/>
                        </a:lnSpc>
                      </a:pPr>
                      <a:r>
                        <a:rPr sz="64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120 - 220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39700">
                <a:tc>
                  <a:txBody>
                    <a:bodyPr wrap="square"/>
                    <a:lstStyle/>
                    <a:p>
                      <a:pPr algn="ctr">
                        <a:lnSpc>
                          <a:spcPts val="800"/>
                        </a:lnSpc>
                      </a:pPr>
                      <a:r>
                        <a:rPr sz="640" b="0">
                          <a:solidFill>
                            <a:srgbClr val="FEFEFF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34415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01AD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00"/>
                        </a:lnSpc>
                      </a:pPr>
                      <a:r>
                        <a:rPr sz="64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1,860 - 3,340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F6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00"/>
                        </a:lnSpc>
                      </a:pPr>
                      <a:r>
                        <a:rPr sz="64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20 - 45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F6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00"/>
                        </a:lnSpc>
                      </a:pPr>
                      <a:r>
                        <a:rPr sz="64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120 - 220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F6FD"/>
                    </a:solidFill>
                  </a:tcPr>
                </a:tc>
              </a:tr>
              <a:tr h="139700">
                <a:tc>
                  <a:txBody>
                    <a:bodyPr wrap="square"/>
                    <a:lstStyle/>
                    <a:p>
                      <a:pPr algn="ctr">
                        <a:lnSpc>
                          <a:spcPts val="800"/>
                        </a:lnSpc>
                      </a:pPr>
                      <a:r>
                        <a:rPr sz="640" b="0">
                          <a:solidFill>
                            <a:srgbClr val="FEFEFF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70209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194E9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00"/>
                        </a:lnSpc>
                      </a:pPr>
                      <a:r>
                        <a:rPr sz="64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1,550 - 3,570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00"/>
                        </a:lnSpc>
                      </a:pPr>
                      <a:r>
                        <a:rPr sz="64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10 - 25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00"/>
                        </a:lnSpc>
                      </a:pPr>
                      <a:r>
                        <a:rPr sz="64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120 - 145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39700">
                <a:tc>
                  <a:txBody>
                    <a:bodyPr wrap="square"/>
                    <a:lstStyle/>
                    <a:p>
                      <a:pPr algn="ctr">
                        <a:lnSpc>
                          <a:spcPts val="800"/>
                        </a:lnSpc>
                      </a:pPr>
                      <a:r>
                        <a:rPr sz="640" b="0">
                          <a:solidFill>
                            <a:srgbClr val="FEFEFF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41727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01AD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00"/>
                        </a:lnSpc>
                      </a:pPr>
                      <a:r>
                        <a:rPr sz="64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1,128 - 1,780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F6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00"/>
                        </a:lnSpc>
                      </a:pPr>
                      <a:r>
                        <a:rPr sz="64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10 - 30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F6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00"/>
                        </a:lnSpc>
                      </a:pPr>
                      <a:r>
                        <a:rPr sz="64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100 - 200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F6FD"/>
                    </a:solidFill>
                  </a:tcPr>
                </a:tc>
              </a:tr>
              <a:tr h="139700">
                <a:tc>
                  <a:txBody>
                    <a:bodyPr wrap="square"/>
                    <a:lstStyle/>
                    <a:p>
                      <a:pPr algn="ctr">
                        <a:lnSpc>
                          <a:spcPts val="800"/>
                        </a:lnSpc>
                      </a:pPr>
                      <a:r>
                        <a:rPr sz="640" b="0">
                          <a:solidFill>
                            <a:srgbClr val="FEFEFF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34551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194E9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00"/>
                        </a:lnSpc>
                      </a:pPr>
                      <a:r>
                        <a:rPr sz="64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6,100 - 16,800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00"/>
                        </a:lnSpc>
                      </a:pPr>
                      <a:r>
                        <a:rPr sz="64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15 - 55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00"/>
                        </a:lnSpc>
                      </a:pPr>
                      <a:r>
                        <a:rPr sz="64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180 - 230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39700">
                <a:tc>
                  <a:txBody>
                    <a:bodyPr wrap="square"/>
                    <a:lstStyle/>
                    <a:p>
                      <a:pPr algn="ctr">
                        <a:lnSpc>
                          <a:spcPts val="800"/>
                        </a:lnSpc>
                      </a:pPr>
                      <a:r>
                        <a:rPr sz="640" b="0">
                          <a:solidFill>
                            <a:srgbClr val="FEFEFF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51148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01AD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00"/>
                        </a:lnSpc>
                      </a:pPr>
                      <a:r>
                        <a:rPr sz="64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2,350 - 4,800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F6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00"/>
                        </a:lnSpc>
                      </a:pPr>
                      <a:r>
                        <a:rPr sz="64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15 - 40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F6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00"/>
                        </a:lnSpc>
                      </a:pPr>
                      <a:r>
                        <a:rPr sz="64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125 - 200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F6FD"/>
                    </a:solidFill>
                  </a:tcPr>
                </a:tc>
              </a:tr>
              <a:tr h="139700">
                <a:tc>
                  <a:txBody>
                    <a:bodyPr wrap="square"/>
                    <a:lstStyle/>
                    <a:p>
                      <a:pPr algn="ctr">
                        <a:lnSpc>
                          <a:spcPts val="800"/>
                        </a:lnSpc>
                      </a:pPr>
                      <a:r>
                        <a:rPr sz="640" b="0">
                          <a:solidFill>
                            <a:srgbClr val="FEFEFF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35957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194E9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00"/>
                        </a:lnSpc>
                      </a:pPr>
                      <a:r>
                        <a:rPr sz="64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5,160 - 9,040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00"/>
                        </a:lnSpc>
                      </a:pPr>
                      <a:r>
                        <a:rPr sz="64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10 - 20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00"/>
                        </a:lnSpc>
                      </a:pPr>
                      <a:r>
                        <a:rPr sz="64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140 - 180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3" name="TextBox 32"/>
          <p:cNvSpPr txBox="1"/>
          <p:nvPr/>
        </p:nvSpPr>
        <p:spPr>
          <a:xfrm>
            <a:off x="4089400" y="9227820"/>
            <a:ext cx="2755900" cy="330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740"/>
              </a:lnSpc>
              <a:spcAft>
                <a:spcPts val="0"/>
              </a:spcAft>
            </a:pPr>
            <a:r>
              <a:rPr sz="620" b="0">
                <a:solidFill>
                  <a:srgbClr val="444444"/>
                </a:solidFill>
                <a:latin typeface="Ubuntu Mono"/>
                <a:ea typeface="Ubuntu Mono"/>
                <a:cs typeface="Ubuntu Mono"/>
                <a:sym typeface="Ubuntu Mono"/>
              </a:rPr>
              <a:t>Approximate values, depending on pipe size. Static loads: if shock loaded, reduce by 50%.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089400" y="9519920"/>
            <a:ext cx="2755900" cy="177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 spc="20">
                <a:solidFill>
                  <a:srgbClr val="194E9A"/>
                </a:solidFill>
                <a:latin typeface="Ubuntu Mono"/>
                <a:ea typeface="Ubuntu Mono"/>
                <a:cs typeface="Ubuntu Mono"/>
                <a:sym typeface="Ubuntu Mono"/>
              </a:rPr>
              <a:t>HOW TO ORDER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089400" y="9710420"/>
            <a:ext cx="2755900" cy="50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just">
              <a:lnSpc>
                <a:spcPts val="840"/>
              </a:lnSpc>
              <a:spcAft>
                <a:spcPts val="0"/>
              </a:spcAft>
            </a:pPr>
            <a:r>
              <a:rPr sz="660" b="0">
                <a:solidFill>
                  <a:srgbClr val="000000"/>
                </a:solidFill>
                <a:latin typeface="Ubuntu Mono"/>
                <a:ea typeface="Ubuntu Mono"/>
                <a:cs typeface="Ubuntu Mono"/>
                <a:sym typeface="Ubuntu Mono"/>
              </a:rPr>
              <a:t>Please specify: 1. cutter ref. and size of pipe to cut  2. piston segment size  3. connection (top and bottom)  4. guide type (standard, wall hook or mill-toothed)  5. recommended spares: knives, knife pins, shear pins, piston and rubber rings.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DAGS_rYUj9A</dc:identifier>
  <dcterms:modified xsi:type="dcterms:W3CDTF">2011-08-01T06:04:30Z</dcterms:modified>
  <cp:revision>1</cp:revision>
  <dc:title>Catalogue outils</dc:title>
</cp:coreProperties>
</file>