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5334000" cy="7556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5334000" cy="7556500"/>
          </a:xfrm>
          <a:custGeom>
            <a:avLst/>
            <a:gdLst/>
            <a:ahLst/>
            <a:cxnLst/>
            <a:rect l="l" t="t" r="r" b="b"/>
            <a:pathLst>
              <a:path w="5334000" h="7556500">
                <a:moveTo>
                  <a:pt x="0" y="0"/>
                </a:moveTo>
                <a:lnTo>
                  <a:pt x="5334000" y="0"/>
                </a:lnTo>
                <a:lnTo>
                  <a:pt x="5334000" y="7556500"/>
                </a:lnTo>
                <a:lnTo>
                  <a:pt x="0" y="7556500"/>
                </a:lnTo>
                <a:close/>
              </a:path>
            </a:pathLst>
          </a:custGeom>
          <a:solidFill>
            <a:srgbClr val="08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2540000"/>
            <a:ext cx="5334000" cy="5016500"/>
          </a:xfrm>
          <a:custGeom>
            <a:avLst/>
            <a:gdLst/>
            <a:ahLst/>
            <a:cxnLst/>
            <a:rect l="l" t="t" r="r" b="b"/>
            <a:pathLst>
              <a:path w="5334000" h="5016500">
                <a:moveTo>
                  <a:pt x="0" y="1270000"/>
                </a:moveTo>
                <a:lnTo>
                  <a:pt x="5334000" y="0"/>
                </a:lnTo>
                <a:lnTo>
                  <a:pt x="5334000" y="5016500"/>
                </a:lnTo>
                <a:lnTo>
                  <a:pt x="0" y="5016500"/>
                </a:lnTo>
                <a:close/>
              </a:path>
            </a:pathLst>
          </a:custGeom>
          <a:solidFill>
            <a:srgbClr val="0A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4191000"/>
            <a:ext cx="5334000" cy="3365500"/>
          </a:xfrm>
          <a:custGeom>
            <a:avLst/>
            <a:gdLst/>
            <a:ahLst/>
            <a:cxnLst/>
            <a:rect l="l" t="t" r="r" b="b"/>
            <a:pathLst>
              <a:path w="5334000" h="3365500">
                <a:moveTo>
                  <a:pt x="0" y="825500"/>
                </a:moveTo>
                <a:lnTo>
                  <a:pt x="5334000" y="0"/>
                </a:lnTo>
                <a:lnTo>
                  <a:pt x="5334000" y="3365500"/>
                </a:lnTo>
                <a:lnTo>
                  <a:pt x="0" y="3365500"/>
                </a:lnTo>
                <a:close/>
              </a:path>
            </a:pathLst>
          </a:custGeom>
          <a:solidFill>
            <a:srgbClr val="19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util_SPX_bl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160000">
            <a:off x="-1206500" y="1333500"/>
            <a:ext cx="7112000" cy="1295232"/>
          </a:xfrm>
          <a:prstGeom prst="rect">
            <a:avLst/>
          </a:prstGeom>
        </p:spPr>
      </p:pic>
      <p:pic>
        <p:nvPicPr>
          <p:cNvPr id="6" name="Picture 5" descr="logo-enedril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355600"/>
            <a:ext cx="1651000" cy="3756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5600" y="3200400"/>
            <a:ext cx="4699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CB2FE"/>
                </a:solidFill>
                <a:latin typeface="Ubuntu Mono"/>
              </a:rPr>
              <a:t>SINCE 2013 IN LONS, NEAR PAU (FRANCE)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600" y="3429000"/>
            <a:ext cx="4826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Ubuntu Mono"/>
              </a:rPr>
              <a:t>DIRECTIONAL DRILLING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600" y="3886200"/>
            <a:ext cx="4826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Ubuntu Mono"/>
              </a:rPr>
              <a:t>&amp; FISHING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600" y="4445000"/>
            <a:ext cx="4191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50"/>
              </a:lnSpc>
            </a:pPr>
            <a:r>
              <a:rPr sz="1050" b="0">
                <a:solidFill>
                  <a:srgbClr val="C8DEF5"/>
                </a:solidFill>
                <a:latin typeface="Ubuntu Mono"/>
              </a:rPr>
              <a:t>Solutions for geothermal, oil &amp; gas and underground gas storage projects.</a:t>
            </a:r>
          </a:p>
        </p:txBody>
      </p:sp>
      <p:sp>
        <p:nvSpPr>
          <p:cNvPr id="11" name="Freeform 10"/>
          <p:cNvSpPr/>
          <p:nvPr/>
        </p:nvSpPr>
        <p:spPr>
          <a:xfrm>
            <a:off x="355600" y="514350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0" y="6096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8000" y="5118100"/>
            <a:ext cx="21590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Ubuntu Mono"/>
              </a:rPr>
              <a:t>98,500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5473700"/>
            <a:ext cx="2159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0"/>
              </a:lnSpc>
            </a:pPr>
            <a:r>
              <a:rPr sz="850" b="0">
                <a:solidFill>
                  <a:srgbClr val="BED7F0"/>
                </a:solidFill>
                <a:latin typeface="Ubuntu Mono"/>
              </a:rPr>
              <a:t>drilled</a:t>
            </a:r>
          </a:p>
        </p:txBody>
      </p:sp>
      <p:sp>
        <p:nvSpPr>
          <p:cNvPr id="14" name="Freeform 13"/>
          <p:cNvSpPr/>
          <p:nvPr/>
        </p:nvSpPr>
        <p:spPr>
          <a:xfrm>
            <a:off x="2768600" y="514350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0" y="6096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1000" y="5118100"/>
            <a:ext cx="21590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Ubuntu Mono"/>
              </a:rPr>
              <a:t>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1000" y="5473700"/>
            <a:ext cx="2159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0"/>
              </a:lnSpc>
            </a:pPr>
            <a:r>
              <a:rPr sz="850" b="0">
                <a:solidFill>
                  <a:srgbClr val="BED7F0"/>
                </a:solidFill>
                <a:latin typeface="Ubuntu Mono"/>
              </a:rPr>
              <a:t>wells, up to 3,000 m TVD</a:t>
            </a:r>
          </a:p>
        </p:txBody>
      </p:sp>
      <p:sp>
        <p:nvSpPr>
          <p:cNvPr id="17" name="Freeform 16"/>
          <p:cNvSpPr/>
          <p:nvPr/>
        </p:nvSpPr>
        <p:spPr>
          <a:xfrm>
            <a:off x="355600" y="600710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0" y="6096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000" y="5981700"/>
            <a:ext cx="21590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Ubuntu Mono"/>
              </a:rPr>
              <a:t>142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" y="6337300"/>
            <a:ext cx="2159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0"/>
              </a:lnSpc>
            </a:pPr>
            <a:r>
              <a:rPr sz="850" b="0">
                <a:solidFill>
                  <a:srgbClr val="BED7F0"/>
                </a:solidFill>
                <a:latin typeface="Ubuntu Mono"/>
              </a:rPr>
              <a:t>fishing, workover and P&amp;A jobs</a:t>
            </a:r>
          </a:p>
        </p:txBody>
      </p:sp>
      <p:sp>
        <p:nvSpPr>
          <p:cNvPr id="20" name="Freeform 19"/>
          <p:cNvSpPr/>
          <p:nvPr/>
        </p:nvSpPr>
        <p:spPr>
          <a:xfrm>
            <a:off x="2768600" y="600710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0" y="6096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1000" y="5981700"/>
            <a:ext cx="21590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Ubuntu Mono"/>
              </a:rPr>
              <a:t>2,500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1000" y="6337300"/>
            <a:ext cx="2159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0"/>
              </a:lnSpc>
            </a:pPr>
            <a:r>
              <a:rPr sz="850" b="0">
                <a:solidFill>
                  <a:srgbClr val="BED7F0"/>
                </a:solidFill>
                <a:latin typeface="Ubuntu Mono"/>
              </a:rPr>
              <a:t>tools in stock</a:t>
            </a:r>
          </a:p>
        </p:txBody>
      </p:sp>
      <p:sp>
        <p:nvSpPr>
          <p:cNvPr id="23" name="Freeform 22"/>
          <p:cNvSpPr/>
          <p:nvPr/>
        </p:nvSpPr>
        <p:spPr>
          <a:xfrm>
            <a:off x="355600" y="7073900"/>
            <a:ext cx="1397000" cy="254000"/>
          </a:xfrm>
          <a:custGeom>
            <a:avLst/>
            <a:gdLst/>
            <a:ahLst/>
            <a:cxnLst/>
            <a:rect l="l" t="t" r="r" b="b"/>
            <a:pathLst>
              <a:path w="1397000" h="254000">
                <a:moveTo>
                  <a:pt x="0" y="0"/>
                </a:moveTo>
                <a:lnTo>
                  <a:pt x="1397000" y="0"/>
                </a:lnTo>
                <a:lnTo>
                  <a:pt x="1397000" y="254000"/>
                </a:lnTo>
                <a:lnTo>
                  <a:pt x="0" y="254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5600" y="7073900"/>
            <a:ext cx="1397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08203F"/>
                </a:solidFill>
                <a:latin typeface="Ubuntu Mono"/>
              </a:rPr>
              <a:t>ISO 9001:2015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05000" y="7073900"/>
            <a:ext cx="3048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>
                <a:solidFill>
                  <a:srgbClr val="1CB2FE"/>
                </a:solidFill>
                <a:latin typeface="Ubuntu Mono"/>
              </a:rPr>
              <a:t>www.enedril.com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5334000" cy="7556500"/>
          </a:xfrm>
          <a:custGeom>
            <a:avLst/>
            <a:gdLst/>
            <a:ahLst/>
            <a:cxnLst/>
            <a:rect l="l" t="t" r="r" b="b"/>
            <a:pathLst>
              <a:path w="5334000" h="7556500">
                <a:moveTo>
                  <a:pt x="0" y="0"/>
                </a:moveTo>
                <a:lnTo>
                  <a:pt x="5334000" y="0"/>
                </a:lnTo>
                <a:lnTo>
                  <a:pt x="5334000" y="7556500"/>
                </a:lnTo>
                <a:lnTo>
                  <a:pt x="0" y="75565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730500" y="0"/>
            <a:ext cx="2603500" cy="1206500"/>
          </a:xfrm>
          <a:custGeom>
            <a:avLst/>
            <a:gdLst/>
            <a:ahLst/>
            <a:cxnLst/>
            <a:rect l="l" t="t" r="r" b="b"/>
            <a:pathLst>
              <a:path w="2603500" h="1206500">
                <a:moveTo>
                  <a:pt x="571500" y="0"/>
                </a:moveTo>
                <a:lnTo>
                  <a:pt x="2603500" y="0"/>
                </a:lnTo>
                <a:lnTo>
                  <a:pt x="2603500" y="1206500"/>
                </a:lnTo>
                <a:lnTo>
                  <a:pt x="0" y="1206500"/>
                </a:lnTo>
                <a:close/>
              </a:path>
            </a:pathLst>
          </a:custGeom>
          <a:solidFill>
            <a:srgbClr val="EA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4381500"/>
            <a:ext cx="5334000" cy="3175000"/>
          </a:xfrm>
          <a:custGeom>
            <a:avLst/>
            <a:gdLst/>
            <a:ahLst/>
            <a:cxnLst/>
            <a:rect l="l" t="t" r="r" b="b"/>
            <a:pathLst>
              <a:path w="5334000" h="3175000">
                <a:moveTo>
                  <a:pt x="0" y="508000"/>
                </a:moveTo>
                <a:lnTo>
                  <a:pt x="5334000" y="0"/>
                </a:lnTo>
                <a:lnTo>
                  <a:pt x="5334000" y="3175000"/>
                </a:lnTo>
                <a:lnTo>
                  <a:pt x="0" y="3175000"/>
                </a:lnTo>
                <a:close/>
              </a:path>
            </a:pathLst>
          </a:custGeom>
          <a:solidFill>
            <a:srgbClr val="08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5600" y="355600"/>
            <a:ext cx="3810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8203F"/>
                </a:solidFill>
                <a:latin typeface="Ubuntu Mono"/>
              </a:rPr>
              <a:t>WHAT WE DO</a:t>
            </a:r>
          </a:p>
        </p:txBody>
      </p:sp>
      <p:sp>
        <p:nvSpPr>
          <p:cNvPr id="6" name="Freeform 5"/>
          <p:cNvSpPr/>
          <p:nvPr/>
        </p:nvSpPr>
        <p:spPr>
          <a:xfrm>
            <a:off x="355600" y="736600"/>
            <a:ext cx="558800" cy="50800"/>
          </a:xfrm>
          <a:custGeom>
            <a:avLst/>
            <a:gdLst/>
            <a:ahLst/>
            <a:cxnLst/>
            <a:rect l="l" t="t" r="r" b="b"/>
            <a:pathLst>
              <a:path w="558800" h="50800">
                <a:moveTo>
                  <a:pt x="0" y="0"/>
                </a:moveTo>
                <a:lnTo>
                  <a:pt x="558800" y="0"/>
                </a:lnTo>
                <a:lnTo>
                  <a:pt x="558800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355600" y="1016000"/>
            <a:ext cx="38100" cy="660400"/>
          </a:xfrm>
          <a:custGeom>
            <a:avLst/>
            <a:gdLst/>
            <a:ahLst/>
            <a:cxnLst/>
            <a:rect l="l" t="t" r="r" b="b"/>
            <a:pathLst>
              <a:path w="38100" h="660400">
                <a:moveTo>
                  <a:pt x="0" y="0"/>
                </a:moveTo>
                <a:lnTo>
                  <a:pt x="38100" y="0"/>
                </a:lnTo>
                <a:lnTo>
                  <a:pt x="38100" y="660400"/>
                </a:lnTo>
                <a:lnTo>
                  <a:pt x="0" y="6604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" y="1003300"/>
            <a:ext cx="4445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A4FA0"/>
                </a:solidFill>
                <a:latin typeface="Ubuntu Mono"/>
              </a:rPr>
              <a:t>DIRECTIONAL DRILLING &amp; MWD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231900"/>
            <a:ext cx="4445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00"/>
              </a:lnSpc>
            </a:pPr>
            <a:r>
              <a:rPr sz="950" b="0">
                <a:solidFill>
                  <a:srgbClr val="0B1B2E"/>
                </a:solidFill>
                <a:latin typeface="Ubuntu Mono"/>
              </a:rPr>
              <a:t>PDM 3-1/8" to 9-5/8", RSS, MWD up to 200°C, in-house well planning.</a:t>
            </a:r>
          </a:p>
        </p:txBody>
      </p:sp>
      <p:sp>
        <p:nvSpPr>
          <p:cNvPr id="10" name="Freeform 9"/>
          <p:cNvSpPr/>
          <p:nvPr/>
        </p:nvSpPr>
        <p:spPr>
          <a:xfrm>
            <a:off x="355600" y="1879600"/>
            <a:ext cx="38100" cy="660400"/>
          </a:xfrm>
          <a:custGeom>
            <a:avLst/>
            <a:gdLst/>
            <a:ahLst/>
            <a:cxnLst/>
            <a:rect l="l" t="t" r="r" b="b"/>
            <a:pathLst>
              <a:path w="38100" h="660400">
                <a:moveTo>
                  <a:pt x="0" y="0"/>
                </a:moveTo>
                <a:lnTo>
                  <a:pt x="38100" y="0"/>
                </a:lnTo>
                <a:lnTo>
                  <a:pt x="38100" y="660400"/>
                </a:lnTo>
                <a:lnTo>
                  <a:pt x="0" y="6604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400" y="1866900"/>
            <a:ext cx="4445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A4FA0"/>
                </a:solidFill>
                <a:latin typeface="Ubuntu Mono"/>
              </a:rPr>
              <a:t>FISHING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2095500"/>
            <a:ext cx="4445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00"/>
              </a:lnSpc>
            </a:pPr>
            <a:r>
              <a:rPr sz="950" b="0">
                <a:solidFill>
                  <a:srgbClr val="0B1B2E"/>
                </a:solidFill>
                <a:latin typeface="Ubuntu Mono"/>
              </a:rPr>
              <a:t>Rods, strings, stuck tools. Response 24/48 h.</a:t>
            </a:r>
          </a:p>
        </p:txBody>
      </p:sp>
      <p:sp>
        <p:nvSpPr>
          <p:cNvPr id="13" name="Freeform 12"/>
          <p:cNvSpPr/>
          <p:nvPr/>
        </p:nvSpPr>
        <p:spPr>
          <a:xfrm>
            <a:off x="355600" y="2743200"/>
            <a:ext cx="38100" cy="660400"/>
          </a:xfrm>
          <a:custGeom>
            <a:avLst/>
            <a:gdLst/>
            <a:ahLst/>
            <a:cxnLst/>
            <a:rect l="l" t="t" r="r" b="b"/>
            <a:pathLst>
              <a:path w="38100" h="660400">
                <a:moveTo>
                  <a:pt x="0" y="0"/>
                </a:moveTo>
                <a:lnTo>
                  <a:pt x="38100" y="0"/>
                </a:lnTo>
                <a:lnTo>
                  <a:pt x="38100" y="660400"/>
                </a:lnTo>
                <a:lnTo>
                  <a:pt x="0" y="6604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" y="2730500"/>
            <a:ext cx="4445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A4FA0"/>
                </a:solidFill>
                <a:latin typeface="Ubuntu Mono"/>
              </a:rPr>
              <a:t>WORKOVER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2959100"/>
            <a:ext cx="4445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00"/>
              </a:lnSpc>
            </a:pPr>
            <a:r>
              <a:rPr sz="950" b="0">
                <a:solidFill>
                  <a:srgbClr val="0B1B2E"/>
                </a:solidFill>
                <a:latin typeface="Ubuntu Mono"/>
              </a:rPr>
              <a:t>Section milling, wash over, casing repair.</a:t>
            </a:r>
          </a:p>
        </p:txBody>
      </p:sp>
      <p:sp>
        <p:nvSpPr>
          <p:cNvPr id="16" name="Freeform 15"/>
          <p:cNvSpPr/>
          <p:nvPr/>
        </p:nvSpPr>
        <p:spPr>
          <a:xfrm>
            <a:off x="355600" y="3606800"/>
            <a:ext cx="38100" cy="660400"/>
          </a:xfrm>
          <a:custGeom>
            <a:avLst/>
            <a:gdLst/>
            <a:ahLst/>
            <a:cxnLst/>
            <a:rect l="l" t="t" r="r" b="b"/>
            <a:pathLst>
              <a:path w="38100" h="660400">
                <a:moveTo>
                  <a:pt x="0" y="0"/>
                </a:moveTo>
                <a:lnTo>
                  <a:pt x="38100" y="0"/>
                </a:lnTo>
                <a:lnTo>
                  <a:pt x="38100" y="660400"/>
                </a:lnTo>
                <a:lnTo>
                  <a:pt x="0" y="6604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400" y="3594100"/>
            <a:ext cx="4445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A4FA0"/>
                </a:solidFill>
                <a:latin typeface="Ubuntu Mono"/>
              </a:rPr>
              <a:t>PLUG &amp; ABANDONMENT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3822700"/>
            <a:ext cx="4445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00"/>
              </a:lnSpc>
            </a:pPr>
            <a:r>
              <a:rPr sz="950" b="0">
                <a:solidFill>
                  <a:srgbClr val="0B1B2E"/>
                </a:solidFill>
                <a:latin typeface="Ubuntu Mono"/>
              </a:rPr>
              <a:t>Safe abandonment of wells.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600" y="5054600"/>
            <a:ext cx="381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CB2FE"/>
                </a:solidFill>
                <a:latin typeface="Ubuntu Mono"/>
              </a:rPr>
              <a:t>WHY ENEDRIL</a:t>
            </a:r>
          </a:p>
        </p:txBody>
      </p:sp>
      <p:sp>
        <p:nvSpPr>
          <p:cNvPr id="20" name="Freeform 19"/>
          <p:cNvSpPr/>
          <p:nvPr/>
        </p:nvSpPr>
        <p:spPr>
          <a:xfrm>
            <a:off x="355600" y="5334000"/>
            <a:ext cx="1079500" cy="38100"/>
          </a:xfrm>
          <a:custGeom>
            <a:avLst/>
            <a:gdLst/>
            <a:ahLst/>
            <a:cxnLst/>
            <a:rect l="l" t="t" r="r" b="b"/>
            <a:pathLst>
              <a:path w="1079500" h="38100">
                <a:moveTo>
                  <a:pt x="0" y="0"/>
                </a:moveTo>
                <a:lnTo>
                  <a:pt x="1079500" y="0"/>
                </a:lnTo>
                <a:lnTo>
                  <a:pt x="107950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562100" y="5334000"/>
            <a:ext cx="1079500" cy="38100"/>
          </a:xfrm>
          <a:custGeom>
            <a:avLst/>
            <a:gdLst/>
            <a:ahLst/>
            <a:cxnLst/>
            <a:rect l="l" t="t" r="r" b="b"/>
            <a:pathLst>
              <a:path w="1079500" h="38100">
                <a:moveTo>
                  <a:pt x="0" y="0"/>
                </a:moveTo>
                <a:lnTo>
                  <a:pt x="1079500" y="0"/>
                </a:lnTo>
                <a:lnTo>
                  <a:pt x="107950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2768600" y="5334000"/>
            <a:ext cx="1079500" cy="38100"/>
          </a:xfrm>
          <a:custGeom>
            <a:avLst/>
            <a:gdLst/>
            <a:ahLst/>
            <a:cxnLst/>
            <a:rect l="l" t="t" r="r" b="b"/>
            <a:pathLst>
              <a:path w="1079500" h="38100">
                <a:moveTo>
                  <a:pt x="0" y="0"/>
                </a:moveTo>
                <a:lnTo>
                  <a:pt x="1079500" y="0"/>
                </a:lnTo>
                <a:lnTo>
                  <a:pt x="107950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975100" y="5334000"/>
            <a:ext cx="1079500" cy="38100"/>
          </a:xfrm>
          <a:custGeom>
            <a:avLst/>
            <a:gdLst/>
            <a:ahLst/>
            <a:cxnLst/>
            <a:rect l="l" t="t" r="r" b="b"/>
            <a:pathLst>
              <a:path w="1079500" h="38100">
                <a:moveTo>
                  <a:pt x="0" y="0"/>
                </a:moveTo>
                <a:lnTo>
                  <a:pt x="1079500" y="0"/>
                </a:lnTo>
                <a:lnTo>
                  <a:pt x="107950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5600" y="5435600"/>
            <a:ext cx="11684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Ubuntu Mono"/>
              </a:rPr>
              <a:t>EXPERIENCE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2100" y="5435600"/>
            <a:ext cx="11684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Ubuntu Mono"/>
              </a:rPr>
              <a:t>EXCELLENCE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8600" y="5435600"/>
            <a:ext cx="11684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Ubuntu Mono"/>
              </a:rPr>
              <a:t>CUSTOM SOLUTIONS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5100" y="5435600"/>
            <a:ext cx="11684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Ubuntu Mono"/>
              </a:rPr>
              <a:t>RELIABILITY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600" y="5969000"/>
            <a:ext cx="292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Ubuntu Mono"/>
              </a:rPr>
              <a:t>Let's talk about your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600" y="6324600"/>
            <a:ext cx="3302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Ubuntu Mono"/>
              </a:rPr>
              <a:t>+33 (0)5 59 04 50 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5600" y="6565900"/>
            <a:ext cx="3302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Ubuntu Mono"/>
              </a:rPr>
              <a:t>info@enedril.fr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5600" y="6807200"/>
            <a:ext cx="3302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Ubuntu Mono"/>
              </a:rPr>
              <a:t>www.enedril.com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5600" y="7048500"/>
            <a:ext cx="3302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EF5"/>
                </a:solidFill>
                <a:latin typeface="Ubuntu Mono"/>
              </a:rPr>
              <a:t>3 avenue des Lacs, 64140 Lons (France)</a:t>
            </a:r>
          </a:p>
        </p:txBody>
      </p:sp>
      <p:sp>
        <p:nvSpPr>
          <p:cNvPr id="33" name="Freeform 32"/>
          <p:cNvSpPr/>
          <p:nvPr/>
        </p:nvSpPr>
        <p:spPr>
          <a:xfrm>
            <a:off x="3759200" y="5969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0" y="0"/>
                </a:moveTo>
                <a:lnTo>
                  <a:pt x="1270000" y="0"/>
                </a:lnTo>
                <a:lnTo>
                  <a:pt x="1270000" y="1270000"/>
                </a:lnTo>
                <a:lnTo>
                  <a:pt x="0" y="127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qr_enedr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700" y="6032500"/>
            <a:ext cx="1143000" cy="1143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683000" y="7289800"/>
            <a:ext cx="1422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>
                <a:solidFill>
                  <a:srgbClr val="BED7F0"/>
                </a:solidFill>
                <a:latin typeface="Ubuntu Mono"/>
              </a:rPr>
              <a:t>Scan to discover 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