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5334000" cy="7556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5334000" cy="7556500"/>
          </a:xfrm>
          <a:custGeom>
            <a:avLst/>
            <a:gdLst/>
            <a:ahLst/>
            <a:cxnLst/>
            <a:rect l="l" t="t" r="r" b="b"/>
            <a:pathLst>
              <a:path w="5334000" h="7556500">
                <a:moveTo>
                  <a:pt x="0" y="0"/>
                </a:moveTo>
                <a:lnTo>
                  <a:pt x="5334000" y="0"/>
                </a:lnTo>
                <a:lnTo>
                  <a:pt x="5334000" y="7556500"/>
                </a:lnTo>
                <a:lnTo>
                  <a:pt x="0" y="75565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0" y="2540000"/>
            <a:ext cx="5334000" cy="5016500"/>
          </a:xfrm>
          <a:custGeom>
            <a:avLst/>
            <a:gdLst/>
            <a:ahLst/>
            <a:cxnLst/>
            <a:rect l="l" t="t" r="r" b="b"/>
            <a:pathLst>
              <a:path w="5334000" h="5016500">
                <a:moveTo>
                  <a:pt x="0" y="1270000"/>
                </a:moveTo>
                <a:lnTo>
                  <a:pt x="5334000" y="0"/>
                </a:lnTo>
                <a:lnTo>
                  <a:pt x="5334000" y="5016500"/>
                </a:lnTo>
                <a:lnTo>
                  <a:pt x="0" y="5016500"/>
                </a:lnTo>
                <a:close/>
              </a:path>
            </a:pathLst>
          </a:custGeom>
          <a:solidFill>
            <a:srgbClr val="0A4F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191000"/>
            <a:ext cx="5334000" cy="3365500"/>
          </a:xfrm>
          <a:custGeom>
            <a:avLst/>
            <a:gdLst/>
            <a:ahLst/>
            <a:cxnLst/>
            <a:rect l="l" t="t" r="r" b="b"/>
            <a:pathLst>
              <a:path w="5334000" h="3365500">
                <a:moveTo>
                  <a:pt x="0" y="825500"/>
                </a:moveTo>
                <a:lnTo>
                  <a:pt x="5334000" y="0"/>
                </a:lnTo>
                <a:lnTo>
                  <a:pt x="5334000" y="3365500"/>
                </a:lnTo>
                <a:lnTo>
                  <a:pt x="0" y="3365500"/>
                </a:lnTo>
                <a:close/>
              </a:path>
            </a:pathLst>
          </a:custGeom>
          <a:solidFill>
            <a:srgbClr val="194E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Freeform 4"/>
          <p:cNvSpPr/>
          <p:nvPr/>
        </p:nvSpPr>
        <p:spPr>
          <a:xfrm>
            <a:off x="889000" y="431800"/>
            <a:ext cx="3149600" cy="2171700"/>
          </a:xfrm>
          <a:custGeom>
            <a:avLst/>
            <a:gdLst/>
            <a:ahLst/>
            <a:cxnLst/>
            <a:rect l="l" t="t" r="r" b="b"/>
            <a:pathLst>
              <a:path w="3149600" h="2171700">
                <a:moveTo>
                  <a:pt x="3149600" y="0"/>
                </a:moveTo>
                <a:lnTo>
                  <a:pt x="3148725" y="71786"/>
                </a:lnTo>
                <a:lnTo>
                  <a:pt x="3146100" y="142366"/>
                </a:lnTo>
                <a:lnTo>
                  <a:pt x="3141726" y="211740"/>
                </a:lnTo>
                <a:lnTo>
                  <a:pt x="3135601" y="279908"/>
                </a:lnTo>
                <a:lnTo>
                  <a:pt x="3127727" y="346868"/>
                </a:lnTo>
                <a:lnTo>
                  <a:pt x="3118104" y="412623"/>
                </a:lnTo>
                <a:lnTo>
                  <a:pt x="3106730" y="477170"/>
                </a:lnTo>
                <a:lnTo>
                  <a:pt x="3093607" y="540512"/>
                </a:lnTo>
                <a:lnTo>
                  <a:pt x="3078733" y="602646"/>
                </a:lnTo>
                <a:lnTo>
                  <a:pt x="3062111" y="663575"/>
                </a:lnTo>
                <a:lnTo>
                  <a:pt x="3043738" y="723296"/>
                </a:lnTo>
                <a:lnTo>
                  <a:pt x="3023616" y="781812"/>
                </a:lnTo>
                <a:lnTo>
                  <a:pt x="3001743" y="839120"/>
                </a:lnTo>
                <a:lnTo>
                  <a:pt x="2978121" y="895223"/>
                </a:lnTo>
                <a:lnTo>
                  <a:pt x="2952750" y="950118"/>
                </a:lnTo>
                <a:lnTo>
                  <a:pt x="2925628" y="1003808"/>
                </a:lnTo>
                <a:lnTo>
                  <a:pt x="2896757" y="1056290"/>
                </a:lnTo>
                <a:lnTo>
                  <a:pt x="2866136" y="1107567"/>
                </a:lnTo>
                <a:lnTo>
                  <a:pt x="2833765" y="1157636"/>
                </a:lnTo>
                <a:lnTo>
                  <a:pt x="2799644" y="1206500"/>
                </a:lnTo>
                <a:lnTo>
                  <a:pt x="2763774" y="1254156"/>
                </a:lnTo>
                <a:lnTo>
                  <a:pt x="2726153" y="1300606"/>
                </a:lnTo>
                <a:lnTo>
                  <a:pt x="2686783" y="1345850"/>
                </a:lnTo>
                <a:lnTo>
                  <a:pt x="2645664" y="1389888"/>
                </a:lnTo>
                <a:lnTo>
                  <a:pt x="2602794" y="1432718"/>
                </a:lnTo>
                <a:lnTo>
                  <a:pt x="2558175" y="1474343"/>
                </a:lnTo>
                <a:lnTo>
                  <a:pt x="2511806" y="1514760"/>
                </a:lnTo>
                <a:lnTo>
                  <a:pt x="2463687" y="1553972"/>
                </a:lnTo>
                <a:lnTo>
                  <a:pt x="2413818" y="1591976"/>
                </a:lnTo>
                <a:lnTo>
                  <a:pt x="2362200" y="1628775"/>
                </a:lnTo>
                <a:lnTo>
                  <a:pt x="2308831" y="1664366"/>
                </a:lnTo>
                <a:lnTo>
                  <a:pt x="2253713" y="1698752"/>
                </a:lnTo>
                <a:lnTo>
                  <a:pt x="2196846" y="1731930"/>
                </a:lnTo>
                <a:lnTo>
                  <a:pt x="2138228" y="1763903"/>
                </a:lnTo>
                <a:lnTo>
                  <a:pt x="2077861" y="1794668"/>
                </a:lnTo>
                <a:lnTo>
                  <a:pt x="2015743" y="1824228"/>
                </a:lnTo>
                <a:lnTo>
                  <a:pt x="1951877" y="1852580"/>
                </a:lnTo>
                <a:lnTo>
                  <a:pt x="1886260" y="1879727"/>
                </a:lnTo>
                <a:lnTo>
                  <a:pt x="1818893" y="1905666"/>
                </a:lnTo>
                <a:lnTo>
                  <a:pt x="1749777" y="1930400"/>
                </a:lnTo>
                <a:lnTo>
                  <a:pt x="1678911" y="1953926"/>
                </a:lnTo>
                <a:lnTo>
                  <a:pt x="1606296" y="1976247"/>
                </a:lnTo>
                <a:lnTo>
                  <a:pt x="1531930" y="1997360"/>
                </a:lnTo>
                <a:lnTo>
                  <a:pt x="1455815" y="2017267"/>
                </a:lnTo>
                <a:lnTo>
                  <a:pt x="1377950" y="2035968"/>
                </a:lnTo>
                <a:lnTo>
                  <a:pt x="1298335" y="2053463"/>
                </a:lnTo>
                <a:lnTo>
                  <a:pt x="1216970" y="2069750"/>
                </a:lnTo>
                <a:lnTo>
                  <a:pt x="1133856" y="2084832"/>
                </a:lnTo>
                <a:lnTo>
                  <a:pt x="1048991" y="2098706"/>
                </a:lnTo>
                <a:lnTo>
                  <a:pt x="962377" y="2111375"/>
                </a:lnTo>
                <a:lnTo>
                  <a:pt x="874014" y="2122836"/>
                </a:lnTo>
                <a:lnTo>
                  <a:pt x="783900" y="2133092"/>
                </a:lnTo>
                <a:lnTo>
                  <a:pt x="692037" y="2142140"/>
                </a:lnTo>
                <a:lnTo>
                  <a:pt x="598423" y="2149983"/>
                </a:lnTo>
                <a:lnTo>
                  <a:pt x="503061" y="2156618"/>
                </a:lnTo>
                <a:lnTo>
                  <a:pt x="405948" y="2162048"/>
                </a:lnTo>
                <a:lnTo>
                  <a:pt x="307086" y="2166270"/>
                </a:lnTo>
                <a:lnTo>
                  <a:pt x="206473" y="2169287"/>
                </a:lnTo>
                <a:lnTo>
                  <a:pt x="104111" y="2171096"/>
                </a:lnTo>
                <a:lnTo>
                  <a:pt x="0" y="2171700"/>
                </a:lnTo>
              </a:path>
            </a:pathLst>
          </a:custGeom>
          <a:noFill/>
          <a:ln w="38100">
            <a:solidFill>
              <a:srgbClr val="1CB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0100" y="2514600"/>
            <a:ext cx="177800" cy="177800"/>
          </a:xfrm>
          <a:prstGeom prst="ellipse">
            <a:avLst/>
          </a:prstGeom>
          <a:solidFill>
            <a:srgbClr val="08203F"/>
          </a:solidFill>
          <a:ln w="31750">
            <a:solidFill>
              <a:srgbClr val="1CB2F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4724400" y="431800"/>
            <a:ext cx="15240" cy="2184400"/>
          </a:xfrm>
          <a:custGeom>
            <a:avLst/>
            <a:gdLst/>
            <a:ahLst/>
            <a:cxnLst/>
            <a:rect l="l" t="t" r="r" b="b"/>
            <a:pathLst>
              <a:path w="15240" h="2184400">
                <a:moveTo>
                  <a:pt x="0" y="0"/>
                </a:moveTo>
                <a:lnTo>
                  <a:pt x="15240" y="0"/>
                </a:lnTo>
                <a:lnTo>
                  <a:pt x="15240" y="2184400"/>
                </a:lnTo>
                <a:lnTo>
                  <a:pt x="0" y="2184400"/>
                </a:lnTo>
                <a:close/>
              </a:path>
            </a:pathLst>
          </a:custGeom>
          <a:solidFill>
            <a:srgbClr val="3C64A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Freeform 7"/>
          <p:cNvSpPr/>
          <p:nvPr/>
        </p:nvSpPr>
        <p:spPr>
          <a:xfrm>
            <a:off x="4648200" y="431800"/>
            <a:ext cx="177800" cy="15240"/>
          </a:xfrm>
          <a:custGeom>
            <a:avLst/>
            <a:gdLst/>
            <a:ahLst/>
            <a:cxnLst/>
            <a:rect l="l" t="t" r="r" b="b"/>
            <a:pathLst>
              <a:path w="177800" h="15240">
                <a:moveTo>
                  <a:pt x="0" y="0"/>
                </a:moveTo>
                <a:lnTo>
                  <a:pt x="177800" y="0"/>
                </a:lnTo>
                <a:lnTo>
                  <a:pt x="177800" y="15240"/>
                </a:lnTo>
                <a:lnTo>
                  <a:pt x="0" y="15240"/>
                </a:lnTo>
                <a:close/>
              </a:path>
            </a:pathLst>
          </a:custGeom>
          <a:solidFill>
            <a:srgbClr val="82A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759200" y="368300"/>
            <a:ext cx="838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96BEEB"/>
                </a:solidFill>
                <a:latin typeface="Ubuntu Mono"/>
              </a:rPr>
              <a:t>0</a:t>
            </a:r>
          </a:p>
        </p:txBody>
      </p:sp>
      <p:sp>
        <p:nvSpPr>
          <p:cNvPr id="10" name="Freeform 9"/>
          <p:cNvSpPr/>
          <p:nvPr/>
        </p:nvSpPr>
        <p:spPr>
          <a:xfrm>
            <a:off x="4648200" y="1159510"/>
            <a:ext cx="177800" cy="15240"/>
          </a:xfrm>
          <a:custGeom>
            <a:avLst/>
            <a:gdLst/>
            <a:ahLst/>
            <a:cxnLst/>
            <a:rect l="l" t="t" r="r" b="b"/>
            <a:pathLst>
              <a:path w="177800" h="15240">
                <a:moveTo>
                  <a:pt x="0" y="0"/>
                </a:moveTo>
                <a:lnTo>
                  <a:pt x="177800" y="0"/>
                </a:lnTo>
                <a:lnTo>
                  <a:pt x="177800" y="15240"/>
                </a:lnTo>
                <a:lnTo>
                  <a:pt x="0" y="15240"/>
                </a:lnTo>
                <a:close/>
              </a:path>
            </a:pathLst>
          </a:custGeom>
          <a:solidFill>
            <a:srgbClr val="82A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759200" y="1096010"/>
            <a:ext cx="838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96BEEB"/>
                </a:solidFill>
                <a:latin typeface="Ubuntu Mono"/>
              </a:rPr>
              <a:t>1 000 m</a:t>
            </a:r>
          </a:p>
        </p:txBody>
      </p:sp>
      <p:sp>
        <p:nvSpPr>
          <p:cNvPr id="12" name="Freeform 11"/>
          <p:cNvSpPr/>
          <p:nvPr/>
        </p:nvSpPr>
        <p:spPr>
          <a:xfrm>
            <a:off x="4648200" y="1887220"/>
            <a:ext cx="177800" cy="15239"/>
          </a:xfrm>
          <a:custGeom>
            <a:avLst/>
            <a:gdLst/>
            <a:ahLst/>
            <a:cxnLst/>
            <a:rect l="l" t="t" r="r" b="b"/>
            <a:pathLst>
              <a:path w="177800" h="15239">
                <a:moveTo>
                  <a:pt x="0" y="0"/>
                </a:moveTo>
                <a:lnTo>
                  <a:pt x="177800" y="0"/>
                </a:lnTo>
                <a:lnTo>
                  <a:pt x="177800" y="15239"/>
                </a:lnTo>
                <a:lnTo>
                  <a:pt x="0" y="15239"/>
                </a:lnTo>
                <a:close/>
              </a:path>
            </a:pathLst>
          </a:custGeom>
          <a:solidFill>
            <a:srgbClr val="82A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9200" y="1823720"/>
            <a:ext cx="838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96BEEB"/>
                </a:solidFill>
                <a:latin typeface="Ubuntu Mono"/>
              </a:rPr>
              <a:t>2 000 m</a:t>
            </a:r>
          </a:p>
        </p:txBody>
      </p:sp>
      <p:sp>
        <p:nvSpPr>
          <p:cNvPr id="14" name="Freeform 13"/>
          <p:cNvSpPr/>
          <p:nvPr/>
        </p:nvSpPr>
        <p:spPr>
          <a:xfrm>
            <a:off x="4648200" y="2614929"/>
            <a:ext cx="177800" cy="15240"/>
          </a:xfrm>
          <a:custGeom>
            <a:avLst/>
            <a:gdLst/>
            <a:ahLst/>
            <a:cxnLst/>
            <a:rect l="l" t="t" r="r" b="b"/>
            <a:pathLst>
              <a:path w="177800" h="15240">
                <a:moveTo>
                  <a:pt x="0" y="0"/>
                </a:moveTo>
                <a:lnTo>
                  <a:pt x="177800" y="0"/>
                </a:lnTo>
                <a:lnTo>
                  <a:pt x="177800" y="15240"/>
                </a:lnTo>
                <a:lnTo>
                  <a:pt x="0" y="15240"/>
                </a:lnTo>
                <a:close/>
              </a:path>
            </a:pathLst>
          </a:custGeom>
          <a:solidFill>
            <a:srgbClr val="82A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59200" y="2551429"/>
            <a:ext cx="838200" cy="127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700" b="0">
                <a:solidFill>
                  <a:srgbClr val="96BEEB"/>
                </a:solidFill>
                <a:latin typeface="Ubuntu Mono"/>
              </a:rPr>
              <a:t>3 000 m</a:t>
            </a:r>
          </a:p>
        </p:txBody>
      </p:sp>
      <p:pic>
        <p:nvPicPr>
          <p:cNvPr id="16" name="Picture 15" descr="logo-enedril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600" y="355600"/>
            <a:ext cx="1651000" cy="375658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355600" y="3200400"/>
            <a:ext cx="4699000" cy="254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50" b="1">
                <a:solidFill>
                  <a:srgbClr val="1CB2FE"/>
                </a:solidFill>
                <a:latin typeface="Ubuntu Mono"/>
              </a:rPr>
              <a:t>DEPUIS 2013 À LONS, PRÈS DE PAU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5600" y="3429000"/>
            <a:ext cx="482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Ubuntu Mono"/>
              </a:rPr>
              <a:t>FORAGE DIRIGÉ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" y="3886200"/>
            <a:ext cx="4826000" cy="533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Ubuntu Mono"/>
              </a:rPr>
              <a:t>&amp; FISHING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55600" y="4445000"/>
            <a:ext cx="4191000" cy="635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450"/>
              </a:lnSpc>
            </a:pPr>
            <a:r>
              <a:rPr sz="1050" b="0">
                <a:solidFill>
                  <a:srgbClr val="C8DEF5"/>
                </a:solidFill>
                <a:latin typeface="Ubuntu Mono"/>
              </a:rPr>
              <a:t>Solutions pour la géothermie, le pétrole et gaz et le stockage souterrain de gaz.</a:t>
            </a:r>
          </a:p>
        </p:txBody>
      </p:sp>
      <p:sp>
        <p:nvSpPr>
          <p:cNvPr id="21" name="Freeform 20"/>
          <p:cNvSpPr/>
          <p:nvPr/>
        </p:nvSpPr>
        <p:spPr>
          <a:xfrm>
            <a:off x="355600" y="5143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8000" y="51181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98 500 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8000" y="54737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forés</a:t>
            </a:r>
          </a:p>
        </p:txBody>
      </p:sp>
      <p:sp>
        <p:nvSpPr>
          <p:cNvPr id="24" name="Freeform 23"/>
          <p:cNvSpPr/>
          <p:nvPr/>
        </p:nvSpPr>
        <p:spPr>
          <a:xfrm>
            <a:off x="2768600" y="51435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21000" y="51181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75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21000" y="54737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puits, jusqu'à 3 000 m TVD</a:t>
            </a:r>
          </a:p>
        </p:txBody>
      </p:sp>
      <p:sp>
        <p:nvSpPr>
          <p:cNvPr id="27" name="Freeform 26"/>
          <p:cNvSpPr/>
          <p:nvPr/>
        </p:nvSpPr>
        <p:spPr>
          <a:xfrm>
            <a:off x="355600" y="60071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08000" y="59817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142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8000" y="63373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interventions fishing, workover et P&amp;A</a:t>
            </a:r>
          </a:p>
        </p:txBody>
      </p:sp>
      <p:sp>
        <p:nvSpPr>
          <p:cNvPr id="30" name="Freeform 29"/>
          <p:cNvSpPr/>
          <p:nvPr/>
        </p:nvSpPr>
        <p:spPr>
          <a:xfrm>
            <a:off x="2768600" y="6007100"/>
            <a:ext cx="38100" cy="609600"/>
          </a:xfrm>
          <a:custGeom>
            <a:avLst/>
            <a:gdLst/>
            <a:ahLst/>
            <a:cxnLst/>
            <a:rect l="l" t="t" r="r" b="b"/>
            <a:pathLst>
              <a:path w="38100" h="609600">
                <a:moveTo>
                  <a:pt x="0" y="0"/>
                </a:moveTo>
                <a:lnTo>
                  <a:pt x="38100" y="0"/>
                </a:lnTo>
                <a:lnTo>
                  <a:pt x="38100" y="609600"/>
                </a:lnTo>
                <a:lnTo>
                  <a:pt x="0" y="6096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21000" y="5981700"/>
            <a:ext cx="2159000" cy="355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Ubuntu Mono"/>
              </a:rPr>
              <a:t>2 500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921000" y="6337300"/>
            <a:ext cx="2159000" cy="33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100"/>
              </a:lnSpc>
            </a:pPr>
            <a:r>
              <a:rPr sz="850" b="0">
                <a:solidFill>
                  <a:srgbClr val="BED7F0"/>
                </a:solidFill>
                <a:latin typeface="Ubuntu Mono"/>
              </a:rPr>
              <a:t>outils en stock</a:t>
            </a:r>
          </a:p>
        </p:txBody>
      </p:sp>
      <p:sp>
        <p:nvSpPr>
          <p:cNvPr id="33" name="Freeform 32"/>
          <p:cNvSpPr/>
          <p:nvPr/>
        </p:nvSpPr>
        <p:spPr>
          <a:xfrm>
            <a:off x="355600" y="7073900"/>
            <a:ext cx="1397000" cy="254000"/>
          </a:xfrm>
          <a:custGeom>
            <a:avLst/>
            <a:gdLst/>
            <a:ahLst/>
            <a:cxnLst/>
            <a:rect l="l" t="t" r="r" b="b"/>
            <a:pathLst>
              <a:path w="1397000" h="254000">
                <a:moveTo>
                  <a:pt x="0" y="0"/>
                </a:moveTo>
                <a:lnTo>
                  <a:pt x="1397000" y="0"/>
                </a:lnTo>
                <a:lnTo>
                  <a:pt x="1397000" y="254000"/>
                </a:lnTo>
                <a:lnTo>
                  <a:pt x="0" y="254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55600" y="7073900"/>
            <a:ext cx="1397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900" b="1">
                <a:solidFill>
                  <a:srgbClr val="08203F"/>
                </a:solidFill>
                <a:latin typeface="Ubuntu Mono"/>
              </a:rPr>
              <a:t>ISO 9001:2015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905000" y="7073900"/>
            <a:ext cx="3048000" cy="2540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50" b="1">
                <a:solidFill>
                  <a:srgbClr val="1CB2FE"/>
                </a:solidFill>
                <a:latin typeface="Ubuntu Mono"/>
              </a:rPr>
              <a:t>www.enedril.com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5334000" cy="7556500"/>
          </a:xfrm>
          <a:custGeom>
            <a:avLst/>
            <a:gdLst/>
            <a:ahLst/>
            <a:cxnLst/>
            <a:rect l="l" t="t" r="r" b="b"/>
            <a:pathLst>
              <a:path w="5334000" h="7556500">
                <a:moveTo>
                  <a:pt x="0" y="0"/>
                </a:moveTo>
                <a:lnTo>
                  <a:pt x="5334000" y="0"/>
                </a:lnTo>
                <a:lnTo>
                  <a:pt x="5334000" y="7556500"/>
                </a:lnTo>
                <a:lnTo>
                  <a:pt x="0" y="75565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2730500" y="0"/>
            <a:ext cx="2603500" cy="1206500"/>
          </a:xfrm>
          <a:custGeom>
            <a:avLst/>
            <a:gdLst/>
            <a:ahLst/>
            <a:cxnLst/>
            <a:rect l="l" t="t" r="r" b="b"/>
            <a:pathLst>
              <a:path w="2603500" h="1206500">
                <a:moveTo>
                  <a:pt x="571500" y="0"/>
                </a:moveTo>
                <a:lnTo>
                  <a:pt x="2603500" y="0"/>
                </a:lnTo>
                <a:lnTo>
                  <a:pt x="2603500" y="1206500"/>
                </a:lnTo>
                <a:lnTo>
                  <a:pt x="0" y="1206500"/>
                </a:lnTo>
                <a:close/>
              </a:path>
            </a:pathLst>
          </a:custGeom>
          <a:solidFill>
            <a:srgbClr val="EAF4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0" y="4381500"/>
            <a:ext cx="5334000" cy="3175000"/>
          </a:xfrm>
          <a:custGeom>
            <a:avLst/>
            <a:gdLst/>
            <a:ahLst/>
            <a:cxnLst/>
            <a:rect l="l" t="t" r="r" b="b"/>
            <a:pathLst>
              <a:path w="5334000" h="3175000">
                <a:moveTo>
                  <a:pt x="0" y="508000"/>
                </a:moveTo>
                <a:lnTo>
                  <a:pt x="5334000" y="0"/>
                </a:lnTo>
                <a:lnTo>
                  <a:pt x="5334000" y="3175000"/>
                </a:lnTo>
                <a:lnTo>
                  <a:pt x="0" y="3175000"/>
                </a:lnTo>
                <a:close/>
              </a:path>
            </a:pathLst>
          </a:custGeom>
          <a:solidFill>
            <a:srgbClr val="0820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55600" y="355600"/>
            <a:ext cx="3810000" cy="30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000" b="1">
                <a:solidFill>
                  <a:srgbClr val="08203F"/>
                </a:solidFill>
                <a:latin typeface="Ubuntu Mono"/>
              </a:rPr>
              <a:t>NOS MÉTIERS</a:t>
            </a:r>
          </a:p>
        </p:txBody>
      </p:sp>
      <p:sp>
        <p:nvSpPr>
          <p:cNvPr id="6" name="Freeform 5"/>
          <p:cNvSpPr/>
          <p:nvPr/>
        </p:nvSpPr>
        <p:spPr>
          <a:xfrm>
            <a:off x="355600" y="736600"/>
            <a:ext cx="558800" cy="50800"/>
          </a:xfrm>
          <a:custGeom>
            <a:avLst/>
            <a:gdLst/>
            <a:ahLst/>
            <a:cxnLst/>
            <a:rect l="l" t="t" r="r" b="b"/>
            <a:pathLst>
              <a:path w="558800" h="50800">
                <a:moveTo>
                  <a:pt x="0" y="0"/>
                </a:moveTo>
                <a:lnTo>
                  <a:pt x="558800" y="0"/>
                </a:lnTo>
                <a:lnTo>
                  <a:pt x="558800" y="50800"/>
                </a:lnTo>
                <a:lnTo>
                  <a:pt x="0" y="508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Freeform 6"/>
          <p:cNvSpPr/>
          <p:nvPr/>
        </p:nvSpPr>
        <p:spPr>
          <a:xfrm>
            <a:off x="355600" y="10160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3400" y="10033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FORAGE DIRIGÉ &amp; MWD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3400" y="12319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Moteurs de fond 3-1/8" à 9-5/8", RSS, MWD jusqu'à 200°C, planification de puits en interne.</a:t>
            </a:r>
          </a:p>
        </p:txBody>
      </p:sp>
      <p:sp>
        <p:nvSpPr>
          <p:cNvPr id="10" name="Freeform 9"/>
          <p:cNvSpPr/>
          <p:nvPr/>
        </p:nvSpPr>
        <p:spPr>
          <a:xfrm>
            <a:off x="355600" y="18796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33400" y="18669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FISHING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3400" y="20955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Tiges, trains de tiges, outils coincés. Réactivité 24/48 h.</a:t>
            </a:r>
          </a:p>
        </p:txBody>
      </p:sp>
      <p:sp>
        <p:nvSpPr>
          <p:cNvPr id="13" name="Freeform 12"/>
          <p:cNvSpPr/>
          <p:nvPr/>
        </p:nvSpPr>
        <p:spPr>
          <a:xfrm>
            <a:off x="355600" y="27432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3400" y="27305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WORKOVER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3400" y="29591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Section milling, wash over, réparation de casing.</a:t>
            </a:r>
          </a:p>
        </p:txBody>
      </p:sp>
      <p:sp>
        <p:nvSpPr>
          <p:cNvPr id="16" name="Freeform 15"/>
          <p:cNvSpPr/>
          <p:nvPr/>
        </p:nvSpPr>
        <p:spPr>
          <a:xfrm>
            <a:off x="355600" y="3606800"/>
            <a:ext cx="38100" cy="660400"/>
          </a:xfrm>
          <a:custGeom>
            <a:avLst/>
            <a:gdLst/>
            <a:ahLst/>
            <a:cxnLst/>
            <a:rect l="l" t="t" r="r" b="b"/>
            <a:pathLst>
              <a:path w="38100" h="660400">
                <a:moveTo>
                  <a:pt x="0" y="0"/>
                </a:moveTo>
                <a:lnTo>
                  <a:pt x="38100" y="0"/>
                </a:lnTo>
                <a:lnTo>
                  <a:pt x="38100" y="660400"/>
                </a:lnTo>
                <a:lnTo>
                  <a:pt x="0" y="6604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33400" y="3594100"/>
            <a:ext cx="4445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1">
                <a:solidFill>
                  <a:srgbClr val="0A4FA0"/>
                </a:solidFill>
                <a:latin typeface="Ubuntu Mono"/>
              </a:rPr>
              <a:t>BOUCHAGE &amp; ABANDON (P&amp;A)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3400" y="3822700"/>
            <a:ext cx="4445000" cy="508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ts val="1300"/>
              </a:lnSpc>
            </a:pPr>
            <a:r>
              <a:rPr sz="950" b="0">
                <a:solidFill>
                  <a:srgbClr val="0B1B2E"/>
                </a:solidFill>
                <a:latin typeface="Ubuntu Mono"/>
              </a:rPr>
              <a:t>Abandon de puits en toute sécurité.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55600" y="5054600"/>
            <a:ext cx="3810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1CB2FE"/>
                </a:solidFill>
                <a:latin typeface="Ubuntu Mono"/>
              </a:rPr>
              <a:t>POURQUOI ENEDRIL</a:t>
            </a:r>
          </a:p>
        </p:txBody>
      </p:sp>
      <p:sp>
        <p:nvSpPr>
          <p:cNvPr id="20" name="Freeform 19"/>
          <p:cNvSpPr/>
          <p:nvPr/>
        </p:nvSpPr>
        <p:spPr>
          <a:xfrm>
            <a:off x="3556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Freeform 20"/>
          <p:cNvSpPr/>
          <p:nvPr/>
        </p:nvSpPr>
        <p:spPr>
          <a:xfrm>
            <a:off x="15621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Freeform 21"/>
          <p:cNvSpPr/>
          <p:nvPr/>
        </p:nvSpPr>
        <p:spPr>
          <a:xfrm>
            <a:off x="27686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Freeform 22"/>
          <p:cNvSpPr/>
          <p:nvPr/>
        </p:nvSpPr>
        <p:spPr>
          <a:xfrm>
            <a:off x="3975100" y="5334000"/>
            <a:ext cx="1079500" cy="38100"/>
          </a:xfrm>
          <a:custGeom>
            <a:avLst/>
            <a:gdLst/>
            <a:ahLst/>
            <a:cxnLst/>
            <a:rect l="l" t="t" r="r" b="b"/>
            <a:pathLst>
              <a:path w="1079500" h="38100">
                <a:moveTo>
                  <a:pt x="0" y="0"/>
                </a:moveTo>
                <a:lnTo>
                  <a:pt x="1079500" y="0"/>
                </a:lnTo>
                <a:lnTo>
                  <a:pt x="1079500" y="38100"/>
                </a:lnTo>
                <a:lnTo>
                  <a:pt x="0" y="38100"/>
                </a:lnTo>
                <a:close/>
              </a:path>
            </a:pathLst>
          </a:custGeom>
          <a:solidFill>
            <a:srgbClr val="1CB2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556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EXPÉRIENCE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621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EXCELLENCE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686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SUR MESURE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5100" y="5435600"/>
            <a:ext cx="1168400" cy="177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Ubuntu Mono"/>
              </a:rPr>
              <a:t>FIABILITÉ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55600" y="5969000"/>
            <a:ext cx="2921000" cy="228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Ubuntu Mono"/>
              </a:rPr>
              <a:t>Parlons de votre projet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55600" y="63246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+33 (0)5 59 04 50 45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5600" y="65659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info@enedril.fr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55600" y="68072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Ubuntu Mono"/>
              </a:rPr>
              <a:t>www.enedril.com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5600" y="7048500"/>
            <a:ext cx="3302000" cy="20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C8DEF5"/>
                </a:solidFill>
                <a:latin typeface="Ubuntu Mono"/>
              </a:rPr>
              <a:t>3 avenue des Lacs, 64140 Lons (France)</a:t>
            </a:r>
          </a:p>
        </p:txBody>
      </p:sp>
      <p:sp>
        <p:nvSpPr>
          <p:cNvPr id="33" name="Freeform 32"/>
          <p:cNvSpPr/>
          <p:nvPr/>
        </p:nvSpPr>
        <p:spPr>
          <a:xfrm>
            <a:off x="3759200" y="5969000"/>
            <a:ext cx="1270000" cy="1270000"/>
          </a:xfrm>
          <a:custGeom>
            <a:avLst/>
            <a:gdLst/>
            <a:ahLst/>
            <a:cxnLst/>
            <a:rect l="l" t="t" r="r" b="b"/>
            <a:pathLst>
              <a:path w="1270000" h="1270000">
                <a:moveTo>
                  <a:pt x="0" y="0"/>
                </a:moveTo>
                <a:lnTo>
                  <a:pt x="1270000" y="0"/>
                </a:lnTo>
                <a:lnTo>
                  <a:pt x="1270000" y="1270000"/>
                </a:lnTo>
                <a:lnTo>
                  <a:pt x="0" y="127000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4" name="Picture 33" descr="qr_enedr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2700" y="6032500"/>
            <a:ext cx="1143000" cy="1143000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3683000" y="7289800"/>
            <a:ext cx="1422400" cy="152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650" b="0">
                <a:solidFill>
                  <a:srgbClr val="BED7F0"/>
                </a:solidFill>
                <a:latin typeface="Ubuntu Mono"/>
              </a:rPr>
              <a:t>Scannez pour nous découvrir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