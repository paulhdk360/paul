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ENLARGEMENT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DRAG-TYPE UNDERREAMER, PDC CUTTERS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DRAG-TYPE UNDERREAMER WITH SPX PDC CUTTERS ON THE CUTTING EDGE: THE HARDNESS AND WEAR RESISTANCE OF POLYCRYSTALLINE DIAMOND, BACKED BY THE STRENGTH OF CEMENTED TUNGSTEN CARBIDE. THE CUTTERS SHEAR THROUGH SOFT TO MEDIUM-HARD FORMATIONS FASTER THAN CONVENTIONAL TOOLS AND NEED LESS TOOL WEIGHT. USED IN POORLY CONSOLIDATED SOFT TO MEDIUM FORMATIONS WHERE LARGER DIAMETERS ARE REQUIRED FOR GRAVEL PACKING OR CEMENTING. A PILOT HOLE CAN BE ENLARGED UP TO THREE TIMES THE BODY DIAMETER IN A SINGLE TRIP.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530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56200"/>
          <a:ext cx="6134097" cy="1752600"/>
        </p:xfrm>
        <a:graphic>
          <a:graphicData uri="http://schemas.openxmlformats.org/drawingml/2006/table">
            <a:tbl>
              <a:tblPr/>
              <a:tblGrid>
                <a:gridCol w="434498"/>
                <a:gridCol w="408940"/>
                <a:gridCol w="485616"/>
                <a:gridCol w="1277937"/>
                <a:gridCol w="715645"/>
                <a:gridCol w="485616"/>
                <a:gridCol w="511175"/>
                <a:gridCol w="460057"/>
                <a:gridCol w="971232"/>
                <a:gridCol w="383381"/>
              </a:tblGrid>
              <a:tr h="4826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Tool series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Min. pilot hole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expanded Ø, SPX (PDC)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Std. expanded Ø, tungsten carbide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Ø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Overall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pin API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N/A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6-1/2, 6-3/4, 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IF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7-1/2, 8, 8-1/2, 12, 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 12-1/4, 13, 14, 15, 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10, 12-1/4, 14, 15, 16, 17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 or 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or 6-5/8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12-1/4, 17-1/2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11700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Upon request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 or 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or 7-5/8 Reg.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60"/>
                        </a:lnSpc>
                      </a:pPr>
                      <a:r>
                        <a:rPr sz="70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tbc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6946900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All dimensions in inches, weights in lb (approximate). Other expanded diameters, orifices and connections available on request.  tbc: to be confirmed.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72136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74168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Self-cleaning arms: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 circulation jet nozzle sends part of the flow out of each arm pocket, cleaning the cutting surfaces, improving cuttings removal and dissipating frictional heat.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Durable arms: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dressed with long-wearing cutting-grade tungsten carbide.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Field serviceable: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low-cost cutter arms and orifices can be replaced in the field.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Optional Flo-Tel: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pump pressure drops by 200 - 250 psi when the arms are fully extended, confirming full-gauge underreaming.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72136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PERFORMANCE PARAMETERS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810000" y="7416800"/>
          <a:ext cx="3035300" cy="960120"/>
        </p:xfrm>
        <a:graphic>
          <a:graphicData uri="http://schemas.openxmlformats.org/drawingml/2006/table">
            <a:tbl>
              <a:tblPr/>
              <a:tblGrid>
                <a:gridCol w="1320800"/>
                <a:gridCol w="1714500"/>
              </a:tblGrid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speed, cutting the shoulder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40 - 60 rpm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Flow rate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Increase gradually, 250 - 450 gpm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Weight on tool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Start at 3,000 lb, up to 10,000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With Flo-Tel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80 - 150 rpm at max. pump pressure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Circulating medium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Water, mud, air, aerated mud, foam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enlargement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 x body Ø in a single trip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1200" y="86868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8890000"/>
            <a:ext cx="3022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Faster penetration and more time on bottom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Less rig time and lower total cost per foot</a:t>
            </a:r>
          </a:p>
          <a:p>
            <a:pPr algn="l">
              <a:lnSpc>
                <a:spcPts val="900"/>
              </a:lnSpc>
              <a:spcAft>
                <a:spcPts val="200"/>
              </a:spcAft>
            </a:pPr>
            <a:r>
              <a:rPr sz="56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Quick drilling through producing zones limits formation damage and hole-stability problems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0" y="8686800"/>
            <a:ext cx="30353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0" y="8877300"/>
            <a:ext cx="30353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80"/>
              </a:lnSpc>
              <a:spcAft>
                <a:spcPts val="0"/>
              </a:spcAft>
            </a:pP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series  2. top and bottom connections  3. fishing neck Ø  4. opening Ø  5. size and weight of casing to run through, if known  6. bullnose or bits (ordered separately)  7. cutting structure (milled tooth, TCI or PDC).</a:t>
            </a:r>
          </a:p>
        </p:txBody>
      </p:sp>
      <p:pic>
        <p:nvPicPr>
          <p:cNvPr id="32" name="Picture 31" descr="spx_tool_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9601200"/>
            <a:ext cx="3683000" cy="670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