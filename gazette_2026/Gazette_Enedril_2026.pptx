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7556500" cy="10693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082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0" y="0"/>
            <a:ext cx="3746500" cy="10693400"/>
          </a:xfrm>
          <a:prstGeom prst="rect">
            <a:avLst/>
          </a:prstGeom>
          <a:solidFill>
            <a:srgbClr val="0A3C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112000"/>
            <a:ext cx="7556500" cy="35814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1905000"/>
            <a:ext cx="6350000" cy="762000"/>
          </a:xfrm>
          <a:prstGeom prst="rect">
            <a:avLst/>
          </a:prstGeom>
          <a:noFill/>
        </p:spPr>
        <p:txBody>
          <a:bodyPr wrap="square" anchor="t" lIns="0" rIns="0" tIns="0" bIns="0">
            <a:spAutoFit/>
          </a:bodyPr>
          <a:lstStyle/>
          <a:p>
            <a:pPr algn="l">
              <a:spcAft>
                <a:spcPts val="3000"/>
              </a:spcAft>
            </a:pPr>
            <a:r>
              <a:rPr sz="6000" b="1">
                <a:solidFill>
                  <a:srgbClr val="FFFFFF"/>
                </a:solidFill>
                <a:latin typeface="Ubuntu Mono"/>
              </a:rPr>
              <a:t>RÉTRO</a:t>
            </a:r>
          </a:p>
        </p:txBody>
      </p:sp>
      <p:sp>
        <p:nvSpPr>
          <p:cNvPr id="6" name="TextBox 5"/>
          <p:cNvSpPr txBox="1"/>
          <p:nvPr/>
        </p:nvSpPr>
        <p:spPr>
          <a:xfrm>
            <a:off x="508000" y="2730500"/>
            <a:ext cx="6604000" cy="762000"/>
          </a:xfrm>
          <a:prstGeom prst="rect">
            <a:avLst/>
          </a:prstGeom>
          <a:noFill/>
        </p:spPr>
        <p:txBody>
          <a:bodyPr wrap="square" anchor="t" lIns="0" rIns="0" tIns="0" bIns="0">
            <a:spAutoFit/>
          </a:bodyPr>
          <a:lstStyle/>
          <a:p>
            <a:pPr algn="l">
              <a:spcAft>
                <a:spcPts val="3000"/>
              </a:spcAft>
            </a:pPr>
            <a:r>
              <a:rPr sz="6000" b="1">
                <a:solidFill>
                  <a:srgbClr val="FFFFFF"/>
                </a:solidFill>
                <a:latin typeface="Ubuntu Mono"/>
              </a:rPr>
              <a:t>SPECTIVE</a:t>
            </a:r>
          </a:p>
        </p:txBody>
      </p:sp>
      <p:sp>
        <p:nvSpPr>
          <p:cNvPr id="7" name="TextBox 6"/>
          <p:cNvSpPr txBox="1"/>
          <p:nvPr/>
        </p:nvSpPr>
        <p:spPr>
          <a:xfrm>
            <a:off x="508000" y="3683000"/>
            <a:ext cx="3810000" cy="508000"/>
          </a:xfrm>
          <a:prstGeom prst="rect">
            <a:avLst/>
          </a:prstGeom>
          <a:noFill/>
        </p:spPr>
        <p:txBody>
          <a:bodyPr wrap="square" anchor="t" lIns="0" rIns="0" tIns="0" bIns="0">
            <a:spAutoFit/>
          </a:bodyPr>
          <a:lstStyle/>
          <a:p>
            <a:pPr algn="l">
              <a:spcAft>
                <a:spcPts val="1700"/>
              </a:spcAft>
            </a:pPr>
            <a:r>
              <a:rPr sz="3400" b="1">
                <a:solidFill>
                  <a:srgbClr val="1CB2FE"/>
                </a:solidFill>
                <a:latin typeface="Ubuntu Mono"/>
              </a:rPr>
              <a:t>2026</a:t>
            </a:r>
          </a:p>
        </p:txBody>
      </p:sp>
      <p:pic>
        <p:nvPicPr>
          <p:cNvPr id="8" name="Picture 7" descr="outil_SPX_bleu.png"/>
          <p:cNvPicPr>
            <a:picLocks noChangeAspect="1"/>
          </p:cNvPicPr>
          <p:nvPr/>
        </p:nvPicPr>
        <p:blipFill>
          <a:blip r:embed="rId2"/>
          <a:stretch>
            <a:fillRect/>
          </a:stretch>
        </p:blipFill>
        <p:spPr>
          <a:xfrm>
            <a:off x="508000" y="5080000"/>
            <a:ext cx="6540500" cy="1191151"/>
          </a:xfrm>
          <a:prstGeom prst="rect">
            <a:avLst/>
          </a:prstGeom>
        </p:spPr>
      </p:pic>
      <p:pic>
        <p:nvPicPr>
          <p:cNvPr id="9" name="Picture 8" descr="logo-enedril-white.png"/>
          <p:cNvPicPr>
            <a:picLocks noChangeAspect="1"/>
          </p:cNvPicPr>
          <p:nvPr/>
        </p:nvPicPr>
        <p:blipFill>
          <a:blip r:embed="rId3"/>
          <a:stretch>
            <a:fillRect/>
          </a:stretch>
        </p:blipFill>
        <p:spPr>
          <a:xfrm>
            <a:off x="508000" y="9398000"/>
            <a:ext cx="2540000" cy="577935"/>
          </a:xfrm>
          <a:prstGeom prst="rect">
            <a:avLst/>
          </a:prstGeom>
        </p:spPr>
      </p:pic>
      <p:sp>
        <p:nvSpPr>
          <p:cNvPr id="10" name="TextBox 9"/>
          <p:cNvSpPr txBox="1"/>
          <p:nvPr/>
        </p:nvSpPr>
        <p:spPr>
          <a:xfrm>
            <a:off x="508000" y="8763000"/>
            <a:ext cx="5080000" cy="177800"/>
          </a:xfrm>
          <a:prstGeom prst="rect">
            <a:avLst/>
          </a:prstGeom>
          <a:noFill/>
        </p:spPr>
        <p:txBody>
          <a:bodyPr wrap="square" anchor="t" lIns="0" rIns="0" tIns="0" bIns="0">
            <a:spAutoFit/>
          </a:bodyPr>
          <a:lstStyle/>
          <a:p>
            <a:pPr algn="l">
              <a:spcAft>
                <a:spcPts val="500"/>
              </a:spcAft>
            </a:pPr>
            <a:r>
              <a:rPr sz="1000" b="0">
                <a:solidFill>
                  <a:srgbClr val="BEE1FA"/>
                </a:solidFill>
                <a:latin typeface="Ubuntu Mono"/>
              </a:rPr>
              <a:t>La gazette de fin d'année · Édition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431800"/>
            <a:ext cx="6540500" cy="431800"/>
          </a:xfrm>
          <a:prstGeom prst="rect">
            <a:avLst/>
          </a:prstGeom>
          <a:noFill/>
        </p:spPr>
        <p:txBody>
          <a:bodyPr wrap="square" anchor="t" lIns="0" rIns="0" tIns="0" bIns="0">
            <a:spAutoFit/>
          </a:bodyPr>
          <a:lstStyle/>
          <a:p>
            <a:pPr algn="l">
              <a:spcAft>
                <a:spcPts val="1200"/>
              </a:spcAft>
            </a:pPr>
            <a:r>
              <a:rPr sz="2400" b="1">
                <a:solidFill>
                  <a:srgbClr val="0A4FA0"/>
                </a:solidFill>
                <a:latin typeface="Ubuntu Mono"/>
              </a:rPr>
              <a:t>SOMMAIRE</a:t>
            </a:r>
          </a:p>
        </p:txBody>
      </p:sp>
      <p:sp>
        <p:nvSpPr>
          <p:cNvPr id="4" name="Rectangle 3"/>
          <p:cNvSpPr/>
          <p:nvPr/>
        </p:nvSpPr>
        <p:spPr>
          <a:xfrm>
            <a:off x="508000" y="889000"/>
            <a:ext cx="6540500" cy="50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651000"/>
            <a:ext cx="6540500" cy="5588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8000" y="1651000"/>
            <a:ext cx="76200" cy="558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651000"/>
            <a:ext cx="5080000" cy="558800"/>
          </a:xfrm>
          <a:prstGeom prst="rect">
            <a:avLst/>
          </a:prstGeom>
          <a:noFill/>
        </p:spPr>
        <p:txBody>
          <a:bodyPr wrap="square" anchor="ctr" lIns="0" rIns="0" tIns="0" bIns="0">
            <a:spAutoFit/>
          </a:bodyPr>
          <a:lstStyle/>
          <a:p>
            <a:pPr algn="l">
              <a:spcAft>
                <a:spcPts val="700"/>
              </a:spcAft>
            </a:pPr>
            <a:r>
              <a:rPr sz="1400" b="1">
                <a:solidFill>
                  <a:srgbClr val="08203F"/>
                </a:solidFill>
                <a:latin typeface="Ubuntu Mono"/>
              </a:rPr>
              <a:t>Mot de la direction</a:t>
            </a:r>
          </a:p>
        </p:txBody>
      </p:sp>
      <p:sp>
        <p:nvSpPr>
          <p:cNvPr id="8" name="TextBox 7"/>
          <p:cNvSpPr txBox="1"/>
          <p:nvPr/>
        </p:nvSpPr>
        <p:spPr>
          <a:xfrm>
            <a:off x="6096000" y="1651000"/>
            <a:ext cx="762000" cy="558800"/>
          </a:xfrm>
          <a:prstGeom prst="rect">
            <a:avLst/>
          </a:prstGeom>
          <a:noFill/>
        </p:spPr>
        <p:txBody>
          <a:bodyPr wrap="square" anchor="ctr" lIns="0" rIns="0" tIns="0" bIns="0">
            <a:spAutoFit/>
          </a:bodyPr>
          <a:lstStyle/>
          <a:p>
            <a:pPr algn="r">
              <a:spcAft>
                <a:spcPts val="800"/>
              </a:spcAft>
            </a:pPr>
            <a:r>
              <a:rPr sz="1600" b="1">
                <a:solidFill>
                  <a:srgbClr val="0A4FA0"/>
                </a:solidFill>
                <a:latin typeface="Ubuntu Mono"/>
              </a:rPr>
              <a:t>3</a:t>
            </a:r>
          </a:p>
        </p:txBody>
      </p:sp>
      <p:sp>
        <p:nvSpPr>
          <p:cNvPr id="9" name="Rectangle 8"/>
          <p:cNvSpPr/>
          <p:nvPr/>
        </p:nvSpPr>
        <p:spPr>
          <a:xfrm>
            <a:off x="508000" y="2413000"/>
            <a:ext cx="6540500" cy="5588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8000" y="2413000"/>
            <a:ext cx="76200" cy="558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2413000"/>
            <a:ext cx="5080000" cy="558800"/>
          </a:xfrm>
          <a:prstGeom prst="rect">
            <a:avLst/>
          </a:prstGeom>
          <a:noFill/>
        </p:spPr>
        <p:txBody>
          <a:bodyPr wrap="square" anchor="ctr" lIns="0" rIns="0" tIns="0" bIns="0">
            <a:spAutoFit/>
          </a:bodyPr>
          <a:lstStyle/>
          <a:p>
            <a:pPr algn="l">
              <a:spcAft>
                <a:spcPts val="700"/>
              </a:spcAft>
            </a:pPr>
            <a:r>
              <a:rPr sz="1400" b="1">
                <a:solidFill>
                  <a:srgbClr val="08203F"/>
                </a:solidFill>
                <a:latin typeface="Ubuntu Mono"/>
              </a:rPr>
              <a:t>Actualités internes</a:t>
            </a:r>
          </a:p>
        </p:txBody>
      </p:sp>
      <p:sp>
        <p:nvSpPr>
          <p:cNvPr id="12" name="TextBox 11"/>
          <p:cNvSpPr txBox="1"/>
          <p:nvPr/>
        </p:nvSpPr>
        <p:spPr>
          <a:xfrm>
            <a:off x="6096000" y="2413000"/>
            <a:ext cx="762000" cy="558800"/>
          </a:xfrm>
          <a:prstGeom prst="rect">
            <a:avLst/>
          </a:prstGeom>
          <a:noFill/>
        </p:spPr>
        <p:txBody>
          <a:bodyPr wrap="square" anchor="ctr" lIns="0" rIns="0" tIns="0" bIns="0">
            <a:spAutoFit/>
          </a:bodyPr>
          <a:lstStyle/>
          <a:p>
            <a:pPr algn="r">
              <a:spcAft>
                <a:spcPts val="800"/>
              </a:spcAft>
            </a:pPr>
            <a:r>
              <a:rPr sz="1600" b="1">
                <a:solidFill>
                  <a:srgbClr val="0A4FA0"/>
                </a:solidFill>
                <a:latin typeface="Ubuntu Mono"/>
              </a:rPr>
              <a:t>4</a:t>
            </a:r>
          </a:p>
        </p:txBody>
      </p:sp>
      <p:sp>
        <p:nvSpPr>
          <p:cNvPr id="13" name="Rectangle 12"/>
          <p:cNvSpPr/>
          <p:nvPr/>
        </p:nvSpPr>
        <p:spPr>
          <a:xfrm>
            <a:off x="508000" y="3175000"/>
            <a:ext cx="6540500" cy="5588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8000" y="3175000"/>
            <a:ext cx="76200" cy="558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3175000"/>
            <a:ext cx="5080000" cy="558800"/>
          </a:xfrm>
          <a:prstGeom prst="rect">
            <a:avLst/>
          </a:prstGeom>
          <a:noFill/>
        </p:spPr>
        <p:txBody>
          <a:bodyPr wrap="square" anchor="ctr" lIns="0" rIns="0" tIns="0" bIns="0">
            <a:spAutoFit/>
          </a:bodyPr>
          <a:lstStyle/>
          <a:p>
            <a:pPr algn="l">
              <a:spcAft>
                <a:spcPts val="700"/>
              </a:spcAft>
            </a:pPr>
            <a:r>
              <a:rPr sz="1400" b="1">
                <a:solidFill>
                  <a:srgbClr val="08203F"/>
                </a:solidFill>
                <a:latin typeface="Ubuntu Mono"/>
              </a:rPr>
              <a:t>Annonces et changements internes</a:t>
            </a:r>
          </a:p>
        </p:txBody>
      </p:sp>
      <p:sp>
        <p:nvSpPr>
          <p:cNvPr id="16" name="TextBox 15"/>
          <p:cNvSpPr txBox="1"/>
          <p:nvPr/>
        </p:nvSpPr>
        <p:spPr>
          <a:xfrm>
            <a:off x="6096000" y="3175000"/>
            <a:ext cx="762000" cy="558800"/>
          </a:xfrm>
          <a:prstGeom prst="rect">
            <a:avLst/>
          </a:prstGeom>
          <a:noFill/>
        </p:spPr>
        <p:txBody>
          <a:bodyPr wrap="square" anchor="ctr" lIns="0" rIns="0" tIns="0" bIns="0">
            <a:spAutoFit/>
          </a:bodyPr>
          <a:lstStyle/>
          <a:p>
            <a:pPr algn="r">
              <a:spcAft>
                <a:spcPts val="800"/>
              </a:spcAft>
            </a:pPr>
            <a:r>
              <a:rPr sz="1600" b="1">
                <a:solidFill>
                  <a:srgbClr val="0A4FA0"/>
                </a:solidFill>
                <a:latin typeface="Ubuntu Mono"/>
              </a:rPr>
              <a:t>5</a:t>
            </a:r>
          </a:p>
        </p:txBody>
      </p:sp>
      <p:sp>
        <p:nvSpPr>
          <p:cNvPr id="17" name="Rectangle 16"/>
          <p:cNvSpPr/>
          <p:nvPr/>
        </p:nvSpPr>
        <p:spPr>
          <a:xfrm>
            <a:off x="508000" y="3937000"/>
            <a:ext cx="6540500" cy="5588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8000" y="3937000"/>
            <a:ext cx="76200" cy="558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 y="3937000"/>
            <a:ext cx="5080000" cy="558800"/>
          </a:xfrm>
          <a:prstGeom prst="rect">
            <a:avLst/>
          </a:prstGeom>
          <a:noFill/>
        </p:spPr>
        <p:txBody>
          <a:bodyPr wrap="square" anchor="ctr" lIns="0" rIns="0" tIns="0" bIns="0">
            <a:spAutoFit/>
          </a:bodyPr>
          <a:lstStyle/>
          <a:p>
            <a:pPr algn="l">
              <a:spcAft>
                <a:spcPts val="700"/>
              </a:spcAft>
            </a:pPr>
            <a:r>
              <a:rPr sz="1400" b="1">
                <a:solidFill>
                  <a:srgbClr val="08203F"/>
                </a:solidFill>
                <a:latin typeface="Ubuntu Mono"/>
              </a:rPr>
              <a:t>Actualités commerciales</a:t>
            </a:r>
          </a:p>
        </p:txBody>
      </p:sp>
      <p:sp>
        <p:nvSpPr>
          <p:cNvPr id="20" name="TextBox 19"/>
          <p:cNvSpPr txBox="1"/>
          <p:nvPr/>
        </p:nvSpPr>
        <p:spPr>
          <a:xfrm>
            <a:off x="6096000" y="3937000"/>
            <a:ext cx="762000" cy="558800"/>
          </a:xfrm>
          <a:prstGeom prst="rect">
            <a:avLst/>
          </a:prstGeom>
          <a:noFill/>
        </p:spPr>
        <p:txBody>
          <a:bodyPr wrap="square" anchor="ctr" lIns="0" rIns="0" tIns="0" bIns="0">
            <a:spAutoFit/>
          </a:bodyPr>
          <a:lstStyle/>
          <a:p>
            <a:pPr algn="r">
              <a:spcAft>
                <a:spcPts val="800"/>
              </a:spcAft>
            </a:pPr>
            <a:r>
              <a:rPr sz="1600" b="1">
                <a:solidFill>
                  <a:srgbClr val="0A4FA0"/>
                </a:solidFill>
                <a:latin typeface="Ubuntu Mono"/>
              </a:rPr>
              <a:t>6</a:t>
            </a:r>
          </a:p>
        </p:txBody>
      </p:sp>
      <p:sp>
        <p:nvSpPr>
          <p:cNvPr id="21" name="Rectangle 20"/>
          <p:cNvSpPr/>
          <p:nvPr/>
        </p:nvSpPr>
        <p:spPr>
          <a:xfrm>
            <a:off x="508000" y="4699000"/>
            <a:ext cx="6540500" cy="5588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000" y="4699000"/>
            <a:ext cx="76200" cy="558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000" y="4699000"/>
            <a:ext cx="5080000" cy="558800"/>
          </a:xfrm>
          <a:prstGeom prst="rect">
            <a:avLst/>
          </a:prstGeom>
          <a:noFill/>
        </p:spPr>
        <p:txBody>
          <a:bodyPr wrap="square" anchor="ctr" lIns="0" rIns="0" tIns="0" bIns="0">
            <a:spAutoFit/>
          </a:bodyPr>
          <a:lstStyle/>
          <a:p>
            <a:pPr algn="l">
              <a:spcAft>
                <a:spcPts val="700"/>
              </a:spcAft>
            </a:pPr>
            <a:r>
              <a:rPr sz="1400" b="1">
                <a:solidFill>
                  <a:srgbClr val="08203F"/>
                </a:solidFill>
                <a:latin typeface="Ubuntu Mono"/>
              </a:rPr>
              <a:t>Marketing et communication</a:t>
            </a:r>
          </a:p>
        </p:txBody>
      </p:sp>
      <p:sp>
        <p:nvSpPr>
          <p:cNvPr id="24" name="TextBox 23"/>
          <p:cNvSpPr txBox="1"/>
          <p:nvPr/>
        </p:nvSpPr>
        <p:spPr>
          <a:xfrm>
            <a:off x="6096000" y="4699000"/>
            <a:ext cx="762000" cy="558800"/>
          </a:xfrm>
          <a:prstGeom prst="rect">
            <a:avLst/>
          </a:prstGeom>
          <a:noFill/>
        </p:spPr>
        <p:txBody>
          <a:bodyPr wrap="square" anchor="ctr" lIns="0" rIns="0" tIns="0" bIns="0">
            <a:spAutoFit/>
          </a:bodyPr>
          <a:lstStyle/>
          <a:p>
            <a:pPr algn="r">
              <a:spcAft>
                <a:spcPts val="800"/>
              </a:spcAft>
            </a:pPr>
            <a:r>
              <a:rPr sz="1600" b="1">
                <a:solidFill>
                  <a:srgbClr val="0A4FA0"/>
                </a:solidFill>
                <a:latin typeface="Ubuntu Mono"/>
              </a:rPr>
              <a:t>7</a:t>
            </a:r>
          </a:p>
        </p:txBody>
      </p:sp>
      <p:sp>
        <p:nvSpPr>
          <p:cNvPr id="25" name="Rectangle 24"/>
          <p:cNvSpPr/>
          <p:nvPr/>
        </p:nvSpPr>
        <p:spPr>
          <a:xfrm>
            <a:off x="508000" y="5461000"/>
            <a:ext cx="6540500" cy="5588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8000" y="5461000"/>
            <a:ext cx="76200" cy="558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2000" y="5461000"/>
            <a:ext cx="5080000" cy="558800"/>
          </a:xfrm>
          <a:prstGeom prst="rect">
            <a:avLst/>
          </a:prstGeom>
          <a:noFill/>
        </p:spPr>
        <p:txBody>
          <a:bodyPr wrap="square" anchor="ctr" lIns="0" rIns="0" tIns="0" bIns="0">
            <a:spAutoFit/>
          </a:bodyPr>
          <a:lstStyle/>
          <a:p>
            <a:pPr algn="l">
              <a:spcAft>
                <a:spcPts val="700"/>
              </a:spcAft>
            </a:pPr>
            <a:r>
              <a:rPr sz="1400" b="1">
                <a:solidFill>
                  <a:srgbClr val="08203F"/>
                </a:solidFill>
                <a:latin typeface="Ubuntu Mono"/>
              </a:rPr>
              <a:t>Engagements solidaires</a:t>
            </a:r>
          </a:p>
        </p:txBody>
      </p:sp>
      <p:sp>
        <p:nvSpPr>
          <p:cNvPr id="28" name="TextBox 27"/>
          <p:cNvSpPr txBox="1"/>
          <p:nvPr/>
        </p:nvSpPr>
        <p:spPr>
          <a:xfrm>
            <a:off x="6096000" y="5461000"/>
            <a:ext cx="762000" cy="558800"/>
          </a:xfrm>
          <a:prstGeom prst="rect">
            <a:avLst/>
          </a:prstGeom>
          <a:noFill/>
        </p:spPr>
        <p:txBody>
          <a:bodyPr wrap="square" anchor="ctr" lIns="0" rIns="0" tIns="0" bIns="0">
            <a:spAutoFit/>
          </a:bodyPr>
          <a:lstStyle/>
          <a:p>
            <a:pPr algn="r">
              <a:spcAft>
                <a:spcPts val="800"/>
              </a:spcAft>
            </a:pPr>
            <a:r>
              <a:rPr sz="1600" b="1">
                <a:solidFill>
                  <a:srgbClr val="0A4FA0"/>
                </a:solidFill>
                <a:latin typeface="Ubuntu Mono"/>
              </a:rPr>
              <a:t>8</a:t>
            </a:r>
          </a:p>
        </p:txBody>
      </p:sp>
      <p:sp>
        <p:nvSpPr>
          <p:cNvPr id="29" name="Rectangle 28"/>
          <p:cNvSpPr/>
          <p:nvPr/>
        </p:nvSpPr>
        <p:spPr>
          <a:xfrm>
            <a:off x="508000" y="6223000"/>
            <a:ext cx="6540500" cy="5588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8000" y="6223000"/>
            <a:ext cx="76200" cy="558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2000" y="6223000"/>
            <a:ext cx="5080000" cy="558800"/>
          </a:xfrm>
          <a:prstGeom prst="rect">
            <a:avLst/>
          </a:prstGeom>
          <a:noFill/>
        </p:spPr>
        <p:txBody>
          <a:bodyPr wrap="square" anchor="ctr" lIns="0" rIns="0" tIns="0" bIns="0">
            <a:spAutoFit/>
          </a:bodyPr>
          <a:lstStyle/>
          <a:p>
            <a:pPr algn="l">
              <a:spcAft>
                <a:spcPts val="700"/>
              </a:spcAft>
            </a:pPr>
            <a:r>
              <a:rPr sz="1400" b="1">
                <a:solidFill>
                  <a:srgbClr val="08203F"/>
                </a:solidFill>
                <a:latin typeface="Ubuntu Mono"/>
              </a:rPr>
              <a:t>Galerie photos</a:t>
            </a:r>
          </a:p>
        </p:txBody>
      </p:sp>
      <p:sp>
        <p:nvSpPr>
          <p:cNvPr id="32" name="TextBox 31"/>
          <p:cNvSpPr txBox="1"/>
          <p:nvPr/>
        </p:nvSpPr>
        <p:spPr>
          <a:xfrm>
            <a:off x="6096000" y="6223000"/>
            <a:ext cx="762000" cy="558800"/>
          </a:xfrm>
          <a:prstGeom prst="rect">
            <a:avLst/>
          </a:prstGeom>
          <a:noFill/>
        </p:spPr>
        <p:txBody>
          <a:bodyPr wrap="square" anchor="ctr" lIns="0" rIns="0" tIns="0" bIns="0">
            <a:spAutoFit/>
          </a:bodyPr>
          <a:lstStyle/>
          <a:p>
            <a:pPr algn="r">
              <a:spcAft>
                <a:spcPts val="800"/>
              </a:spcAft>
            </a:pPr>
            <a:r>
              <a:rPr sz="1600" b="1">
                <a:solidFill>
                  <a:srgbClr val="0A4FA0"/>
                </a:solidFill>
                <a:latin typeface="Ubuntu Mono"/>
              </a:rPr>
              <a:t>9</a:t>
            </a:r>
          </a:p>
        </p:txBody>
      </p:sp>
      <p:sp>
        <p:nvSpPr>
          <p:cNvPr id="33" name="Rectangle 32"/>
          <p:cNvSpPr/>
          <p:nvPr/>
        </p:nvSpPr>
        <p:spPr>
          <a:xfrm>
            <a:off x="508000" y="6985000"/>
            <a:ext cx="6540500" cy="5588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8000" y="6985000"/>
            <a:ext cx="76200" cy="558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2000" y="6985000"/>
            <a:ext cx="5080000" cy="558800"/>
          </a:xfrm>
          <a:prstGeom prst="rect">
            <a:avLst/>
          </a:prstGeom>
          <a:noFill/>
        </p:spPr>
        <p:txBody>
          <a:bodyPr wrap="square" anchor="ctr" lIns="0" rIns="0" tIns="0" bIns="0">
            <a:spAutoFit/>
          </a:bodyPr>
          <a:lstStyle/>
          <a:p>
            <a:pPr algn="l">
              <a:spcAft>
                <a:spcPts val="700"/>
              </a:spcAft>
            </a:pPr>
            <a:r>
              <a:rPr sz="1400" b="1">
                <a:solidFill>
                  <a:srgbClr val="08203F"/>
                </a:solidFill>
                <a:latin typeface="Ubuntu Mono"/>
              </a:rPr>
              <a:t>Les jeux</a:t>
            </a:r>
          </a:p>
        </p:txBody>
      </p:sp>
      <p:sp>
        <p:nvSpPr>
          <p:cNvPr id="36" name="TextBox 35"/>
          <p:cNvSpPr txBox="1"/>
          <p:nvPr/>
        </p:nvSpPr>
        <p:spPr>
          <a:xfrm>
            <a:off x="6096000" y="6985000"/>
            <a:ext cx="762000" cy="558800"/>
          </a:xfrm>
          <a:prstGeom prst="rect">
            <a:avLst/>
          </a:prstGeom>
          <a:noFill/>
        </p:spPr>
        <p:txBody>
          <a:bodyPr wrap="square" anchor="ctr" lIns="0" rIns="0" tIns="0" bIns="0">
            <a:spAutoFit/>
          </a:bodyPr>
          <a:lstStyle/>
          <a:p>
            <a:pPr algn="r">
              <a:spcAft>
                <a:spcPts val="800"/>
              </a:spcAft>
            </a:pPr>
            <a:r>
              <a:rPr sz="1600" b="1">
                <a:solidFill>
                  <a:srgbClr val="0A4FA0"/>
                </a:solidFill>
                <a:latin typeface="Ubuntu Mono"/>
              </a:rPr>
              <a:t>10</a:t>
            </a:r>
          </a:p>
        </p:txBody>
      </p:sp>
      <p:sp>
        <p:nvSpPr>
          <p:cNvPr id="37" name="TextBox 36"/>
          <p:cNvSpPr txBox="1"/>
          <p:nvPr/>
        </p:nvSpPr>
        <p:spPr>
          <a:xfrm>
            <a:off x="508000" y="10261600"/>
            <a:ext cx="3810000" cy="152400"/>
          </a:xfrm>
          <a:prstGeom prst="rect">
            <a:avLst/>
          </a:prstGeom>
          <a:noFill/>
        </p:spPr>
        <p:txBody>
          <a:bodyPr wrap="square" anchor="t" lIns="0" rIns="0" tIns="0" bIns="0">
            <a:spAutoFit/>
          </a:bodyPr>
          <a:lstStyle/>
          <a:p>
            <a:pPr algn="l">
              <a:spcAft>
                <a:spcPts val="400"/>
              </a:spcAft>
            </a:pPr>
            <a:r>
              <a:rPr sz="800" b="0">
                <a:solidFill>
                  <a:srgbClr val="5A6B7F"/>
                </a:solidFill>
                <a:latin typeface="Ubuntu Mono"/>
              </a:rPr>
              <a:t>Enedril · Rétrospective 2026</a:t>
            </a:r>
          </a:p>
        </p:txBody>
      </p:sp>
      <p:sp>
        <p:nvSpPr>
          <p:cNvPr id="38" name="TextBox 37"/>
          <p:cNvSpPr txBox="1"/>
          <p:nvPr/>
        </p:nvSpPr>
        <p:spPr>
          <a:xfrm>
            <a:off x="6540500" y="10261600"/>
            <a:ext cx="508000" cy="152400"/>
          </a:xfrm>
          <a:prstGeom prst="rect">
            <a:avLst/>
          </a:prstGeom>
          <a:noFill/>
        </p:spPr>
        <p:txBody>
          <a:bodyPr wrap="square" anchor="t" lIns="0" rIns="0" tIns="0" bIns="0">
            <a:spAutoFit/>
          </a:bodyPr>
          <a:lstStyle/>
          <a:p>
            <a:pPr algn="r">
              <a:spcAft>
                <a:spcPts val="400"/>
              </a:spcAft>
            </a:pPr>
            <a:r>
              <a:rPr sz="800" b="0">
                <a:solidFill>
                  <a:srgbClr val="5A6B7F"/>
                </a:solidFill>
                <a:latin typeface="Ubuntu Mon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431800"/>
            <a:ext cx="6540500" cy="431800"/>
          </a:xfrm>
          <a:prstGeom prst="rect">
            <a:avLst/>
          </a:prstGeom>
          <a:noFill/>
        </p:spPr>
        <p:txBody>
          <a:bodyPr wrap="square" anchor="t" lIns="0" rIns="0" tIns="0" bIns="0">
            <a:spAutoFit/>
          </a:bodyPr>
          <a:lstStyle/>
          <a:p>
            <a:pPr algn="l">
              <a:spcAft>
                <a:spcPts val="1200"/>
              </a:spcAft>
            </a:pPr>
            <a:r>
              <a:rPr sz="2400" b="1">
                <a:solidFill>
                  <a:srgbClr val="0A4FA0"/>
                </a:solidFill>
                <a:latin typeface="Ubuntu Mono"/>
              </a:rPr>
              <a:t>MOT DE LA DIRECTION</a:t>
            </a:r>
          </a:p>
        </p:txBody>
      </p:sp>
      <p:sp>
        <p:nvSpPr>
          <p:cNvPr id="4" name="Rectangle 3"/>
          <p:cNvSpPr/>
          <p:nvPr/>
        </p:nvSpPr>
        <p:spPr>
          <a:xfrm>
            <a:off x="508000" y="889000"/>
            <a:ext cx="6540500" cy="50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1270000"/>
            <a:ext cx="6540500" cy="8128000"/>
          </a:xfrm>
          <a:prstGeom prst="rect">
            <a:avLst/>
          </a:prstGeom>
          <a:noFill/>
        </p:spPr>
        <p:txBody>
          <a:bodyPr wrap="square" anchor="t" lIns="0" rIns="0" tIns="0" bIns="0">
            <a:spAutoFit/>
          </a:bodyPr>
          <a:lstStyle/>
          <a:p>
            <a:pPr algn="l">
              <a:lnSpc>
                <a:spcPts val="1750"/>
              </a:lnSpc>
              <a:spcAft>
                <a:spcPts val="625"/>
              </a:spcAft>
            </a:pPr>
            <a:r>
              <a:rPr sz="1250" b="0">
                <a:solidFill>
                  <a:srgbClr val="0B1B2E"/>
                </a:solidFill>
                <a:latin typeface="Ubuntu Mono"/>
              </a:rPr>
              <a:t>Chers collaborateurs,</a:t>
            </a:r>
          </a:p>
          <a:p>
            <a:pPr algn="l">
              <a:lnSpc>
                <a:spcPts val="1750"/>
              </a:lnSpc>
              <a:spcAft>
                <a:spcPts val="625"/>
              </a:spcAft>
            </a:pPr>
            <a:r>
              <a:rPr sz="1250" b="0">
                <a:solidFill>
                  <a:srgbClr val="0B1B2E"/>
                </a:solidFill>
                <a:latin typeface="Ubuntu Mono"/>
              </a:rPr>
              <a:t>Alors que nous clôturons 2026, nous souhaitons revenir sur les temps forts de cette année et partager avec vous les perspectives qui s'ouvrent pour la suivante.</a:t>
            </a:r>
          </a:p>
          <a:p>
            <a:pPr algn="l">
              <a:lnSpc>
                <a:spcPts val="1750"/>
              </a:lnSpc>
              <a:spcAft>
                <a:spcPts val="625"/>
              </a:spcAft>
            </a:pPr>
            <a:r>
              <a:rPr sz="1250" b="0">
                <a:solidFill>
                  <a:srgbClr val="0B1B2E"/>
                </a:solidFill>
                <a:latin typeface="Ubuntu Mono"/>
              </a:rPr>
              <a:t>2026 a été une année de changements concrets pour l'entreprise : arrivée de nouveaux collaborateurs, essai de la semaine à quatre jours, nouveaux avantages (tickets restaurant et chèques vacances digitaux) et poursuite des travaux sur le site, avec un nouveau bâtiment de stockage, une nouvelle Break-out unit et un parking remanié. Notre système de chauffage a également évolué : une pompe à chaleur alimentée par deux puits de géothermie, une belle cohérence avec notre métier.</a:t>
            </a:r>
          </a:p>
          <a:p>
            <a:pPr algn="l">
              <a:lnSpc>
                <a:spcPts val="1750"/>
              </a:lnSpc>
              <a:spcAft>
                <a:spcPts val="625"/>
              </a:spcAft>
            </a:pPr>
            <a:r>
              <a:rPr sz="1250" b="0">
                <a:solidFill>
                  <a:srgbClr val="0B1B2E"/>
                </a:solidFill>
                <a:latin typeface="Ubuntu Mono"/>
              </a:rPr>
              <a:t>Côté visibilité, nous avons été présents à GeoTHERM, GEOFLUID, ADIPEC et aux Geodays, et accueilli des étudiants d'IFP Training. De nouveaux outils sont également arrivés pour compléter notre parc.</a:t>
            </a:r>
          </a:p>
          <a:p>
            <a:pPr algn="l">
              <a:lnSpc>
                <a:spcPts val="1750"/>
              </a:lnSpc>
              <a:spcAft>
                <a:spcPts val="625"/>
              </a:spcAft>
            </a:pPr>
            <a:r>
              <a:rPr sz="1250" b="0">
                <a:solidFill>
                  <a:srgbClr val="0B1B2E"/>
                </a:solidFill>
                <a:latin typeface="Ubuntu Mono"/>
              </a:rPr>
              <a:t>Nous avons aussi su nous retrouver : teambuilding à la Section Paloise, barbecue en mai, repas après la matinée de sensibilisation aux addictions, sans oublier Octobre rose, Movember et la collecte de jouets pour le Père Noël fait de la récup'.</a:t>
            </a:r>
          </a:p>
          <a:p>
            <a:pPr algn="l">
              <a:lnSpc>
                <a:spcPts val="1750"/>
              </a:lnSpc>
              <a:spcAft>
                <a:spcPts val="625"/>
              </a:spcAft>
            </a:pPr>
            <a:r>
              <a:rPr sz="1250" b="0">
                <a:solidFill>
                  <a:srgbClr val="0B1B2E"/>
                </a:solidFill>
                <a:latin typeface="Ubuntu Mono"/>
              </a:rPr>
              <a:t>Nous donnons rendez-vous à tous à GeoTHERM, à Offenburg, les 25 et 26 février 2027, où nous exposerons sur le stand 274.</a:t>
            </a:r>
          </a:p>
          <a:p>
            <a:pPr algn="l">
              <a:lnSpc>
                <a:spcPts val="1750"/>
              </a:lnSpc>
              <a:spcAft>
                <a:spcPts val="625"/>
              </a:spcAft>
            </a:pPr>
            <a:r>
              <a:rPr sz="1250" b="0">
                <a:solidFill>
                  <a:srgbClr val="0B1B2E"/>
                </a:solidFill>
                <a:latin typeface="Ubuntu Mono"/>
              </a:rPr>
              <a:t>Nous vous remercions pour votre implication et votre sérieux tout au long de l'année. Votre engagement quotidien est essentiel pour faire progresser Enedril.</a:t>
            </a:r>
          </a:p>
          <a:p>
            <a:pPr algn="l">
              <a:lnSpc>
                <a:spcPts val="1750"/>
              </a:lnSpc>
              <a:spcAft>
                <a:spcPts val="625"/>
              </a:spcAft>
            </a:pPr>
            <a:r>
              <a:rPr sz="1250" b="0">
                <a:solidFill>
                  <a:srgbClr val="0B1B2E"/>
                </a:solidFill>
                <a:latin typeface="Ubuntu Mono"/>
              </a:rPr>
              <a:t>Merci à tous et à très bientôt,</a:t>
            </a:r>
          </a:p>
          <a:p>
            <a:pPr algn="l">
              <a:lnSpc>
                <a:spcPts val="1750"/>
              </a:lnSpc>
              <a:spcAft>
                <a:spcPts val="625"/>
              </a:spcAft>
            </a:pPr>
            <a:r>
              <a:rPr sz="1250" b="0">
                <a:solidFill>
                  <a:srgbClr val="0B1B2E"/>
                </a:solidFill>
                <a:latin typeface="Ubuntu Mono"/>
              </a:rPr>
              <a:t>Fabien &amp; Alexis</a:t>
            </a:r>
          </a:p>
        </p:txBody>
      </p:sp>
      <p:sp>
        <p:nvSpPr>
          <p:cNvPr id="6" name="TextBox 5"/>
          <p:cNvSpPr txBox="1"/>
          <p:nvPr/>
        </p:nvSpPr>
        <p:spPr>
          <a:xfrm>
            <a:off x="508000" y="10261600"/>
            <a:ext cx="3810000" cy="152400"/>
          </a:xfrm>
          <a:prstGeom prst="rect">
            <a:avLst/>
          </a:prstGeom>
          <a:noFill/>
        </p:spPr>
        <p:txBody>
          <a:bodyPr wrap="square" anchor="t" lIns="0" rIns="0" tIns="0" bIns="0">
            <a:spAutoFit/>
          </a:bodyPr>
          <a:lstStyle/>
          <a:p>
            <a:pPr algn="l">
              <a:spcAft>
                <a:spcPts val="400"/>
              </a:spcAft>
            </a:pPr>
            <a:r>
              <a:rPr sz="800" b="0">
                <a:solidFill>
                  <a:srgbClr val="5A6B7F"/>
                </a:solidFill>
                <a:latin typeface="Ubuntu Mono"/>
              </a:rPr>
              <a:t>Enedril · Rétrospective 2026</a:t>
            </a:r>
          </a:p>
        </p:txBody>
      </p:sp>
      <p:sp>
        <p:nvSpPr>
          <p:cNvPr id="7" name="TextBox 6"/>
          <p:cNvSpPr txBox="1"/>
          <p:nvPr/>
        </p:nvSpPr>
        <p:spPr>
          <a:xfrm>
            <a:off x="6540500" y="10261600"/>
            <a:ext cx="508000" cy="152400"/>
          </a:xfrm>
          <a:prstGeom prst="rect">
            <a:avLst/>
          </a:prstGeom>
          <a:noFill/>
        </p:spPr>
        <p:txBody>
          <a:bodyPr wrap="square" anchor="t" lIns="0" rIns="0" tIns="0" bIns="0">
            <a:spAutoFit/>
          </a:bodyPr>
          <a:lstStyle/>
          <a:p>
            <a:pPr algn="r">
              <a:spcAft>
                <a:spcPts val="400"/>
              </a:spcAft>
            </a:pPr>
            <a:r>
              <a:rPr sz="800" b="0">
                <a:solidFill>
                  <a:srgbClr val="5A6B7F"/>
                </a:solidFill>
                <a:latin typeface="Ubuntu Mono"/>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431800"/>
            <a:ext cx="6540500" cy="431800"/>
          </a:xfrm>
          <a:prstGeom prst="rect">
            <a:avLst/>
          </a:prstGeom>
          <a:noFill/>
        </p:spPr>
        <p:txBody>
          <a:bodyPr wrap="square" anchor="t" lIns="0" rIns="0" tIns="0" bIns="0">
            <a:spAutoFit/>
          </a:bodyPr>
          <a:lstStyle/>
          <a:p>
            <a:pPr algn="l">
              <a:spcAft>
                <a:spcPts val="1200"/>
              </a:spcAft>
            </a:pPr>
            <a:r>
              <a:rPr sz="2400" b="1">
                <a:solidFill>
                  <a:srgbClr val="0A4FA0"/>
                </a:solidFill>
                <a:latin typeface="Ubuntu Mono"/>
              </a:rPr>
              <a:t>ACTUALITÉS INTERNES</a:t>
            </a:r>
          </a:p>
        </p:txBody>
      </p:sp>
      <p:sp>
        <p:nvSpPr>
          <p:cNvPr id="4" name="Rectangle 3"/>
          <p:cNvSpPr/>
          <p:nvPr/>
        </p:nvSpPr>
        <p:spPr>
          <a:xfrm>
            <a:off x="508000" y="889000"/>
            <a:ext cx="6540500" cy="50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70000"/>
            <a:ext cx="6540500" cy="19050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8000" y="1270000"/>
            <a:ext cx="76200" cy="19050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397000"/>
            <a:ext cx="6096000" cy="254000"/>
          </a:xfrm>
          <a:prstGeom prst="rect">
            <a:avLst/>
          </a:prstGeom>
          <a:noFill/>
        </p:spPr>
        <p:txBody>
          <a:bodyPr wrap="square" anchor="t" lIns="0" rIns="0" tIns="0" bIns="0">
            <a:spAutoFit/>
          </a:bodyPr>
          <a:lstStyle/>
          <a:p>
            <a:pPr algn="l">
              <a:spcAft>
                <a:spcPts val="750"/>
              </a:spcAft>
            </a:pPr>
            <a:r>
              <a:rPr sz="1500" b="1">
                <a:solidFill>
                  <a:srgbClr val="0A4FA0"/>
                </a:solidFill>
                <a:latin typeface="Ubuntu Mono"/>
              </a:rPr>
              <a:t>Bienvenue aux nouveaux</a:t>
            </a:r>
          </a:p>
        </p:txBody>
      </p:sp>
      <p:sp>
        <p:nvSpPr>
          <p:cNvPr id="8" name="TextBox 7"/>
          <p:cNvSpPr txBox="1"/>
          <p:nvPr/>
        </p:nvSpPr>
        <p:spPr>
          <a:xfrm>
            <a:off x="762000" y="1752600"/>
            <a:ext cx="6096000" cy="508000"/>
          </a:xfrm>
          <a:prstGeom prst="rect">
            <a:avLst/>
          </a:prstGeom>
          <a:noFill/>
        </p:spPr>
        <p:txBody>
          <a:bodyPr wrap="square" anchor="t" lIns="0" rIns="0" tIns="0" bIns="0">
            <a:spAutoFit/>
          </a:bodyPr>
          <a:lstStyle/>
          <a:p>
            <a:pPr algn="l">
              <a:spcAft>
                <a:spcPts val="525"/>
              </a:spcAft>
            </a:pPr>
            <a:r>
              <a:rPr sz="1050" b="0">
                <a:solidFill>
                  <a:srgbClr val="0B1B2E"/>
                </a:solidFill>
                <a:latin typeface="Ubuntu Mono"/>
              </a:rPr>
              <a:t>Plusieurs collaborateurs ont rejoint Enedril cette année :</a:t>
            </a:r>
          </a:p>
        </p:txBody>
      </p:sp>
      <p:sp>
        <p:nvSpPr>
          <p:cNvPr id="9" name="TextBox 8"/>
          <p:cNvSpPr txBox="1"/>
          <p:nvPr/>
        </p:nvSpPr>
        <p:spPr>
          <a:xfrm>
            <a:off x="762000" y="2057400"/>
            <a:ext cx="6096000" cy="381000"/>
          </a:xfrm>
          <a:prstGeom prst="rect">
            <a:avLst/>
          </a:prstGeom>
          <a:noFill/>
        </p:spPr>
        <p:txBody>
          <a:bodyPr wrap="square" anchor="t" lIns="0" rIns="0" tIns="0" bIns="0">
            <a:spAutoFit/>
          </a:bodyPr>
          <a:lstStyle/>
          <a:p>
            <a:pPr algn="l">
              <a:spcAft>
                <a:spcPts val="700"/>
              </a:spcAft>
            </a:pPr>
            <a:r>
              <a:rPr sz="1400" b="1">
                <a:solidFill>
                  <a:srgbClr val="08203F"/>
                </a:solidFill>
                <a:latin typeface="Ubuntu Mono"/>
              </a:rPr>
              <a:t>Thibaut · Mickael · Xavier · Julien Duval · Segen</a:t>
            </a:r>
          </a:p>
        </p:txBody>
      </p:sp>
      <p:sp>
        <p:nvSpPr>
          <p:cNvPr id="10" name="Rectangle 9"/>
          <p:cNvSpPr/>
          <p:nvPr/>
        </p:nvSpPr>
        <p:spPr>
          <a:xfrm>
            <a:off x="762000" y="2514600"/>
            <a:ext cx="6096000" cy="482600"/>
          </a:xfrm>
          <a:prstGeom prst="rect">
            <a:avLst/>
          </a:prstGeom>
          <a:solidFill>
            <a:srgbClr val="FFF3B0"/>
          </a:solidFill>
          <a:ln w="12700">
            <a:solidFill>
              <a:srgbClr val="C8A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200" y="2514600"/>
            <a:ext cx="5943600" cy="482600"/>
          </a:xfrm>
          <a:prstGeom prst="rect">
            <a:avLst/>
          </a:prstGeom>
          <a:noFill/>
        </p:spPr>
        <p:txBody>
          <a:bodyPr wrap="square" anchor="ctr" lIns="0" rIns="0" tIns="0" bIns="0">
            <a:spAutoFit/>
          </a:bodyPr>
          <a:lstStyle/>
          <a:p>
            <a:pPr algn="ctr">
              <a:spcAft>
                <a:spcPts val="425"/>
              </a:spcAft>
            </a:pPr>
            <a:r>
              <a:rPr sz="850" b="1">
                <a:solidFill>
                  <a:srgbClr val="6E5000"/>
                </a:solidFill>
                <a:latin typeface="Ubuntu Mono"/>
              </a:rPr>
              <a:t>À COMPLÉTER : équipes concernées, départs éventuels à saluer, photo des nouveaux</a:t>
            </a:r>
          </a:p>
        </p:txBody>
      </p:sp>
      <p:sp>
        <p:nvSpPr>
          <p:cNvPr id="12" name="TextBox 11"/>
          <p:cNvSpPr txBox="1"/>
          <p:nvPr/>
        </p:nvSpPr>
        <p:spPr>
          <a:xfrm>
            <a:off x="508000" y="3492500"/>
            <a:ext cx="6540500" cy="254000"/>
          </a:xfrm>
          <a:prstGeom prst="rect">
            <a:avLst/>
          </a:prstGeom>
          <a:noFill/>
        </p:spPr>
        <p:txBody>
          <a:bodyPr wrap="square" anchor="t" lIns="0" rIns="0" tIns="0" bIns="0">
            <a:spAutoFit/>
          </a:bodyPr>
          <a:lstStyle/>
          <a:p>
            <a:pPr algn="l">
              <a:spcAft>
                <a:spcPts val="750"/>
              </a:spcAft>
            </a:pPr>
            <a:r>
              <a:rPr sz="1500" b="1">
                <a:solidFill>
                  <a:srgbClr val="0A4FA0"/>
                </a:solidFill>
                <a:latin typeface="Ubuntu Mono"/>
              </a:rPr>
              <a:t>Événements d'équipe</a:t>
            </a:r>
          </a:p>
        </p:txBody>
      </p:sp>
      <p:sp>
        <p:nvSpPr>
          <p:cNvPr id="13" name="Rectangle 12"/>
          <p:cNvSpPr/>
          <p:nvPr/>
        </p:nvSpPr>
        <p:spPr>
          <a:xfrm>
            <a:off x="508000" y="3810000"/>
            <a:ext cx="6540500" cy="381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8000" y="403860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000500"/>
            <a:ext cx="6362700" cy="180022"/>
          </a:xfrm>
          <a:prstGeom prst="rect">
            <a:avLst/>
          </a:prstGeom>
          <a:noFill/>
        </p:spPr>
        <p:txBody>
          <a:bodyPr wrap="square" anchor="t" lIns="0" rIns="0" tIns="0" bIns="0">
            <a:spAutoFit/>
          </a:bodyPr>
          <a:lstStyle/>
          <a:p>
            <a:pPr algn="l">
              <a:lnSpc>
                <a:spcPts val="1365"/>
              </a:lnSpc>
              <a:spcAft>
                <a:spcPts val="525"/>
              </a:spcAft>
            </a:pPr>
            <a:r>
              <a:rPr sz="1050" b="0">
                <a:solidFill>
                  <a:srgbClr val="0B1B2E"/>
                </a:solidFill>
                <a:latin typeface="Ubuntu Mono"/>
              </a:rPr>
              <a:t>Teambuilding à la Section Paloise.</a:t>
            </a:r>
          </a:p>
        </p:txBody>
      </p:sp>
      <p:sp>
        <p:nvSpPr>
          <p:cNvPr id="16" name="Rectangle 15"/>
          <p:cNvSpPr/>
          <p:nvPr/>
        </p:nvSpPr>
        <p:spPr>
          <a:xfrm>
            <a:off x="508000" y="4313555"/>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75455"/>
            <a:ext cx="6362700" cy="180022"/>
          </a:xfrm>
          <a:prstGeom prst="rect">
            <a:avLst/>
          </a:prstGeom>
          <a:noFill/>
        </p:spPr>
        <p:txBody>
          <a:bodyPr wrap="square" anchor="t" lIns="0" rIns="0" tIns="0" bIns="0">
            <a:spAutoFit/>
          </a:bodyPr>
          <a:lstStyle/>
          <a:p>
            <a:pPr algn="l">
              <a:lnSpc>
                <a:spcPts val="1365"/>
              </a:lnSpc>
              <a:spcAft>
                <a:spcPts val="525"/>
              </a:spcAft>
            </a:pPr>
            <a:r>
              <a:rPr sz="1050" b="0">
                <a:solidFill>
                  <a:srgbClr val="0B1B2E"/>
                </a:solidFill>
                <a:latin typeface="Ubuntu Mono"/>
              </a:rPr>
              <a:t>Barbecue en mai.</a:t>
            </a:r>
          </a:p>
        </p:txBody>
      </p:sp>
      <p:sp>
        <p:nvSpPr>
          <p:cNvPr id="18" name="Rectangle 17"/>
          <p:cNvSpPr/>
          <p:nvPr/>
        </p:nvSpPr>
        <p:spPr>
          <a:xfrm>
            <a:off x="508000" y="4588509"/>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550409"/>
            <a:ext cx="6362700" cy="180022"/>
          </a:xfrm>
          <a:prstGeom prst="rect">
            <a:avLst/>
          </a:prstGeom>
          <a:noFill/>
        </p:spPr>
        <p:txBody>
          <a:bodyPr wrap="square" anchor="t" lIns="0" rIns="0" tIns="0" bIns="0">
            <a:spAutoFit/>
          </a:bodyPr>
          <a:lstStyle/>
          <a:p>
            <a:pPr algn="l">
              <a:lnSpc>
                <a:spcPts val="1365"/>
              </a:lnSpc>
              <a:spcAft>
                <a:spcPts val="525"/>
              </a:spcAft>
            </a:pPr>
            <a:r>
              <a:rPr sz="1050" b="0">
                <a:solidFill>
                  <a:srgbClr val="0B1B2E"/>
                </a:solidFill>
                <a:latin typeface="Ubuntu Mono"/>
              </a:rPr>
              <a:t>Repas après la matinée de sensibilisation aux addictions.</a:t>
            </a:r>
          </a:p>
        </p:txBody>
      </p:sp>
      <p:sp>
        <p:nvSpPr>
          <p:cNvPr id="20" name="Rectangle 19"/>
          <p:cNvSpPr/>
          <p:nvPr/>
        </p:nvSpPr>
        <p:spPr>
          <a:xfrm>
            <a:off x="508000" y="4863464"/>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825364"/>
            <a:ext cx="6362700" cy="180022"/>
          </a:xfrm>
          <a:prstGeom prst="rect">
            <a:avLst/>
          </a:prstGeom>
          <a:noFill/>
        </p:spPr>
        <p:txBody>
          <a:bodyPr wrap="square" anchor="t" lIns="0" rIns="0" tIns="0" bIns="0">
            <a:spAutoFit/>
          </a:bodyPr>
          <a:lstStyle/>
          <a:p>
            <a:pPr algn="l">
              <a:lnSpc>
                <a:spcPts val="1365"/>
              </a:lnSpc>
              <a:spcAft>
                <a:spcPts val="525"/>
              </a:spcAft>
            </a:pPr>
            <a:r>
              <a:rPr sz="1050" b="0">
                <a:solidFill>
                  <a:srgbClr val="0B1B2E"/>
                </a:solidFill>
                <a:latin typeface="Ubuntu Mono"/>
              </a:rPr>
              <a:t>Repas de fin d'année (date à confirmer).</a:t>
            </a:r>
          </a:p>
        </p:txBody>
      </p:sp>
      <p:sp>
        <p:nvSpPr>
          <p:cNvPr id="22" name="Rectangle 21"/>
          <p:cNvSpPr/>
          <p:nvPr/>
        </p:nvSpPr>
        <p:spPr>
          <a:xfrm>
            <a:off x="508000" y="5969000"/>
            <a:ext cx="3175000" cy="2286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4200" y="5969000"/>
            <a:ext cx="3022600" cy="2286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teambuilding Section Paloise</a:t>
            </a:r>
          </a:p>
        </p:txBody>
      </p:sp>
      <p:sp>
        <p:nvSpPr>
          <p:cNvPr id="24" name="Rectangle 23"/>
          <p:cNvSpPr/>
          <p:nvPr/>
        </p:nvSpPr>
        <p:spPr>
          <a:xfrm>
            <a:off x="3873500" y="5969000"/>
            <a:ext cx="3175000" cy="2286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949700" y="5969000"/>
            <a:ext cx="3022600" cy="2286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barbecue de mai</a:t>
            </a:r>
          </a:p>
        </p:txBody>
      </p:sp>
      <p:sp>
        <p:nvSpPr>
          <p:cNvPr id="26" name="Rectangle 25"/>
          <p:cNvSpPr/>
          <p:nvPr/>
        </p:nvSpPr>
        <p:spPr>
          <a:xfrm>
            <a:off x="508000" y="8445500"/>
            <a:ext cx="3175000" cy="1524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4200" y="8445500"/>
            <a:ext cx="3022600" cy="1524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repas / matinée addictions</a:t>
            </a:r>
          </a:p>
        </p:txBody>
      </p:sp>
      <p:sp>
        <p:nvSpPr>
          <p:cNvPr id="28" name="Rectangle 27"/>
          <p:cNvSpPr/>
          <p:nvPr/>
        </p:nvSpPr>
        <p:spPr>
          <a:xfrm>
            <a:off x="3873500" y="8445500"/>
            <a:ext cx="3175000" cy="1524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49700" y="8445500"/>
            <a:ext cx="3022600" cy="1524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repas de fin d'année</a:t>
            </a:r>
          </a:p>
        </p:txBody>
      </p:sp>
      <p:sp>
        <p:nvSpPr>
          <p:cNvPr id="30" name="TextBox 29"/>
          <p:cNvSpPr txBox="1"/>
          <p:nvPr/>
        </p:nvSpPr>
        <p:spPr>
          <a:xfrm>
            <a:off x="508000" y="10261600"/>
            <a:ext cx="3810000" cy="152400"/>
          </a:xfrm>
          <a:prstGeom prst="rect">
            <a:avLst/>
          </a:prstGeom>
          <a:noFill/>
        </p:spPr>
        <p:txBody>
          <a:bodyPr wrap="square" anchor="t" lIns="0" rIns="0" tIns="0" bIns="0">
            <a:spAutoFit/>
          </a:bodyPr>
          <a:lstStyle/>
          <a:p>
            <a:pPr algn="l">
              <a:spcAft>
                <a:spcPts val="400"/>
              </a:spcAft>
            </a:pPr>
            <a:r>
              <a:rPr sz="800" b="0">
                <a:solidFill>
                  <a:srgbClr val="5A6B7F"/>
                </a:solidFill>
                <a:latin typeface="Ubuntu Mono"/>
              </a:rPr>
              <a:t>Enedril · Rétrospective 2026</a:t>
            </a:r>
          </a:p>
        </p:txBody>
      </p:sp>
      <p:sp>
        <p:nvSpPr>
          <p:cNvPr id="31" name="TextBox 30"/>
          <p:cNvSpPr txBox="1"/>
          <p:nvPr/>
        </p:nvSpPr>
        <p:spPr>
          <a:xfrm>
            <a:off x="6540500" y="10261600"/>
            <a:ext cx="508000" cy="152400"/>
          </a:xfrm>
          <a:prstGeom prst="rect">
            <a:avLst/>
          </a:prstGeom>
          <a:noFill/>
        </p:spPr>
        <p:txBody>
          <a:bodyPr wrap="square" anchor="t" lIns="0" rIns="0" tIns="0" bIns="0">
            <a:spAutoFit/>
          </a:bodyPr>
          <a:lstStyle/>
          <a:p>
            <a:pPr algn="r">
              <a:spcAft>
                <a:spcPts val="400"/>
              </a:spcAft>
            </a:pPr>
            <a:r>
              <a:rPr sz="800" b="0">
                <a:solidFill>
                  <a:srgbClr val="5A6B7F"/>
                </a:solidFill>
                <a:latin typeface="Ubuntu Mono"/>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431800"/>
            <a:ext cx="6540500" cy="431800"/>
          </a:xfrm>
          <a:prstGeom prst="rect">
            <a:avLst/>
          </a:prstGeom>
          <a:noFill/>
        </p:spPr>
        <p:txBody>
          <a:bodyPr wrap="square" anchor="t" lIns="0" rIns="0" tIns="0" bIns="0">
            <a:spAutoFit/>
          </a:bodyPr>
          <a:lstStyle/>
          <a:p>
            <a:pPr algn="l">
              <a:spcAft>
                <a:spcPts val="1200"/>
              </a:spcAft>
            </a:pPr>
            <a:r>
              <a:rPr sz="2400" b="1">
                <a:solidFill>
                  <a:srgbClr val="0A4FA0"/>
                </a:solidFill>
                <a:latin typeface="Ubuntu Mono"/>
              </a:rPr>
              <a:t>ANNONCES ET CHANGEMENTS INTERNES</a:t>
            </a:r>
          </a:p>
        </p:txBody>
      </p:sp>
      <p:sp>
        <p:nvSpPr>
          <p:cNvPr id="4" name="Rectangle 3"/>
          <p:cNvSpPr/>
          <p:nvPr/>
        </p:nvSpPr>
        <p:spPr>
          <a:xfrm>
            <a:off x="508000" y="889000"/>
            <a:ext cx="6540500" cy="50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43510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397000"/>
            <a:ext cx="6362700" cy="205740"/>
          </a:xfrm>
          <a:prstGeom prst="rect">
            <a:avLst/>
          </a:prstGeom>
          <a:noFill/>
        </p:spPr>
        <p:txBody>
          <a:bodyPr wrap="square" anchor="t" lIns="0" rIns="0" tIns="0" bIns="0">
            <a:spAutoFit/>
          </a:bodyPr>
          <a:lstStyle/>
          <a:p>
            <a:pPr algn="l">
              <a:lnSpc>
                <a:spcPts val="1560"/>
              </a:lnSpc>
              <a:spcAft>
                <a:spcPts val="600"/>
              </a:spcAft>
            </a:pPr>
            <a:r>
              <a:rPr sz="1200" b="0">
                <a:solidFill>
                  <a:srgbClr val="0B1B2E"/>
                </a:solidFill>
                <a:latin typeface="Ubuntu Mono"/>
              </a:rPr>
              <a:t>Semaine à 4 jours : mise en place d'un essai.</a:t>
            </a:r>
          </a:p>
        </p:txBody>
      </p:sp>
      <p:sp>
        <p:nvSpPr>
          <p:cNvPr id="7" name="Rectangle 6"/>
          <p:cNvSpPr/>
          <p:nvPr/>
        </p:nvSpPr>
        <p:spPr>
          <a:xfrm>
            <a:off x="508000" y="178562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47520"/>
            <a:ext cx="6362700" cy="411480"/>
          </a:xfrm>
          <a:prstGeom prst="rect">
            <a:avLst/>
          </a:prstGeom>
          <a:noFill/>
        </p:spPr>
        <p:txBody>
          <a:bodyPr wrap="square" anchor="t" lIns="0" rIns="0" tIns="0" bIns="0">
            <a:spAutoFit/>
          </a:bodyPr>
          <a:lstStyle/>
          <a:p>
            <a:pPr algn="l">
              <a:lnSpc>
                <a:spcPts val="1560"/>
              </a:lnSpc>
              <a:spcAft>
                <a:spcPts val="600"/>
              </a:spcAft>
            </a:pPr>
            <a:r>
              <a:rPr sz="1200" b="0">
                <a:solidFill>
                  <a:srgbClr val="0B1B2E"/>
                </a:solidFill>
                <a:latin typeface="Ubuntu Mono"/>
              </a:rPr>
              <a:t>Tickets restaurant et chèques vacances digitaux : nouveaux avantages mis en place pour les collaborateurs.</a:t>
            </a:r>
          </a:p>
        </p:txBody>
      </p:sp>
      <p:sp>
        <p:nvSpPr>
          <p:cNvPr id="9" name="Rectangle 8"/>
          <p:cNvSpPr/>
          <p:nvPr/>
        </p:nvSpPr>
        <p:spPr>
          <a:xfrm>
            <a:off x="508000" y="233426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296160"/>
            <a:ext cx="6362700" cy="411480"/>
          </a:xfrm>
          <a:prstGeom prst="rect">
            <a:avLst/>
          </a:prstGeom>
          <a:noFill/>
        </p:spPr>
        <p:txBody>
          <a:bodyPr wrap="square" anchor="t" lIns="0" rIns="0" tIns="0" bIns="0">
            <a:spAutoFit/>
          </a:bodyPr>
          <a:lstStyle/>
          <a:p>
            <a:pPr algn="l">
              <a:lnSpc>
                <a:spcPts val="1560"/>
              </a:lnSpc>
              <a:spcAft>
                <a:spcPts val="600"/>
              </a:spcAft>
            </a:pPr>
            <a:r>
              <a:rPr sz="1200" b="0">
                <a:solidFill>
                  <a:srgbClr val="0B1B2E"/>
                </a:solidFill>
                <a:latin typeface="Ubuntu Mono"/>
              </a:rPr>
              <a:t>Changement du système de chaleur : pompe à chaleur alimentée par les deux puits de géothermie.</a:t>
            </a:r>
          </a:p>
        </p:txBody>
      </p:sp>
      <p:sp>
        <p:nvSpPr>
          <p:cNvPr id="11" name="Rectangle 10"/>
          <p:cNvSpPr/>
          <p:nvPr/>
        </p:nvSpPr>
        <p:spPr>
          <a:xfrm>
            <a:off x="508000" y="288290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844800"/>
            <a:ext cx="6362700" cy="411480"/>
          </a:xfrm>
          <a:prstGeom prst="rect">
            <a:avLst/>
          </a:prstGeom>
          <a:noFill/>
        </p:spPr>
        <p:txBody>
          <a:bodyPr wrap="square" anchor="t" lIns="0" rIns="0" tIns="0" bIns="0">
            <a:spAutoFit/>
          </a:bodyPr>
          <a:lstStyle/>
          <a:p>
            <a:pPr algn="l">
              <a:lnSpc>
                <a:spcPts val="1560"/>
              </a:lnSpc>
              <a:spcAft>
                <a:spcPts val="600"/>
              </a:spcAft>
            </a:pPr>
            <a:r>
              <a:rPr sz="1200" b="0">
                <a:solidFill>
                  <a:srgbClr val="0B1B2E"/>
                </a:solidFill>
                <a:latin typeface="Ubuntu Mono"/>
              </a:rPr>
              <a:t>Nouveau bâtiment de stockage, nouveau parking et nouvelle Break-out unit.</a:t>
            </a:r>
          </a:p>
        </p:txBody>
      </p:sp>
      <p:sp>
        <p:nvSpPr>
          <p:cNvPr id="13" name="Rectangle 12"/>
          <p:cNvSpPr/>
          <p:nvPr/>
        </p:nvSpPr>
        <p:spPr>
          <a:xfrm>
            <a:off x="508000" y="343154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393440"/>
            <a:ext cx="6362700" cy="205740"/>
          </a:xfrm>
          <a:prstGeom prst="rect">
            <a:avLst/>
          </a:prstGeom>
          <a:noFill/>
        </p:spPr>
        <p:txBody>
          <a:bodyPr wrap="square" anchor="t" lIns="0" rIns="0" tIns="0" bIns="0">
            <a:spAutoFit/>
          </a:bodyPr>
          <a:lstStyle/>
          <a:p>
            <a:pPr algn="l">
              <a:lnSpc>
                <a:spcPts val="1560"/>
              </a:lnSpc>
              <a:spcAft>
                <a:spcPts val="600"/>
              </a:spcAft>
            </a:pPr>
            <a:r>
              <a:rPr sz="1200" b="0">
                <a:solidFill>
                  <a:srgbClr val="0B1B2E"/>
                </a:solidFill>
                <a:latin typeface="Ubuntu Mono"/>
              </a:rPr>
              <a:t>Arrivée de nouveaux outils.</a:t>
            </a:r>
          </a:p>
        </p:txBody>
      </p:sp>
      <p:sp>
        <p:nvSpPr>
          <p:cNvPr id="15" name="Rectangle 14"/>
          <p:cNvSpPr/>
          <p:nvPr/>
        </p:nvSpPr>
        <p:spPr>
          <a:xfrm>
            <a:off x="508000" y="4826000"/>
            <a:ext cx="6540500" cy="508000"/>
          </a:xfrm>
          <a:prstGeom prst="rect">
            <a:avLst/>
          </a:prstGeom>
          <a:solidFill>
            <a:srgbClr val="FFF3B0"/>
          </a:solidFill>
          <a:ln w="12700">
            <a:solidFill>
              <a:srgbClr val="C8A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4200" y="4826000"/>
            <a:ext cx="6388100" cy="508000"/>
          </a:xfrm>
          <a:prstGeom prst="rect">
            <a:avLst/>
          </a:prstGeom>
          <a:noFill/>
        </p:spPr>
        <p:txBody>
          <a:bodyPr wrap="square" anchor="ctr" lIns="0" rIns="0" tIns="0" bIns="0">
            <a:spAutoFit/>
          </a:bodyPr>
          <a:lstStyle/>
          <a:p>
            <a:pPr algn="ctr">
              <a:spcAft>
                <a:spcPts val="425"/>
              </a:spcAft>
            </a:pPr>
            <a:r>
              <a:rPr sz="850" b="1">
                <a:solidFill>
                  <a:srgbClr val="6E5000"/>
                </a:solidFill>
                <a:latin typeface="Ubuntu Mono"/>
              </a:rPr>
              <a:t>À COMPLÉTER : dates, détails des modalités de la semaine à 4 jours, liste des nouveaux outils</a:t>
            </a:r>
          </a:p>
        </p:txBody>
      </p:sp>
      <p:sp>
        <p:nvSpPr>
          <p:cNvPr id="17" name="Rectangle 16"/>
          <p:cNvSpPr/>
          <p:nvPr/>
        </p:nvSpPr>
        <p:spPr>
          <a:xfrm>
            <a:off x="508000" y="5651500"/>
            <a:ext cx="3175000" cy="2159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4200" y="5651500"/>
            <a:ext cx="3022600" cy="2159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nouveau bâtiment de stockage</a:t>
            </a:r>
          </a:p>
        </p:txBody>
      </p:sp>
      <p:sp>
        <p:nvSpPr>
          <p:cNvPr id="19" name="Rectangle 18"/>
          <p:cNvSpPr/>
          <p:nvPr/>
        </p:nvSpPr>
        <p:spPr>
          <a:xfrm>
            <a:off x="3873500" y="5651500"/>
            <a:ext cx="3175000" cy="2159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49700" y="5651500"/>
            <a:ext cx="3022600" cy="2159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Break-out unit</a:t>
            </a:r>
          </a:p>
        </p:txBody>
      </p:sp>
      <p:sp>
        <p:nvSpPr>
          <p:cNvPr id="21" name="Rectangle 20"/>
          <p:cNvSpPr/>
          <p:nvPr/>
        </p:nvSpPr>
        <p:spPr>
          <a:xfrm>
            <a:off x="508000" y="8001000"/>
            <a:ext cx="3175000" cy="1905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4200" y="8001000"/>
            <a:ext cx="3022600" cy="1905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pompe à chaleur / puits</a:t>
            </a:r>
          </a:p>
        </p:txBody>
      </p:sp>
      <p:sp>
        <p:nvSpPr>
          <p:cNvPr id="23" name="Rectangle 22"/>
          <p:cNvSpPr/>
          <p:nvPr/>
        </p:nvSpPr>
        <p:spPr>
          <a:xfrm>
            <a:off x="3873500" y="8001000"/>
            <a:ext cx="3175000" cy="1905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49700" y="8001000"/>
            <a:ext cx="3022600" cy="1905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nouveaux outils</a:t>
            </a:r>
          </a:p>
        </p:txBody>
      </p:sp>
      <p:sp>
        <p:nvSpPr>
          <p:cNvPr id="25" name="TextBox 24"/>
          <p:cNvSpPr txBox="1"/>
          <p:nvPr/>
        </p:nvSpPr>
        <p:spPr>
          <a:xfrm>
            <a:off x="508000" y="10261600"/>
            <a:ext cx="3810000" cy="152400"/>
          </a:xfrm>
          <a:prstGeom prst="rect">
            <a:avLst/>
          </a:prstGeom>
          <a:noFill/>
        </p:spPr>
        <p:txBody>
          <a:bodyPr wrap="square" anchor="t" lIns="0" rIns="0" tIns="0" bIns="0">
            <a:spAutoFit/>
          </a:bodyPr>
          <a:lstStyle/>
          <a:p>
            <a:pPr algn="l">
              <a:spcAft>
                <a:spcPts val="400"/>
              </a:spcAft>
            </a:pPr>
            <a:r>
              <a:rPr sz="800" b="0">
                <a:solidFill>
                  <a:srgbClr val="5A6B7F"/>
                </a:solidFill>
                <a:latin typeface="Ubuntu Mono"/>
              </a:rPr>
              <a:t>Enedril · Rétrospective 2026</a:t>
            </a:r>
          </a:p>
        </p:txBody>
      </p:sp>
      <p:sp>
        <p:nvSpPr>
          <p:cNvPr id="26" name="TextBox 25"/>
          <p:cNvSpPr txBox="1"/>
          <p:nvPr/>
        </p:nvSpPr>
        <p:spPr>
          <a:xfrm>
            <a:off x="6540500" y="10261600"/>
            <a:ext cx="508000" cy="152400"/>
          </a:xfrm>
          <a:prstGeom prst="rect">
            <a:avLst/>
          </a:prstGeom>
          <a:noFill/>
        </p:spPr>
        <p:txBody>
          <a:bodyPr wrap="square" anchor="t" lIns="0" rIns="0" tIns="0" bIns="0">
            <a:spAutoFit/>
          </a:bodyPr>
          <a:lstStyle/>
          <a:p>
            <a:pPr algn="r">
              <a:spcAft>
                <a:spcPts val="400"/>
              </a:spcAft>
            </a:pPr>
            <a:r>
              <a:rPr sz="800" b="0">
                <a:solidFill>
                  <a:srgbClr val="5A6B7F"/>
                </a:solidFill>
                <a:latin typeface="Ubuntu Mono"/>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431800"/>
            <a:ext cx="6540500" cy="431800"/>
          </a:xfrm>
          <a:prstGeom prst="rect">
            <a:avLst/>
          </a:prstGeom>
          <a:noFill/>
        </p:spPr>
        <p:txBody>
          <a:bodyPr wrap="square" anchor="t" lIns="0" rIns="0" tIns="0" bIns="0">
            <a:spAutoFit/>
          </a:bodyPr>
          <a:lstStyle/>
          <a:p>
            <a:pPr algn="l">
              <a:spcAft>
                <a:spcPts val="1200"/>
              </a:spcAft>
            </a:pPr>
            <a:r>
              <a:rPr sz="2400" b="1">
                <a:solidFill>
                  <a:srgbClr val="0A4FA0"/>
                </a:solidFill>
                <a:latin typeface="Ubuntu Mono"/>
              </a:rPr>
              <a:t>ACTUALITÉS COMMERCIALES</a:t>
            </a:r>
          </a:p>
        </p:txBody>
      </p:sp>
      <p:sp>
        <p:nvSpPr>
          <p:cNvPr id="4" name="Rectangle 3"/>
          <p:cNvSpPr/>
          <p:nvPr/>
        </p:nvSpPr>
        <p:spPr>
          <a:xfrm>
            <a:off x="508000" y="889000"/>
            <a:ext cx="6540500" cy="50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1270000"/>
            <a:ext cx="6540500" cy="1270000"/>
          </a:xfrm>
          <a:prstGeom prst="rect">
            <a:avLst/>
          </a:prstGeom>
          <a:noFill/>
        </p:spPr>
        <p:txBody>
          <a:bodyPr wrap="square" anchor="t" lIns="0" rIns="0" tIns="0" bIns="0">
            <a:spAutoFit/>
          </a:bodyPr>
          <a:lstStyle/>
          <a:p>
            <a:pPr algn="l">
              <a:lnSpc>
                <a:spcPts val="1500"/>
              </a:lnSpc>
              <a:spcAft>
                <a:spcPts val="550"/>
              </a:spcAft>
            </a:pPr>
            <a:r>
              <a:rPr sz="1100" b="0">
                <a:solidFill>
                  <a:srgbClr val="0B1B2E"/>
                </a:solidFill>
                <a:latin typeface="Ubuntu Mono"/>
              </a:rPr>
              <a:t>Cette année, Enedril a accompagné de nombreux projets en géothermie et en forage, en France comme à l'étranger.</a:t>
            </a:r>
          </a:p>
          <a:p>
            <a:pPr algn="l">
              <a:lnSpc>
                <a:spcPts val="1500"/>
              </a:lnSpc>
              <a:spcAft>
                <a:spcPts val="550"/>
              </a:spcAft>
            </a:pPr>
            <a:r>
              <a:rPr sz="1100" b="0">
                <a:solidFill>
                  <a:srgbClr val="0B1B2E"/>
                </a:solidFill>
                <a:latin typeface="Ubuntu Mono"/>
              </a:rPr>
              <a:t>Pour 2027, les perspectives s'appuient sur le salon GeoTHERM (stand 274) et sur nos échanges en Europe et au Moyen-Orient.</a:t>
            </a:r>
          </a:p>
        </p:txBody>
      </p:sp>
      <p:sp>
        <p:nvSpPr>
          <p:cNvPr id="6" name="Rectangle 5"/>
          <p:cNvSpPr/>
          <p:nvPr/>
        </p:nvSpPr>
        <p:spPr>
          <a:xfrm>
            <a:off x="508000" y="2921000"/>
            <a:ext cx="2095500" cy="11176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8000" y="3022600"/>
            <a:ext cx="20955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8" name="TextBox 7"/>
          <p:cNvSpPr txBox="1"/>
          <p:nvPr/>
        </p:nvSpPr>
        <p:spPr>
          <a:xfrm>
            <a:off x="584200" y="3657600"/>
            <a:ext cx="19431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devis envoyés</a:t>
            </a:r>
          </a:p>
        </p:txBody>
      </p:sp>
      <p:sp>
        <p:nvSpPr>
          <p:cNvPr id="9" name="Rectangle 8"/>
          <p:cNvSpPr/>
          <p:nvPr/>
        </p:nvSpPr>
        <p:spPr>
          <a:xfrm>
            <a:off x="2730500" y="2921000"/>
            <a:ext cx="2095500" cy="11176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30500" y="3022600"/>
            <a:ext cx="20955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11" name="TextBox 10"/>
          <p:cNvSpPr txBox="1"/>
          <p:nvPr/>
        </p:nvSpPr>
        <p:spPr>
          <a:xfrm>
            <a:off x="2806700" y="3657600"/>
            <a:ext cx="19431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devis pour nouveaux clients</a:t>
            </a:r>
          </a:p>
        </p:txBody>
      </p:sp>
      <p:sp>
        <p:nvSpPr>
          <p:cNvPr id="12" name="Rectangle 11"/>
          <p:cNvSpPr/>
          <p:nvPr/>
        </p:nvSpPr>
        <p:spPr>
          <a:xfrm>
            <a:off x="4953000" y="2921000"/>
            <a:ext cx="2095500" cy="11176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53000" y="3022600"/>
            <a:ext cx="20955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14" name="TextBox 13"/>
          <p:cNvSpPr txBox="1"/>
          <p:nvPr/>
        </p:nvSpPr>
        <p:spPr>
          <a:xfrm>
            <a:off x="5029200" y="3657600"/>
            <a:ext cx="19431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taux de transformation</a:t>
            </a:r>
          </a:p>
        </p:txBody>
      </p:sp>
      <p:sp>
        <p:nvSpPr>
          <p:cNvPr id="15" name="Rectangle 14"/>
          <p:cNvSpPr/>
          <p:nvPr/>
        </p:nvSpPr>
        <p:spPr>
          <a:xfrm>
            <a:off x="508000" y="4191000"/>
            <a:ext cx="2095500" cy="11176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8000" y="4292600"/>
            <a:ext cx="20955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17" name="TextBox 16"/>
          <p:cNvSpPr txBox="1"/>
          <p:nvPr/>
        </p:nvSpPr>
        <p:spPr>
          <a:xfrm>
            <a:off x="584200" y="4927600"/>
            <a:ext cx="19431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location / vente</a:t>
            </a:r>
          </a:p>
        </p:txBody>
      </p:sp>
      <p:sp>
        <p:nvSpPr>
          <p:cNvPr id="18" name="Rectangle 17"/>
          <p:cNvSpPr/>
          <p:nvPr/>
        </p:nvSpPr>
        <p:spPr>
          <a:xfrm>
            <a:off x="2730500" y="4191000"/>
            <a:ext cx="2095500" cy="11176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30500" y="4292600"/>
            <a:ext cx="20955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20" name="TextBox 19"/>
          <p:cNvSpPr txBox="1"/>
          <p:nvPr/>
        </p:nvSpPr>
        <p:spPr>
          <a:xfrm>
            <a:off x="2806700" y="4927600"/>
            <a:ext cx="19431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jours de temps de réponse en moyenne</a:t>
            </a:r>
          </a:p>
        </p:txBody>
      </p:sp>
      <p:sp>
        <p:nvSpPr>
          <p:cNvPr id="21" name="Rectangle 20"/>
          <p:cNvSpPr/>
          <p:nvPr/>
        </p:nvSpPr>
        <p:spPr>
          <a:xfrm>
            <a:off x="2730500" y="5461000"/>
            <a:ext cx="2095500" cy="11176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30500" y="5562600"/>
            <a:ext cx="20955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23" name="TextBox 22"/>
          <p:cNvSpPr txBox="1"/>
          <p:nvPr/>
        </p:nvSpPr>
        <p:spPr>
          <a:xfrm>
            <a:off x="2806700" y="6197600"/>
            <a:ext cx="19431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puits forés</a:t>
            </a:r>
          </a:p>
        </p:txBody>
      </p:sp>
      <p:sp>
        <p:nvSpPr>
          <p:cNvPr id="24" name="Rectangle 23"/>
          <p:cNvSpPr/>
          <p:nvPr/>
        </p:nvSpPr>
        <p:spPr>
          <a:xfrm>
            <a:off x="4953000" y="5461000"/>
            <a:ext cx="2095500" cy="11176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53000" y="5562600"/>
            <a:ext cx="20955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26" name="TextBox 25"/>
          <p:cNvSpPr txBox="1"/>
          <p:nvPr/>
        </p:nvSpPr>
        <p:spPr>
          <a:xfrm>
            <a:off x="5029200" y="6197600"/>
            <a:ext cx="19431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mètres forés</a:t>
            </a:r>
          </a:p>
        </p:txBody>
      </p:sp>
      <p:sp>
        <p:nvSpPr>
          <p:cNvPr id="27" name="TextBox 26"/>
          <p:cNvSpPr txBox="1"/>
          <p:nvPr/>
        </p:nvSpPr>
        <p:spPr>
          <a:xfrm>
            <a:off x="508000" y="6858000"/>
            <a:ext cx="6540500" cy="254000"/>
          </a:xfrm>
          <a:prstGeom prst="rect">
            <a:avLst/>
          </a:prstGeom>
          <a:noFill/>
        </p:spPr>
        <p:txBody>
          <a:bodyPr wrap="square" anchor="t" lIns="0" rIns="0" tIns="0" bIns="0">
            <a:spAutoFit/>
          </a:bodyPr>
          <a:lstStyle/>
          <a:p>
            <a:pPr algn="l">
              <a:spcAft>
                <a:spcPts val="700"/>
              </a:spcAft>
            </a:pPr>
            <a:r>
              <a:rPr sz="1400" b="1">
                <a:solidFill>
                  <a:srgbClr val="0A4FA0"/>
                </a:solidFill>
                <a:latin typeface="Ubuntu Mono"/>
              </a:rPr>
              <a:t>Pays d'intervention</a:t>
            </a:r>
          </a:p>
        </p:txBody>
      </p:sp>
      <p:sp>
        <p:nvSpPr>
          <p:cNvPr id="28" name="Rectangle 27"/>
          <p:cNvSpPr/>
          <p:nvPr/>
        </p:nvSpPr>
        <p:spPr>
          <a:xfrm>
            <a:off x="508000" y="7188200"/>
            <a:ext cx="6540500" cy="508000"/>
          </a:xfrm>
          <a:prstGeom prst="rect">
            <a:avLst/>
          </a:prstGeom>
          <a:solidFill>
            <a:srgbClr val="FFF3B0"/>
          </a:solidFill>
          <a:ln w="12700">
            <a:solidFill>
              <a:srgbClr val="C8A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4200" y="7188200"/>
            <a:ext cx="6388100" cy="508000"/>
          </a:xfrm>
          <a:prstGeom prst="rect">
            <a:avLst/>
          </a:prstGeom>
          <a:noFill/>
        </p:spPr>
        <p:txBody>
          <a:bodyPr wrap="square" anchor="ctr" lIns="0" rIns="0" tIns="0" bIns="0">
            <a:spAutoFit/>
          </a:bodyPr>
          <a:lstStyle/>
          <a:p>
            <a:pPr algn="ctr">
              <a:spcAft>
                <a:spcPts val="425"/>
              </a:spcAft>
            </a:pPr>
            <a:r>
              <a:rPr sz="850" b="1">
                <a:solidFill>
                  <a:srgbClr val="6E5000"/>
                </a:solidFill>
                <a:latin typeface="Ubuntu Mono"/>
              </a:rPr>
              <a:t>À COMPLÉTER : liste des pays</a:t>
            </a:r>
          </a:p>
        </p:txBody>
      </p:sp>
      <p:sp>
        <p:nvSpPr>
          <p:cNvPr id="30" name="Rectangle 29"/>
          <p:cNvSpPr/>
          <p:nvPr/>
        </p:nvSpPr>
        <p:spPr>
          <a:xfrm>
            <a:off x="508000" y="8001000"/>
            <a:ext cx="6540500" cy="762000"/>
          </a:xfrm>
          <a:prstGeom prst="rect">
            <a:avLst/>
          </a:prstGeom>
          <a:solidFill>
            <a:srgbClr val="FFF3B0"/>
          </a:solidFill>
          <a:ln w="12700">
            <a:solidFill>
              <a:srgbClr val="C8A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200" y="8001000"/>
            <a:ext cx="6388100" cy="762000"/>
          </a:xfrm>
          <a:prstGeom prst="rect">
            <a:avLst/>
          </a:prstGeom>
          <a:noFill/>
        </p:spPr>
        <p:txBody>
          <a:bodyPr wrap="square" anchor="ctr" lIns="0" rIns="0" tIns="0" bIns="0">
            <a:spAutoFit/>
          </a:bodyPr>
          <a:lstStyle/>
          <a:p>
            <a:pPr algn="ctr">
              <a:spcAft>
                <a:spcPts val="425"/>
              </a:spcAft>
            </a:pPr>
            <a:r>
              <a:rPr sz="850" b="1">
                <a:solidFill>
                  <a:srgbClr val="6E5000"/>
                </a:solidFill>
                <a:latin typeface="Ubuntu Mono"/>
              </a:rPr>
              <a:t>À COMPLÉTER : statistiques commerciales et de chantier 2026 (les cases « … » ci-dessus) : à fournir par Paul / l'équipe</a:t>
            </a:r>
          </a:p>
        </p:txBody>
      </p:sp>
      <p:sp>
        <p:nvSpPr>
          <p:cNvPr id="32" name="TextBox 31"/>
          <p:cNvSpPr txBox="1"/>
          <p:nvPr/>
        </p:nvSpPr>
        <p:spPr>
          <a:xfrm>
            <a:off x="508000" y="10261600"/>
            <a:ext cx="3810000" cy="152400"/>
          </a:xfrm>
          <a:prstGeom prst="rect">
            <a:avLst/>
          </a:prstGeom>
          <a:noFill/>
        </p:spPr>
        <p:txBody>
          <a:bodyPr wrap="square" anchor="t" lIns="0" rIns="0" tIns="0" bIns="0">
            <a:spAutoFit/>
          </a:bodyPr>
          <a:lstStyle/>
          <a:p>
            <a:pPr algn="l">
              <a:spcAft>
                <a:spcPts val="400"/>
              </a:spcAft>
            </a:pPr>
            <a:r>
              <a:rPr sz="800" b="0">
                <a:solidFill>
                  <a:srgbClr val="5A6B7F"/>
                </a:solidFill>
                <a:latin typeface="Ubuntu Mono"/>
              </a:rPr>
              <a:t>Enedril · Rétrospective 2026</a:t>
            </a:r>
          </a:p>
        </p:txBody>
      </p:sp>
      <p:sp>
        <p:nvSpPr>
          <p:cNvPr id="33" name="TextBox 32"/>
          <p:cNvSpPr txBox="1"/>
          <p:nvPr/>
        </p:nvSpPr>
        <p:spPr>
          <a:xfrm>
            <a:off x="6540500" y="10261600"/>
            <a:ext cx="508000" cy="152400"/>
          </a:xfrm>
          <a:prstGeom prst="rect">
            <a:avLst/>
          </a:prstGeom>
          <a:noFill/>
        </p:spPr>
        <p:txBody>
          <a:bodyPr wrap="square" anchor="t" lIns="0" rIns="0" tIns="0" bIns="0">
            <a:spAutoFit/>
          </a:bodyPr>
          <a:lstStyle/>
          <a:p>
            <a:pPr algn="r">
              <a:spcAft>
                <a:spcPts val="400"/>
              </a:spcAft>
            </a:pPr>
            <a:r>
              <a:rPr sz="800" b="0">
                <a:solidFill>
                  <a:srgbClr val="5A6B7F"/>
                </a:solidFill>
                <a:latin typeface="Ubuntu Mono"/>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431800"/>
            <a:ext cx="6540500" cy="431800"/>
          </a:xfrm>
          <a:prstGeom prst="rect">
            <a:avLst/>
          </a:prstGeom>
          <a:noFill/>
        </p:spPr>
        <p:txBody>
          <a:bodyPr wrap="square" anchor="t" lIns="0" rIns="0" tIns="0" bIns="0">
            <a:spAutoFit/>
          </a:bodyPr>
          <a:lstStyle/>
          <a:p>
            <a:pPr algn="l">
              <a:spcAft>
                <a:spcPts val="1200"/>
              </a:spcAft>
            </a:pPr>
            <a:r>
              <a:rPr sz="2400" b="1">
                <a:solidFill>
                  <a:srgbClr val="0A4FA0"/>
                </a:solidFill>
                <a:latin typeface="Ubuntu Mono"/>
              </a:rPr>
              <a:t>MARKETING ET COMMUNICATION</a:t>
            </a:r>
          </a:p>
        </p:txBody>
      </p:sp>
      <p:sp>
        <p:nvSpPr>
          <p:cNvPr id="4" name="Rectangle 3"/>
          <p:cNvSpPr/>
          <p:nvPr/>
        </p:nvSpPr>
        <p:spPr>
          <a:xfrm>
            <a:off x="508000" y="889000"/>
            <a:ext cx="6540500" cy="50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1270000"/>
            <a:ext cx="6540500" cy="762000"/>
          </a:xfrm>
          <a:prstGeom prst="rect">
            <a:avLst/>
          </a:prstGeom>
          <a:noFill/>
        </p:spPr>
        <p:txBody>
          <a:bodyPr wrap="square" anchor="t" lIns="0" rIns="0" tIns="0" bIns="0">
            <a:spAutoFit/>
          </a:bodyPr>
          <a:lstStyle/>
          <a:p>
            <a:pPr algn="l">
              <a:lnSpc>
                <a:spcPts val="1500"/>
              </a:lnSpc>
              <a:spcAft>
                <a:spcPts val="550"/>
              </a:spcAft>
            </a:pPr>
            <a:r>
              <a:rPr sz="1100" b="0">
                <a:solidFill>
                  <a:srgbClr val="0B1B2E"/>
                </a:solidFill>
                <a:latin typeface="Ubuntu Mono"/>
              </a:rPr>
              <a:t>Plusieurs actions ont été menées pour renforcer la visibilité d'Enedril et valoriser nos activités auprès des partenaires, clients et futurs collaborateurs.</a:t>
            </a:r>
          </a:p>
        </p:txBody>
      </p:sp>
      <p:sp>
        <p:nvSpPr>
          <p:cNvPr id="6" name="TextBox 5"/>
          <p:cNvSpPr txBox="1"/>
          <p:nvPr/>
        </p:nvSpPr>
        <p:spPr>
          <a:xfrm>
            <a:off x="508000" y="2159000"/>
            <a:ext cx="6540500" cy="254000"/>
          </a:xfrm>
          <a:prstGeom prst="rect">
            <a:avLst/>
          </a:prstGeom>
          <a:noFill/>
        </p:spPr>
        <p:txBody>
          <a:bodyPr wrap="square" anchor="t" lIns="0" rIns="0" tIns="0" bIns="0">
            <a:spAutoFit/>
          </a:bodyPr>
          <a:lstStyle/>
          <a:p>
            <a:pPr algn="l">
              <a:spcAft>
                <a:spcPts val="750"/>
              </a:spcAft>
            </a:pPr>
            <a:r>
              <a:rPr sz="1500" b="1">
                <a:solidFill>
                  <a:srgbClr val="0A4FA0"/>
                </a:solidFill>
                <a:latin typeface="Ubuntu Mono"/>
              </a:rPr>
              <a:t>Salons et événements</a:t>
            </a:r>
          </a:p>
        </p:txBody>
      </p:sp>
      <p:sp>
        <p:nvSpPr>
          <p:cNvPr id="7" name="Rectangle 6"/>
          <p:cNvSpPr/>
          <p:nvPr/>
        </p:nvSpPr>
        <p:spPr>
          <a:xfrm>
            <a:off x="508000" y="2463800"/>
            <a:ext cx="6540500" cy="381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8000" y="267970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641600"/>
            <a:ext cx="6362700" cy="188595"/>
          </a:xfrm>
          <a:prstGeom prst="rect">
            <a:avLst/>
          </a:prstGeom>
          <a:noFill/>
        </p:spPr>
        <p:txBody>
          <a:bodyPr wrap="square" anchor="t" lIns="0" rIns="0" tIns="0" bIns="0">
            <a:spAutoFit/>
          </a:bodyPr>
          <a:lstStyle/>
          <a:p>
            <a:pPr algn="l">
              <a:lnSpc>
                <a:spcPts val="1430"/>
              </a:lnSpc>
              <a:spcAft>
                <a:spcPts val="550"/>
              </a:spcAft>
            </a:pPr>
            <a:r>
              <a:rPr sz="1100" b="0">
                <a:solidFill>
                  <a:srgbClr val="0B1B2E"/>
                </a:solidFill>
                <a:latin typeface="Ubuntu Mono"/>
              </a:rPr>
              <a:t>GeoTHERM.</a:t>
            </a:r>
          </a:p>
        </p:txBody>
      </p:sp>
      <p:sp>
        <p:nvSpPr>
          <p:cNvPr id="10" name="Rectangle 9"/>
          <p:cNvSpPr/>
          <p:nvPr/>
        </p:nvSpPr>
        <p:spPr>
          <a:xfrm>
            <a:off x="508000" y="296291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924810"/>
            <a:ext cx="6362700" cy="377190"/>
          </a:xfrm>
          <a:prstGeom prst="rect">
            <a:avLst/>
          </a:prstGeom>
          <a:noFill/>
        </p:spPr>
        <p:txBody>
          <a:bodyPr wrap="square" anchor="t" lIns="0" rIns="0" tIns="0" bIns="0">
            <a:spAutoFit/>
          </a:bodyPr>
          <a:lstStyle/>
          <a:p>
            <a:pPr algn="l">
              <a:lnSpc>
                <a:spcPts val="1430"/>
              </a:lnSpc>
              <a:spcAft>
                <a:spcPts val="550"/>
              </a:spcAft>
            </a:pPr>
            <a:r>
              <a:rPr sz="1100" b="0">
                <a:solidFill>
                  <a:srgbClr val="0B1B2E"/>
                </a:solidFill>
                <a:latin typeface="Ubuntu Mono"/>
              </a:rPr>
              <a:t>GEOFLUID, Piacenza (Italie), le 9 octobre : Luigi Liberatore représentait Enedril.</a:t>
            </a:r>
          </a:p>
        </p:txBody>
      </p:sp>
      <p:sp>
        <p:nvSpPr>
          <p:cNvPr id="12" name="Rectangle 11"/>
          <p:cNvSpPr/>
          <p:nvPr/>
        </p:nvSpPr>
        <p:spPr>
          <a:xfrm>
            <a:off x="508000" y="342773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89630"/>
            <a:ext cx="6362700" cy="188595"/>
          </a:xfrm>
          <a:prstGeom prst="rect">
            <a:avLst/>
          </a:prstGeom>
          <a:noFill/>
        </p:spPr>
        <p:txBody>
          <a:bodyPr wrap="square" anchor="t" lIns="0" rIns="0" tIns="0" bIns="0">
            <a:spAutoFit/>
          </a:bodyPr>
          <a:lstStyle/>
          <a:p>
            <a:pPr algn="l">
              <a:lnSpc>
                <a:spcPts val="1430"/>
              </a:lnSpc>
              <a:spcAft>
                <a:spcPts val="550"/>
              </a:spcAft>
            </a:pPr>
            <a:r>
              <a:rPr sz="1100" b="0">
                <a:solidFill>
                  <a:srgbClr val="0B1B2E"/>
                </a:solidFill>
                <a:latin typeface="Ubuntu Mono"/>
              </a:rPr>
              <a:t>ADIPEC, Abu Dhabi (Émirats arabes unis), du 2 au 5 novembre.</a:t>
            </a:r>
          </a:p>
        </p:txBody>
      </p:sp>
      <p:sp>
        <p:nvSpPr>
          <p:cNvPr id="14" name="Rectangle 13"/>
          <p:cNvSpPr/>
          <p:nvPr/>
        </p:nvSpPr>
        <p:spPr>
          <a:xfrm>
            <a:off x="508000" y="371094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672840"/>
            <a:ext cx="6362700" cy="188595"/>
          </a:xfrm>
          <a:prstGeom prst="rect">
            <a:avLst/>
          </a:prstGeom>
          <a:noFill/>
        </p:spPr>
        <p:txBody>
          <a:bodyPr wrap="square" anchor="t" lIns="0" rIns="0" tIns="0" bIns="0">
            <a:spAutoFit/>
          </a:bodyPr>
          <a:lstStyle/>
          <a:p>
            <a:pPr algn="l">
              <a:lnSpc>
                <a:spcPts val="1430"/>
              </a:lnSpc>
              <a:spcAft>
                <a:spcPts val="550"/>
              </a:spcAft>
            </a:pPr>
            <a:r>
              <a:rPr sz="1100" b="0">
                <a:solidFill>
                  <a:srgbClr val="0B1B2E"/>
                </a:solidFill>
                <a:latin typeface="Ubuntu Mono"/>
              </a:rPr>
              <a:t>Geodays.</a:t>
            </a:r>
          </a:p>
        </p:txBody>
      </p:sp>
      <p:sp>
        <p:nvSpPr>
          <p:cNvPr id="16" name="Rectangle 15"/>
          <p:cNvSpPr/>
          <p:nvPr/>
        </p:nvSpPr>
        <p:spPr>
          <a:xfrm>
            <a:off x="508000" y="399415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56050"/>
            <a:ext cx="6362700" cy="188595"/>
          </a:xfrm>
          <a:prstGeom prst="rect">
            <a:avLst/>
          </a:prstGeom>
          <a:noFill/>
        </p:spPr>
        <p:txBody>
          <a:bodyPr wrap="square" anchor="t" lIns="0" rIns="0" tIns="0" bIns="0">
            <a:spAutoFit/>
          </a:bodyPr>
          <a:lstStyle/>
          <a:p>
            <a:pPr algn="l">
              <a:lnSpc>
                <a:spcPts val="1430"/>
              </a:lnSpc>
              <a:spcAft>
                <a:spcPts val="550"/>
              </a:spcAft>
            </a:pPr>
            <a:r>
              <a:rPr sz="1100" b="0">
                <a:solidFill>
                  <a:srgbClr val="0B1B2E"/>
                </a:solidFill>
                <a:latin typeface="Ubuntu Mono"/>
              </a:rPr>
              <a:t>Accueil d'étudiants d'IFP Training sur nos installations.</a:t>
            </a:r>
          </a:p>
        </p:txBody>
      </p:sp>
      <p:sp>
        <p:nvSpPr>
          <p:cNvPr id="18" name="Rectangle 17"/>
          <p:cNvSpPr/>
          <p:nvPr/>
        </p:nvSpPr>
        <p:spPr>
          <a:xfrm>
            <a:off x="508000" y="5080000"/>
            <a:ext cx="2095500" cy="1524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4200" y="5080000"/>
            <a:ext cx="1943100" cy="1524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GeoTHERM</a:t>
            </a:r>
          </a:p>
        </p:txBody>
      </p:sp>
      <p:sp>
        <p:nvSpPr>
          <p:cNvPr id="20" name="Rectangle 19"/>
          <p:cNvSpPr/>
          <p:nvPr/>
        </p:nvSpPr>
        <p:spPr>
          <a:xfrm>
            <a:off x="2730500" y="5080000"/>
            <a:ext cx="2095500" cy="1524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06700" y="5080000"/>
            <a:ext cx="1943100" cy="1524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GEOFLUID</a:t>
            </a:r>
          </a:p>
        </p:txBody>
      </p:sp>
      <p:sp>
        <p:nvSpPr>
          <p:cNvPr id="22" name="Rectangle 21"/>
          <p:cNvSpPr/>
          <p:nvPr/>
        </p:nvSpPr>
        <p:spPr>
          <a:xfrm>
            <a:off x="4953000" y="5080000"/>
            <a:ext cx="2095500" cy="1524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5080000"/>
            <a:ext cx="1943100" cy="1524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ADIPEC</a:t>
            </a:r>
          </a:p>
        </p:txBody>
      </p:sp>
      <p:sp>
        <p:nvSpPr>
          <p:cNvPr id="24" name="TextBox 23"/>
          <p:cNvSpPr txBox="1"/>
          <p:nvPr/>
        </p:nvSpPr>
        <p:spPr>
          <a:xfrm>
            <a:off x="508000" y="6985000"/>
            <a:ext cx="6540500" cy="254000"/>
          </a:xfrm>
          <a:prstGeom prst="rect">
            <a:avLst/>
          </a:prstGeom>
          <a:noFill/>
        </p:spPr>
        <p:txBody>
          <a:bodyPr wrap="square" anchor="t" lIns="0" rIns="0" tIns="0" bIns="0">
            <a:spAutoFit/>
          </a:bodyPr>
          <a:lstStyle/>
          <a:p>
            <a:pPr algn="l">
              <a:spcAft>
                <a:spcPts val="750"/>
              </a:spcAft>
            </a:pPr>
            <a:r>
              <a:rPr sz="1500" b="1">
                <a:solidFill>
                  <a:srgbClr val="0A4FA0"/>
                </a:solidFill>
                <a:latin typeface="Ubuntu Mono"/>
              </a:rPr>
              <a:t>Côté LinkedIn</a:t>
            </a:r>
          </a:p>
        </p:txBody>
      </p:sp>
      <p:sp>
        <p:nvSpPr>
          <p:cNvPr id="25" name="Rectangle 24"/>
          <p:cNvSpPr/>
          <p:nvPr/>
        </p:nvSpPr>
        <p:spPr>
          <a:xfrm>
            <a:off x="508000" y="7289800"/>
            <a:ext cx="6540500" cy="381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8000" y="7493000"/>
            <a:ext cx="1549400" cy="10160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8000" y="7594600"/>
            <a:ext cx="15494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28" name="TextBox 27"/>
          <p:cNvSpPr txBox="1"/>
          <p:nvPr/>
        </p:nvSpPr>
        <p:spPr>
          <a:xfrm>
            <a:off x="584200" y="8128000"/>
            <a:ext cx="13970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posts</a:t>
            </a:r>
          </a:p>
        </p:txBody>
      </p:sp>
      <p:sp>
        <p:nvSpPr>
          <p:cNvPr id="29" name="Rectangle 28"/>
          <p:cNvSpPr/>
          <p:nvPr/>
        </p:nvSpPr>
        <p:spPr>
          <a:xfrm>
            <a:off x="2159000" y="7493000"/>
            <a:ext cx="1549400" cy="10160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159000" y="7594600"/>
            <a:ext cx="15494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31" name="TextBox 30"/>
          <p:cNvSpPr txBox="1"/>
          <p:nvPr/>
        </p:nvSpPr>
        <p:spPr>
          <a:xfrm>
            <a:off x="2235200" y="8128000"/>
            <a:ext cx="13970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abonnés gagnés</a:t>
            </a:r>
          </a:p>
        </p:txBody>
      </p:sp>
      <p:sp>
        <p:nvSpPr>
          <p:cNvPr id="32" name="Rectangle 31"/>
          <p:cNvSpPr/>
          <p:nvPr/>
        </p:nvSpPr>
        <p:spPr>
          <a:xfrm>
            <a:off x="3810000" y="7493000"/>
            <a:ext cx="1549400" cy="10160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810000" y="7594600"/>
            <a:ext cx="15494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34" name="TextBox 33"/>
          <p:cNvSpPr txBox="1"/>
          <p:nvPr/>
        </p:nvSpPr>
        <p:spPr>
          <a:xfrm>
            <a:off x="3886200" y="8128000"/>
            <a:ext cx="13970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abonnés au total</a:t>
            </a:r>
          </a:p>
        </p:txBody>
      </p:sp>
      <p:sp>
        <p:nvSpPr>
          <p:cNvPr id="35" name="Rectangle 34"/>
          <p:cNvSpPr/>
          <p:nvPr/>
        </p:nvSpPr>
        <p:spPr>
          <a:xfrm>
            <a:off x="5461000" y="7493000"/>
            <a:ext cx="1549400" cy="10160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61000" y="7594600"/>
            <a:ext cx="1549400" cy="381000"/>
          </a:xfrm>
          <a:prstGeom prst="rect">
            <a:avLst/>
          </a:prstGeom>
          <a:noFill/>
        </p:spPr>
        <p:txBody>
          <a:bodyPr wrap="square" anchor="t" lIns="0" rIns="0" tIns="0" bIns="0">
            <a:spAutoFit/>
          </a:bodyPr>
          <a:lstStyle/>
          <a:p>
            <a:pPr algn="ctr">
              <a:spcAft>
                <a:spcPts val="1100"/>
              </a:spcAft>
            </a:pPr>
            <a:r>
              <a:rPr sz="2200" b="1">
                <a:solidFill>
                  <a:srgbClr val="FFFFFF"/>
                </a:solidFill>
                <a:latin typeface="Ubuntu Mono"/>
              </a:rPr>
              <a:t>…</a:t>
            </a:r>
          </a:p>
        </p:txBody>
      </p:sp>
      <p:sp>
        <p:nvSpPr>
          <p:cNvPr id="37" name="TextBox 36"/>
          <p:cNvSpPr txBox="1"/>
          <p:nvPr/>
        </p:nvSpPr>
        <p:spPr>
          <a:xfrm>
            <a:off x="5537200" y="8128000"/>
            <a:ext cx="1397000" cy="330200"/>
          </a:xfrm>
          <a:prstGeom prst="rect">
            <a:avLst/>
          </a:prstGeom>
          <a:noFill/>
        </p:spPr>
        <p:txBody>
          <a:bodyPr wrap="square" anchor="t" lIns="0" rIns="0" tIns="0" bIns="0">
            <a:spAutoFit/>
          </a:bodyPr>
          <a:lstStyle/>
          <a:p>
            <a:pPr algn="ctr">
              <a:spcAft>
                <a:spcPts val="425"/>
              </a:spcAft>
            </a:pPr>
            <a:r>
              <a:rPr sz="850" b="0">
                <a:solidFill>
                  <a:srgbClr val="BEE1FA"/>
                </a:solidFill>
                <a:latin typeface="Ubuntu Mono"/>
              </a:rPr>
              <a:t>réactions vs 2025</a:t>
            </a:r>
          </a:p>
        </p:txBody>
      </p:sp>
      <p:sp>
        <p:nvSpPr>
          <p:cNvPr id="38" name="Rectangle 37"/>
          <p:cNvSpPr/>
          <p:nvPr/>
        </p:nvSpPr>
        <p:spPr>
          <a:xfrm>
            <a:off x="508000" y="8763000"/>
            <a:ext cx="6540500" cy="508000"/>
          </a:xfrm>
          <a:prstGeom prst="rect">
            <a:avLst/>
          </a:prstGeom>
          <a:solidFill>
            <a:srgbClr val="FFF3B0"/>
          </a:solidFill>
          <a:ln w="12700">
            <a:solidFill>
              <a:srgbClr val="C8A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4200" y="8763000"/>
            <a:ext cx="6388100" cy="508000"/>
          </a:xfrm>
          <a:prstGeom prst="rect">
            <a:avLst/>
          </a:prstGeom>
          <a:noFill/>
        </p:spPr>
        <p:txBody>
          <a:bodyPr wrap="square" anchor="ctr" lIns="0" rIns="0" tIns="0" bIns="0">
            <a:spAutoFit/>
          </a:bodyPr>
          <a:lstStyle/>
          <a:p>
            <a:pPr algn="ctr">
              <a:spcAft>
                <a:spcPts val="425"/>
              </a:spcAft>
            </a:pPr>
            <a:r>
              <a:rPr sz="850" b="1">
                <a:solidFill>
                  <a:srgbClr val="6E5000"/>
                </a:solidFill>
                <a:latin typeface="Ubuntu Mono"/>
              </a:rPr>
              <a:t>À COMPLÉTER : statistiques LinkedIn 2026, autres actions marketing (site, presse, vidéo…)</a:t>
            </a:r>
          </a:p>
        </p:txBody>
      </p:sp>
      <p:sp>
        <p:nvSpPr>
          <p:cNvPr id="40" name="TextBox 39"/>
          <p:cNvSpPr txBox="1"/>
          <p:nvPr/>
        </p:nvSpPr>
        <p:spPr>
          <a:xfrm>
            <a:off x="508000" y="10261600"/>
            <a:ext cx="3810000" cy="152400"/>
          </a:xfrm>
          <a:prstGeom prst="rect">
            <a:avLst/>
          </a:prstGeom>
          <a:noFill/>
        </p:spPr>
        <p:txBody>
          <a:bodyPr wrap="square" anchor="t" lIns="0" rIns="0" tIns="0" bIns="0">
            <a:spAutoFit/>
          </a:bodyPr>
          <a:lstStyle/>
          <a:p>
            <a:pPr algn="l">
              <a:spcAft>
                <a:spcPts val="400"/>
              </a:spcAft>
            </a:pPr>
            <a:r>
              <a:rPr sz="800" b="0">
                <a:solidFill>
                  <a:srgbClr val="5A6B7F"/>
                </a:solidFill>
                <a:latin typeface="Ubuntu Mono"/>
              </a:rPr>
              <a:t>Enedril · Rétrospective 2026</a:t>
            </a:r>
          </a:p>
        </p:txBody>
      </p:sp>
      <p:sp>
        <p:nvSpPr>
          <p:cNvPr id="41" name="TextBox 40"/>
          <p:cNvSpPr txBox="1"/>
          <p:nvPr/>
        </p:nvSpPr>
        <p:spPr>
          <a:xfrm>
            <a:off x="6540500" y="10261600"/>
            <a:ext cx="508000" cy="152400"/>
          </a:xfrm>
          <a:prstGeom prst="rect">
            <a:avLst/>
          </a:prstGeom>
          <a:noFill/>
        </p:spPr>
        <p:txBody>
          <a:bodyPr wrap="square" anchor="t" lIns="0" rIns="0" tIns="0" bIns="0">
            <a:spAutoFit/>
          </a:bodyPr>
          <a:lstStyle/>
          <a:p>
            <a:pPr algn="r">
              <a:spcAft>
                <a:spcPts val="400"/>
              </a:spcAft>
            </a:pPr>
            <a:r>
              <a:rPr sz="800" b="0">
                <a:solidFill>
                  <a:srgbClr val="5A6B7F"/>
                </a:solidFill>
                <a:latin typeface="Ubuntu Mono"/>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431800"/>
            <a:ext cx="6540500" cy="431800"/>
          </a:xfrm>
          <a:prstGeom prst="rect">
            <a:avLst/>
          </a:prstGeom>
          <a:noFill/>
        </p:spPr>
        <p:txBody>
          <a:bodyPr wrap="square" anchor="t" lIns="0" rIns="0" tIns="0" bIns="0">
            <a:spAutoFit/>
          </a:bodyPr>
          <a:lstStyle/>
          <a:p>
            <a:pPr algn="l">
              <a:spcAft>
                <a:spcPts val="1200"/>
              </a:spcAft>
            </a:pPr>
            <a:r>
              <a:rPr sz="2400" b="1">
                <a:solidFill>
                  <a:srgbClr val="0A4FA0"/>
                </a:solidFill>
                <a:latin typeface="Ubuntu Mono"/>
              </a:rPr>
              <a:t>ENGAGEMENTS SOLIDAIRES</a:t>
            </a:r>
          </a:p>
        </p:txBody>
      </p:sp>
      <p:sp>
        <p:nvSpPr>
          <p:cNvPr id="4" name="Rectangle 3"/>
          <p:cNvSpPr/>
          <p:nvPr/>
        </p:nvSpPr>
        <p:spPr>
          <a:xfrm>
            <a:off x="508000" y="889000"/>
            <a:ext cx="6540500" cy="50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43510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397000"/>
            <a:ext cx="6362700" cy="205740"/>
          </a:xfrm>
          <a:prstGeom prst="rect">
            <a:avLst/>
          </a:prstGeom>
          <a:noFill/>
        </p:spPr>
        <p:txBody>
          <a:bodyPr wrap="square" anchor="t" lIns="0" rIns="0" tIns="0" bIns="0">
            <a:spAutoFit/>
          </a:bodyPr>
          <a:lstStyle/>
          <a:p>
            <a:pPr algn="l">
              <a:lnSpc>
                <a:spcPts val="1560"/>
              </a:lnSpc>
              <a:spcAft>
                <a:spcPts val="600"/>
              </a:spcAft>
            </a:pPr>
            <a:r>
              <a:rPr sz="1200" b="0">
                <a:solidFill>
                  <a:srgbClr val="0B1B2E"/>
                </a:solidFill>
                <a:latin typeface="Ubuntu Mono"/>
              </a:rPr>
              <a:t>Octobre rose : mobilisation de l'équipe.</a:t>
            </a:r>
          </a:p>
        </p:txBody>
      </p:sp>
      <p:sp>
        <p:nvSpPr>
          <p:cNvPr id="7" name="Rectangle 6"/>
          <p:cNvSpPr/>
          <p:nvPr/>
        </p:nvSpPr>
        <p:spPr>
          <a:xfrm>
            <a:off x="508000" y="178562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47520"/>
            <a:ext cx="6362700" cy="205740"/>
          </a:xfrm>
          <a:prstGeom prst="rect">
            <a:avLst/>
          </a:prstGeom>
          <a:noFill/>
        </p:spPr>
        <p:txBody>
          <a:bodyPr wrap="square" anchor="t" lIns="0" rIns="0" tIns="0" bIns="0">
            <a:spAutoFit/>
          </a:bodyPr>
          <a:lstStyle/>
          <a:p>
            <a:pPr algn="l">
              <a:lnSpc>
                <a:spcPts val="1560"/>
              </a:lnSpc>
              <a:spcAft>
                <a:spcPts val="600"/>
              </a:spcAft>
            </a:pPr>
            <a:r>
              <a:rPr sz="1200" b="0">
                <a:solidFill>
                  <a:srgbClr val="0B1B2E"/>
                </a:solidFill>
                <a:latin typeface="Ubuntu Mono"/>
              </a:rPr>
              <a:t>Movember : sensibilisation à la santé masculine.</a:t>
            </a:r>
          </a:p>
        </p:txBody>
      </p:sp>
      <p:sp>
        <p:nvSpPr>
          <p:cNvPr id="9" name="Rectangle 8"/>
          <p:cNvSpPr/>
          <p:nvPr/>
        </p:nvSpPr>
        <p:spPr>
          <a:xfrm>
            <a:off x="508000" y="2136140"/>
            <a:ext cx="76200" cy="762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98040"/>
            <a:ext cx="6362700" cy="411480"/>
          </a:xfrm>
          <a:prstGeom prst="rect">
            <a:avLst/>
          </a:prstGeom>
          <a:noFill/>
        </p:spPr>
        <p:txBody>
          <a:bodyPr wrap="square" anchor="t" lIns="0" rIns="0" tIns="0" bIns="0">
            <a:spAutoFit/>
          </a:bodyPr>
          <a:lstStyle/>
          <a:p>
            <a:pPr algn="l">
              <a:lnSpc>
                <a:spcPts val="1560"/>
              </a:lnSpc>
              <a:spcAft>
                <a:spcPts val="600"/>
              </a:spcAft>
            </a:pPr>
            <a:r>
              <a:rPr sz="1200" b="0">
                <a:solidFill>
                  <a:srgbClr val="0B1B2E"/>
                </a:solidFill>
                <a:latin typeface="Ubuntu Mono"/>
              </a:rPr>
              <a:t>Collecte de jouets : collecte interne pour l'initiative « Le Père Noël fait de la récup' ».</a:t>
            </a:r>
          </a:p>
        </p:txBody>
      </p:sp>
      <p:sp>
        <p:nvSpPr>
          <p:cNvPr id="11" name="Rectangle 10"/>
          <p:cNvSpPr/>
          <p:nvPr/>
        </p:nvSpPr>
        <p:spPr>
          <a:xfrm>
            <a:off x="508000" y="3302000"/>
            <a:ext cx="6540500" cy="508000"/>
          </a:xfrm>
          <a:prstGeom prst="rect">
            <a:avLst/>
          </a:prstGeom>
          <a:solidFill>
            <a:srgbClr val="FFF3B0"/>
          </a:solidFill>
          <a:ln w="12700">
            <a:solidFill>
              <a:srgbClr val="C8A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4200" y="3302000"/>
            <a:ext cx="6388100" cy="508000"/>
          </a:xfrm>
          <a:prstGeom prst="rect">
            <a:avLst/>
          </a:prstGeom>
          <a:noFill/>
        </p:spPr>
        <p:txBody>
          <a:bodyPr wrap="square" anchor="ctr" lIns="0" rIns="0" tIns="0" bIns="0">
            <a:spAutoFit/>
          </a:bodyPr>
          <a:lstStyle/>
          <a:p>
            <a:pPr algn="ctr">
              <a:spcAft>
                <a:spcPts val="425"/>
              </a:spcAft>
            </a:pPr>
            <a:r>
              <a:rPr sz="850" b="1">
                <a:solidFill>
                  <a:srgbClr val="6E5000"/>
                </a:solidFill>
                <a:latin typeface="Ubuntu Mono"/>
              </a:rPr>
              <a:t>À COMPLÉTER : montants collectés, nombre de jouets, associations bénéficiaires</a:t>
            </a:r>
          </a:p>
        </p:txBody>
      </p:sp>
      <p:sp>
        <p:nvSpPr>
          <p:cNvPr id="13" name="Rectangle 12"/>
          <p:cNvSpPr/>
          <p:nvPr/>
        </p:nvSpPr>
        <p:spPr>
          <a:xfrm>
            <a:off x="508000" y="4191000"/>
            <a:ext cx="3175000" cy="2540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200" y="4191000"/>
            <a:ext cx="3022600" cy="2540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Octobre rose</a:t>
            </a:r>
          </a:p>
        </p:txBody>
      </p:sp>
      <p:sp>
        <p:nvSpPr>
          <p:cNvPr id="15" name="Rectangle 14"/>
          <p:cNvSpPr/>
          <p:nvPr/>
        </p:nvSpPr>
        <p:spPr>
          <a:xfrm>
            <a:off x="3873500" y="4191000"/>
            <a:ext cx="3175000" cy="2540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49700" y="4191000"/>
            <a:ext cx="3022600" cy="2540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Movember</a:t>
            </a:r>
          </a:p>
        </p:txBody>
      </p:sp>
      <p:sp>
        <p:nvSpPr>
          <p:cNvPr id="17" name="Rectangle 16"/>
          <p:cNvSpPr/>
          <p:nvPr/>
        </p:nvSpPr>
        <p:spPr>
          <a:xfrm>
            <a:off x="508000" y="6921500"/>
            <a:ext cx="6540500" cy="27940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4200" y="6921500"/>
            <a:ext cx="6388100" cy="27940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collecte de jouets</a:t>
            </a:r>
          </a:p>
        </p:txBody>
      </p:sp>
      <p:sp>
        <p:nvSpPr>
          <p:cNvPr id="19" name="TextBox 18"/>
          <p:cNvSpPr txBox="1"/>
          <p:nvPr/>
        </p:nvSpPr>
        <p:spPr>
          <a:xfrm>
            <a:off x="508000" y="10261600"/>
            <a:ext cx="3810000" cy="152400"/>
          </a:xfrm>
          <a:prstGeom prst="rect">
            <a:avLst/>
          </a:prstGeom>
          <a:noFill/>
        </p:spPr>
        <p:txBody>
          <a:bodyPr wrap="square" anchor="t" lIns="0" rIns="0" tIns="0" bIns="0">
            <a:spAutoFit/>
          </a:bodyPr>
          <a:lstStyle/>
          <a:p>
            <a:pPr algn="l">
              <a:spcAft>
                <a:spcPts val="400"/>
              </a:spcAft>
            </a:pPr>
            <a:r>
              <a:rPr sz="800" b="0">
                <a:solidFill>
                  <a:srgbClr val="5A6B7F"/>
                </a:solidFill>
                <a:latin typeface="Ubuntu Mono"/>
              </a:rPr>
              <a:t>Enedril · Rétrospective 2026</a:t>
            </a:r>
          </a:p>
        </p:txBody>
      </p:sp>
      <p:sp>
        <p:nvSpPr>
          <p:cNvPr id="20" name="TextBox 19"/>
          <p:cNvSpPr txBox="1"/>
          <p:nvPr/>
        </p:nvSpPr>
        <p:spPr>
          <a:xfrm>
            <a:off x="6540500" y="10261600"/>
            <a:ext cx="508000" cy="152400"/>
          </a:xfrm>
          <a:prstGeom prst="rect">
            <a:avLst/>
          </a:prstGeom>
          <a:noFill/>
        </p:spPr>
        <p:txBody>
          <a:bodyPr wrap="square" anchor="t" lIns="0" rIns="0" tIns="0" bIns="0">
            <a:spAutoFit/>
          </a:bodyPr>
          <a:lstStyle/>
          <a:p>
            <a:pPr algn="r">
              <a:spcAft>
                <a:spcPts val="400"/>
              </a:spcAft>
            </a:pPr>
            <a:r>
              <a:rPr sz="800" b="0">
                <a:solidFill>
                  <a:srgbClr val="5A6B7F"/>
                </a:solidFill>
                <a:latin typeface="Ubuntu Mon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431800"/>
            <a:ext cx="6540500" cy="431800"/>
          </a:xfrm>
          <a:prstGeom prst="rect">
            <a:avLst/>
          </a:prstGeom>
          <a:noFill/>
        </p:spPr>
        <p:txBody>
          <a:bodyPr wrap="square" anchor="t" lIns="0" rIns="0" tIns="0" bIns="0">
            <a:spAutoFit/>
          </a:bodyPr>
          <a:lstStyle/>
          <a:p>
            <a:pPr algn="l">
              <a:spcAft>
                <a:spcPts val="1200"/>
              </a:spcAft>
            </a:pPr>
            <a:r>
              <a:rPr sz="2400" b="1">
                <a:solidFill>
                  <a:srgbClr val="0A4FA0"/>
                </a:solidFill>
                <a:latin typeface="Ubuntu Mono"/>
              </a:rPr>
              <a:t>GALERIE PHOTOS</a:t>
            </a:r>
          </a:p>
        </p:txBody>
      </p:sp>
      <p:sp>
        <p:nvSpPr>
          <p:cNvPr id="4" name="Rectangle 3"/>
          <p:cNvSpPr/>
          <p:nvPr/>
        </p:nvSpPr>
        <p:spPr>
          <a:xfrm>
            <a:off x="508000" y="889000"/>
            <a:ext cx="6540500" cy="50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70000"/>
            <a:ext cx="3238500" cy="19685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4200" y="1270000"/>
            <a:ext cx="3086100" cy="19685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à insérer (chantier, atelier, équipe)</a:t>
            </a:r>
          </a:p>
        </p:txBody>
      </p:sp>
      <p:sp>
        <p:nvSpPr>
          <p:cNvPr id="7" name="Rectangle 6"/>
          <p:cNvSpPr/>
          <p:nvPr/>
        </p:nvSpPr>
        <p:spPr>
          <a:xfrm>
            <a:off x="3810000" y="1270000"/>
            <a:ext cx="3238500" cy="19685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1270000"/>
            <a:ext cx="3086100" cy="19685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à insérer (chantier, atelier, équipe)</a:t>
            </a:r>
          </a:p>
        </p:txBody>
      </p:sp>
      <p:sp>
        <p:nvSpPr>
          <p:cNvPr id="9" name="Rectangle 8"/>
          <p:cNvSpPr/>
          <p:nvPr/>
        </p:nvSpPr>
        <p:spPr>
          <a:xfrm>
            <a:off x="508000" y="3365500"/>
            <a:ext cx="3238500" cy="19685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4200" y="3365500"/>
            <a:ext cx="3086100" cy="19685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à insérer (chantier, atelier, équipe)</a:t>
            </a:r>
          </a:p>
        </p:txBody>
      </p:sp>
      <p:sp>
        <p:nvSpPr>
          <p:cNvPr id="11" name="Rectangle 10"/>
          <p:cNvSpPr/>
          <p:nvPr/>
        </p:nvSpPr>
        <p:spPr>
          <a:xfrm>
            <a:off x="3810000" y="3365500"/>
            <a:ext cx="3238500" cy="19685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86200" y="3365500"/>
            <a:ext cx="3086100" cy="19685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à insérer (chantier, atelier, équipe)</a:t>
            </a:r>
          </a:p>
        </p:txBody>
      </p:sp>
      <p:sp>
        <p:nvSpPr>
          <p:cNvPr id="13" name="Rectangle 12"/>
          <p:cNvSpPr/>
          <p:nvPr/>
        </p:nvSpPr>
        <p:spPr>
          <a:xfrm>
            <a:off x="508000" y="5461000"/>
            <a:ext cx="3238500" cy="19685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200" y="5461000"/>
            <a:ext cx="3086100" cy="19685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à insérer (chantier, atelier, équipe)</a:t>
            </a:r>
          </a:p>
        </p:txBody>
      </p:sp>
      <p:sp>
        <p:nvSpPr>
          <p:cNvPr id="15" name="Rectangle 14"/>
          <p:cNvSpPr/>
          <p:nvPr/>
        </p:nvSpPr>
        <p:spPr>
          <a:xfrm>
            <a:off x="3810000" y="5461000"/>
            <a:ext cx="3238500" cy="19685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5461000"/>
            <a:ext cx="3086100" cy="19685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à insérer (chantier, atelier, équipe)</a:t>
            </a:r>
          </a:p>
        </p:txBody>
      </p:sp>
      <p:sp>
        <p:nvSpPr>
          <p:cNvPr id="17" name="Rectangle 16"/>
          <p:cNvSpPr/>
          <p:nvPr/>
        </p:nvSpPr>
        <p:spPr>
          <a:xfrm>
            <a:off x="508000" y="7556500"/>
            <a:ext cx="3238500" cy="19685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4200" y="7556500"/>
            <a:ext cx="3086100" cy="19685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à insérer (chantier, atelier, équipe)</a:t>
            </a:r>
          </a:p>
        </p:txBody>
      </p:sp>
      <p:sp>
        <p:nvSpPr>
          <p:cNvPr id="19" name="Rectangle 18"/>
          <p:cNvSpPr/>
          <p:nvPr/>
        </p:nvSpPr>
        <p:spPr>
          <a:xfrm>
            <a:off x="3810000" y="7556500"/>
            <a:ext cx="3238500" cy="1968500"/>
          </a:xfrm>
          <a:prstGeom prst="rect">
            <a:avLst/>
          </a:prstGeom>
          <a:solidFill>
            <a:srgbClr val="EEF2F7"/>
          </a:solidFill>
          <a:ln w="12700">
            <a:solidFill>
              <a:srgbClr val="96AAB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7556500"/>
            <a:ext cx="3086100" cy="1968500"/>
          </a:xfrm>
          <a:prstGeom prst="rect">
            <a:avLst/>
          </a:prstGeom>
          <a:noFill/>
        </p:spPr>
        <p:txBody>
          <a:bodyPr wrap="square" anchor="ctr" lIns="0" rIns="0" tIns="0" bIns="0">
            <a:spAutoFit/>
          </a:bodyPr>
          <a:lstStyle/>
          <a:p>
            <a:pPr algn="ctr">
              <a:spcAft>
                <a:spcPts val="425"/>
              </a:spcAft>
            </a:pPr>
            <a:r>
              <a:rPr sz="850" b="0">
                <a:solidFill>
                  <a:srgbClr val="5A6B7F"/>
                </a:solidFill>
                <a:latin typeface="Ubuntu Mono"/>
              </a:rPr>
              <a:t>PHOTO : à insérer (chantier, atelier, équipe)</a:t>
            </a:r>
          </a:p>
        </p:txBody>
      </p:sp>
      <p:sp>
        <p:nvSpPr>
          <p:cNvPr id="21" name="TextBox 20"/>
          <p:cNvSpPr txBox="1"/>
          <p:nvPr/>
        </p:nvSpPr>
        <p:spPr>
          <a:xfrm>
            <a:off x="508000" y="10261600"/>
            <a:ext cx="3810000" cy="152400"/>
          </a:xfrm>
          <a:prstGeom prst="rect">
            <a:avLst/>
          </a:prstGeom>
          <a:noFill/>
        </p:spPr>
        <p:txBody>
          <a:bodyPr wrap="square" anchor="t" lIns="0" rIns="0" tIns="0" bIns="0">
            <a:spAutoFit/>
          </a:bodyPr>
          <a:lstStyle/>
          <a:p>
            <a:pPr algn="l">
              <a:spcAft>
                <a:spcPts val="400"/>
              </a:spcAft>
            </a:pPr>
            <a:r>
              <a:rPr sz="800" b="0">
                <a:solidFill>
                  <a:srgbClr val="5A6B7F"/>
                </a:solidFill>
                <a:latin typeface="Ubuntu Mono"/>
              </a:rPr>
              <a:t>Enedril · Rétrospective 2026</a:t>
            </a:r>
          </a:p>
        </p:txBody>
      </p:sp>
      <p:sp>
        <p:nvSpPr>
          <p:cNvPr id="22" name="TextBox 21"/>
          <p:cNvSpPr txBox="1"/>
          <p:nvPr/>
        </p:nvSpPr>
        <p:spPr>
          <a:xfrm>
            <a:off x="6540500" y="10261600"/>
            <a:ext cx="508000" cy="152400"/>
          </a:xfrm>
          <a:prstGeom prst="rect">
            <a:avLst/>
          </a:prstGeom>
          <a:noFill/>
        </p:spPr>
        <p:txBody>
          <a:bodyPr wrap="square" anchor="t" lIns="0" rIns="0" tIns="0" bIns="0">
            <a:spAutoFit/>
          </a:bodyPr>
          <a:lstStyle/>
          <a:p>
            <a:pPr algn="r">
              <a:spcAft>
                <a:spcPts val="400"/>
              </a:spcAft>
            </a:pPr>
            <a:r>
              <a:rPr sz="800" b="0">
                <a:solidFill>
                  <a:srgbClr val="5A6B7F"/>
                </a:solidFill>
                <a:latin typeface="Ubuntu Mon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431800"/>
            <a:ext cx="6540500" cy="431800"/>
          </a:xfrm>
          <a:prstGeom prst="rect">
            <a:avLst/>
          </a:prstGeom>
          <a:noFill/>
        </p:spPr>
        <p:txBody>
          <a:bodyPr wrap="square" anchor="t" lIns="0" rIns="0" tIns="0" bIns="0">
            <a:spAutoFit/>
          </a:bodyPr>
          <a:lstStyle/>
          <a:p>
            <a:pPr algn="l">
              <a:spcAft>
                <a:spcPts val="1200"/>
              </a:spcAft>
            </a:pPr>
            <a:r>
              <a:rPr sz="2400" b="1">
                <a:solidFill>
                  <a:srgbClr val="0A4FA0"/>
                </a:solidFill>
                <a:latin typeface="Ubuntu Mono"/>
              </a:rPr>
              <a:t>LES JEUX</a:t>
            </a:r>
          </a:p>
        </p:txBody>
      </p:sp>
      <p:sp>
        <p:nvSpPr>
          <p:cNvPr id="4" name="Rectangle 3"/>
          <p:cNvSpPr/>
          <p:nvPr/>
        </p:nvSpPr>
        <p:spPr>
          <a:xfrm>
            <a:off x="508000" y="889000"/>
            <a:ext cx="6540500" cy="50800"/>
          </a:xfrm>
          <a:prstGeom prst="rect">
            <a:avLst/>
          </a:prstGeom>
          <a:solidFill>
            <a:srgbClr val="1CB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8000" y="1270000"/>
            <a:ext cx="6540500" cy="228600"/>
          </a:xfrm>
          <a:prstGeom prst="rect">
            <a:avLst/>
          </a:prstGeom>
          <a:noFill/>
        </p:spPr>
        <p:txBody>
          <a:bodyPr wrap="square" anchor="t" lIns="0" rIns="0" tIns="0" bIns="0">
            <a:spAutoFit/>
          </a:bodyPr>
          <a:lstStyle/>
          <a:p>
            <a:pPr algn="l">
              <a:spcAft>
                <a:spcPts val="650"/>
              </a:spcAft>
            </a:pPr>
            <a:r>
              <a:rPr sz="1300" b="1">
                <a:solidFill>
                  <a:srgbClr val="0A4FA0"/>
                </a:solidFill>
                <a:latin typeface="Ubuntu Mono"/>
              </a:rPr>
              <a:t>Mots codés (A=1, B=2…)</a:t>
            </a:r>
          </a:p>
        </p:txBody>
      </p:sp>
      <p:sp>
        <p:nvSpPr>
          <p:cNvPr id="6" name="TextBox 5"/>
          <p:cNvSpPr txBox="1"/>
          <p:nvPr/>
        </p:nvSpPr>
        <p:spPr>
          <a:xfrm>
            <a:off x="508000" y="16256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6-15-18-1-7-5 : ....................</a:t>
            </a:r>
          </a:p>
        </p:txBody>
      </p:sp>
      <p:sp>
        <p:nvSpPr>
          <p:cNvPr id="7" name="TextBox 6"/>
          <p:cNvSpPr txBox="1"/>
          <p:nvPr/>
        </p:nvSpPr>
        <p:spPr>
          <a:xfrm>
            <a:off x="508000" y="19050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7-5-15-20-8-5-18-13-9-5 : ....................</a:t>
            </a:r>
          </a:p>
        </p:txBody>
      </p:sp>
      <p:sp>
        <p:nvSpPr>
          <p:cNvPr id="8" name="TextBox 7"/>
          <p:cNvSpPr txBox="1"/>
          <p:nvPr/>
        </p:nvSpPr>
        <p:spPr>
          <a:xfrm>
            <a:off x="508000" y="21844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20-18-5-16-1-14 : ....................</a:t>
            </a:r>
          </a:p>
        </p:txBody>
      </p:sp>
      <p:sp>
        <p:nvSpPr>
          <p:cNvPr id="9" name="TextBox 8"/>
          <p:cNvSpPr txBox="1"/>
          <p:nvPr/>
        </p:nvSpPr>
        <p:spPr>
          <a:xfrm>
            <a:off x="508000" y="24638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6-9-19-8-9-14-7 : ....................</a:t>
            </a:r>
          </a:p>
        </p:txBody>
      </p:sp>
      <p:sp>
        <p:nvSpPr>
          <p:cNvPr id="10" name="TextBox 9"/>
          <p:cNvSpPr txBox="1"/>
          <p:nvPr/>
        </p:nvSpPr>
        <p:spPr>
          <a:xfrm>
            <a:off x="508000" y="27432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13-23-4 : ....................</a:t>
            </a:r>
          </a:p>
        </p:txBody>
      </p:sp>
      <p:sp>
        <p:nvSpPr>
          <p:cNvPr id="11" name="TextBox 10"/>
          <p:cNvSpPr txBox="1"/>
          <p:nvPr/>
        </p:nvSpPr>
        <p:spPr>
          <a:xfrm>
            <a:off x="508000" y="30226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5-14-5-4-18-9-12 : ....................</a:t>
            </a:r>
          </a:p>
        </p:txBody>
      </p:sp>
      <p:sp>
        <p:nvSpPr>
          <p:cNvPr id="12" name="TextBox 11"/>
          <p:cNvSpPr txBox="1"/>
          <p:nvPr/>
        </p:nvSpPr>
        <p:spPr>
          <a:xfrm>
            <a:off x="508000" y="3492500"/>
            <a:ext cx="6540500" cy="228600"/>
          </a:xfrm>
          <a:prstGeom prst="rect">
            <a:avLst/>
          </a:prstGeom>
          <a:noFill/>
        </p:spPr>
        <p:txBody>
          <a:bodyPr wrap="square" anchor="t" lIns="0" rIns="0" tIns="0" bIns="0">
            <a:spAutoFit/>
          </a:bodyPr>
          <a:lstStyle/>
          <a:p>
            <a:pPr algn="l">
              <a:spcAft>
                <a:spcPts val="650"/>
              </a:spcAft>
            </a:pPr>
            <a:r>
              <a:rPr sz="1300" b="1">
                <a:solidFill>
                  <a:srgbClr val="0A4FA0"/>
                </a:solidFill>
                <a:latin typeface="Ubuntu Mono"/>
              </a:rPr>
              <a:t>Anagrammes</a:t>
            </a:r>
          </a:p>
        </p:txBody>
      </p:sp>
      <p:sp>
        <p:nvSpPr>
          <p:cNvPr id="13" name="TextBox 12"/>
          <p:cNvSpPr txBox="1"/>
          <p:nvPr/>
        </p:nvSpPr>
        <p:spPr>
          <a:xfrm>
            <a:off x="508000" y="38481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GEBUTA : ....................</a:t>
            </a:r>
          </a:p>
        </p:txBody>
      </p:sp>
      <p:sp>
        <p:nvSpPr>
          <p:cNvPr id="14" name="TextBox 13"/>
          <p:cNvSpPr txBox="1"/>
          <p:nvPr/>
        </p:nvSpPr>
        <p:spPr>
          <a:xfrm>
            <a:off x="508000" y="41275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DOSNAGE : ....................</a:t>
            </a:r>
          </a:p>
        </p:txBody>
      </p:sp>
      <p:sp>
        <p:nvSpPr>
          <p:cNvPr id="15" name="TextBox 14"/>
          <p:cNvSpPr txBox="1"/>
          <p:nvPr/>
        </p:nvSpPr>
        <p:spPr>
          <a:xfrm>
            <a:off x="508000" y="44069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MPEPO : ....................</a:t>
            </a:r>
          </a:p>
        </p:txBody>
      </p:sp>
      <p:sp>
        <p:nvSpPr>
          <p:cNvPr id="16" name="TextBox 15"/>
          <p:cNvSpPr txBox="1"/>
          <p:nvPr/>
        </p:nvSpPr>
        <p:spPr>
          <a:xfrm>
            <a:off x="508000" y="46863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TIPUS : ....................</a:t>
            </a:r>
          </a:p>
        </p:txBody>
      </p:sp>
      <p:sp>
        <p:nvSpPr>
          <p:cNvPr id="17" name="TextBox 16"/>
          <p:cNvSpPr txBox="1"/>
          <p:nvPr/>
        </p:nvSpPr>
        <p:spPr>
          <a:xfrm>
            <a:off x="508000" y="49657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GENEIRE : ....................</a:t>
            </a:r>
          </a:p>
        </p:txBody>
      </p:sp>
      <p:sp>
        <p:nvSpPr>
          <p:cNvPr id="18" name="TextBox 17"/>
          <p:cNvSpPr txBox="1"/>
          <p:nvPr/>
        </p:nvSpPr>
        <p:spPr>
          <a:xfrm>
            <a:off x="508000" y="5245100"/>
            <a:ext cx="6540500" cy="228600"/>
          </a:xfrm>
          <a:prstGeom prst="rect">
            <a:avLst/>
          </a:prstGeom>
          <a:noFill/>
        </p:spPr>
        <p:txBody>
          <a:bodyPr wrap="square" anchor="t" lIns="0" rIns="0" tIns="0" bIns="0">
            <a:spAutoFit/>
          </a:bodyPr>
          <a:lstStyle/>
          <a:p>
            <a:pPr algn="l">
              <a:spcAft>
                <a:spcPts val="550"/>
              </a:spcAft>
            </a:pPr>
            <a:r>
              <a:rPr sz="1100" b="0">
                <a:solidFill>
                  <a:srgbClr val="0B1B2E"/>
                </a:solidFill>
                <a:latin typeface="Ubuntu Mono"/>
              </a:rPr>
              <a:t>TAGEZET : ....................</a:t>
            </a:r>
          </a:p>
        </p:txBody>
      </p:sp>
      <p:sp>
        <p:nvSpPr>
          <p:cNvPr id="19" name="TextBox 18"/>
          <p:cNvSpPr txBox="1"/>
          <p:nvPr/>
        </p:nvSpPr>
        <p:spPr>
          <a:xfrm>
            <a:off x="508000" y="5715000"/>
            <a:ext cx="6540500" cy="228600"/>
          </a:xfrm>
          <a:prstGeom prst="rect">
            <a:avLst/>
          </a:prstGeom>
          <a:noFill/>
        </p:spPr>
        <p:txBody>
          <a:bodyPr wrap="square" anchor="t" lIns="0" rIns="0" tIns="0" bIns="0">
            <a:spAutoFit/>
          </a:bodyPr>
          <a:lstStyle/>
          <a:p>
            <a:pPr algn="l">
              <a:spcAft>
                <a:spcPts val="650"/>
              </a:spcAft>
            </a:pPr>
            <a:r>
              <a:rPr sz="1300" b="1">
                <a:solidFill>
                  <a:srgbClr val="0A4FA0"/>
                </a:solidFill>
                <a:latin typeface="Ubuntu Mono"/>
              </a:rPr>
              <a:t>Devinette</a:t>
            </a:r>
          </a:p>
        </p:txBody>
      </p:sp>
      <p:sp>
        <p:nvSpPr>
          <p:cNvPr id="20" name="TextBox 19"/>
          <p:cNvSpPr txBox="1"/>
          <p:nvPr/>
        </p:nvSpPr>
        <p:spPr>
          <a:xfrm>
            <a:off x="508000" y="6045200"/>
            <a:ext cx="6540500" cy="1524000"/>
          </a:xfrm>
          <a:prstGeom prst="rect">
            <a:avLst/>
          </a:prstGeom>
          <a:noFill/>
        </p:spPr>
        <p:txBody>
          <a:bodyPr wrap="square" anchor="t" lIns="0" rIns="0" tIns="0" bIns="0">
            <a:spAutoFit/>
          </a:bodyPr>
          <a:lstStyle/>
          <a:p>
            <a:pPr algn="l">
              <a:lnSpc>
                <a:spcPts val="1500"/>
              </a:lnSpc>
              <a:spcAft>
                <a:spcPts val="550"/>
              </a:spcAft>
            </a:pPr>
            <a:r>
              <a:rPr sz="1100" b="0">
                <a:solidFill>
                  <a:srgbClr val="0B1B2E"/>
                </a:solidFill>
                <a:latin typeface="Ubuntu Mono"/>
              </a:rPr>
              <a:t>Je descends sous terre, je tourne sans cesse, je mords la roche et je ne m'arrête jamais avant d'avoir atteint le fond. Qui suis-je ?</a:t>
            </a:r>
          </a:p>
          <a:p>
            <a:pPr algn="l">
              <a:lnSpc>
                <a:spcPts val="1500"/>
              </a:lnSpc>
              <a:spcAft>
                <a:spcPts val="550"/>
              </a:spcAft>
            </a:pPr>
            <a:r>
              <a:rPr sz="1100" b="0">
                <a:solidFill>
                  <a:srgbClr val="0B1B2E"/>
                </a:solidFill>
                <a:latin typeface="Ubuntu Mono"/>
              </a:rPr>
              <a:t>Quelle est la ville du siège d'Enedril ? Indice : elle est à côté de Pau.</a:t>
            </a:r>
          </a:p>
        </p:txBody>
      </p:sp>
      <p:sp>
        <p:nvSpPr>
          <p:cNvPr id="21" name="Rectangle 20"/>
          <p:cNvSpPr/>
          <p:nvPr/>
        </p:nvSpPr>
        <p:spPr>
          <a:xfrm>
            <a:off x="508000" y="8128000"/>
            <a:ext cx="6540500" cy="1270000"/>
          </a:xfrm>
          <a:prstGeom prst="rect">
            <a:avLst/>
          </a:prstGeom>
          <a:solidFill>
            <a:srgbClr val="EA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0400" y="8229600"/>
            <a:ext cx="6223000" cy="203200"/>
          </a:xfrm>
          <a:prstGeom prst="rect">
            <a:avLst/>
          </a:prstGeom>
          <a:noFill/>
        </p:spPr>
        <p:txBody>
          <a:bodyPr wrap="square" anchor="t" lIns="0" rIns="0" tIns="0" bIns="0">
            <a:spAutoFit/>
          </a:bodyPr>
          <a:lstStyle/>
          <a:p>
            <a:pPr algn="l">
              <a:spcAft>
                <a:spcPts val="550"/>
              </a:spcAft>
            </a:pPr>
            <a:r>
              <a:rPr sz="1100" b="1">
                <a:solidFill>
                  <a:srgbClr val="0A4FA0"/>
                </a:solidFill>
                <a:latin typeface="Ubuntu Mono"/>
              </a:rPr>
              <a:t>Solutions</a:t>
            </a:r>
          </a:p>
        </p:txBody>
      </p:sp>
      <p:sp>
        <p:nvSpPr>
          <p:cNvPr id="23" name="TextBox 22"/>
          <p:cNvSpPr txBox="1"/>
          <p:nvPr/>
        </p:nvSpPr>
        <p:spPr>
          <a:xfrm>
            <a:off x="660400" y="8483600"/>
            <a:ext cx="6223000" cy="762000"/>
          </a:xfrm>
          <a:prstGeom prst="rect">
            <a:avLst/>
          </a:prstGeom>
          <a:noFill/>
        </p:spPr>
        <p:txBody>
          <a:bodyPr wrap="square" anchor="t" lIns="0" rIns="0" tIns="0" bIns="0">
            <a:spAutoFit/>
          </a:bodyPr>
          <a:lstStyle/>
          <a:p>
            <a:pPr algn="l">
              <a:lnSpc>
                <a:spcPts val="1250"/>
              </a:lnSpc>
              <a:spcAft>
                <a:spcPts val="475"/>
              </a:spcAft>
            </a:pPr>
            <a:r>
              <a:rPr sz="950" b="0">
                <a:solidFill>
                  <a:srgbClr val="0B1B2E"/>
                </a:solidFill>
                <a:latin typeface="Ubuntu Mono"/>
              </a:rPr>
              <a:t>Mots codés : FORAGE, GEOTHERMIE, TREPAN, FISHING, MWD, ENEDRIL</a:t>
            </a:r>
          </a:p>
          <a:p>
            <a:pPr algn="l">
              <a:lnSpc>
                <a:spcPts val="1250"/>
              </a:lnSpc>
              <a:spcAft>
                <a:spcPts val="475"/>
              </a:spcAft>
            </a:pPr>
            <a:r>
              <a:rPr sz="950" b="0">
                <a:solidFill>
                  <a:srgbClr val="0B1B2E"/>
                </a:solidFill>
                <a:latin typeface="Ubuntu Mono"/>
              </a:rPr>
              <a:t>Anagrammes : TUBAGE, SONDAGE, POMPE, PUITS, ENERGIE, GAZETTE</a:t>
            </a:r>
          </a:p>
          <a:p>
            <a:pPr algn="l">
              <a:lnSpc>
                <a:spcPts val="1250"/>
              </a:lnSpc>
              <a:spcAft>
                <a:spcPts val="475"/>
              </a:spcAft>
            </a:pPr>
            <a:r>
              <a:rPr sz="950" b="0">
                <a:solidFill>
                  <a:srgbClr val="0B1B2E"/>
                </a:solidFill>
                <a:latin typeface="Ubuntu Mono"/>
              </a:rPr>
              <a:t>Devinette : le trépan · Lons</a:t>
            </a:r>
          </a:p>
        </p:txBody>
      </p:sp>
      <p:sp>
        <p:nvSpPr>
          <p:cNvPr id="24" name="TextBox 23"/>
          <p:cNvSpPr txBox="1"/>
          <p:nvPr/>
        </p:nvSpPr>
        <p:spPr>
          <a:xfrm>
            <a:off x="508000" y="10261600"/>
            <a:ext cx="3810000" cy="152400"/>
          </a:xfrm>
          <a:prstGeom prst="rect">
            <a:avLst/>
          </a:prstGeom>
          <a:noFill/>
        </p:spPr>
        <p:txBody>
          <a:bodyPr wrap="square" anchor="t" lIns="0" rIns="0" tIns="0" bIns="0">
            <a:spAutoFit/>
          </a:bodyPr>
          <a:lstStyle/>
          <a:p>
            <a:pPr algn="l">
              <a:spcAft>
                <a:spcPts val="400"/>
              </a:spcAft>
            </a:pPr>
            <a:r>
              <a:rPr sz="800" b="0">
                <a:solidFill>
                  <a:srgbClr val="5A6B7F"/>
                </a:solidFill>
                <a:latin typeface="Ubuntu Mono"/>
              </a:rPr>
              <a:t>Enedril · Rétrospective 2026</a:t>
            </a:r>
          </a:p>
        </p:txBody>
      </p:sp>
      <p:sp>
        <p:nvSpPr>
          <p:cNvPr id="25" name="TextBox 24"/>
          <p:cNvSpPr txBox="1"/>
          <p:nvPr/>
        </p:nvSpPr>
        <p:spPr>
          <a:xfrm>
            <a:off x="6540500" y="10261600"/>
            <a:ext cx="508000" cy="152400"/>
          </a:xfrm>
          <a:prstGeom prst="rect">
            <a:avLst/>
          </a:prstGeom>
          <a:noFill/>
        </p:spPr>
        <p:txBody>
          <a:bodyPr wrap="square" anchor="t" lIns="0" rIns="0" tIns="0" bIns="0">
            <a:spAutoFit/>
          </a:bodyPr>
          <a:lstStyle/>
          <a:p>
            <a:pPr algn="r">
              <a:spcAft>
                <a:spcPts val="400"/>
              </a:spcAft>
            </a:pPr>
            <a:r>
              <a:rPr sz="800" b="0">
                <a:solidFill>
                  <a:srgbClr val="5A6B7F"/>
                </a:solidFill>
                <a:latin typeface="Ubuntu Mon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10693400"/>
          </a:xfrm>
          <a:prstGeom prst="rect">
            <a:avLst/>
          </a:prstGeom>
          <a:solidFill>
            <a:srgbClr val="0A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191000" y="0"/>
            <a:ext cx="3365500" cy="10693400"/>
          </a:xfrm>
          <a:prstGeom prst="rect">
            <a:avLst/>
          </a:prstGeom>
          <a:solidFill>
            <a:srgbClr val="082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enedril-white.png"/>
          <p:cNvPicPr>
            <a:picLocks noChangeAspect="1"/>
          </p:cNvPicPr>
          <p:nvPr/>
        </p:nvPicPr>
        <p:blipFill>
          <a:blip r:embed="rId2"/>
          <a:stretch>
            <a:fillRect/>
          </a:stretch>
        </p:blipFill>
        <p:spPr>
          <a:xfrm>
            <a:off x="762000" y="4699000"/>
            <a:ext cx="3810000" cy="866902"/>
          </a:xfrm>
          <a:prstGeom prst="rect">
            <a:avLst/>
          </a:prstGeom>
        </p:spPr>
      </p:pic>
      <p:sp>
        <p:nvSpPr>
          <p:cNvPr id="5" name="TextBox 4"/>
          <p:cNvSpPr txBox="1"/>
          <p:nvPr/>
        </p:nvSpPr>
        <p:spPr>
          <a:xfrm>
            <a:off x="762000" y="5588000"/>
            <a:ext cx="5334000" cy="203200"/>
          </a:xfrm>
          <a:prstGeom prst="rect">
            <a:avLst/>
          </a:prstGeom>
          <a:noFill/>
        </p:spPr>
        <p:txBody>
          <a:bodyPr wrap="square" anchor="t" lIns="0" rIns="0" tIns="0" bIns="0">
            <a:spAutoFit/>
          </a:bodyPr>
          <a:lstStyle/>
          <a:p>
            <a:pPr algn="l">
              <a:spcAft>
                <a:spcPts val="550"/>
              </a:spcAft>
            </a:pPr>
            <a:r>
              <a:rPr sz="1100" b="0">
                <a:solidFill>
                  <a:srgbClr val="BEE1FA"/>
                </a:solidFill>
                <a:latin typeface="Ubuntu Mono"/>
              </a:rPr>
              <a:t>Fishing and Drilling Solutions</a:t>
            </a:r>
          </a:p>
        </p:txBody>
      </p:sp>
      <p:sp>
        <p:nvSpPr>
          <p:cNvPr id="6" name="TextBox 5"/>
          <p:cNvSpPr txBox="1"/>
          <p:nvPr/>
        </p:nvSpPr>
        <p:spPr>
          <a:xfrm>
            <a:off x="762000" y="9652000"/>
            <a:ext cx="5715000" cy="177800"/>
          </a:xfrm>
          <a:prstGeom prst="rect">
            <a:avLst/>
          </a:prstGeom>
          <a:noFill/>
        </p:spPr>
        <p:txBody>
          <a:bodyPr wrap="square" anchor="t" lIns="0" rIns="0" tIns="0" bIns="0">
            <a:spAutoFit/>
          </a:bodyPr>
          <a:lstStyle/>
          <a:p>
            <a:pPr algn="l">
              <a:spcAft>
                <a:spcPts val="500"/>
              </a:spcAft>
            </a:pPr>
            <a:r>
              <a:rPr sz="1000" b="0">
                <a:solidFill>
                  <a:srgbClr val="FFFFFF"/>
                </a:solidFill>
                <a:latin typeface="Ubuntu Mono"/>
              </a:rPr>
              <a:t>www.enedril.com · 3 av des lacs, 64140 Lons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