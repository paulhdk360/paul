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7556500" cy="10693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gradFill rotWithShape="1">
            <a:gsLst>
              <a:gs pos="0">
                <a:srgbClr val="08203F"/>
              </a:gs>
              <a:gs pos="100000">
                <a:srgbClr val="0A4FA0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05000" y="5334000"/>
            <a:ext cx="6604000" cy="6604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921000" y="6350000"/>
            <a:ext cx="4572000" cy="4572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762000" y="7493000"/>
            <a:ext cx="2540000" cy="2540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969000" y="762000"/>
            <a:ext cx="2286000" cy="22860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8000" y="889000"/>
            <a:ext cx="6604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60"/>
              </a:spcAft>
            </a:pPr>
            <a:r>
              <a:rPr sz="1200" b="1">
                <a:solidFill>
                  <a:srgbClr val="FFC457"/>
                </a:solidFill>
                <a:latin typeface="Ubuntu Mono"/>
              </a:rPr>
              <a:t>LA GAZETTE DE FIN D'ANNÉE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000" y="1270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290"/>
              </a:spcAft>
            </a:pPr>
            <a:r>
              <a:rPr sz="7800" b="1">
                <a:solidFill>
                  <a:srgbClr val="FFFFFF"/>
                </a:solidFill>
                <a:latin typeface="Ubuntu Mono"/>
              </a:rPr>
              <a:t>RÉTRO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286000"/>
            <a:ext cx="68580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290"/>
              </a:spcAft>
            </a:pPr>
            <a:r>
              <a:rPr sz="7800" b="1">
                <a:solidFill>
                  <a:srgbClr val="FFFFFF"/>
                </a:solidFill>
                <a:latin typeface="Ubuntu Mono"/>
              </a:rPr>
              <a:t>SPECTIVE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" y="3492500"/>
            <a:ext cx="3810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750"/>
              </a:spcAft>
            </a:pPr>
            <a:r>
              <a:rPr sz="5000" b="1">
                <a:solidFill>
                  <a:srgbClr val="FFC457"/>
                </a:solidFill>
                <a:latin typeface="Ubuntu Mono"/>
              </a:rPr>
              <a:t>2026</a:t>
            </a:r>
          </a:p>
        </p:txBody>
      </p:sp>
      <p:sp>
        <p:nvSpPr>
          <p:cNvPr id="12" name="Rectangle 11"/>
          <p:cNvSpPr/>
          <p:nvPr/>
        </p:nvSpPr>
        <p:spPr>
          <a:xfrm rot="21360000">
            <a:off x="927100" y="4749800"/>
            <a:ext cx="4191000" cy="2984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1360000">
            <a:off x="889000" y="4699000"/>
            <a:ext cx="4191000" cy="2984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_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60000">
            <a:off x="990600" y="4800600"/>
            <a:ext cx="3987800" cy="25527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 rot="21360000">
            <a:off x="990600" y="7404100"/>
            <a:ext cx="3987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L'équipe Enedril</a:t>
            </a:r>
          </a:p>
        </p:txBody>
      </p:sp>
      <p:sp>
        <p:nvSpPr>
          <p:cNvPr id="16" name="Rectangle 15"/>
          <p:cNvSpPr/>
          <p:nvPr/>
        </p:nvSpPr>
        <p:spPr>
          <a:xfrm rot="21120000">
            <a:off x="2705100" y="4610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go-enedril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9652000"/>
            <a:ext cx="2413000" cy="5490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Sommaire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Tout ce qui a fait 2026 chez Enedril.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27178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26670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60400" y="2781300"/>
            <a:ext cx="431800" cy="4318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400" y="27813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0000" y="26670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Mot de la direction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6100" y="35560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8000" y="35052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0400" y="3619500"/>
            <a:ext cx="431800" cy="4318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400" y="36195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70000" y="35052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Actualités internes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100" y="43942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000" y="43434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0400" y="4457700"/>
            <a:ext cx="431800" cy="4318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0400" y="44577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70000" y="43434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Annonces et changements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6100" y="52324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8000" y="51816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0400" y="5295900"/>
            <a:ext cx="431800" cy="4318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400" y="52959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70000" y="51816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Actualités commerciales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6100" y="60706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8000" y="60198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60400" y="6134100"/>
            <a:ext cx="431800" cy="4318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0400" y="61341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70000" y="60198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Marketing et communication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6100" y="69088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08000" y="68580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0400" y="6972300"/>
            <a:ext cx="431800" cy="431800"/>
          </a:xfrm>
          <a:prstGeom prst="ellipse">
            <a:avLst/>
          </a:prstGeom>
          <a:solidFill>
            <a:srgbClr val="F07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400" y="69723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70000" y="68580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Engagements solidaires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6100" y="77470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08000" y="76962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60400" y="7810500"/>
            <a:ext cx="431800" cy="4318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400" y="78105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0000" y="76962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Galerie photos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6100" y="85852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08000" y="8534400"/>
            <a:ext cx="6540500" cy="66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60400" y="8648700"/>
            <a:ext cx="431800" cy="4318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0400" y="8648700"/>
            <a:ext cx="4318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715"/>
              </a:spcAft>
            </a:pPr>
            <a:r>
              <a:rPr sz="1300" b="1">
                <a:solidFill>
                  <a:srgbClr val="FFFFFF"/>
                </a:solidFill>
                <a:latin typeface="Ubuntu Mono"/>
              </a:rPr>
              <a:t>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0000" y="8534400"/>
            <a:ext cx="53340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08203F"/>
                </a:solidFill>
                <a:latin typeface="Ubuntu Mono"/>
              </a:rPr>
              <a:t>Les jeux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Mot de la direction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180000">
            <a:off x="4610100" y="939800"/>
            <a:ext cx="2413000" cy="16256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180000">
            <a:off x="4572000" y="889000"/>
            <a:ext cx="2413000" cy="1625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_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80000">
            <a:off x="4673600" y="990600"/>
            <a:ext cx="2209800" cy="1193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 rot="180000">
            <a:off x="4673600" y="2235200"/>
            <a:ext cx="2209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On est fiers de vous</a:t>
            </a:r>
          </a:p>
        </p:txBody>
      </p:sp>
      <p:sp>
        <p:nvSpPr>
          <p:cNvPr id="13" name="Rectangle 12"/>
          <p:cNvSpPr/>
          <p:nvPr/>
        </p:nvSpPr>
        <p:spPr>
          <a:xfrm rot="21540000">
            <a:off x="5499100" y="800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6100" y="2781300"/>
            <a:ext cx="6540500" cy="6858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8000" y="2730500"/>
            <a:ext cx="6540500" cy="685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8000" y="2730500"/>
            <a:ext cx="101600" cy="6858000"/>
          </a:xfrm>
          <a:prstGeom prst="rect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2800" y="2946400"/>
            <a:ext cx="5969000" cy="6477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Chers collaborateurs,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Alors que nous clôturons 2026, nous souhaitons revenir sur les temps forts de cette année et partager avec vous les perspectives qui s'ouvrent pour la suivante.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2026 a été une année de changements concrets : de nouveaux collaborateurs, l'essai de la semaine à quatre jours, de nouveaux avantages, un nouveau bâtiment de stockage, une nouvelle Break-out unit et un parking remanié. Notre chauffage a aussi évolué : une pompe à chaleur alimentée par deux puits de géothermie, une belle cohérence avec notre métier.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Nous avons été présents à GeoTHERM, GEOFLUID, ADIPEC et aux Geodays, accueilli des étudiants d'IFP Training, et nous nous sommes retrouvés : Section Paloise, barbecue de mai, Octobre rose, Movember et la collecte de jouets.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Rendez-vous à GeoTHERM, à Offenburg, les 25 et 26 février 2027, sur notre stand 274.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Merci pour votre implication et votre sérieux tout au long de l'année. Votre engagement est essentiel pour faire progresser Enedril.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Merci à tous et à très bientôt,</a:t>
            </a:r>
          </a:p>
          <a:p>
            <a:pPr algn="l">
              <a:lnSpc>
                <a:spcPts val="1950"/>
              </a:lnSpc>
              <a:spcAft>
                <a:spcPts val="742"/>
              </a:spcAft>
            </a:pPr>
            <a:r>
              <a:rPr sz="1350" b="0">
                <a:solidFill>
                  <a:srgbClr val="242834"/>
                </a:solidFill>
                <a:latin typeface="Ubuntu Mono"/>
              </a:rPr>
              <a:t>Fabien &amp; Alexis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Actualités internes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Ils nous ont rejoints, on s'est retrouvés.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03500"/>
            <a:ext cx="65405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EE624C"/>
                </a:solidFill>
                <a:latin typeface="Ubuntu Mono"/>
              </a:rPr>
              <a:t>Bienvenue aux nouveaux</a:t>
            </a:r>
          </a:p>
        </p:txBody>
      </p:sp>
      <p:sp>
        <p:nvSpPr>
          <p:cNvPr id="11" name="Oval 10"/>
          <p:cNvSpPr/>
          <p:nvPr/>
        </p:nvSpPr>
        <p:spPr>
          <a:xfrm>
            <a:off x="609600" y="2984500"/>
            <a:ext cx="1066800" cy="10668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2984500"/>
            <a:ext cx="10668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980"/>
              </a:spcAft>
            </a:pPr>
            <a:r>
              <a:rPr sz="3600" b="1">
                <a:solidFill>
                  <a:srgbClr val="FFFFFF"/>
                </a:solidFill>
                <a:latin typeface="Ubuntu Mono"/>
              </a:rP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" y="4140200"/>
            <a:ext cx="1219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Thibaut</a:t>
            </a:r>
          </a:p>
        </p:txBody>
      </p:sp>
      <p:sp>
        <p:nvSpPr>
          <p:cNvPr id="14" name="Oval 13"/>
          <p:cNvSpPr/>
          <p:nvPr/>
        </p:nvSpPr>
        <p:spPr>
          <a:xfrm>
            <a:off x="1930400" y="2984500"/>
            <a:ext cx="1066800" cy="10668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30400" y="2984500"/>
            <a:ext cx="10668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980"/>
              </a:spcAft>
            </a:pPr>
            <a:r>
              <a:rPr sz="3600" b="1">
                <a:solidFill>
                  <a:srgbClr val="FFFFFF"/>
                </a:solidFill>
                <a:latin typeface="Ubuntu Mono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54200" y="4140200"/>
            <a:ext cx="1219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Mickael</a:t>
            </a:r>
          </a:p>
        </p:txBody>
      </p:sp>
      <p:sp>
        <p:nvSpPr>
          <p:cNvPr id="17" name="Oval 16"/>
          <p:cNvSpPr/>
          <p:nvPr/>
        </p:nvSpPr>
        <p:spPr>
          <a:xfrm>
            <a:off x="3251200" y="2984500"/>
            <a:ext cx="1066800" cy="10668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51200" y="2984500"/>
            <a:ext cx="10668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980"/>
              </a:spcAft>
            </a:pPr>
            <a:r>
              <a:rPr sz="3600" b="1">
                <a:solidFill>
                  <a:srgbClr val="FFFFFF"/>
                </a:solidFill>
                <a:latin typeface="Ubuntu Mono"/>
              </a:rPr>
              <a:t>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75000" y="4140200"/>
            <a:ext cx="1219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Xavier</a:t>
            </a:r>
          </a:p>
        </p:txBody>
      </p:sp>
      <p:sp>
        <p:nvSpPr>
          <p:cNvPr id="20" name="Oval 19"/>
          <p:cNvSpPr/>
          <p:nvPr/>
        </p:nvSpPr>
        <p:spPr>
          <a:xfrm>
            <a:off x="4572000" y="2984500"/>
            <a:ext cx="1066800" cy="10668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2984500"/>
            <a:ext cx="10668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980"/>
              </a:spcAft>
            </a:pPr>
            <a:r>
              <a:rPr sz="3600" b="1">
                <a:solidFill>
                  <a:srgbClr val="FFFFFF"/>
                </a:solidFill>
                <a:latin typeface="Ubuntu Mono"/>
              </a:rPr>
              <a:t>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5800" y="4140200"/>
            <a:ext cx="1219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Julien D.</a:t>
            </a:r>
          </a:p>
        </p:txBody>
      </p:sp>
      <p:sp>
        <p:nvSpPr>
          <p:cNvPr id="23" name="Oval 22"/>
          <p:cNvSpPr/>
          <p:nvPr/>
        </p:nvSpPr>
        <p:spPr>
          <a:xfrm>
            <a:off x="5892800" y="2984500"/>
            <a:ext cx="1066800" cy="1066800"/>
          </a:xfrm>
          <a:prstGeom prst="ellipse">
            <a:avLst/>
          </a:prstGeom>
          <a:solidFill>
            <a:srgbClr val="F07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92800" y="2984500"/>
            <a:ext cx="1066800" cy="1066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980"/>
              </a:spcAft>
            </a:pPr>
            <a:r>
              <a:rPr sz="3600" b="1">
                <a:solidFill>
                  <a:srgbClr val="FFFFFF"/>
                </a:solidFill>
                <a:latin typeface="Ubuntu Mono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16600" y="4140200"/>
            <a:ext cx="12192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Segen</a:t>
            </a:r>
          </a:p>
        </p:txBody>
      </p:sp>
      <p:sp>
        <p:nvSpPr>
          <p:cNvPr id="26" name="Rectangle 25"/>
          <p:cNvSpPr/>
          <p:nvPr/>
        </p:nvSpPr>
        <p:spPr>
          <a:xfrm rot="120000">
            <a:off x="4191000" y="4445000"/>
            <a:ext cx="2857500" cy="508000"/>
          </a:xfrm>
          <a:prstGeom prst="rect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 rot="120000">
            <a:off x="4292600" y="4495800"/>
            <a:ext cx="2654300" cy="406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67"/>
              </a:spcAft>
            </a:pPr>
            <a:r>
              <a:rPr sz="850" b="1">
                <a:solidFill>
                  <a:srgbClr val="5A3C00"/>
                </a:solidFill>
                <a:latin typeface="Ubuntu Mono"/>
              </a:rPr>
              <a:t>✎ À compléter : poste / équipe de chacun, photo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5207000"/>
            <a:ext cx="65405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EE624C"/>
                </a:solidFill>
                <a:latin typeface="Ubuntu Mono"/>
              </a:rPr>
              <a:t>Événements d'équipe</a:t>
            </a:r>
          </a:p>
        </p:txBody>
      </p:sp>
      <p:sp>
        <p:nvSpPr>
          <p:cNvPr id="29" name="Oval 28"/>
          <p:cNvSpPr/>
          <p:nvPr/>
        </p:nvSpPr>
        <p:spPr>
          <a:xfrm>
            <a:off x="508000" y="5613400"/>
            <a:ext cx="139700" cy="1397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7400" y="5588000"/>
            <a:ext cx="3530600" cy="204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632"/>
              </a:spcAft>
            </a:pPr>
            <a:r>
              <a:rPr sz="1150" b="0">
                <a:solidFill>
                  <a:srgbClr val="242834"/>
                </a:solidFill>
                <a:latin typeface="Ubuntu Mono"/>
              </a:rPr>
              <a:t>Teambuilding à la Section Paloise.</a:t>
            </a:r>
          </a:p>
        </p:txBody>
      </p:sp>
      <p:sp>
        <p:nvSpPr>
          <p:cNvPr id="31" name="Oval 30"/>
          <p:cNvSpPr/>
          <p:nvPr/>
        </p:nvSpPr>
        <p:spPr>
          <a:xfrm>
            <a:off x="508000" y="5924867"/>
            <a:ext cx="139700" cy="1397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7400" y="5899467"/>
            <a:ext cx="3530600" cy="204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632"/>
              </a:spcAft>
            </a:pPr>
            <a:r>
              <a:rPr sz="1150" b="0">
                <a:solidFill>
                  <a:srgbClr val="242834"/>
                </a:solidFill>
                <a:latin typeface="Ubuntu Mono"/>
              </a:rPr>
              <a:t>Barbecue en mai.</a:t>
            </a:r>
          </a:p>
        </p:txBody>
      </p:sp>
      <p:sp>
        <p:nvSpPr>
          <p:cNvPr id="33" name="Oval 32"/>
          <p:cNvSpPr/>
          <p:nvPr/>
        </p:nvSpPr>
        <p:spPr>
          <a:xfrm>
            <a:off x="508000" y="6236334"/>
            <a:ext cx="139700" cy="1397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7400" y="6210934"/>
            <a:ext cx="3530600" cy="4089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632"/>
              </a:spcAft>
            </a:pPr>
            <a:r>
              <a:rPr sz="1150" b="0">
                <a:solidFill>
                  <a:srgbClr val="242834"/>
                </a:solidFill>
                <a:latin typeface="Ubuntu Mono"/>
              </a:rPr>
              <a:t>Repas après la matinée de sensibilisation aux addictions.</a:t>
            </a:r>
          </a:p>
        </p:txBody>
      </p:sp>
      <p:sp>
        <p:nvSpPr>
          <p:cNvPr id="35" name="Oval 34"/>
          <p:cNvSpPr/>
          <p:nvPr/>
        </p:nvSpPr>
        <p:spPr>
          <a:xfrm>
            <a:off x="508000" y="6744969"/>
            <a:ext cx="139700" cy="1397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7400" y="6719569"/>
            <a:ext cx="3530600" cy="204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632"/>
              </a:spcAft>
            </a:pPr>
            <a:r>
              <a:rPr sz="1150" b="0">
                <a:solidFill>
                  <a:srgbClr val="242834"/>
                </a:solidFill>
                <a:latin typeface="Ubuntu Mono"/>
              </a:rPr>
              <a:t>Repas de fin d'année (date à confirmer).</a:t>
            </a:r>
          </a:p>
        </p:txBody>
      </p:sp>
      <p:sp>
        <p:nvSpPr>
          <p:cNvPr id="37" name="Rectangle 36"/>
          <p:cNvSpPr/>
          <p:nvPr/>
        </p:nvSpPr>
        <p:spPr>
          <a:xfrm rot="180000">
            <a:off x="4546600" y="5511800"/>
            <a:ext cx="2540000" cy="1905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180000">
            <a:off x="4508500" y="5461000"/>
            <a:ext cx="25400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180000">
            <a:off x="4610100" y="5562600"/>
            <a:ext cx="2336800" cy="1473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 rot="180000">
            <a:off x="4686300" y="5562600"/>
            <a:ext cx="2184400" cy="147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barbecue de mai</a:t>
            </a:r>
          </a:p>
        </p:txBody>
      </p:sp>
      <p:sp>
        <p:nvSpPr>
          <p:cNvPr id="41" name="TextBox 40"/>
          <p:cNvSpPr txBox="1"/>
          <p:nvPr/>
        </p:nvSpPr>
        <p:spPr>
          <a:xfrm rot="180000">
            <a:off x="4610100" y="7086600"/>
            <a:ext cx="2336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2" name="Rectangle 41"/>
          <p:cNvSpPr/>
          <p:nvPr/>
        </p:nvSpPr>
        <p:spPr>
          <a:xfrm rot="21540000">
            <a:off x="5499100" y="5372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 rot="21420000">
            <a:off x="800100" y="7670800"/>
            <a:ext cx="2921000" cy="1905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1420000">
            <a:off x="762000" y="7620000"/>
            <a:ext cx="29210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21420000">
            <a:off x="863600" y="7721600"/>
            <a:ext cx="2717800" cy="1473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21420000">
            <a:off x="939800" y="7721600"/>
            <a:ext cx="2565400" cy="147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Section Paloise</a:t>
            </a:r>
          </a:p>
        </p:txBody>
      </p:sp>
      <p:sp>
        <p:nvSpPr>
          <p:cNvPr id="47" name="TextBox 46"/>
          <p:cNvSpPr txBox="1"/>
          <p:nvPr/>
        </p:nvSpPr>
        <p:spPr>
          <a:xfrm rot="21420000">
            <a:off x="863600" y="9245600"/>
            <a:ext cx="2717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8" name="Rectangle 47"/>
          <p:cNvSpPr/>
          <p:nvPr/>
        </p:nvSpPr>
        <p:spPr>
          <a:xfrm rot="21180000">
            <a:off x="1943100" y="7531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120000">
            <a:off x="4102100" y="7797800"/>
            <a:ext cx="2984500" cy="1905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120000">
            <a:off x="4064000" y="7747000"/>
            <a:ext cx="29845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20000">
            <a:off x="4165600" y="7848600"/>
            <a:ext cx="2781300" cy="1473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 rot="120000">
            <a:off x="4241800" y="7848600"/>
            <a:ext cx="2628900" cy="147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repas après la matinée</a:t>
            </a:r>
          </a:p>
        </p:txBody>
      </p:sp>
      <p:sp>
        <p:nvSpPr>
          <p:cNvPr id="53" name="TextBox 52"/>
          <p:cNvSpPr txBox="1"/>
          <p:nvPr/>
        </p:nvSpPr>
        <p:spPr>
          <a:xfrm rot="120000">
            <a:off x="4165600" y="9372600"/>
            <a:ext cx="27813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54" name="Rectangle 53"/>
          <p:cNvSpPr/>
          <p:nvPr/>
        </p:nvSpPr>
        <p:spPr>
          <a:xfrm rot="21480000">
            <a:off x="5276850" y="7658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Annonces et changements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Ce qui change chez nous au quotidien.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26543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26035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882900"/>
            <a:ext cx="762000" cy="762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82900"/>
            <a:ext cx="762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30"/>
              </a:spcAft>
            </a:pPr>
            <a:r>
              <a:rPr sz="2600" b="1">
                <a:solidFill>
                  <a:srgbClr val="FFFFFF"/>
                </a:solidFill>
                <a:latin typeface="Ubuntu Mono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2730500"/>
            <a:ext cx="1993900" cy="1092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450"/>
              </a:lnSpc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jours : essai de la semaine à 4 jours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3500" y="26543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35400" y="26035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013200" y="2882900"/>
            <a:ext cx="762000" cy="762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13200" y="2882900"/>
            <a:ext cx="762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30"/>
              </a:spcAft>
            </a:pPr>
            <a:r>
              <a:rPr sz="2600" b="1">
                <a:solidFill>
                  <a:srgbClr val="FFFFFF"/>
                </a:solidFill>
                <a:latin typeface="Ubuntu Mon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7600" y="2730500"/>
            <a:ext cx="1993900" cy="1092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450"/>
              </a:lnSpc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Tickets restaurant et chèques vacances digitaux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100" y="41529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000" y="41021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5800" y="4381500"/>
            <a:ext cx="762000" cy="7620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381500"/>
            <a:ext cx="762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30"/>
              </a:spcAft>
            </a:pPr>
            <a:r>
              <a:rPr sz="2600" b="1">
                <a:solidFill>
                  <a:srgbClr val="FFFFFF"/>
                </a:solidFill>
                <a:latin typeface="Ubuntu Mono"/>
              </a:rPr>
              <a:t>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229100"/>
            <a:ext cx="1993900" cy="1092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450"/>
              </a:lnSpc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Chauffage par pompe à chaleur sur nos deux puits de géothermie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73500" y="41529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35400" y="41021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013200" y="4381500"/>
            <a:ext cx="762000" cy="7620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13200" y="4381500"/>
            <a:ext cx="762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30"/>
              </a:spcAft>
            </a:pPr>
            <a:r>
              <a:rPr sz="2600" b="1">
                <a:solidFill>
                  <a:srgbClr val="FFFFFF"/>
                </a:solidFill>
                <a:latin typeface="Ubuntu Mono"/>
              </a:rPr>
              <a:t>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27600" y="4229100"/>
            <a:ext cx="1993900" cy="1092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450"/>
              </a:lnSpc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Nouveau bâtiment de stockage, parking et Break-out unit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6100" y="56515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08000" y="5600700"/>
            <a:ext cx="3213100" cy="1346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5800" y="5880100"/>
            <a:ext cx="762000" cy="762000"/>
          </a:xfrm>
          <a:prstGeom prst="ellipse">
            <a:avLst/>
          </a:prstGeom>
          <a:solidFill>
            <a:srgbClr val="F07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80100"/>
            <a:ext cx="762000" cy="76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1430"/>
              </a:spcAft>
            </a:pPr>
            <a:r>
              <a:rPr sz="2600" b="1">
                <a:solidFill>
                  <a:srgbClr val="FFFFFF"/>
                </a:solidFill>
                <a:latin typeface="Ubuntu Mono"/>
              </a:rPr>
              <a:t>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00200" y="5727700"/>
            <a:ext cx="1993900" cy="1092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1450"/>
              </a:lnSpc>
              <a:spcAft>
                <a:spcPts val="605"/>
              </a:spcAft>
            </a:pPr>
            <a:r>
              <a:rPr sz="1100" b="1">
                <a:solidFill>
                  <a:srgbClr val="08203F"/>
                </a:solidFill>
                <a:latin typeface="Ubuntu Mono"/>
              </a:rPr>
              <a:t>Arrivée de nouveaux outils</a:t>
            </a:r>
          </a:p>
        </p:txBody>
      </p:sp>
      <p:sp>
        <p:nvSpPr>
          <p:cNvPr id="35" name="Rectangle 34"/>
          <p:cNvSpPr/>
          <p:nvPr/>
        </p:nvSpPr>
        <p:spPr>
          <a:xfrm rot="21480000">
            <a:off x="3835400" y="5613400"/>
            <a:ext cx="3213100" cy="762000"/>
          </a:xfrm>
          <a:prstGeom prst="rect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 rot="21480000">
            <a:off x="3937000" y="5664200"/>
            <a:ext cx="30099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67"/>
              </a:spcAft>
            </a:pPr>
            <a:r>
              <a:rPr sz="850" b="1">
                <a:solidFill>
                  <a:srgbClr val="5A3C00"/>
                </a:solidFill>
                <a:latin typeface="Ubuntu Mono"/>
              </a:rPr>
              <a:t>✎ À compléter : modalités de la semaine à 4 jours, dates, liste des nouveaux outils</a:t>
            </a:r>
          </a:p>
        </p:txBody>
      </p:sp>
      <p:sp>
        <p:nvSpPr>
          <p:cNvPr id="37" name="Rectangle 36"/>
          <p:cNvSpPr/>
          <p:nvPr/>
        </p:nvSpPr>
        <p:spPr>
          <a:xfrm rot="21420000">
            <a:off x="673100" y="6908800"/>
            <a:ext cx="2921000" cy="2540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420000">
            <a:off x="635000" y="6858000"/>
            <a:ext cx="2921000" cy="254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1420000">
            <a:off x="736600" y="6959600"/>
            <a:ext cx="2717800" cy="2108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 rot="21420000">
            <a:off x="812800" y="6959600"/>
            <a:ext cx="2565400" cy="2108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nouveau bâtiment de stockage</a:t>
            </a:r>
          </a:p>
        </p:txBody>
      </p:sp>
      <p:sp>
        <p:nvSpPr>
          <p:cNvPr id="41" name="TextBox 40"/>
          <p:cNvSpPr txBox="1"/>
          <p:nvPr/>
        </p:nvSpPr>
        <p:spPr>
          <a:xfrm rot="21420000">
            <a:off x="736600" y="9118600"/>
            <a:ext cx="2717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2" name="Rectangle 41"/>
          <p:cNvSpPr/>
          <p:nvPr/>
        </p:nvSpPr>
        <p:spPr>
          <a:xfrm rot="21180000">
            <a:off x="1816100" y="6769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 rot="180000">
            <a:off x="4102100" y="7035800"/>
            <a:ext cx="2921000" cy="2413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180000">
            <a:off x="4064000" y="6985000"/>
            <a:ext cx="2921000" cy="241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 rot="180000">
            <a:off x="4165600" y="7086600"/>
            <a:ext cx="2717800" cy="1981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 rot="180000">
            <a:off x="4241800" y="7086600"/>
            <a:ext cx="2565400" cy="198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Break-out unit</a:t>
            </a:r>
          </a:p>
        </p:txBody>
      </p:sp>
      <p:sp>
        <p:nvSpPr>
          <p:cNvPr id="47" name="TextBox 46"/>
          <p:cNvSpPr txBox="1"/>
          <p:nvPr/>
        </p:nvSpPr>
        <p:spPr>
          <a:xfrm rot="180000">
            <a:off x="4165600" y="9118600"/>
            <a:ext cx="2717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8" name="Rectangle 47"/>
          <p:cNvSpPr/>
          <p:nvPr/>
        </p:nvSpPr>
        <p:spPr>
          <a:xfrm rot="21540000">
            <a:off x="5245100" y="6896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Actualités commerciales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Des projets en France et à l'étranger.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2603500"/>
            <a:ext cx="65405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700"/>
              </a:lnSpc>
              <a:spcAft>
                <a:spcPts val="660"/>
              </a:spcAft>
            </a:pPr>
            <a:r>
              <a:rPr sz="1200" b="0">
                <a:solidFill>
                  <a:srgbClr val="242834"/>
                </a:solidFill>
                <a:latin typeface="Ubuntu Mono"/>
              </a:rPr>
              <a:t>En 2026, Enedril a accompagné de nombreux projets. Pour 2027, nous misons sur GeoTHERM (stand 274), l'Europe et le Moyen-Orient.</a:t>
            </a:r>
          </a:p>
        </p:txBody>
      </p:sp>
      <p:sp>
        <p:nvSpPr>
          <p:cNvPr id="11" name="Oval 10"/>
          <p:cNvSpPr/>
          <p:nvPr/>
        </p:nvSpPr>
        <p:spPr>
          <a:xfrm>
            <a:off x="508000" y="3683000"/>
            <a:ext cx="1905000" cy="19050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8000" y="4216400"/>
            <a:ext cx="190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310"/>
              </a:spcAft>
            </a:pPr>
            <a:r>
              <a:rPr sz="4200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864100"/>
            <a:ext cx="1701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devis envoyés</a:t>
            </a:r>
          </a:p>
        </p:txBody>
      </p:sp>
      <p:sp>
        <p:nvSpPr>
          <p:cNvPr id="14" name="Oval 13"/>
          <p:cNvSpPr/>
          <p:nvPr/>
        </p:nvSpPr>
        <p:spPr>
          <a:xfrm>
            <a:off x="2819400" y="3683000"/>
            <a:ext cx="1905000" cy="1905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19400" y="4216400"/>
            <a:ext cx="190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310"/>
              </a:spcAft>
            </a:pPr>
            <a:r>
              <a:rPr sz="4200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1000" y="4864100"/>
            <a:ext cx="1701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nouveaux clients</a:t>
            </a:r>
          </a:p>
        </p:txBody>
      </p:sp>
      <p:sp>
        <p:nvSpPr>
          <p:cNvPr id="17" name="Oval 16"/>
          <p:cNvSpPr/>
          <p:nvPr/>
        </p:nvSpPr>
        <p:spPr>
          <a:xfrm>
            <a:off x="5130800" y="3683000"/>
            <a:ext cx="1905000" cy="19050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0800" y="4216400"/>
            <a:ext cx="190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310"/>
              </a:spcAft>
            </a:pPr>
            <a:r>
              <a:rPr sz="4200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2400" y="4864100"/>
            <a:ext cx="1701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taux de transformation</a:t>
            </a:r>
          </a:p>
        </p:txBody>
      </p:sp>
      <p:sp>
        <p:nvSpPr>
          <p:cNvPr id="20" name="Oval 19"/>
          <p:cNvSpPr/>
          <p:nvPr/>
        </p:nvSpPr>
        <p:spPr>
          <a:xfrm>
            <a:off x="1651000" y="5778500"/>
            <a:ext cx="1905000" cy="1905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51000" y="6311900"/>
            <a:ext cx="190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310"/>
              </a:spcAft>
            </a:pPr>
            <a:r>
              <a:rPr sz="4200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600" y="6959600"/>
            <a:ext cx="1701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puits forés</a:t>
            </a:r>
          </a:p>
        </p:txBody>
      </p:sp>
      <p:sp>
        <p:nvSpPr>
          <p:cNvPr id="23" name="Oval 22"/>
          <p:cNvSpPr/>
          <p:nvPr/>
        </p:nvSpPr>
        <p:spPr>
          <a:xfrm>
            <a:off x="3962400" y="5778500"/>
            <a:ext cx="1905000" cy="1905000"/>
          </a:xfrm>
          <a:prstGeom prst="ellipse">
            <a:avLst/>
          </a:prstGeom>
          <a:solidFill>
            <a:srgbClr val="F07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62400" y="6311900"/>
            <a:ext cx="19050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310"/>
              </a:spcAft>
            </a:pPr>
            <a:r>
              <a:rPr sz="4200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4000" y="6959600"/>
            <a:ext cx="170180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mètres forés</a:t>
            </a:r>
          </a:p>
        </p:txBody>
      </p:sp>
      <p:sp>
        <p:nvSpPr>
          <p:cNvPr id="26" name="Rectangle 25"/>
          <p:cNvSpPr/>
          <p:nvPr/>
        </p:nvSpPr>
        <p:spPr>
          <a:xfrm rot="21540000">
            <a:off x="508000" y="8128000"/>
            <a:ext cx="6540500" cy="558800"/>
          </a:xfrm>
          <a:prstGeom prst="rect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 rot="21540000">
            <a:off x="609600" y="8178800"/>
            <a:ext cx="63373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67"/>
              </a:spcAft>
            </a:pPr>
            <a:r>
              <a:rPr sz="850" b="1">
                <a:solidFill>
                  <a:srgbClr val="5A3C00"/>
                </a:solidFill>
                <a:latin typeface="Ubuntu Mono"/>
              </a:rPr>
              <a:t>✎ À compléter : chiffres commerciaux et de chantier 2026, pays d'intervention (Paul / équipe)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Marketing et communication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Là où on s'est montrés.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26543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26035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8000" y="2603500"/>
            <a:ext cx="101600" cy="1117600"/>
          </a:xfrm>
          <a:prstGeom prst="rect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400" y="27813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35"/>
              </a:spcAft>
            </a:pPr>
            <a:r>
              <a:rPr sz="1700" b="1">
                <a:solidFill>
                  <a:srgbClr val="08203F"/>
                </a:solidFill>
                <a:latin typeface="Ubuntu Mono"/>
              </a:rPr>
              <a:t>GeoTHERM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00" y="3187700"/>
            <a:ext cx="279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550"/>
              </a:spcAft>
            </a:pPr>
            <a:r>
              <a:rPr sz="1000" b="0">
                <a:solidFill>
                  <a:srgbClr val="787068"/>
                </a:solidFill>
                <a:latin typeface="Ubuntu Mono"/>
              </a:rPr>
              <a:t>Offenburg, février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73500" y="26543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35400" y="26035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35400" y="2603500"/>
            <a:ext cx="101600" cy="1117600"/>
          </a:xfrm>
          <a:prstGeom prst="rect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27813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35"/>
              </a:spcAft>
            </a:pPr>
            <a:r>
              <a:rPr sz="1700" b="1">
                <a:solidFill>
                  <a:srgbClr val="08203F"/>
                </a:solidFill>
                <a:latin typeface="Ubuntu Mono"/>
              </a:rPr>
              <a:t>GEOFLUID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187700"/>
            <a:ext cx="279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550"/>
              </a:spcAft>
            </a:pPr>
            <a:r>
              <a:rPr sz="1000" b="0">
                <a:solidFill>
                  <a:srgbClr val="787068"/>
                </a:solidFill>
                <a:latin typeface="Ubuntu Mono"/>
              </a:rPr>
              <a:t>Piacenza, 9 octobre · Luigi Liberatore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6100" y="39243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8000" y="38735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8000" y="3873500"/>
            <a:ext cx="101600" cy="1117600"/>
          </a:xfrm>
          <a:prstGeom prst="rect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7400" y="40513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35"/>
              </a:spcAft>
            </a:pPr>
            <a:r>
              <a:rPr sz="1700" b="1">
                <a:solidFill>
                  <a:srgbClr val="08203F"/>
                </a:solidFill>
                <a:latin typeface="Ubuntu Mono"/>
              </a:rPr>
              <a:t>ADIPEC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7400" y="4457700"/>
            <a:ext cx="279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550"/>
              </a:spcAft>
            </a:pPr>
            <a:r>
              <a:rPr sz="1000" b="0">
                <a:solidFill>
                  <a:srgbClr val="787068"/>
                </a:solidFill>
                <a:latin typeface="Ubuntu Mono"/>
              </a:rPr>
              <a:t>Abu Dhabi, 2-5 novembre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73500" y="39243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35400" y="3873500"/>
            <a:ext cx="3213100" cy="111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5400" y="3873500"/>
            <a:ext cx="101600" cy="1117600"/>
          </a:xfrm>
          <a:prstGeom prst="rect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0" y="4051300"/>
            <a:ext cx="2794000" cy="33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35"/>
              </a:spcAft>
            </a:pPr>
            <a:r>
              <a:rPr sz="1700" b="1">
                <a:solidFill>
                  <a:srgbClr val="08203F"/>
                </a:solidFill>
                <a:latin typeface="Ubuntu Mono"/>
              </a:rPr>
              <a:t>Geodays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457700"/>
            <a:ext cx="279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300"/>
              </a:lnSpc>
              <a:spcAft>
                <a:spcPts val="550"/>
              </a:spcAft>
            </a:pPr>
            <a:r>
              <a:rPr sz="1000" b="0">
                <a:solidFill>
                  <a:srgbClr val="787068"/>
                </a:solidFill>
                <a:latin typeface="Ubuntu Mono"/>
              </a:rPr>
              <a:t/>
            </a:r>
          </a:p>
        </p:txBody>
      </p:sp>
      <p:sp>
        <p:nvSpPr>
          <p:cNvPr id="30" name="Oval 29"/>
          <p:cNvSpPr/>
          <p:nvPr/>
        </p:nvSpPr>
        <p:spPr>
          <a:xfrm>
            <a:off x="508000" y="5359400"/>
            <a:ext cx="139700" cy="1397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7400" y="5334000"/>
            <a:ext cx="6261100" cy="204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52"/>
              </a:lnSpc>
              <a:spcAft>
                <a:spcPts val="632"/>
              </a:spcAft>
            </a:pPr>
            <a:r>
              <a:rPr sz="1150" b="0">
                <a:solidFill>
                  <a:srgbClr val="242834"/>
                </a:solidFill>
                <a:latin typeface="Ubuntu Mono"/>
              </a:rPr>
              <a:t>Accueil d'étudiants d'IFP Training sur nos installations.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8000" y="5969000"/>
            <a:ext cx="65405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25"/>
              </a:spcAft>
            </a:pPr>
            <a:r>
              <a:rPr sz="1500" b="1">
                <a:solidFill>
                  <a:srgbClr val="EE624C"/>
                </a:solidFill>
                <a:latin typeface="Ubuntu Mono"/>
              </a:rPr>
              <a:t>Côté LinkedIn</a:t>
            </a:r>
          </a:p>
        </p:txBody>
      </p:sp>
      <p:sp>
        <p:nvSpPr>
          <p:cNvPr id="33" name="Oval 32"/>
          <p:cNvSpPr/>
          <p:nvPr/>
        </p:nvSpPr>
        <p:spPr>
          <a:xfrm>
            <a:off x="508000" y="6350000"/>
            <a:ext cx="1498600" cy="14986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8000" y="6769608"/>
            <a:ext cx="14986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817"/>
              </a:spcAft>
            </a:pPr>
            <a:r>
              <a:rPr sz="3304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7279132"/>
            <a:ext cx="12954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posts</a:t>
            </a:r>
          </a:p>
        </p:txBody>
      </p:sp>
      <p:sp>
        <p:nvSpPr>
          <p:cNvPr id="36" name="Oval 35"/>
          <p:cNvSpPr/>
          <p:nvPr/>
        </p:nvSpPr>
        <p:spPr>
          <a:xfrm>
            <a:off x="2184400" y="6350000"/>
            <a:ext cx="1498600" cy="14986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84400" y="6769608"/>
            <a:ext cx="14986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817"/>
              </a:spcAft>
            </a:pPr>
            <a:r>
              <a:rPr sz="3304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7279132"/>
            <a:ext cx="12954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abonnés gagnés</a:t>
            </a:r>
          </a:p>
        </p:txBody>
      </p:sp>
      <p:sp>
        <p:nvSpPr>
          <p:cNvPr id="39" name="Oval 38"/>
          <p:cNvSpPr/>
          <p:nvPr/>
        </p:nvSpPr>
        <p:spPr>
          <a:xfrm>
            <a:off x="3860800" y="6350000"/>
            <a:ext cx="1498600" cy="1498600"/>
          </a:xfrm>
          <a:prstGeom prst="ellipse">
            <a:avLst/>
          </a:prstGeom>
          <a:solidFill>
            <a:srgbClr val="EE6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60800" y="6769608"/>
            <a:ext cx="14986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817"/>
              </a:spcAft>
            </a:pPr>
            <a:r>
              <a:rPr sz="3304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62400" y="7279132"/>
            <a:ext cx="12954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abonnés au total</a:t>
            </a:r>
          </a:p>
        </p:txBody>
      </p:sp>
      <p:sp>
        <p:nvSpPr>
          <p:cNvPr id="42" name="Oval 41"/>
          <p:cNvSpPr/>
          <p:nvPr/>
        </p:nvSpPr>
        <p:spPr>
          <a:xfrm>
            <a:off x="5537200" y="6350000"/>
            <a:ext cx="1498600" cy="14986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7200" y="6769608"/>
            <a:ext cx="14986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817"/>
              </a:spcAft>
            </a:pPr>
            <a:r>
              <a:rPr sz="3304" b="1">
                <a:solidFill>
                  <a:srgbClr val="FFFFFF"/>
                </a:solidFill>
                <a:latin typeface="Ubuntu Mono"/>
              </a:rPr>
              <a:t>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8800" y="7279132"/>
            <a:ext cx="1295400" cy="4495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40"/>
              </a:spcAft>
            </a:pPr>
            <a:r>
              <a:rPr sz="800" b="0">
                <a:solidFill>
                  <a:srgbClr val="FFF0DC"/>
                </a:solidFill>
                <a:latin typeface="Ubuntu Mono"/>
              </a:rPr>
              <a:t>réactions vs 2025</a:t>
            </a:r>
          </a:p>
        </p:txBody>
      </p:sp>
      <p:sp>
        <p:nvSpPr>
          <p:cNvPr id="45" name="Rectangle 44"/>
          <p:cNvSpPr/>
          <p:nvPr/>
        </p:nvSpPr>
        <p:spPr>
          <a:xfrm rot="21420000">
            <a:off x="546100" y="8178800"/>
            <a:ext cx="2032000" cy="1397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1420000">
            <a:off x="508000" y="8128000"/>
            <a:ext cx="2032000" cy="139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 rot="21420000">
            <a:off x="609600" y="8229600"/>
            <a:ext cx="1828800" cy="965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 rot="21420000">
            <a:off x="685800" y="8229600"/>
            <a:ext cx="1676400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GeoTHERM</a:t>
            </a:r>
          </a:p>
        </p:txBody>
      </p:sp>
      <p:sp>
        <p:nvSpPr>
          <p:cNvPr id="49" name="TextBox 48"/>
          <p:cNvSpPr txBox="1"/>
          <p:nvPr/>
        </p:nvSpPr>
        <p:spPr>
          <a:xfrm rot="21420000">
            <a:off x="609600" y="9245600"/>
            <a:ext cx="1828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50" name="Rectangle 49"/>
          <p:cNvSpPr/>
          <p:nvPr/>
        </p:nvSpPr>
        <p:spPr>
          <a:xfrm rot="21180000">
            <a:off x="1244600" y="8039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 rot="120000">
            <a:off x="2768600" y="8242300"/>
            <a:ext cx="2032000" cy="1397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 rot="120000">
            <a:off x="2730500" y="8191500"/>
            <a:ext cx="2032000" cy="139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 rot="120000">
            <a:off x="2832100" y="8293100"/>
            <a:ext cx="1828800" cy="965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 rot="120000">
            <a:off x="2908300" y="8293100"/>
            <a:ext cx="1676400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GEOFLUID</a:t>
            </a:r>
          </a:p>
        </p:txBody>
      </p:sp>
      <p:sp>
        <p:nvSpPr>
          <p:cNvPr id="55" name="TextBox 54"/>
          <p:cNvSpPr txBox="1"/>
          <p:nvPr/>
        </p:nvSpPr>
        <p:spPr>
          <a:xfrm rot="120000">
            <a:off x="2832100" y="9309100"/>
            <a:ext cx="1828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56" name="Rectangle 55"/>
          <p:cNvSpPr/>
          <p:nvPr/>
        </p:nvSpPr>
        <p:spPr>
          <a:xfrm rot="21480000">
            <a:off x="3467100" y="81026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 rot="21480000">
            <a:off x="4991100" y="8178800"/>
            <a:ext cx="2032000" cy="1397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 rot="21480000">
            <a:off x="4953000" y="8128000"/>
            <a:ext cx="2032000" cy="1397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 rot="21480000">
            <a:off x="5054600" y="8229600"/>
            <a:ext cx="1828800" cy="965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 rot="21480000">
            <a:off x="5130800" y="8229600"/>
            <a:ext cx="1676400" cy="965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ADIPEC</a:t>
            </a:r>
          </a:p>
        </p:txBody>
      </p:sp>
      <p:sp>
        <p:nvSpPr>
          <p:cNvPr id="61" name="TextBox 60"/>
          <p:cNvSpPr txBox="1"/>
          <p:nvPr/>
        </p:nvSpPr>
        <p:spPr>
          <a:xfrm rot="21480000">
            <a:off x="5054600" y="9245600"/>
            <a:ext cx="1828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62" name="Rectangle 61"/>
          <p:cNvSpPr/>
          <p:nvPr/>
        </p:nvSpPr>
        <p:spPr>
          <a:xfrm rot="21240000">
            <a:off x="5689600" y="8039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 rot="120000">
            <a:off x="4826000" y="5969000"/>
            <a:ext cx="2222500" cy="279400"/>
          </a:xfrm>
          <a:prstGeom prst="rect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 rot="120000">
            <a:off x="4927600" y="6019800"/>
            <a:ext cx="2019300" cy="177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67"/>
              </a:spcAft>
            </a:pPr>
            <a:r>
              <a:rPr sz="850" b="1">
                <a:solidFill>
                  <a:srgbClr val="5A3C00"/>
                </a:solidFill>
                <a:latin typeface="Ubuntu Mono"/>
              </a:rPr>
              <a:t>✎ À compléter : stats LinkedIn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Engagements solidaires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Parce qu'on est aussi une équipe qui s'engage.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26543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26035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8400" y="2794000"/>
            <a:ext cx="762000" cy="762000"/>
          </a:xfrm>
          <a:prstGeom prst="ellipse">
            <a:avLst/>
          </a:prstGeom>
          <a:solidFill>
            <a:srgbClr val="F078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000" y="3708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6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Octobre rose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089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787068"/>
                </a:solidFill>
                <a:latin typeface="Ubuntu Mono"/>
              </a:rPr>
              <a:t>Mobilisation de toute l'équipe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68600" y="26543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730500" y="26035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390900" y="2794000"/>
            <a:ext cx="762000" cy="762000"/>
          </a:xfrm>
          <a:prstGeom prst="ellipse">
            <a:avLst/>
          </a:prstGeom>
          <a:solidFill>
            <a:srgbClr val="0A4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57500" y="3708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6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Movember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57500" y="4089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787068"/>
                </a:solidFill>
                <a:latin typeface="Ubuntu Mono"/>
              </a:rPr>
              <a:t>Sensibilisation à la santé masculine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91100" y="26543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953000" y="2603500"/>
            <a:ext cx="20955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613400" y="2794000"/>
            <a:ext cx="762000" cy="762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80000" y="3708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60"/>
              </a:spcAft>
            </a:pPr>
            <a:r>
              <a:rPr sz="1200" b="1">
                <a:solidFill>
                  <a:srgbClr val="08203F"/>
                </a:solidFill>
                <a:latin typeface="Ubuntu Mono"/>
              </a:rPr>
              <a:t>Père Noël fait de la récup'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80000" y="4089400"/>
            <a:ext cx="18415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787068"/>
                </a:solidFill>
                <a:latin typeface="Ubuntu Mono"/>
              </a:rPr>
              <a:t>Collecte interne de jouets</a:t>
            </a:r>
          </a:p>
        </p:txBody>
      </p:sp>
      <p:sp>
        <p:nvSpPr>
          <p:cNvPr id="25" name="Rectangle 24"/>
          <p:cNvSpPr/>
          <p:nvPr/>
        </p:nvSpPr>
        <p:spPr>
          <a:xfrm rot="21540000">
            <a:off x="508000" y="4800600"/>
            <a:ext cx="6540500" cy="431800"/>
          </a:xfrm>
          <a:prstGeom prst="rect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 rot="21540000">
            <a:off x="609600" y="4851400"/>
            <a:ext cx="63373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67"/>
              </a:spcAft>
            </a:pPr>
            <a:r>
              <a:rPr sz="850" b="1">
                <a:solidFill>
                  <a:srgbClr val="5A3C00"/>
                </a:solidFill>
                <a:latin typeface="Ubuntu Mono"/>
              </a:rPr>
              <a:t>✎ À compléter : montants, nombre de jouets, associations bénéficiaires</a:t>
            </a:r>
          </a:p>
        </p:txBody>
      </p:sp>
      <p:sp>
        <p:nvSpPr>
          <p:cNvPr id="27" name="Rectangle 26"/>
          <p:cNvSpPr/>
          <p:nvPr/>
        </p:nvSpPr>
        <p:spPr>
          <a:xfrm rot="21420000">
            <a:off x="673100" y="5638800"/>
            <a:ext cx="3048000" cy="2159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1420000">
            <a:off x="635000" y="5588000"/>
            <a:ext cx="3048000" cy="2159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_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20000">
            <a:off x="736600" y="5689600"/>
            <a:ext cx="2844800" cy="172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 rot="21420000">
            <a:off x="736600" y="7467600"/>
            <a:ext cx="2844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Octobre rose</a:t>
            </a:r>
          </a:p>
        </p:txBody>
      </p:sp>
      <p:sp>
        <p:nvSpPr>
          <p:cNvPr id="31" name="Rectangle 30"/>
          <p:cNvSpPr/>
          <p:nvPr/>
        </p:nvSpPr>
        <p:spPr>
          <a:xfrm rot="21180000">
            <a:off x="1879600" y="5499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 rot="180000">
            <a:off x="4102100" y="5765800"/>
            <a:ext cx="2921000" cy="2032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80000">
            <a:off x="4064000" y="5715000"/>
            <a:ext cx="2921000" cy="20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0000">
            <a:off x="4165600" y="5816600"/>
            <a:ext cx="2717800" cy="1600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 rot="180000">
            <a:off x="4241800" y="5816600"/>
            <a:ext cx="2565400" cy="160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Movember</a:t>
            </a:r>
          </a:p>
        </p:txBody>
      </p:sp>
      <p:sp>
        <p:nvSpPr>
          <p:cNvPr id="36" name="TextBox 35"/>
          <p:cNvSpPr txBox="1"/>
          <p:nvPr/>
        </p:nvSpPr>
        <p:spPr>
          <a:xfrm rot="180000">
            <a:off x="4165600" y="7467600"/>
            <a:ext cx="2717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37" name="Rectangle 36"/>
          <p:cNvSpPr/>
          <p:nvPr/>
        </p:nvSpPr>
        <p:spPr>
          <a:xfrm rot="21540000">
            <a:off x="5245100" y="5626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1540000">
            <a:off x="1943100" y="8178800"/>
            <a:ext cx="3683000" cy="17780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1540000">
            <a:off x="1905000" y="8128000"/>
            <a:ext cx="3683000" cy="177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21540000">
            <a:off x="2006600" y="8229600"/>
            <a:ext cx="3479800" cy="13462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 rot="21540000">
            <a:off x="2082800" y="8229600"/>
            <a:ext cx="3327400" cy="1346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collecte de jouets</a:t>
            </a:r>
          </a:p>
        </p:txBody>
      </p:sp>
      <p:sp>
        <p:nvSpPr>
          <p:cNvPr id="42" name="TextBox 41"/>
          <p:cNvSpPr txBox="1"/>
          <p:nvPr/>
        </p:nvSpPr>
        <p:spPr>
          <a:xfrm rot="21540000">
            <a:off x="2006600" y="9626600"/>
            <a:ext cx="3479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3" name="Rectangle 42"/>
          <p:cNvSpPr/>
          <p:nvPr/>
        </p:nvSpPr>
        <p:spPr>
          <a:xfrm rot="21300000">
            <a:off x="3467100" y="8039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Galerie photos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Les moments qu'on garde.</a:t>
            </a:r>
          </a:p>
        </p:txBody>
      </p:sp>
      <p:sp>
        <p:nvSpPr>
          <p:cNvPr id="10" name="Rectangle 9"/>
          <p:cNvSpPr/>
          <p:nvPr/>
        </p:nvSpPr>
        <p:spPr>
          <a:xfrm rot="120000">
            <a:off x="546100" y="26543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120000">
            <a:off x="508000" y="26035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_p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20000">
            <a:off x="609600" y="2705100"/>
            <a:ext cx="2971800" cy="17907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 rot="120000">
            <a:off x="609600" y="45466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l'équipe</a:t>
            </a:r>
          </a:p>
        </p:txBody>
      </p:sp>
      <p:sp>
        <p:nvSpPr>
          <p:cNvPr id="14" name="Rectangle 13"/>
          <p:cNvSpPr/>
          <p:nvPr/>
        </p:nvSpPr>
        <p:spPr>
          <a:xfrm rot="21480000">
            <a:off x="1816100" y="25146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1420000">
            <a:off x="3848100" y="27813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1420000">
            <a:off x="3810000" y="27305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420000">
            <a:off x="3911600" y="2832100"/>
            <a:ext cx="2971800" cy="17907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 rot="21420000">
            <a:off x="3987800" y="2832100"/>
            <a:ext cx="28194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chantier / atelier / équipe</a:t>
            </a:r>
          </a:p>
        </p:txBody>
      </p:sp>
      <p:sp>
        <p:nvSpPr>
          <p:cNvPr id="19" name="TextBox 18"/>
          <p:cNvSpPr txBox="1"/>
          <p:nvPr/>
        </p:nvSpPr>
        <p:spPr>
          <a:xfrm rot="21420000">
            <a:off x="3911600" y="46736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20" name="Rectangle 19"/>
          <p:cNvSpPr/>
          <p:nvPr/>
        </p:nvSpPr>
        <p:spPr>
          <a:xfrm rot="21180000">
            <a:off x="5118100" y="26416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1480000">
            <a:off x="673100" y="51308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1480000">
            <a:off x="635000" y="50800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1480000">
            <a:off x="736600" y="5181600"/>
            <a:ext cx="2971800" cy="17907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 rot="21480000">
            <a:off x="812800" y="5181600"/>
            <a:ext cx="28194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chantier / atelier / équipe</a:t>
            </a:r>
          </a:p>
        </p:txBody>
      </p:sp>
      <p:sp>
        <p:nvSpPr>
          <p:cNvPr id="25" name="TextBox 24"/>
          <p:cNvSpPr txBox="1"/>
          <p:nvPr/>
        </p:nvSpPr>
        <p:spPr>
          <a:xfrm rot="21480000">
            <a:off x="736600" y="70231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26" name="Rectangle 25"/>
          <p:cNvSpPr/>
          <p:nvPr/>
        </p:nvSpPr>
        <p:spPr>
          <a:xfrm rot="21240000">
            <a:off x="1943100" y="4991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80000">
            <a:off x="3911600" y="52578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180000">
            <a:off x="3873500" y="52070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180000">
            <a:off x="3975100" y="5308600"/>
            <a:ext cx="2971800" cy="17907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 rot="180000">
            <a:off x="4051300" y="5308600"/>
            <a:ext cx="28194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chantier / atelier / équipe</a:t>
            </a:r>
          </a:p>
        </p:txBody>
      </p:sp>
      <p:sp>
        <p:nvSpPr>
          <p:cNvPr id="31" name="TextBox 30"/>
          <p:cNvSpPr txBox="1"/>
          <p:nvPr/>
        </p:nvSpPr>
        <p:spPr>
          <a:xfrm rot="180000">
            <a:off x="3975100" y="71501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32" name="Rectangle 31"/>
          <p:cNvSpPr/>
          <p:nvPr/>
        </p:nvSpPr>
        <p:spPr>
          <a:xfrm rot="21540000">
            <a:off x="5181600" y="5118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 rot="180000">
            <a:off x="546100" y="76708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 rot="180000">
            <a:off x="508000" y="76200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180000">
            <a:off x="609600" y="7721600"/>
            <a:ext cx="2971800" cy="17907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 rot="180000">
            <a:off x="685800" y="7721600"/>
            <a:ext cx="28194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chantier / atelier / équipe</a:t>
            </a:r>
          </a:p>
        </p:txBody>
      </p:sp>
      <p:sp>
        <p:nvSpPr>
          <p:cNvPr id="37" name="TextBox 36"/>
          <p:cNvSpPr txBox="1"/>
          <p:nvPr/>
        </p:nvSpPr>
        <p:spPr>
          <a:xfrm rot="180000">
            <a:off x="609600" y="95631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38" name="Rectangle 37"/>
          <p:cNvSpPr/>
          <p:nvPr/>
        </p:nvSpPr>
        <p:spPr>
          <a:xfrm rot="21540000">
            <a:off x="1816100" y="7531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1480000">
            <a:off x="3848100" y="7797800"/>
            <a:ext cx="3175000" cy="2222500"/>
          </a:xfrm>
          <a:prstGeom prst="rect">
            <a:avLst/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 rot="21480000">
            <a:off x="3810000" y="7747000"/>
            <a:ext cx="3175000" cy="2222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 rot="21480000">
            <a:off x="3911600" y="7848600"/>
            <a:ext cx="2971800" cy="1790700"/>
          </a:xfrm>
          <a:prstGeom prst="rect">
            <a:avLst/>
          </a:prstGeom>
          <a:solidFill>
            <a:srgbClr val="E8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 rot="21480000">
            <a:off x="3987800" y="7848600"/>
            <a:ext cx="2819400" cy="17907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📷 chantier / atelier / équipe</a:t>
            </a:r>
          </a:p>
        </p:txBody>
      </p:sp>
      <p:sp>
        <p:nvSpPr>
          <p:cNvPr id="43" name="TextBox 42"/>
          <p:cNvSpPr txBox="1"/>
          <p:nvPr/>
        </p:nvSpPr>
        <p:spPr>
          <a:xfrm rot="21480000">
            <a:off x="3911600" y="9690100"/>
            <a:ext cx="29718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67"/>
              </a:spcAft>
            </a:pPr>
            <a:r>
              <a:rPr sz="850" b="0">
                <a:solidFill>
                  <a:srgbClr val="787068"/>
                </a:solidFill>
                <a:latin typeface="Ubuntu Mono"/>
              </a:rPr>
              <a:t>légende</a:t>
            </a:r>
          </a:p>
        </p:txBody>
      </p:sp>
      <p:sp>
        <p:nvSpPr>
          <p:cNvPr id="44" name="Rectangle 43"/>
          <p:cNvSpPr/>
          <p:nvPr/>
        </p:nvSpPr>
        <p:spPr>
          <a:xfrm rot="21240000">
            <a:off x="5118100" y="7658100"/>
            <a:ext cx="558800" cy="177800"/>
          </a:xfrm>
          <a:prstGeom prst="rect">
            <a:avLst/>
          </a:prstGeom>
          <a:solidFill>
            <a:srgbClr val="FFDC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461000" y="-1143000"/>
            <a:ext cx="2921000" cy="2921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350000" y="-508000"/>
            <a:ext cx="1905000" cy="1905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889000" y="9398000"/>
            <a:ext cx="2413000" cy="2413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8000" y="609600"/>
            <a:ext cx="15240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860"/>
              </a:spcAft>
            </a:pPr>
            <a:r>
              <a:rPr sz="5200" b="1">
                <a:solidFill>
                  <a:srgbClr val="FFC457"/>
                </a:solidFill>
                <a:latin typeface="Ubuntu Mono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8000" y="1320800"/>
            <a:ext cx="482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10"/>
              </a:spcAft>
            </a:pPr>
            <a:r>
              <a:rPr sz="2200" b="1">
                <a:solidFill>
                  <a:srgbClr val="08203F"/>
                </a:solidFill>
                <a:latin typeface="Ubuntu Mono"/>
              </a:rPr>
              <a:t>Les jeux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000" y="1752600"/>
            <a:ext cx="889000" cy="76200"/>
          </a:xfrm>
          <a:prstGeom prst="roundRect">
            <a:avLst>
              <a:gd name="adj" fmla="val 50000"/>
            </a:avLst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8000" y="1930400"/>
            <a:ext cx="482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400"/>
              </a:lnSpc>
              <a:spcAft>
                <a:spcPts val="577"/>
              </a:spcAft>
            </a:pPr>
            <a:r>
              <a:rPr sz="1050" b="0">
                <a:solidFill>
                  <a:srgbClr val="787068"/>
                </a:solidFill>
                <a:latin typeface="Ubuntu Mono"/>
              </a:rPr>
              <a:t>Une pause avant les fêtes.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6100" y="2654300"/>
            <a:ext cx="6540500" cy="2032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8000" y="2603500"/>
            <a:ext cx="65405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6600" y="2730500"/>
            <a:ext cx="6096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15"/>
              </a:spcAft>
            </a:pPr>
            <a:r>
              <a:rPr sz="1300" b="1">
                <a:solidFill>
                  <a:srgbClr val="EE624C"/>
                </a:solidFill>
                <a:latin typeface="Ubuntu Mono"/>
              </a:rPr>
              <a:t>Mots codés (A=1, B=2…)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600" y="31115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6-15-18-1-7-5 : ......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1600" y="31115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7-5-15-20-8-5-18-13-9-5 : ......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600" y="35433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20-18-5-16-1-14 : ......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11600" y="35433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6-9-19-8-9-14-7 : ......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600" y="39751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13-23-4 : ......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11600" y="39751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242834"/>
                </a:solidFill>
                <a:latin typeface="Ubuntu Mono"/>
              </a:rPr>
              <a:t>5-14-5-4-18-9-12 : ......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6100" y="4876800"/>
            <a:ext cx="6540500" cy="1905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8000" y="4826000"/>
            <a:ext cx="65405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600" y="4953000"/>
            <a:ext cx="6096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15"/>
              </a:spcAft>
            </a:pPr>
            <a:r>
              <a:rPr sz="1300" b="1">
                <a:solidFill>
                  <a:srgbClr val="EE624C"/>
                </a:solidFill>
                <a:latin typeface="Ubuntu Mono"/>
              </a:rPr>
              <a:t>Anagrammes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600" y="53340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GEBUTA : ......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11600" y="53340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DOSNAGE : ......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600" y="57658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MPEPO : ......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11600" y="57658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TIPUS : ......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600" y="61976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GENEIRE : ......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1600" y="6197600"/>
            <a:ext cx="31115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TAGEZET : ......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6100" y="6972300"/>
            <a:ext cx="6540500" cy="1397000"/>
          </a:xfrm>
          <a:prstGeom prst="roundRect">
            <a:avLst>
              <a:gd name="adj" fmla="val 8000"/>
            </a:avLst>
          </a:prstGeom>
          <a:solidFill>
            <a:srgbClr val="F4E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8000" y="6921500"/>
            <a:ext cx="6540500" cy="139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6600" y="7048500"/>
            <a:ext cx="6096000" cy="25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15"/>
              </a:spcAft>
            </a:pPr>
            <a:r>
              <a:rPr sz="1300" b="1">
                <a:solidFill>
                  <a:srgbClr val="EE624C"/>
                </a:solidFill>
                <a:latin typeface="Ubuntu Mono"/>
              </a:rPr>
              <a:t>Devinette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600" y="7366000"/>
            <a:ext cx="60960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500"/>
              </a:lnSpc>
              <a:spcAft>
                <a:spcPts val="605"/>
              </a:spcAft>
            </a:pPr>
            <a:r>
              <a:rPr sz="1100" b="0">
                <a:solidFill>
                  <a:srgbClr val="242834"/>
                </a:solidFill>
                <a:latin typeface="Ubuntu Mono"/>
              </a:rPr>
              <a:t>Je descends sous terre, je tourne sans cesse, je mords la roche et je ne m'arrête qu'une fois au fond. Qui suis-je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8000" y="8534400"/>
            <a:ext cx="6540500" cy="1092200"/>
          </a:xfrm>
          <a:prstGeom prst="roundRect">
            <a:avLst>
              <a:gd name="adj" fmla="val 10000"/>
            </a:avLst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8636000"/>
            <a:ext cx="6223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77"/>
              </a:spcAft>
            </a:pPr>
            <a:r>
              <a:rPr sz="1050" b="1">
                <a:solidFill>
                  <a:srgbClr val="08203F"/>
                </a:solidFill>
                <a:latin typeface="Ubuntu Mono"/>
              </a:rPr>
              <a:t>Solutions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1200" y="8864600"/>
            <a:ext cx="62230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08203F"/>
                </a:solidFill>
                <a:latin typeface="Ubuntu Mono"/>
              </a:rPr>
              <a:t>Mots codés : FORAGE, GEOTHERMIE, TREPAN, FISHING, MWD, ENEDRIL</a:t>
            </a:r>
          </a:p>
          <a:p>
            <a:pPr algn="l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08203F"/>
                </a:solidFill>
                <a:latin typeface="Ubuntu Mono"/>
              </a:rPr>
              <a:t>Anagrammes : TUBAGE, SONDAGE, POMPE, PUITS, ENERGIE, GAZETTE</a:t>
            </a:r>
          </a:p>
          <a:p>
            <a:pPr algn="l">
              <a:lnSpc>
                <a:spcPts val="1200"/>
              </a:lnSpc>
              <a:spcAft>
                <a:spcPts val="495"/>
              </a:spcAft>
            </a:pPr>
            <a:r>
              <a:rPr sz="900" b="0">
                <a:solidFill>
                  <a:srgbClr val="08203F"/>
                </a:solidFill>
                <a:latin typeface="Ubuntu Mono"/>
              </a:rPr>
              <a:t>Devinette : le trépan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8000" y="10287000"/>
            <a:ext cx="381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40"/>
              </a:spcAft>
            </a:pPr>
            <a:r>
              <a:rPr sz="800" b="0">
                <a:solidFill>
                  <a:srgbClr val="787068"/>
                </a:solidFill>
                <a:latin typeface="Ubuntu Mono"/>
              </a:rPr>
              <a:t>Enedril · Rétrospective 2026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0500" y="10287000"/>
            <a:ext cx="50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95"/>
              </a:spcAft>
            </a:pPr>
            <a:r>
              <a:rPr sz="900" b="1">
                <a:solidFill>
                  <a:srgbClr val="F48C28"/>
                </a:solidFill>
                <a:latin typeface="Ubuntu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6500" cy="10693400"/>
          </a:xfrm>
          <a:prstGeom prst="rect">
            <a:avLst/>
          </a:prstGeom>
          <a:solidFill>
            <a:srgbClr val="082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40000" y="4826000"/>
            <a:ext cx="6096000" cy="6096000"/>
          </a:xfrm>
          <a:prstGeom prst="ellipse">
            <a:avLst/>
          </a:prstGeom>
          <a:solidFill>
            <a:srgbClr val="F4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83000" y="5969000"/>
            <a:ext cx="3810000" cy="3810000"/>
          </a:xfrm>
          <a:prstGeom prst="ellipse">
            <a:avLst/>
          </a:prstGeom>
          <a:solidFill>
            <a:srgbClr val="FFC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016000" y="-762000"/>
            <a:ext cx="3048000" cy="3048000"/>
          </a:xfrm>
          <a:prstGeom prst="ellipse">
            <a:avLst/>
          </a:prstGeom>
          <a:solidFill>
            <a:srgbClr val="1CB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enedri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" y="4191000"/>
            <a:ext cx="3810000" cy="8669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000" y="5080000"/>
            <a:ext cx="5080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5"/>
              </a:spcAft>
            </a:pPr>
            <a:r>
              <a:rPr sz="1100" b="0">
                <a:solidFill>
                  <a:srgbClr val="FFC457"/>
                </a:solidFill>
                <a:latin typeface="Ubuntu Mono"/>
              </a:rPr>
              <a:t>Fishing and Drilling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524000"/>
            <a:ext cx="533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800"/>
              </a:lnSpc>
              <a:spcAft>
                <a:spcPts val="1650"/>
              </a:spcAft>
            </a:pPr>
            <a:r>
              <a:rPr sz="3000" b="1">
                <a:solidFill>
                  <a:srgbClr val="FFFFFF"/>
                </a:solidFill>
                <a:latin typeface="Ubuntu Mono"/>
              </a:rPr>
              <a:t>Merci,</a:t>
            </a:r>
          </a:p>
          <a:p>
            <a:pPr algn="l">
              <a:lnSpc>
                <a:spcPts val="3800"/>
              </a:lnSpc>
              <a:spcAft>
                <a:spcPts val="1650"/>
              </a:spcAft>
            </a:pPr>
            <a:r>
              <a:rPr sz="3000" b="1">
                <a:solidFill>
                  <a:srgbClr val="FFFFFF"/>
                </a:solidFill>
                <a:latin typeface="Ubuntu Mono"/>
              </a:rPr>
              <a:t>bonnes fêtes</a:t>
            </a:r>
          </a:p>
          <a:p>
            <a:pPr algn="l">
              <a:lnSpc>
                <a:spcPts val="3800"/>
              </a:lnSpc>
              <a:spcAft>
                <a:spcPts val="1650"/>
              </a:spcAft>
            </a:pPr>
            <a:r>
              <a:rPr sz="3000" b="1">
                <a:solidFill>
                  <a:srgbClr val="FFFFFF"/>
                </a:solidFill>
                <a:latin typeface="Ubuntu Mono"/>
              </a:rPr>
              <a:t>et à 2027 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9906000"/>
            <a:ext cx="609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50"/>
              </a:spcAft>
            </a:pPr>
            <a:r>
              <a:rPr sz="1000" b="0">
                <a:solidFill>
                  <a:srgbClr val="FFFFFF"/>
                </a:solidFill>
                <a:latin typeface="Ubuntu Mono"/>
              </a:rPr>
              <a:t>www.enedril.com · 3 av des lacs, 64140 Lons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