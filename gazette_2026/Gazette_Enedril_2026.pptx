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175000"/>
            <a:ext cx="7556500" cy="7518400"/>
          </a:xfrm>
          <a:custGeom>
            <a:avLst/>
            <a:gdLst/>
            <a:ahLst/>
            <a:cxnLst/>
            <a:rect l="l" t="t" r="r" b="b"/>
            <a:pathLst>
              <a:path w="7556500" h="7518400">
                <a:moveTo>
                  <a:pt x="0" y="2286000"/>
                </a:moveTo>
                <a:lnTo>
                  <a:pt x="7556500" y="0"/>
                </a:lnTo>
                <a:lnTo>
                  <a:pt x="7556500" y="7518400"/>
                </a:lnTo>
                <a:lnTo>
                  <a:pt x="0" y="751840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334000"/>
            <a:ext cx="7556500" cy="5359400"/>
          </a:xfrm>
          <a:custGeom>
            <a:avLst/>
            <a:gdLst/>
            <a:ahLst/>
            <a:cxnLst/>
            <a:rect l="l" t="t" r="r" b="b"/>
            <a:pathLst>
              <a:path w="7556500" h="5359400">
                <a:moveTo>
                  <a:pt x="0" y="1778000"/>
                </a:moveTo>
                <a:lnTo>
                  <a:pt x="7556500" y="0"/>
                </a:lnTo>
                <a:lnTo>
                  <a:pt x="7556500" y="5359400"/>
                </a:lnTo>
                <a:lnTo>
                  <a:pt x="0" y="5359400"/>
                </a:lnTo>
                <a:close/>
              </a:path>
            </a:pathLst>
          </a:custGeom>
          <a:solidFill>
            <a:srgbClr val="19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util_SPX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040000">
            <a:off x="-2159000" y="1905000"/>
            <a:ext cx="9652000" cy="1757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8800" y="4191000"/>
            <a:ext cx="660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75"/>
              </a:spcAft>
            </a:pPr>
            <a:r>
              <a:rPr sz="950" b="1">
                <a:solidFill>
                  <a:srgbClr val="1CB2FE"/>
                </a:solidFill>
                <a:latin typeface="Ubuntu Mono"/>
              </a:rPr>
              <a:t>LA GAZETTE DE FIN D'ANNÉE · ÉDITION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445000"/>
            <a:ext cx="6858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200"/>
              </a:spcAft>
            </a:pPr>
            <a:r>
              <a:rPr sz="8400" b="1">
                <a:solidFill>
                  <a:srgbClr val="FFFFFF"/>
                </a:solidFill>
                <a:latin typeface="Ubuntu Mono"/>
              </a:rPr>
              <a:t>RÉTRO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5461000"/>
            <a:ext cx="7112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200"/>
              </a:spcAft>
            </a:pPr>
            <a:r>
              <a:rPr sz="8400" b="1">
                <a:solidFill>
                  <a:srgbClr val="FFFFFF"/>
                </a:solidFill>
                <a:latin typeface="Ubuntu Mono"/>
              </a:rPr>
              <a:t>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6794500"/>
            <a:ext cx="2540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200"/>
              </a:spcAft>
            </a:pPr>
            <a:r>
              <a:rPr sz="4400" b="1">
                <a:solidFill>
                  <a:srgbClr val="1CB2FE"/>
                </a:solidFill>
                <a:latin typeface="Ubuntu Mono"/>
              </a:rPr>
              <a:t>2026</a:t>
            </a:r>
          </a:p>
        </p:txBody>
      </p:sp>
      <p:pic>
        <p:nvPicPr>
          <p:cNvPr id="10" name="Picture 9" descr="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7747000"/>
            <a:ext cx="3302000" cy="2032000"/>
          </a:xfrm>
          <a:prstGeom prst="rect">
            <a:avLst/>
          </a:prstGeom>
        </p:spPr>
      </p:pic>
      <p:pic>
        <p:nvPicPr>
          <p:cNvPr id="11" name="Picture 10" descr="logo-enedri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9398000"/>
            <a:ext cx="2413000" cy="5490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810000" cy="10693400"/>
          </a:xfrm>
          <a:custGeom>
            <a:avLst/>
            <a:gdLst/>
            <a:ahLst/>
            <a:cxnLst/>
            <a:rect l="l" t="t" r="r" b="b"/>
            <a:pathLst>
              <a:path w="3810000" h="10693400">
                <a:moveTo>
                  <a:pt x="0" y="0"/>
                </a:moveTo>
                <a:lnTo>
                  <a:pt x="3810000" y="0"/>
                </a:lnTo>
                <a:lnTo>
                  <a:pt x="22860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19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0"/>
            <a:ext cx="2159000" cy="10693400"/>
          </a:xfrm>
          <a:custGeom>
            <a:avLst/>
            <a:gdLst/>
            <a:ahLst/>
            <a:cxnLst/>
            <a:rect l="l" t="t" r="r" b="b"/>
            <a:pathLst>
              <a:path w="2159000" h="10693400">
                <a:moveTo>
                  <a:pt x="0" y="0"/>
                </a:moveTo>
                <a:lnTo>
                  <a:pt x="2159000" y="0"/>
                </a:lnTo>
                <a:lnTo>
                  <a:pt x="7620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8800" y="762000"/>
            <a:ext cx="3810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1">
                <a:solidFill>
                  <a:srgbClr val="FFFFFF"/>
                </a:solidFill>
                <a:latin typeface="Ubuntu Mono"/>
              </a:rPr>
              <a:t>SOMMAIRE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1346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685800" h="50800">
                <a:moveTo>
                  <a:pt x="0" y="0"/>
                </a:moveTo>
                <a:lnTo>
                  <a:pt x="685800" y="0"/>
                </a:lnTo>
                <a:lnTo>
                  <a:pt x="685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1000" y="20828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1CB2FE"/>
                </a:solidFill>
                <a:latin typeface="Ubuntu Mon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2400" y="2209800"/>
            <a:ext cx="38100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1">
                <a:solidFill>
                  <a:srgbClr val="FFFFFF"/>
                </a:solidFill>
                <a:latin typeface="Ubuntu Mono"/>
              </a:rPr>
              <a:t>Mot de la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7700" y="30480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1CB2FE"/>
                </a:solidFill>
                <a:latin typeface="Ubuntu Mono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9100" y="3175000"/>
            <a:ext cx="38100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1">
                <a:solidFill>
                  <a:srgbClr val="FFFFFF"/>
                </a:solidFill>
                <a:latin typeface="Ubuntu Mono"/>
              </a:rPr>
              <a:t>Actualités internes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4800" y="40132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1CB2FE"/>
                </a:solidFill>
                <a:latin typeface="Ubuntu Mono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140200"/>
            <a:ext cx="38100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1">
                <a:solidFill>
                  <a:srgbClr val="FFFFFF"/>
                </a:solidFill>
                <a:latin typeface="Ubuntu Mono"/>
              </a:rPr>
              <a:t>Annonces et changements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1500" y="49784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1CB2FE"/>
                </a:solidFill>
                <a:latin typeface="Ubuntu Mono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5105400"/>
            <a:ext cx="38100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1">
                <a:solidFill>
                  <a:srgbClr val="FFFFFF"/>
                </a:solidFill>
                <a:latin typeface="Ubuntu Mono"/>
              </a:rPr>
              <a:t>Actualités commerciales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8600" y="59436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1CB2FE"/>
                </a:solidFill>
                <a:latin typeface="Ubuntu Mono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0" y="6070600"/>
            <a:ext cx="38100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1">
                <a:solidFill>
                  <a:srgbClr val="FFFFFF"/>
                </a:solidFill>
                <a:latin typeface="Ubuntu Mono"/>
              </a:rPr>
              <a:t>Marketing et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300" y="69088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1CB2FE"/>
                </a:solidFill>
                <a:latin typeface="Ubuntu Mono"/>
              </a:rP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6700" y="7035800"/>
            <a:ext cx="38100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1">
                <a:solidFill>
                  <a:srgbClr val="FFFFFF"/>
                </a:solidFill>
                <a:latin typeface="Ubuntu Mono"/>
              </a:rPr>
              <a:t>Engagements solidaires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2400" y="78740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1CB2FE"/>
                </a:solidFill>
                <a:latin typeface="Ubuntu Mono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3800" y="8001000"/>
            <a:ext cx="38100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1">
                <a:solidFill>
                  <a:srgbClr val="FFFFFF"/>
                </a:solidFill>
                <a:latin typeface="Ubuntu Mono"/>
              </a:rPr>
              <a:t>Galerie photos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9100" y="88392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1CB2FE"/>
                </a:solidFill>
                <a:latin typeface="Ubuntu Mono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500" y="8966200"/>
            <a:ext cx="38100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1">
                <a:solidFill>
                  <a:srgbClr val="FFFFFF"/>
                </a:solidFill>
                <a:latin typeface="Ubuntu Mono"/>
              </a:rPr>
              <a:t>Les jeux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1CB2FE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1CB2FE"/>
                </a:solidFill>
                <a:latin typeface="Ubuntu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556500" cy="3810000"/>
          </a:xfrm>
          <a:custGeom>
            <a:avLst/>
            <a:gdLst/>
            <a:ahLst/>
            <a:cxnLst/>
            <a:rect l="l" t="t" r="r" b="b"/>
            <a:pathLst>
              <a:path w="7556500" h="3810000">
                <a:moveTo>
                  <a:pt x="0" y="0"/>
                </a:moveTo>
                <a:lnTo>
                  <a:pt x="7556500" y="0"/>
                </a:lnTo>
                <a:lnTo>
                  <a:pt x="7556500" y="2921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660400"/>
            <a:ext cx="254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0A4FA0"/>
                </a:solidFill>
                <a:latin typeface="Ubuntu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524000"/>
            <a:ext cx="381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Ubuntu Mono"/>
              </a:rPr>
              <a:t>Mot de la direction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20320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685800" h="50800">
                <a:moveTo>
                  <a:pt x="0" y="0"/>
                </a:moveTo>
                <a:lnTo>
                  <a:pt x="685800" y="0"/>
                </a:lnTo>
                <a:lnTo>
                  <a:pt x="685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762000"/>
            <a:ext cx="2857500" cy="1905000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558800" y="4191000"/>
            <a:ext cx="38100" cy="4572000"/>
          </a:xfrm>
          <a:custGeom>
            <a:avLst/>
            <a:gdLst/>
            <a:ahLst/>
            <a:cxnLst/>
            <a:rect l="l" t="t" r="r" b="b"/>
            <a:pathLst>
              <a:path w="38100" h="4572000">
                <a:moveTo>
                  <a:pt x="0" y="0"/>
                </a:moveTo>
                <a:lnTo>
                  <a:pt x="38100" y="0"/>
                </a:lnTo>
                <a:lnTo>
                  <a:pt x="3810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4165600"/>
            <a:ext cx="59690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7"/>
              </a:lnSpc>
              <a:spcAft>
                <a:spcPts val="575"/>
              </a:spcAft>
            </a:pPr>
            <a:r>
              <a:rPr sz="1150" b="0">
                <a:solidFill>
                  <a:srgbClr val="0B1B2E"/>
                </a:solidFill>
                <a:latin typeface="Ubuntu Mono"/>
              </a:rPr>
              <a:t>Chers collaborateurs,</a:t>
            </a:r>
          </a:p>
          <a:p>
            <a:pPr algn="l">
              <a:lnSpc>
                <a:spcPts val="1667"/>
              </a:lnSpc>
              <a:spcAft>
                <a:spcPts val="575"/>
              </a:spcAft>
            </a:pPr>
            <a:r>
              <a:rPr sz="1150" b="0">
                <a:solidFill>
                  <a:srgbClr val="0B1B2E"/>
                </a:solidFill>
                <a:latin typeface="Ubuntu Mono"/>
              </a:rPr>
              <a:t>Alors que nous clôturons 2026, nous souhaitons revenir sur les temps forts de cette année et partager avec vous les perspectives qui s'ouvrent pour la suivante.</a:t>
            </a:r>
          </a:p>
          <a:p>
            <a:pPr algn="l">
              <a:lnSpc>
                <a:spcPts val="1667"/>
              </a:lnSpc>
              <a:spcAft>
                <a:spcPts val="575"/>
              </a:spcAft>
            </a:pPr>
            <a:r>
              <a:rPr sz="1150" b="0">
                <a:solidFill>
                  <a:srgbClr val="0B1B2E"/>
                </a:solidFill>
                <a:latin typeface="Ubuntu Mono"/>
              </a:rPr>
              <a:t>2026 a été une année de changements concrets : de nouveaux collaborateurs, l'essai de la semaine à quatre jours, de nouveaux avantages, un nouveau bâtiment de stockage, une nouvelle Break-out unit et un parking remanié. Notre chauffage a aussi évolué : une pompe à chaleur alimentée par deux puits de géothermie, une belle cohérence avec notre métier.</a:t>
            </a:r>
          </a:p>
          <a:p>
            <a:pPr algn="l">
              <a:lnSpc>
                <a:spcPts val="1667"/>
              </a:lnSpc>
              <a:spcAft>
                <a:spcPts val="575"/>
              </a:spcAft>
            </a:pPr>
            <a:r>
              <a:rPr sz="1150" b="0">
                <a:solidFill>
                  <a:srgbClr val="0B1B2E"/>
                </a:solidFill>
                <a:latin typeface="Ubuntu Mono"/>
              </a:rPr>
              <a:t>Nous avons été présents à GeoTHERM, GEOFLUID, ADIPEC et aux Geodays, accueilli des étudiants d'IFP Training, et nous nous sommes retrouvés : Section Paloise, barbecue de mai, Octobre rose, Movember et la collecte de jouets.</a:t>
            </a:r>
          </a:p>
          <a:p>
            <a:pPr algn="l">
              <a:lnSpc>
                <a:spcPts val="1667"/>
              </a:lnSpc>
              <a:spcAft>
                <a:spcPts val="575"/>
              </a:spcAft>
            </a:pPr>
            <a:r>
              <a:rPr sz="1150" b="0">
                <a:solidFill>
                  <a:srgbClr val="0B1B2E"/>
                </a:solidFill>
                <a:latin typeface="Ubuntu Mono"/>
              </a:rPr>
              <a:t>Rendez-vous à GeoTHERM, à Offenburg, les 25 et 26 février 2027, sur notre stand 274.</a:t>
            </a:r>
          </a:p>
          <a:p>
            <a:pPr algn="l">
              <a:lnSpc>
                <a:spcPts val="1667"/>
              </a:lnSpc>
              <a:spcAft>
                <a:spcPts val="575"/>
              </a:spcAft>
            </a:pPr>
            <a:r>
              <a:rPr sz="1150" b="0">
                <a:solidFill>
                  <a:srgbClr val="0B1B2E"/>
                </a:solidFill>
                <a:latin typeface="Ubuntu Mono"/>
              </a:rPr>
              <a:t>Merci pour votre implication et votre sérieux tout au long de l'année. Votre engagement est essentiel pour faire progresser Enedril.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9423400"/>
            <a:ext cx="5080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A4FA0"/>
                </a:solidFill>
                <a:latin typeface="Ubuntu Mono"/>
              </a:rPr>
              <a:t>Merci à tous et à très bientôt,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A4FA0"/>
                </a:solidFill>
                <a:latin typeface="Ubuntu Mono"/>
              </a:rPr>
              <a:t>Fabien &amp; Alexis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5A6B7F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0A4FA0"/>
                </a:solidFill>
                <a:latin typeface="Ubuntu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810000" y="0"/>
            <a:ext cx="3746500" cy="3810000"/>
          </a:xfrm>
          <a:custGeom>
            <a:avLst/>
            <a:gdLst/>
            <a:ahLst/>
            <a:cxnLst/>
            <a:rect l="l" t="t" r="r" b="b"/>
            <a:pathLst>
              <a:path w="3746500" h="3810000">
                <a:moveTo>
                  <a:pt x="1016000" y="0"/>
                </a:moveTo>
                <a:lnTo>
                  <a:pt x="3746500" y="0"/>
                </a:lnTo>
                <a:lnTo>
                  <a:pt x="3746500" y="3810000"/>
                </a:lnTo>
                <a:lnTo>
                  <a:pt x="0" y="3810000"/>
                </a:lnTo>
                <a:close/>
              </a:path>
            </a:pathLst>
          </a:cu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508000"/>
            <a:ext cx="254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CDE1F3"/>
                </a:solidFill>
                <a:latin typeface="Ubuntu Mon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71600"/>
            <a:ext cx="533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Actualités internes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1854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685800" h="50800">
                <a:moveTo>
                  <a:pt x="0" y="0"/>
                </a:moveTo>
                <a:lnTo>
                  <a:pt x="685800" y="0"/>
                </a:lnTo>
                <a:lnTo>
                  <a:pt x="685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" y="23495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01ADEE"/>
                </a:solidFill>
                <a:latin typeface="Ubuntu Mono"/>
              </a:rPr>
              <a:t>BIENVENUE AUX NOUVEAUX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2667000"/>
            <a:ext cx="3810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Thibaut</a:t>
            </a:r>
          </a:p>
        </p:txBody>
      </p:sp>
      <p:sp>
        <p:nvSpPr>
          <p:cNvPr id="9" name="Freeform 8"/>
          <p:cNvSpPr/>
          <p:nvPr/>
        </p:nvSpPr>
        <p:spPr>
          <a:xfrm>
            <a:off x="558800" y="3098800"/>
            <a:ext cx="1905000" cy="19050"/>
          </a:xfrm>
          <a:custGeom>
            <a:avLst/>
            <a:gdLst/>
            <a:ahLst/>
            <a:cxnLst/>
            <a:rect l="l" t="t" r="r" b="b"/>
            <a:pathLst>
              <a:path w="1905000" h="19050">
                <a:moveTo>
                  <a:pt x="0" y="0"/>
                </a:moveTo>
                <a:lnTo>
                  <a:pt x="1905000" y="0"/>
                </a:lnTo>
                <a:lnTo>
                  <a:pt x="1905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3175000"/>
            <a:ext cx="3810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A4FA0"/>
                </a:solidFill>
                <a:latin typeface="Ubuntu Mono"/>
              </a:rPr>
              <a:t>Mickael</a:t>
            </a:r>
          </a:p>
        </p:txBody>
      </p:sp>
      <p:sp>
        <p:nvSpPr>
          <p:cNvPr id="11" name="Freeform 10"/>
          <p:cNvSpPr/>
          <p:nvPr/>
        </p:nvSpPr>
        <p:spPr>
          <a:xfrm>
            <a:off x="660400" y="3606800"/>
            <a:ext cx="1828800" cy="19050"/>
          </a:xfrm>
          <a:custGeom>
            <a:avLst/>
            <a:gdLst/>
            <a:ahLst/>
            <a:cxnLst/>
            <a:rect l="l" t="t" r="r" b="b"/>
            <a:pathLst>
              <a:path w="1828800" h="19050">
                <a:moveTo>
                  <a:pt x="0" y="0"/>
                </a:moveTo>
                <a:lnTo>
                  <a:pt x="1828800" y="0"/>
                </a:lnTo>
                <a:lnTo>
                  <a:pt x="18288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683000"/>
            <a:ext cx="3810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Xavier</a:t>
            </a:r>
          </a:p>
        </p:txBody>
      </p:sp>
      <p:sp>
        <p:nvSpPr>
          <p:cNvPr id="13" name="Freeform 12"/>
          <p:cNvSpPr/>
          <p:nvPr/>
        </p:nvSpPr>
        <p:spPr>
          <a:xfrm>
            <a:off x="762000" y="4114800"/>
            <a:ext cx="1752600" cy="19050"/>
          </a:xfrm>
          <a:custGeom>
            <a:avLst/>
            <a:gdLst/>
            <a:ahLst/>
            <a:cxnLst/>
            <a:rect l="l" t="t" r="r" b="b"/>
            <a:pathLst>
              <a:path w="1752600" h="19050">
                <a:moveTo>
                  <a:pt x="0" y="0"/>
                </a:moveTo>
                <a:lnTo>
                  <a:pt x="1752600" y="0"/>
                </a:lnTo>
                <a:lnTo>
                  <a:pt x="17526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4191000"/>
            <a:ext cx="3810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A4FA0"/>
                </a:solidFill>
                <a:latin typeface="Ubuntu Mono"/>
              </a:rPr>
              <a:t>Julien Duval</a:t>
            </a:r>
          </a:p>
        </p:txBody>
      </p:sp>
      <p:sp>
        <p:nvSpPr>
          <p:cNvPr id="15" name="Freeform 14"/>
          <p:cNvSpPr/>
          <p:nvPr/>
        </p:nvSpPr>
        <p:spPr>
          <a:xfrm>
            <a:off x="863600" y="4622800"/>
            <a:ext cx="1676400" cy="19050"/>
          </a:xfrm>
          <a:custGeom>
            <a:avLst/>
            <a:gdLst/>
            <a:ahLst/>
            <a:cxnLst/>
            <a:rect l="l" t="t" r="r" b="b"/>
            <a:pathLst>
              <a:path w="1676400" h="19050">
                <a:moveTo>
                  <a:pt x="0" y="0"/>
                </a:moveTo>
                <a:lnTo>
                  <a:pt x="1676400" y="0"/>
                </a:lnTo>
                <a:lnTo>
                  <a:pt x="16764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200" y="4699000"/>
            <a:ext cx="3810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Segen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5200" y="5130800"/>
            <a:ext cx="1600200" cy="19050"/>
          </a:xfrm>
          <a:custGeom>
            <a:avLst/>
            <a:gdLst/>
            <a:ahLst/>
            <a:cxnLst/>
            <a:rect l="l" t="t" r="r" b="b"/>
            <a:pathLst>
              <a:path w="1600200" h="19050">
                <a:moveTo>
                  <a:pt x="0" y="0"/>
                </a:moveTo>
                <a:lnTo>
                  <a:pt x="1600200" y="0"/>
                </a:lnTo>
                <a:lnTo>
                  <a:pt x="16002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800" y="5397500"/>
            <a:ext cx="3810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  <a:spcAft>
                <a:spcPts val="425"/>
              </a:spcAft>
            </a:pPr>
            <a:r>
              <a:rPr sz="850" b="1">
                <a:solidFill>
                  <a:srgbClr val="01ADEE"/>
                </a:solidFill>
                <a:latin typeface="Ubuntu Mono"/>
              </a:rPr>
              <a:t>✎ À compléter : poste et équipe de chacun, photos</a:t>
            </a:r>
          </a:p>
        </p:txBody>
      </p:sp>
      <p:pic>
        <p:nvPicPr>
          <p:cNvPr id="19" name="Picture 18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540000"/>
            <a:ext cx="2857500" cy="1905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8800" y="6223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01ADEE"/>
                </a:solidFill>
                <a:latin typeface="Ubuntu Mono"/>
              </a:rPr>
              <a:t>ÉVÉNEMENTS D'ÉQUIPE</a:t>
            </a:r>
          </a:p>
        </p:txBody>
      </p:sp>
      <p:sp>
        <p:nvSpPr>
          <p:cNvPr id="21" name="Freeform 20"/>
          <p:cNvSpPr/>
          <p:nvPr/>
        </p:nvSpPr>
        <p:spPr>
          <a:xfrm>
            <a:off x="660400" y="6667500"/>
            <a:ext cx="25400" cy="2857500"/>
          </a:xfrm>
          <a:custGeom>
            <a:avLst/>
            <a:gdLst/>
            <a:ahLst/>
            <a:cxnLst/>
            <a:rect l="l" t="t" r="r" b="b"/>
            <a:pathLst>
              <a:path w="25400" h="2857500">
                <a:moveTo>
                  <a:pt x="0" y="0"/>
                </a:moveTo>
                <a:lnTo>
                  <a:pt x="25400" y="0"/>
                </a:lnTo>
                <a:lnTo>
                  <a:pt x="25400" y="2857500"/>
                </a:lnTo>
                <a:lnTo>
                  <a:pt x="0" y="285750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584200" y="6718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5200" y="6667500"/>
            <a:ext cx="3048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</a:pPr>
            <a:r>
              <a:rPr sz="1200" b="1">
                <a:solidFill>
                  <a:srgbClr val="0B1B2E"/>
                </a:solidFill>
                <a:latin typeface="Ubuntu Mono"/>
              </a:rPr>
              <a:t>Teambuilding à la Section Paloise</a:t>
            </a:r>
          </a:p>
        </p:txBody>
      </p:sp>
      <p:sp>
        <p:nvSpPr>
          <p:cNvPr id="24" name="Freeform 23"/>
          <p:cNvSpPr/>
          <p:nvPr/>
        </p:nvSpPr>
        <p:spPr>
          <a:xfrm>
            <a:off x="584200" y="7454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" y="7404100"/>
            <a:ext cx="3048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</a:pPr>
            <a:r>
              <a:rPr sz="1200" b="1">
                <a:solidFill>
                  <a:srgbClr val="0B1B2E"/>
                </a:solidFill>
                <a:latin typeface="Ubuntu Mono"/>
              </a:rPr>
              <a:t>Barbecue en mai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84200" y="8191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200" y="8140700"/>
            <a:ext cx="3048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</a:pPr>
            <a:r>
              <a:rPr sz="1200" b="1">
                <a:solidFill>
                  <a:srgbClr val="0B1B2E"/>
                </a:solidFill>
                <a:latin typeface="Ubuntu Mono"/>
              </a:rPr>
              <a:t>Repas après la matinée de sensibilisation aux addictions</a:t>
            </a:r>
          </a:p>
        </p:txBody>
      </p:sp>
      <p:sp>
        <p:nvSpPr>
          <p:cNvPr id="28" name="Freeform 27"/>
          <p:cNvSpPr/>
          <p:nvPr/>
        </p:nvSpPr>
        <p:spPr>
          <a:xfrm>
            <a:off x="584200" y="8928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5200" y="8877300"/>
            <a:ext cx="3048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</a:pPr>
            <a:r>
              <a:rPr sz="1200" b="1">
                <a:solidFill>
                  <a:srgbClr val="0B1B2E"/>
                </a:solidFill>
                <a:latin typeface="Ubuntu Mono"/>
              </a:rPr>
              <a:t>Repas de fin d'année (date à confirmer)</a:t>
            </a:r>
          </a:p>
        </p:txBody>
      </p:sp>
      <p:pic>
        <p:nvPicPr>
          <p:cNvPr id="30" name="Picture 29" descr="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5588000"/>
            <a:ext cx="2857500" cy="1905000"/>
          </a:xfrm>
          <a:prstGeom prst="rect">
            <a:avLst/>
          </a:prstGeom>
        </p:spPr>
      </p:pic>
      <p:pic>
        <p:nvPicPr>
          <p:cNvPr id="31" name="Picture 30" descr="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7683500"/>
            <a:ext cx="2603500" cy="1778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5A6B7F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0A4FA0"/>
                </a:solidFill>
                <a:latin typeface="Ubuntu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556500" cy="2540000"/>
          </a:xfrm>
          <a:custGeom>
            <a:avLst/>
            <a:gdLst/>
            <a:ahLst/>
            <a:cxnLst/>
            <a:rect l="l" t="t" r="r" b="b"/>
            <a:pathLst>
              <a:path w="7556500" h="2540000">
                <a:moveTo>
                  <a:pt x="0" y="0"/>
                </a:moveTo>
                <a:lnTo>
                  <a:pt x="7556500" y="0"/>
                </a:lnTo>
                <a:lnTo>
                  <a:pt x="7556500" y="1524000"/>
                </a:lnTo>
                <a:lnTo>
                  <a:pt x="0" y="2540000"/>
                </a:lnTo>
                <a:close/>
              </a:path>
            </a:pathLst>
          </a:custGeom>
          <a:solidFill>
            <a:srgbClr val="19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508000"/>
            <a:ext cx="254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1CB2FE"/>
                </a:solidFill>
                <a:latin typeface="Ubuntu Mon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71600"/>
            <a:ext cx="609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Ubuntu Mono"/>
              </a:rPr>
              <a:t>Annonces et changements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3048000"/>
            <a:ext cx="25400" cy="812800"/>
          </a:xfrm>
          <a:custGeom>
            <a:avLst/>
            <a:gdLst/>
            <a:ahLst/>
            <a:cxnLst/>
            <a:rect l="l" t="t" r="r" b="b"/>
            <a:pathLst>
              <a:path w="25400" h="812800">
                <a:moveTo>
                  <a:pt x="0" y="0"/>
                </a:moveTo>
                <a:lnTo>
                  <a:pt x="25400" y="0"/>
                </a:lnTo>
                <a:lnTo>
                  <a:pt x="25400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3022600"/>
            <a:ext cx="533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Ubuntu Mono"/>
              </a:rPr>
              <a:t>4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03600"/>
            <a:ext cx="3619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550"/>
              </a:spcAft>
            </a:pPr>
            <a:r>
              <a:rPr sz="1100" b="0">
                <a:solidFill>
                  <a:srgbClr val="BED7F0"/>
                </a:solidFill>
                <a:latin typeface="Ubuntu Mono"/>
              </a:rPr>
              <a:t>Mise en place d'un essai de la semaine à 4 jours.</a:t>
            </a:r>
          </a:p>
        </p:txBody>
      </p:sp>
      <p:sp>
        <p:nvSpPr>
          <p:cNvPr id="9" name="Freeform 8"/>
          <p:cNvSpPr/>
          <p:nvPr/>
        </p:nvSpPr>
        <p:spPr>
          <a:xfrm>
            <a:off x="1066800" y="4216400"/>
            <a:ext cx="25400" cy="812800"/>
          </a:xfrm>
          <a:custGeom>
            <a:avLst/>
            <a:gdLst/>
            <a:ahLst/>
            <a:cxnLst/>
            <a:rect l="l" t="t" r="r" b="b"/>
            <a:pathLst>
              <a:path w="25400" h="812800">
                <a:moveTo>
                  <a:pt x="0" y="0"/>
                </a:moveTo>
                <a:lnTo>
                  <a:pt x="25400" y="0"/>
                </a:lnTo>
                <a:lnTo>
                  <a:pt x="25400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0000" y="4191000"/>
            <a:ext cx="533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Ubuntu Mono"/>
              </a:rPr>
              <a:t>RESTO &amp; VACANCES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4572000"/>
            <a:ext cx="3619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550"/>
              </a:spcAft>
            </a:pPr>
            <a:r>
              <a:rPr sz="1100" b="0">
                <a:solidFill>
                  <a:srgbClr val="BED7F0"/>
                </a:solidFill>
                <a:latin typeface="Ubuntu Mono"/>
              </a:rPr>
              <a:t>Tickets restaurant et chèques vacances digitaux.</a:t>
            </a:r>
          </a:p>
        </p:txBody>
      </p:sp>
      <p:sp>
        <p:nvSpPr>
          <p:cNvPr id="12" name="Freeform 11"/>
          <p:cNvSpPr/>
          <p:nvPr/>
        </p:nvSpPr>
        <p:spPr>
          <a:xfrm>
            <a:off x="558800" y="5384800"/>
            <a:ext cx="25400" cy="812800"/>
          </a:xfrm>
          <a:custGeom>
            <a:avLst/>
            <a:gdLst/>
            <a:ahLst/>
            <a:cxnLst/>
            <a:rect l="l" t="t" r="r" b="b"/>
            <a:pathLst>
              <a:path w="25400" h="812800">
                <a:moveTo>
                  <a:pt x="0" y="0"/>
                </a:moveTo>
                <a:lnTo>
                  <a:pt x="25400" y="0"/>
                </a:lnTo>
                <a:lnTo>
                  <a:pt x="25400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5359400"/>
            <a:ext cx="533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Ubuntu Mono"/>
              </a:rPr>
              <a:t>CHALEUR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740400"/>
            <a:ext cx="3619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550"/>
              </a:spcAft>
            </a:pPr>
            <a:r>
              <a:rPr sz="1100" b="0">
                <a:solidFill>
                  <a:srgbClr val="BED7F0"/>
                </a:solidFill>
                <a:latin typeface="Ubuntu Mono"/>
              </a:rPr>
              <a:t>Nouveau système de chauffage : une pompe à chaleur alimentée par nos deux puits de géothermie.</a:t>
            </a:r>
          </a:p>
        </p:txBody>
      </p:sp>
      <p:sp>
        <p:nvSpPr>
          <p:cNvPr id="15" name="Freeform 14"/>
          <p:cNvSpPr/>
          <p:nvPr/>
        </p:nvSpPr>
        <p:spPr>
          <a:xfrm>
            <a:off x="1066800" y="6553200"/>
            <a:ext cx="25400" cy="812800"/>
          </a:xfrm>
          <a:custGeom>
            <a:avLst/>
            <a:gdLst/>
            <a:ahLst/>
            <a:cxnLst/>
            <a:rect l="l" t="t" r="r" b="b"/>
            <a:pathLst>
              <a:path w="25400" h="812800">
                <a:moveTo>
                  <a:pt x="0" y="0"/>
                </a:moveTo>
                <a:lnTo>
                  <a:pt x="25400" y="0"/>
                </a:lnTo>
                <a:lnTo>
                  <a:pt x="25400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0000" y="6527800"/>
            <a:ext cx="533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Ubuntu Mono"/>
              </a:rPr>
              <a:t>BÂTIMENTS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0000" y="6908800"/>
            <a:ext cx="3619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550"/>
              </a:spcAft>
            </a:pPr>
            <a:r>
              <a:rPr sz="1100" b="0">
                <a:solidFill>
                  <a:srgbClr val="BED7F0"/>
                </a:solidFill>
                <a:latin typeface="Ubuntu Mono"/>
              </a:rPr>
              <a:t>Nouveau bâtiment de stockage, nouveau parking, nouvelle Break-out unit.</a:t>
            </a:r>
          </a:p>
        </p:txBody>
      </p:sp>
      <p:sp>
        <p:nvSpPr>
          <p:cNvPr id="18" name="Freeform 17"/>
          <p:cNvSpPr/>
          <p:nvPr/>
        </p:nvSpPr>
        <p:spPr>
          <a:xfrm>
            <a:off x="558800" y="7721600"/>
            <a:ext cx="25400" cy="812800"/>
          </a:xfrm>
          <a:custGeom>
            <a:avLst/>
            <a:gdLst/>
            <a:ahLst/>
            <a:cxnLst/>
            <a:rect l="l" t="t" r="r" b="b"/>
            <a:pathLst>
              <a:path w="25400" h="812800">
                <a:moveTo>
                  <a:pt x="0" y="0"/>
                </a:moveTo>
                <a:lnTo>
                  <a:pt x="25400" y="0"/>
                </a:lnTo>
                <a:lnTo>
                  <a:pt x="25400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7696200"/>
            <a:ext cx="533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Ubuntu Mono"/>
              </a:rPr>
              <a:t>NOUVEAUX OUTILS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8077200"/>
            <a:ext cx="3619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550"/>
              </a:spcAft>
            </a:pPr>
            <a:r>
              <a:rPr sz="1100" b="0">
                <a:solidFill>
                  <a:srgbClr val="BED7F0"/>
                </a:solidFill>
                <a:latin typeface="Ubuntu Mono"/>
              </a:rPr>
              <a:t>Arrivée de nouveaux outils dans le parc.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0" y="8890000"/>
            <a:ext cx="3238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  <a:spcAft>
                <a:spcPts val="425"/>
              </a:spcAft>
            </a:pPr>
            <a:r>
              <a:rPr sz="850" b="1">
                <a:solidFill>
                  <a:srgbClr val="01ADEE"/>
                </a:solidFill>
                <a:latin typeface="Ubuntu Mono"/>
              </a:rPr>
              <a:t>✎ À compléter : détails de la semaine à 4 jours, liste des outils</a:t>
            </a:r>
          </a:p>
        </p:txBody>
      </p:sp>
      <p:pic>
        <p:nvPicPr>
          <p:cNvPr id="22" name="Picture 2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810000"/>
            <a:ext cx="2476500" cy="3175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1CB2FE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1CB2FE"/>
                </a:solidFill>
                <a:latin typeface="Ubuntu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556500" cy="3302000"/>
          </a:xfrm>
          <a:custGeom>
            <a:avLst/>
            <a:gdLst/>
            <a:ahLst/>
            <a:cxnLst/>
            <a:rect l="l" t="t" r="r" b="b"/>
            <a:pathLst>
              <a:path w="7556500" h="3302000">
                <a:moveTo>
                  <a:pt x="0" y="0"/>
                </a:moveTo>
                <a:lnTo>
                  <a:pt x="7556500" y="0"/>
                </a:lnTo>
                <a:lnTo>
                  <a:pt x="7556500" y="2159000"/>
                </a:lnTo>
                <a:lnTo>
                  <a:pt x="0" y="3302000"/>
                </a:lnTo>
                <a:close/>
              </a:path>
            </a:pathLst>
          </a:cu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508000"/>
            <a:ext cx="254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CDE1F3"/>
                </a:solidFill>
                <a:latin typeface="Ubuntu Mon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71600"/>
            <a:ext cx="533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Actualités commerciales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1854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685800" h="50800">
                <a:moveTo>
                  <a:pt x="0" y="0"/>
                </a:moveTo>
                <a:lnTo>
                  <a:pt x="685800" y="0"/>
                </a:lnTo>
                <a:lnTo>
                  <a:pt x="685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" y="3683000"/>
            <a:ext cx="59690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39"/>
              </a:lnSpc>
              <a:spcAft>
                <a:spcPts val="600"/>
              </a:spcAft>
            </a:pPr>
            <a:r>
              <a:rPr sz="1200" b="0">
                <a:solidFill>
                  <a:srgbClr val="0B1B2E"/>
                </a:solidFill>
                <a:latin typeface="Ubuntu Mono"/>
              </a:rPr>
              <a:t>En 2026, Enedril a accompagné de nombreux projets en France et à l'étranger. Pour 2027, nous misons sur GeoTHERM (stand 274), l'Europe et le Moyen-Orient.</a:t>
            </a:r>
          </a:p>
        </p:txBody>
      </p:sp>
      <p:sp>
        <p:nvSpPr>
          <p:cNvPr id="8" name="Freeform 7"/>
          <p:cNvSpPr/>
          <p:nvPr/>
        </p:nvSpPr>
        <p:spPr>
          <a:xfrm>
            <a:off x="0" y="4191000"/>
            <a:ext cx="7556500" cy="3937000"/>
          </a:xfrm>
          <a:custGeom>
            <a:avLst/>
            <a:gdLst/>
            <a:ahLst/>
            <a:cxnLst/>
            <a:rect l="l" t="t" r="r" b="b"/>
            <a:pathLst>
              <a:path w="7556500" h="3937000">
                <a:moveTo>
                  <a:pt x="0" y="889000"/>
                </a:moveTo>
                <a:lnTo>
                  <a:pt x="7556500" y="0"/>
                </a:lnTo>
                <a:lnTo>
                  <a:pt x="7556500" y="3937000"/>
                </a:lnTo>
                <a:lnTo>
                  <a:pt x="0" y="393700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5207000"/>
            <a:ext cx="292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300"/>
              </a:spcAft>
            </a:pPr>
            <a:r>
              <a:rPr sz="4600" b="1">
                <a:solidFill>
                  <a:srgbClr val="FFFFFF"/>
                </a:solidFill>
                <a:latin typeface="Ubuntu Mono"/>
              </a:rPr>
              <a:t>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5969000"/>
            <a:ext cx="292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75"/>
              </a:spcAft>
            </a:pPr>
            <a:r>
              <a:rPr sz="950" b="1">
                <a:solidFill>
                  <a:srgbClr val="1CB2FE"/>
                </a:solidFill>
                <a:latin typeface="Ubuntu Mono"/>
              </a:rPr>
              <a:t>DEVIS ENVOYÉS</a:t>
            </a:r>
          </a:p>
        </p:txBody>
      </p:sp>
      <p:sp>
        <p:nvSpPr>
          <p:cNvPr id="11" name="Freeform 10"/>
          <p:cNvSpPr/>
          <p:nvPr/>
        </p:nvSpPr>
        <p:spPr>
          <a:xfrm>
            <a:off x="558800" y="6324600"/>
            <a:ext cx="2540000" cy="19050"/>
          </a:xfrm>
          <a:custGeom>
            <a:avLst/>
            <a:gdLst/>
            <a:ahLst/>
            <a:cxnLst/>
            <a:rect l="l" t="t" r="r" b="b"/>
            <a:pathLst>
              <a:path w="2540000" h="19050">
                <a:moveTo>
                  <a:pt x="0" y="0"/>
                </a:moveTo>
                <a:lnTo>
                  <a:pt x="2540000" y="0"/>
                </a:lnTo>
                <a:lnTo>
                  <a:pt x="2540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46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7800" y="4699000"/>
            <a:ext cx="292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300"/>
              </a:spcAft>
            </a:pPr>
            <a:r>
              <a:rPr sz="4600" b="1">
                <a:solidFill>
                  <a:srgbClr val="FFFFFF"/>
                </a:solidFill>
                <a:latin typeface="Ubuntu Mono"/>
              </a:rPr>
              <a:t>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7800" y="5461000"/>
            <a:ext cx="292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75"/>
              </a:spcAft>
            </a:pPr>
            <a:r>
              <a:rPr sz="950" b="1">
                <a:solidFill>
                  <a:srgbClr val="1CB2FE"/>
                </a:solidFill>
                <a:latin typeface="Ubuntu Mono"/>
              </a:rPr>
              <a:t>NOUVEAUX CLIENTS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987800" y="5816600"/>
            <a:ext cx="2540000" cy="19050"/>
          </a:xfrm>
          <a:custGeom>
            <a:avLst/>
            <a:gdLst/>
            <a:ahLst/>
            <a:cxnLst/>
            <a:rect l="l" t="t" r="r" b="b"/>
            <a:pathLst>
              <a:path w="2540000" h="19050">
                <a:moveTo>
                  <a:pt x="0" y="0"/>
                </a:moveTo>
                <a:lnTo>
                  <a:pt x="2540000" y="0"/>
                </a:lnTo>
                <a:lnTo>
                  <a:pt x="2540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46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6604000"/>
            <a:ext cx="292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300"/>
              </a:spcAft>
            </a:pPr>
            <a:r>
              <a:rPr sz="4600" b="1">
                <a:solidFill>
                  <a:srgbClr val="FFFFFF"/>
                </a:solidFill>
                <a:latin typeface="Ubuntu Mono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" y="7366000"/>
            <a:ext cx="292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75"/>
              </a:spcAft>
            </a:pPr>
            <a:r>
              <a:rPr sz="950" b="1">
                <a:solidFill>
                  <a:srgbClr val="1CB2FE"/>
                </a:solidFill>
                <a:latin typeface="Ubuntu Mono"/>
              </a:rPr>
              <a:t>TAUX DE TRANSFORMATION</a:t>
            </a:r>
          </a:p>
        </p:txBody>
      </p:sp>
      <p:sp>
        <p:nvSpPr>
          <p:cNvPr id="17" name="Freeform 16"/>
          <p:cNvSpPr/>
          <p:nvPr/>
        </p:nvSpPr>
        <p:spPr>
          <a:xfrm>
            <a:off x="558800" y="7721600"/>
            <a:ext cx="2540000" cy="19050"/>
          </a:xfrm>
          <a:custGeom>
            <a:avLst/>
            <a:gdLst/>
            <a:ahLst/>
            <a:cxnLst/>
            <a:rect l="l" t="t" r="r" b="b"/>
            <a:pathLst>
              <a:path w="2540000" h="19050">
                <a:moveTo>
                  <a:pt x="0" y="0"/>
                </a:moveTo>
                <a:lnTo>
                  <a:pt x="2540000" y="0"/>
                </a:lnTo>
                <a:lnTo>
                  <a:pt x="2540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46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87800" y="6096000"/>
            <a:ext cx="292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300"/>
              </a:spcAft>
            </a:pPr>
            <a:r>
              <a:rPr sz="4600" b="1">
                <a:solidFill>
                  <a:srgbClr val="FFFFFF"/>
                </a:solidFill>
                <a:latin typeface="Ubuntu Mono"/>
              </a:rPr>
              <a:t>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7800" y="6858000"/>
            <a:ext cx="292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75"/>
              </a:spcAft>
            </a:pPr>
            <a:r>
              <a:rPr sz="950" b="1">
                <a:solidFill>
                  <a:srgbClr val="1CB2FE"/>
                </a:solidFill>
                <a:latin typeface="Ubuntu Mono"/>
              </a:rPr>
              <a:t>LOCATION / VENTE</a:t>
            </a:r>
          </a:p>
        </p:txBody>
      </p:sp>
      <p:sp>
        <p:nvSpPr>
          <p:cNvPr id="20" name="Freeform 19"/>
          <p:cNvSpPr/>
          <p:nvPr/>
        </p:nvSpPr>
        <p:spPr>
          <a:xfrm>
            <a:off x="3987800" y="7213600"/>
            <a:ext cx="2540000" cy="19050"/>
          </a:xfrm>
          <a:custGeom>
            <a:avLst/>
            <a:gdLst/>
            <a:ahLst/>
            <a:cxnLst/>
            <a:rect l="l" t="t" r="r" b="b"/>
            <a:pathLst>
              <a:path w="2540000" h="19050">
                <a:moveTo>
                  <a:pt x="0" y="0"/>
                </a:moveTo>
                <a:lnTo>
                  <a:pt x="2540000" y="0"/>
                </a:lnTo>
                <a:lnTo>
                  <a:pt x="2540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46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800" y="8534400"/>
            <a:ext cx="317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08203F"/>
                </a:solidFill>
                <a:latin typeface="Ubuntu Mono"/>
              </a:rPr>
              <a:t>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00" y="9169400"/>
            <a:ext cx="254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75"/>
              </a:spcAft>
            </a:pPr>
            <a:r>
              <a:rPr sz="950" b="1">
                <a:solidFill>
                  <a:srgbClr val="01ADEE"/>
                </a:solidFill>
                <a:latin typeface="Ubuntu Mono"/>
              </a:rPr>
              <a:t>PUITS FORÉS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0" y="8534400"/>
            <a:ext cx="317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4000" b="1">
                <a:solidFill>
                  <a:srgbClr val="08203F"/>
                </a:solidFill>
                <a:latin typeface="Ubuntu Mono"/>
              </a:rPr>
              <a:t>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0" y="9169400"/>
            <a:ext cx="254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75"/>
              </a:spcAft>
            </a:pPr>
            <a:r>
              <a:rPr sz="950" b="1">
                <a:solidFill>
                  <a:srgbClr val="01ADEE"/>
                </a:solidFill>
                <a:latin typeface="Ubuntu Mono"/>
              </a:rPr>
              <a:t>MÈTRES FORÉS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800" y="9652000"/>
            <a:ext cx="6350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  <a:spcAft>
                <a:spcPts val="425"/>
              </a:spcAft>
            </a:pPr>
            <a:r>
              <a:rPr sz="850" b="1">
                <a:solidFill>
                  <a:srgbClr val="01ADEE"/>
                </a:solidFill>
                <a:latin typeface="Ubuntu Mono"/>
              </a:rPr>
              <a:t>✎ À compléter : chiffres 2026 et pays d'intervention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5A6B7F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0A4FA0"/>
                </a:solidFill>
                <a:latin typeface="Ubuntu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556500" cy="3175000"/>
          </a:xfrm>
          <a:custGeom>
            <a:avLst/>
            <a:gdLst/>
            <a:ahLst/>
            <a:cxnLst/>
            <a:rect l="l" t="t" r="r" b="b"/>
            <a:pathLst>
              <a:path w="7556500" h="3175000">
                <a:moveTo>
                  <a:pt x="0" y="0"/>
                </a:moveTo>
                <a:lnTo>
                  <a:pt x="7556500" y="0"/>
                </a:lnTo>
                <a:lnTo>
                  <a:pt x="7556500" y="2286000"/>
                </a:lnTo>
                <a:lnTo>
                  <a:pt x="0" y="31750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508000"/>
            <a:ext cx="254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0A4FA0"/>
                </a:solidFill>
                <a:latin typeface="Ubuntu Mon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71600"/>
            <a:ext cx="609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Ubuntu Mono"/>
              </a:rPr>
              <a:t>Marketing et communication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1854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685800" h="50800">
                <a:moveTo>
                  <a:pt x="0" y="0"/>
                </a:moveTo>
                <a:lnTo>
                  <a:pt x="685800" y="0"/>
                </a:lnTo>
                <a:lnTo>
                  <a:pt x="685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" y="3683000"/>
            <a:ext cx="41910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GeoTHERM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A6B7F"/>
                </a:solidFill>
                <a:latin typeface="Ubuntu Mono"/>
              </a:rPr>
              <a:t>Offenburg · février</a:t>
            </a:r>
          </a:p>
        </p:txBody>
      </p:sp>
      <p:sp>
        <p:nvSpPr>
          <p:cNvPr id="9" name="Freeform 8"/>
          <p:cNvSpPr/>
          <p:nvPr/>
        </p:nvSpPr>
        <p:spPr>
          <a:xfrm>
            <a:off x="558800" y="4368800"/>
            <a:ext cx="3556000" cy="19050"/>
          </a:xfrm>
          <a:custGeom>
            <a:avLst/>
            <a:gdLst/>
            <a:ahLst/>
            <a:cxnLst/>
            <a:rect l="l" t="t" r="r" b="b"/>
            <a:pathLst>
              <a:path w="3556000" h="19050">
                <a:moveTo>
                  <a:pt x="0" y="0"/>
                </a:moveTo>
                <a:lnTo>
                  <a:pt x="3556000" y="0"/>
                </a:lnTo>
                <a:lnTo>
                  <a:pt x="3556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4470400"/>
            <a:ext cx="41910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GEOFLUID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485140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A6B7F"/>
                </a:solidFill>
                <a:latin typeface="Ubuntu Mono"/>
              </a:rPr>
              <a:t>Piacenza · 9 octobre · Luigi Liberatore</a:t>
            </a:r>
          </a:p>
        </p:txBody>
      </p:sp>
      <p:sp>
        <p:nvSpPr>
          <p:cNvPr id="12" name="Freeform 11"/>
          <p:cNvSpPr/>
          <p:nvPr/>
        </p:nvSpPr>
        <p:spPr>
          <a:xfrm>
            <a:off x="736600" y="5156200"/>
            <a:ext cx="3556000" cy="19050"/>
          </a:xfrm>
          <a:custGeom>
            <a:avLst/>
            <a:gdLst/>
            <a:ahLst/>
            <a:cxnLst/>
            <a:rect l="l" t="t" r="r" b="b"/>
            <a:pathLst>
              <a:path w="3556000" h="19050">
                <a:moveTo>
                  <a:pt x="0" y="0"/>
                </a:moveTo>
                <a:lnTo>
                  <a:pt x="3556000" y="0"/>
                </a:lnTo>
                <a:lnTo>
                  <a:pt x="3556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41910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ADIPEC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3880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A6B7F"/>
                </a:solidFill>
                <a:latin typeface="Ubuntu Mono"/>
              </a:rPr>
              <a:t>Abu Dhabi · 2-5 novembre</a:t>
            </a:r>
          </a:p>
        </p:txBody>
      </p:sp>
      <p:sp>
        <p:nvSpPr>
          <p:cNvPr id="15" name="Freeform 14"/>
          <p:cNvSpPr/>
          <p:nvPr/>
        </p:nvSpPr>
        <p:spPr>
          <a:xfrm>
            <a:off x="914400" y="5943600"/>
            <a:ext cx="3556000" cy="19050"/>
          </a:xfrm>
          <a:custGeom>
            <a:avLst/>
            <a:gdLst/>
            <a:ahLst/>
            <a:cxnLst/>
            <a:rect l="l" t="t" r="r" b="b"/>
            <a:pathLst>
              <a:path w="3556000" h="19050">
                <a:moveTo>
                  <a:pt x="0" y="0"/>
                </a:moveTo>
                <a:lnTo>
                  <a:pt x="3556000" y="0"/>
                </a:lnTo>
                <a:lnTo>
                  <a:pt x="3556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2200" y="6045200"/>
            <a:ext cx="41910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Geodays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642620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A6B7F"/>
                </a:solidFill>
                <a:latin typeface="Ubuntu Mono"/>
              </a:rPr>
              <a:t/>
            </a:r>
          </a:p>
        </p:txBody>
      </p:sp>
      <p:sp>
        <p:nvSpPr>
          <p:cNvPr id="18" name="Freeform 17"/>
          <p:cNvSpPr/>
          <p:nvPr/>
        </p:nvSpPr>
        <p:spPr>
          <a:xfrm>
            <a:off x="1092200" y="6731000"/>
            <a:ext cx="3556000" cy="19050"/>
          </a:xfrm>
          <a:custGeom>
            <a:avLst/>
            <a:gdLst/>
            <a:ahLst/>
            <a:cxnLst/>
            <a:rect l="l" t="t" r="r" b="b"/>
            <a:pathLst>
              <a:path w="3556000" h="19050">
                <a:moveTo>
                  <a:pt x="0" y="0"/>
                </a:moveTo>
                <a:lnTo>
                  <a:pt x="3556000" y="0"/>
                </a:lnTo>
                <a:lnTo>
                  <a:pt x="3556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CD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00" y="6921500"/>
            <a:ext cx="635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1">
                <a:solidFill>
                  <a:srgbClr val="0B1B2E"/>
                </a:solidFill>
                <a:latin typeface="Ubuntu Mono"/>
              </a:rPr>
              <a:t>Accueil d'étudiants d'IFP Training sur nos installations.</a:t>
            </a:r>
          </a:p>
        </p:txBody>
      </p:sp>
      <p:pic>
        <p:nvPicPr>
          <p:cNvPr id="20" name="Picture 19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3556000"/>
            <a:ext cx="2349500" cy="3175000"/>
          </a:xfrm>
          <a:prstGeom prst="rect">
            <a:avLst/>
          </a:prstGeom>
        </p:spPr>
      </p:pic>
      <p:sp>
        <p:nvSpPr>
          <p:cNvPr id="21" name="Freeform 20"/>
          <p:cNvSpPr/>
          <p:nvPr/>
        </p:nvSpPr>
        <p:spPr>
          <a:xfrm>
            <a:off x="0" y="7239000"/>
            <a:ext cx="7556500" cy="3454400"/>
          </a:xfrm>
          <a:custGeom>
            <a:avLst/>
            <a:gdLst/>
            <a:ahLst/>
            <a:cxnLst/>
            <a:rect l="l" t="t" r="r" b="b"/>
            <a:pathLst>
              <a:path w="7556500" h="3454400">
                <a:moveTo>
                  <a:pt x="0" y="381000"/>
                </a:moveTo>
                <a:lnTo>
                  <a:pt x="7556500" y="0"/>
                </a:lnTo>
                <a:lnTo>
                  <a:pt x="7556500" y="3454400"/>
                </a:lnTo>
                <a:lnTo>
                  <a:pt x="0" y="345440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800" y="7975600"/>
            <a:ext cx="381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CB2FE"/>
                </a:solidFill>
                <a:latin typeface="Ubuntu Mono"/>
              </a:rPr>
              <a:t>CÔTÉ LINKEDIN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800" y="8356600"/>
            <a:ext cx="1524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900"/>
              </a:spcAft>
            </a:pPr>
            <a:r>
              <a:rPr sz="3800" b="1">
                <a:solidFill>
                  <a:srgbClr val="FFFFFF"/>
                </a:solidFill>
                <a:latin typeface="Ubuntu Mono"/>
              </a:rPr>
              <a:t>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800" y="8991600"/>
            <a:ext cx="158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25"/>
              </a:spcAft>
            </a:pPr>
            <a:r>
              <a:rPr sz="850" b="0">
                <a:solidFill>
                  <a:srgbClr val="BED7F0"/>
                </a:solidFill>
                <a:latin typeface="Ubuntu Mono"/>
              </a:rPr>
              <a:t>POSTS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5200" y="8356600"/>
            <a:ext cx="1524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900"/>
              </a:spcAft>
            </a:pPr>
            <a:r>
              <a:rPr sz="3800" b="1">
                <a:solidFill>
                  <a:srgbClr val="FFFFFF"/>
                </a:solidFill>
                <a:latin typeface="Ubuntu Mono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5200" y="8991600"/>
            <a:ext cx="158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25"/>
              </a:spcAft>
            </a:pPr>
            <a:r>
              <a:rPr sz="850" b="0">
                <a:solidFill>
                  <a:srgbClr val="BED7F0"/>
                </a:solidFill>
                <a:latin typeface="Ubuntu Mono"/>
              </a:rPr>
              <a:t>ABONNÉS GAGNÉS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1600" y="8356600"/>
            <a:ext cx="1524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900"/>
              </a:spcAft>
            </a:pPr>
            <a:r>
              <a:rPr sz="3800" b="1">
                <a:solidFill>
                  <a:srgbClr val="FFFFFF"/>
                </a:solidFill>
                <a:latin typeface="Ubuntu Mono"/>
              </a:rPr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1600" y="8991600"/>
            <a:ext cx="158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25"/>
              </a:spcAft>
            </a:pPr>
            <a:r>
              <a:rPr sz="850" b="0">
                <a:solidFill>
                  <a:srgbClr val="BED7F0"/>
                </a:solidFill>
                <a:latin typeface="Ubuntu Mono"/>
              </a:rPr>
              <a:t>ABONNÉS AU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0" y="8356600"/>
            <a:ext cx="1524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900"/>
              </a:spcAft>
            </a:pPr>
            <a:r>
              <a:rPr sz="3800" b="1">
                <a:solidFill>
                  <a:srgbClr val="FFFFFF"/>
                </a:solidFill>
                <a:latin typeface="Ubuntu Mono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8000" y="8991600"/>
            <a:ext cx="158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25"/>
              </a:spcAft>
            </a:pPr>
            <a:r>
              <a:rPr sz="850" b="0">
                <a:solidFill>
                  <a:srgbClr val="BED7F0"/>
                </a:solidFill>
                <a:latin typeface="Ubuntu Mono"/>
              </a:rPr>
              <a:t>RÉACTIONS VS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800" y="9715500"/>
            <a:ext cx="635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25"/>
              </a:spcAft>
            </a:pPr>
            <a:r>
              <a:rPr sz="850" b="1">
                <a:solidFill>
                  <a:srgbClr val="1CB2FE"/>
                </a:solidFill>
                <a:latin typeface="Ubuntu Mono"/>
              </a:rPr>
              <a:t>✎ À compléter : statistiques LinkedIn 2026, autres actions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1CB2FE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1CB2FE"/>
                </a:solidFill>
                <a:latin typeface="Ubuntu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048000" cy="4191000"/>
          </a:xfrm>
          <a:custGeom>
            <a:avLst/>
            <a:gdLst/>
            <a:ahLst/>
            <a:cxnLst/>
            <a:rect l="l" t="t" r="r" b="b"/>
            <a:pathLst>
              <a:path w="3048000" h="4191000">
                <a:moveTo>
                  <a:pt x="0" y="0"/>
                </a:moveTo>
                <a:lnTo>
                  <a:pt x="3048000" y="0"/>
                </a:lnTo>
                <a:lnTo>
                  <a:pt x="1524000" y="4191000"/>
                </a:lnTo>
                <a:lnTo>
                  <a:pt x="0" y="4191000"/>
                </a:lnTo>
                <a:close/>
              </a:path>
            </a:pathLst>
          </a:cu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508000"/>
            <a:ext cx="254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CDE1F3"/>
                </a:solidFill>
                <a:latin typeface="Ubuntu Mon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71600"/>
            <a:ext cx="533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Engagements solidaires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1854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685800" h="50800">
                <a:moveTo>
                  <a:pt x="0" y="0"/>
                </a:moveTo>
                <a:lnTo>
                  <a:pt x="685800" y="0"/>
                </a:lnTo>
                <a:lnTo>
                  <a:pt x="685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58800" y="2921000"/>
            <a:ext cx="1905000" cy="38100"/>
          </a:xfrm>
          <a:custGeom>
            <a:avLst/>
            <a:gdLst/>
            <a:ahLst/>
            <a:cxnLst/>
            <a:rect l="l" t="t" r="r" b="b"/>
            <a:pathLst>
              <a:path w="1905000" h="38100">
                <a:moveTo>
                  <a:pt x="0" y="0"/>
                </a:moveTo>
                <a:lnTo>
                  <a:pt x="1905000" y="0"/>
                </a:lnTo>
                <a:lnTo>
                  <a:pt x="19050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800" y="3073400"/>
            <a:ext cx="1968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00"/>
              </a:lnSpc>
              <a:spcAft>
                <a:spcPts val="750"/>
              </a:spcAft>
            </a:pPr>
            <a:r>
              <a:rPr sz="1500" b="1">
                <a:solidFill>
                  <a:srgbClr val="08203F"/>
                </a:solidFill>
                <a:latin typeface="Ubuntu Mono"/>
              </a:rPr>
              <a:t>Octobre rose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3759200"/>
            <a:ext cx="190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50"/>
              </a:lnSpc>
              <a:spcAft>
                <a:spcPts val="525"/>
              </a:spcAft>
            </a:pPr>
            <a:r>
              <a:rPr sz="1050" b="0">
                <a:solidFill>
                  <a:srgbClr val="5A6B7F"/>
                </a:solidFill>
                <a:latin typeface="Ubuntu Mono"/>
              </a:rPr>
              <a:t>Mobilisation de toute l'équipe.</a:t>
            </a:r>
          </a:p>
        </p:txBody>
      </p:sp>
      <p:sp>
        <p:nvSpPr>
          <p:cNvPr id="10" name="Freeform 9"/>
          <p:cNvSpPr/>
          <p:nvPr/>
        </p:nvSpPr>
        <p:spPr>
          <a:xfrm>
            <a:off x="2844800" y="3683000"/>
            <a:ext cx="1905000" cy="38100"/>
          </a:xfrm>
          <a:custGeom>
            <a:avLst/>
            <a:gdLst/>
            <a:ahLst/>
            <a:cxnLst/>
            <a:rect l="l" t="t" r="r" b="b"/>
            <a:pathLst>
              <a:path w="1905000" h="38100">
                <a:moveTo>
                  <a:pt x="0" y="0"/>
                </a:moveTo>
                <a:lnTo>
                  <a:pt x="1905000" y="0"/>
                </a:lnTo>
                <a:lnTo>
                  <a:pt x="19050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4800" y="3835400"/>
            <a:ext cx="1968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00"/>
              </a:lnSpc>
              <a:spcAft>
                <a:spcPts val="750"/>
              </a:spcAft>
            </a:pPr>
            <a:r>
              <a:rPr sz="1500" b="1">
                <a:solidFill>
                  <a:srgbClr val="08203F"/>
                </a:solidFill>
                <a:latin typeface="Ubuntu Mono"/>
              </a:rPr>
              <a:t>Movember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4800" y="4521200"/>
            <a:ext cx="190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50"/>
              </a:lnSpc>
              <a:spcAft>
                <a:spcPts val="525"/>
              </a:spcAft>
            </a:pPr>
            <a:r>
              <a:rPr sz="1050" b="0">
                <a:solidFill>
                  <a:srgbClr val="5A6B7F"/>
                </a:solidFill>
                <a:latin typeface="Ubuntu Mono"/>
              </a:rPr>
              <a:t>Sensibilisation à la santé masculine.</a:t>
            </a:r>
          </a:p>
        </p:txBody>
      </p:sp>
      <p:sp>
        <p:nvSpPr>
          <p:cNvPr id="13" name="Freeform 12"/>
          <p:cNvSpPr/>
          <p:nvPr/>
        </p:nvSpPr>
        <p:spPr>
          <a:xfrm>
            <a:off x="5130800" y="3175000"/>
            <a:ext cx="1905000" cy="38100"/>
          </a:xfrm>
          <a:custGeom>
            <a:avLst/>
            <a:gdLst/>
            <a:ahLst/>
            <a:cxnLst/>
            <a:rect l="l" t="t" r="r" b="b"/>
            <a:pathLst>
              <a:path w="1905000" h="38100">
                <a:moveTo>
                  <a:pt x="0" y="0"/>
                </a:moveTo>
                <a:lnTo>
                  <a:pt x="1905000" y="0"/>
                </a:lnTo>
                <a:lnTo>
                  <a:pt x="19050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0800" y="3327400"/>
            <a:ext cx="1968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00"/>
              </a:lnSpc>
              <a:spcAft>
                <a:spcPts val="750"/>
              </a:spcAft>
            </a:pPr>
            <a:r>
              <a:rPr sz="1500" b="1">
                <a:solidFill>
                  <a:srgbClr val="08203F"/>
                </a:solidFill>
                <a:latin typeface="Ubuntu Mono"/>
              </a:rPr>
              <a:t>Père Noël fait de la récup'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0800" y="4013200"/>
            <a:ext cx="190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50"/>
              </a:lnSpc>
              <a:spcAft>
                <a:spcPts val="525"/>
              </a:spcAft>
            </a:pPr>
            <a:r>
              <a:rPr sz="1050" b="0">
                <a:solidFill>
                  <a:srgbClr val="5A6B7F"/>
                </a:solidFill>
                <a:latin typeface="Ubuntu Mono"/>
              </a:rPr>
              <a:t>Collecte interne de jouets pour l'initiative locale.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" y="5334000"/>
            <a:ext cx="6350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  <a:spcAft>
                <a:spcPts val="425"/>
              </a:spcAft>
            </a:pPr>
            <a:r>
              <a:rPr sz="850" b="1">
                <a:solidFill>
                  <a:srgbClr val="01ADEE"/>
                </a:solidFill>
                <a:latin typeface="Ubuntu Mono"/>
              </a:rPr>
              <a:t>✎ À compléter : montants, nombre de jouets, associations bénéficiaires</a:t>
            </a:r>
          </a:p>
        </p:txBody>
      </p:sp>
      <p:pic>
        <p:nvPicPr>
          <p:cNvPr id="17" name="Picture 16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5969000"/>
            <a:ext cx="3175000" cy="2159000"/>
          </a:xfrm>
          <a:prstGeom prst="rect">
            <a:avLst/>
          </a:prstGeom>
        </p:spPr>
      </p:pic>
      <p:pic>
        <p:nvPicPr>
          <p:cNvPr id="18" name="Picture 17" descr="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0" y="6350000"/>
            <a:ext cx="3111500" cy="2159000"/>
          </a:xfrm>
          <a:prstGeom prst="rect">
            <a:avLst/>
          </a:prstGeom>
        </p:spPr>
      </p:pic>
      <p:pic>
        <p:nvPicPr>
          <p:cNvPr id="19" name="Picture 18" descr="p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8382000"/>
            <a:ext cx="3810000" cy="152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5A6B7F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0A4FA0"/>
                </a:solidFill>
                <a:latin typeface="Ubuntu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905000" y="0"/>
            <a:ext cx="5651500" cy="10693400"/>
          </a:xfrm>
          <a:custGeom>
            <a:avLst/>
            <a:gdLst/>
            <a:ahLst/>
            <a:cxnLst/>
            <a:rect l="l" t="t" r="r" b="b"/>
            <a:pathLst>
              <a:path w="5651500" h="10693400">
                <a:moveTo>
                  <a:pt x="1905000" y="0"/>
                </a:moveTo>
                <a:lnTo>
                  <a:pt x="5651500" y="0"/>
                </a:lnTo>
                <a:lnTo>
                  <a:pt x="5651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508000"/>
            <a:ext cx="254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1CB2FE"/>
                </a:solidFill>
                <a:latin typeface="Ubuntu Mon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71600"/>
            <a:ext cx="381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Ubuntu Mono"/>
              </a:rPr>
              <a:t>Galerie photos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1854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685800" h="50800">
                <a:moveTo>
                  <a:pt x="0" y="0"/>
                </a:moveTo>
                <a:lnTo>
                  <a:pt x="685800" y="0"/>
                </a:lnTo>
                <a:lnTo>
                  <a:pt x="685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413000"/>
            <a:ext cx="3810000" cy="2540000"/>
          </a:xfrm>
          <a:prstGeom prst="rect">
            <a:avLst/>
          </a:prstGeom>
        </p:spPr>
      </p:pic>
      <p:pic>
        <p:nvPicPr>
          <p:cNvPr id="8" name="Picture 7" descr="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30500"/>
            <a:ext cx="2476500" cy="1905000"/>
          </a:xfrm>
          <a:prstGeom prst="rect">
            <a:avLst/>
          </a:prstGeom>
        </p:spPr>
      </p:pic>
      <p:pic>
        <p:nvPicPr>
          <p:cNvPr id="9" name="Picture 8" descr="p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5207000"/>
            <a:ext cx="2667000" cy="2032000"/>
          </a:xfrm>
          <a:prstGeom prst="rect">
            <a:avLst/>
          </a:prstGeom>
        </p:spPr>
      </p:pic>
      <p:pic>
        <p:nvPicPr>
          <p:cNvPr id="10" name="Picture 9" descr="p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4889500"/>
            <a:ext cx="3238500" cy="2540000"/>
          </a:xfrm>
          <a:prstGeom prst="rect">
            <a:avLst/>
          </a:prstGeom>
        </p:spPr>
      </p:pic>
      <p:pic>
        <p:nvPicPr>
          <p:cNvPr id="11" name="Picture 10" descr="p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00" y="7620000"/>
            <a:ext cx="3302000" cy="2222500"/>
          </a:xfrm>
          <a:prstGeom prst="rect">
            <a:avLst/>
          </a:prstGeom>
        </p:spPr>
      </p:pic>
      <p:pic>
        <p:nvPicPr>
          <p:cNvPr id="12" name="Picture 11" descr="p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7500" y="7747000"/>
            <a:ext cx="2921000" cy="209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1CB2FE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1CB2FE"/>
                </a:solidFill>
                <a:latin typeface="Ubuntu Mon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810000" y="0"/>
            <a:ext cx="3746500" cy="3302000"/>
          </a:xfrm>
          <a:custGeom>
            <a:avLst/>
            <a:gdLst/>
            <a:ahLst/>
            <a:cxnLst/>
            <a:rect l="l" t="t" r="r" b="b"/>
            <a:pathLst>
              <a:path w="3746500" h="3302000">
                <a:moveTo>
                  <a:pt x="1016000" y="0"/>
                </a:moveTo>
                <a:lnTo>
                  <a:pt x="3746500" y="0"/>
                </a:lnTo>
                <a:lnTo>
                  <a:pt x="3746500" y="3302000"/>
                </a:lnTo>
                <a:lnTo>
                  <a:pt x="0" y="3302000"/>
                </a:lnTo>
                <a:close/>
              </a:path>
            </a:pathLst>
          </a:cu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508000"/>
            <a:ext cx="254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CDE1F3"/>
                </a:solidFill>
                <a:latin typeface="Ubuntu Mono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371600"/>
            <a:ext cx="533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08203F"/>
                </a:solidFill>
                <a:latin typeface="Ubuntu Mono"/>
              </a:rPr>
              <a:t>Les jeux</a:t>
            </a:r>
          </a:p>
        </p:txBody>
      </p:sp>
      <p:sp>
        <p:nvSpPr>
          <p:cNvPr id="6" name="Freeform 5"/>
          <p:cNvSpPr/>
          <p:nvPr/>
        </p:nvSpPr>
        <p:spPr>
          <a:xfrm>
            <a:off x="558800" y="1854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685800" h="50800">
                <a:moveTo>
                  <a:pt x="0" y="0"/>
                </a:moveTo>
                <a:lnTo>
                  <a:pt x="685800" y="0"/>
                </a:lnTo>
                <a:lnTo>
                  <a:pt x="685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" y="2413000"/>
            <a:ext cx="381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01ADEE"/>
                </a:solidFill>
                <a:latin typeface="Ubuntu Mono"/>
              </a:rPr>
              <a:t>MOTS CODÉS · A=1, B=2…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2794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25"/>
              </a:spcAft>
            </a:pPr>
            <a:r>
              <a:rPr sz="1050" b="0">
                <a:solidFill>
                  <a:srgbClr val="0B1B2E"/>
                </a:solidFill>
                <a:latin typeface="Ubuntu Mono"/>
              </a:rPr>
              <a:t>6-15-18-1-7-5 : ......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0800" y="2794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25"/>
              </a:spcAft>
            </a:pPr>
            <a:r>
              <a:rPr sz="1050" b="0">
                <a:solidFill>
                  <a:srgbClr val="0B1B2E"/>
                </a:solidFill>
                <a:latin typeface="Ubuntu Mono"/>
              </a:rPr>
              <a:t>7-5-15-20-8-5-18-13-9-5 : ......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3175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25"/>
              </a:spcAft>
            </a:pPr>
            <a:r>
              <a:rPr sz="1050" b="0">
                <a:solidFill>
                  <a:srgbClr val="0B1B2E"/>
                </a:solidFill>
                <a:latin typeface="Ubuntu Mono"/>
              </a:rPr>
              <a:t>20-18-5-16-1-14 : ......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0800" y="3175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25"/>
              </a:spcAft>
            </a:pPr>
            <a:r>
              <a:rPr sz="1050" b="0">
                <a:solidFill>
                  <a:srgbClr val="0B1B2E"/>
                </a:solidFill>
                <a:latin typeface="Ubuntu Mono"/>
              </a:rPr>
              <a:t>6-9-19-8-9-14-7 : ......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3556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25"/>
              </a:spcAft>
            </a:pPr>
            <a:r>
              <a:rPr sz="1050" b="0">
                <a:solidFill>
                  <a:srgbClr val="0B1B2E"/>
                </a:solidFill>
                <a:latin typeface="Ubuntu Mono"/>
              </a:rPr>
              <a:t>13-23-4 : ......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0800" y="3556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25"/>
              </a:spcAft>
            </a:pPr>
            <a:r>
              <a:rPr sz="1050" b="0">
                <a:solidFill>
                  <a:srgbClr val="0B1B2E"/>
                </a:solidFill>
                <a:latin typeface="Ubuntu Mono"/>
              </a:rPr>
              <a:t>5-14-5-4-18-9-12 : ......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445000"/>
            <a:ext cx="381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01ADEE"/>
                </a:solidFill>
                <a:latin typeface="Ubuntu Mono"/>
              </a:rPr>
              <a:t>ANAGRAMMES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26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0B1B2E"/>
                </a:solidFill>
                <a:latin typeface="Ubuntu Mono"/>
              </a:rPr>
              <a:t>GEBUTA : ......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0" y="4826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0B1B2E"/>
                </a:solidFill>
                <a:latin typeface="Ubuntu Mono"/>
              </a:rPr>
              <a:t>DOSNAGE : ......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207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0B1B2E"/>
                </a:solidFill>
                <a:latin typeface="Ubuntu Mono"/>
              </a:rPr>
              <a:t>MPEPO : ......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4000" y="5207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0B1B2E"/>
                </a:solidFill>
                <a:latin typeface="Ubuntu Mono"/>
              </a:rPr>
              <a:t>TIPUS : ......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588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0B1B2E"/>
                </a:solidFill>
                <a:latin typeface="Ubuntu Mono"/>
              </a:rPr>
              <a:t>GENEIRE : ......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4000" y="558800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0B1B2E"/>
                </a:solidFill>
                <a:latin typeface="Ubuntu Mono"/>
              </a:rPr>
              <a:t>TAGEZET : ......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" y="6350000"/>
            <a:ext cx="381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01ADEE"/>
                </a:solidFill>
                <a:latin typeface="Ubuntu Mono"/>
              </a:rPr>
              <a:t>DEVINETTE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200" y="6705600"/>
            <a:ext cx="55880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39"/>
              </a:lnSpc>
              <a:spcAft>
                <a:spcPts val="600"/>
              </a:spcAft>
            </a:pPr>
            <a:r>
              <a:rPr sz="1200" b="0">
                <a:solidFill>
                  <a:srgbClr val="0B1B2E"/>
                </a:solidFill>
                <a:latin typeface="Ubuntu Mono"/>
              </a:rPr>
              <a:t>Je descends sous terre, je tourne sans cesse, je mords la roche et je ne m'arrête qu'une fois au fond. Qui suis-je ?</a:t>
            </a:r>
          </a:p>
        </p:txBody>
      </p:sp>
      <p:sp>
        <p:nvSpPr>
          <p:cNvPr id="23" name="Freeform 22"/>
          <p:cNvSpPr/>
          <p:nvPr/>
        </p:nvSpPr>
        <p:spPr>
          <a:xfrm>
            <a:off x="0" y="8255000"/>
            <a:ext cx="7556500" cy="2438400"/>
          </a:xfrm>
          <a:custGeom>
            <a:avLst/>
            <a:gdLst/>
            <a:ahLst/>
            <a:cxnLst/>
            <a:rect l="l" t="t" r="r" b="b"/>
            <a:pathLst>
              <a:path w="7556500" h="2438400">
                <a:moveTo>
                  <a:pt x="0" y="508000"/>
                </a:moveTo>
                <a:lnTo>
                  <a:pt x="7556500" y="0"/>
                </a:lnTo>
                <a:lnTo>
                  <a:pt x="755650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800" y="9042400"/>
            <a:ext cx="381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75"/>
              </a:spcAft>
            </a:pPr>
            <a:r>
              <a:rPr sz="950" b="1">
                <a:solidFill>
                  <a:srgbClr val="1CB2FE"/>
                </a:solidFill>
                <a:latin typeface="Ubuntu Mono"/>
              </a:rPr>
              <a:t>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800" y="9296400"/>
            <a:ext cx="635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0"/>
              </a:lnSpc>
              <a:spcAft>
                <a:spcPts val="425"/>
              </a:spcAft>
            </a:pPr>
            <a:r>
              <a:rPr sz="850" b="0">
                <a:solidFill>
                  <a:srgbClr val="BED7F0"/>
                </a:solidFill>
                <a:latin typeface="Ubuntu Mono"/>
              </a:rPr>
              <a:t>Mots codés : FORAGE, GEOTHERMIE, TREPAN, FISHING, MWD, ENEDRIL</a:t>
            </a:r>
          </a:p>
          <a:p>
            <a:pPr algn="l">
              <a:lnSpc>
                <a:spcPts val="1200"/>
              </a:lnSpc>
              <a:spcAft>
                <a:spcPts val="425"/>
              </a:spcAft>
            </a:pPr>
            <a:r>
              <a:rPr sz="850" b="0">
                <a:solidFill>
                  <a:srgbClr val="BED7F0"/>
                </a:solidFill>
                <a:latin typeface="Ubuntu Mono"/>
              </a:rPr>
              <a:t>Anagrammes : TUBAGE, SONDAGE, POMPE, PUITS, ENERGIE, GAZETTE</a:t>
            </a:r>
          </a:p>
          <a:p>
            <a:pPr algn="l">
              <a:lnSpc>
                <a:spcPts val="1200"/>
              </a:lnSpc>
              <a:spcAft>
                <a:spcPts val="425"/>
              </a:spcAft>
            </a:pPr>
            <a:r>
              <a:rPr sz="850" b="0">
                <a:solidFill>
                  <a:srgbClr val="BED7F0"/>
                </a:solidFill>
                <a:latin typeface="Ubuntu Mono"/>
              </a:rPr>
              <a:t>Devinette : le trépan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800" y="102616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75"/>
              </a:spcAft>
            </a:pPr>
            <a:r>
              <a:rPr sz="750" b="0">
                <a:solidFill>
                  <a:srgbClr val="1CB2FE"/>
                </a:solidFill>
                <a:latin typeface="Ubuntu Mono"/>
              </a:rPr>
              <a:t>ENEDRIL · RÉTROSPECTIVE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9700" y="10261600"/>
            <a:ext cx="508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900" b="1">
                <a:solidFill>
                  <a:srgbClr val="1CB2FE"/>
                </a:solidFill>
                <a:latin typeface="Ubuntu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0" y="0"/>
                </a:moveTo>
                <a:lnTo>
                  <a:pt x="7556500" y="0"/>
                </a:lnTo>
                <a:lnTo>
                  <a:pt x="7556500" y="10693400"/>
                </a:lnTo>
                <a:lnTo>
                  <a:pt x="0" y="106934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4826000"/>
            <a:ext cx="7556500" cy="5867400"/>
          </a:xfrm>
          <a:custGeom>
            <a:avLst/>
            <a:gdLst/>
            <a:ahLst/>
            <a:cxnLst/>
            <a:rect l="l" t="t" r="r" b="b"/>
            <a:pathLst>
              <a:path w="7556500" h="5867400">
                <a:moveTo>
                  <a:pt x="0" y="1778000"/>
                </a:moveTo>
                <a:lnTo>
                  <a:pt x="7556500" y="0"/>
                </a:lnTo>
                <a:lnTo>
                  <a:pt x="7556500" y="5867400"/>
                </a:lnTo>
                <a:lnTo>
                  <a:pt x="0" y="586740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7112000"/>
            <a:ext cx="7556500" cy="3581400"/>
          </a:xfrm>
          <a:custGeom>
            <a:avLst/>
            <a:gdLst/>
            <a:ahLst/>
            <a:cxnLst/>
            <a:rect l="l" t="t" r="r" b="b"/>
            <a:pathLst>
              <a:path w="7556500" h="3581400">
                <a:moveTo>
                  <a:pt x="0" y="1143000"/>
                </a:moveTo>
                <a:lnTo>
                  <a:pt x="7556500" y="0"/>
                </a:lnTo>
                <a:lnTo>
                  <a:pt x="7556500" y="3581400"/>
                </a:lnTo>
                <a:lnTo>
                  <a:pt x="0" y="3581400"/>
                </a:lnTo>
                <a:close/>
              </a:path>
            </a:pathLst>
          </a:custGeom>
          <a:solidFill>
            <a:srgbClr val="19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enedri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905000"/>
            <a:ext cx="3810000" cy="866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8800" y="2768600"/>
            <a:ext cx="508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CB2FE"/>
                </a:solidFill>
                <a:latin typeface="Ubuntu Mono"/>
              </a:rPr>
              <a:t>FISHING AND DRILLING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3810000"/>
            <a:ext cx="6096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800"/>
              </a:lnSpc>
              <a:spcAft>
                <a:spcPts val="1500"/>
              </a:spcAft>
            </a:pPr>
            <a:r>
              <a:rPr sz="3000" b="1">
                <a:solidFill>
                  <a:srgbClr val="FFFFFF"/>
                </a:solidFill>
                <a:latin typeface="Ubuntu Mono"/>
              </a:rPr>
              <a:t>Merci,</a:t>
            </a:r>
          </a:p>
          <a:p>
            <a:pPr algn="l">
              <a:lnSpc>
                <a:spcPts val="3800"/>
              </a:lnSpc>
              <a:spcAft>
                <a:spcPts val="1500"/>
              </a:spcAft>
            </a:pPr>
            <a:r>
              <a:rPr sz="3000" b="1">
                <a:solidFill>
                  <a:srgbClr val="FFFFFF"/>
                </a:solidFill>
                <a:latin typeface="Ubuntu Mono"/>
              </a:rPr>
              <a:t>bonnes fêtes</a:t>
            </a:r>
          </a:p>
          <a:p>
            <a:pPr algn="l">
              <a:lnSpc>
                <a:spcPts val="3800"/>
              </a:lnSpc>
              <a:spcAft>
                <a:spcPts val="1500"/>
              </a:spcAft>
            </a:pPr>
            <a:r>
              <a:rPr sz="3000" b="1">
                <a:solidFill>
                  <a:srgbClr val="FFFFFF"/>
                </a:solidFill>
                <a:latin typeface="Ubuntu Mono"/>
              </a:rPr>
              <a:t>et à 2027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9906000"/>
            <a:ext cx="635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Ubuntu Mono"/>
              </a:rPr>
              <a:t>www.enedril.com · 3 av des lacs, 64140 Lons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